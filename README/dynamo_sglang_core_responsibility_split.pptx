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Responsibility Split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76656" y="89611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Dynamo coordinates the system; SGLang manages the local worker and KV cache.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650992" y="3337560"/>
            <a:ext cx="841248" cy="0"/>
          </a:xfrm>
          <a:prstGeom prst="line">
            <a:avLst/>
          </a:prstGeom>
          <a:noFill/>
          <a:ln w="27940">
            <a:solidFill>
              <a:srgbClr val="CBBFB5"/>
            </a:solidFill>
            <a:prstDash val="solid"/>
            <a:headEnd type="none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5513832" y="2743200"/>
            <a:ext cx="1143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673"/>
                </a:solidFill>
              </a:rPr>
              <a:t>forwards hints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E6673"/>
                </a:solidFill>
              </a:rPr>
              <a:t>&amp; requests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1554480"/>
            <a:ext cx="4709160" cy="4498848"/>
          </a:xfrm>
          <a:prstGeom prst="roundRect">
            <a:avLst>
              <a:gd name="adj" fmla="val 2439"/>
            </a:avLst>
          </a:prstGeom>
          <a:solidFill>
            <a:srgbClr val="D7E6F2"/>
          </a:solidFill>
          <a:ln w="15240">
            <a:solidFill>
              <a:srgbClr val="BFD2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65376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4C7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Dynamo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05840" y="23591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74C77"/>
                </a:solidFill>
              </a:rPr>
              <a:t>System-level control plane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8408" y="2889504"/>
            <a:ext cx="416052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900" dirty="0">
                <a:solidFill>
                  <a:srgbClr val="1F2933"/>
                </a:solidFill>
              </a:rPr>
              <a:t>• Routes requests across workers
</a:t>
            </a:r>
            <a:endParaRPr lang="en-US" sz="1900" dirty="0"/>
          </a:p>
          <a:p>
            <a:r>
              <a:rPr lang="en-US" sz="1900" dirty="0">
                <a:solidFill>
                  <a:srgbClr val="1F2933"/>
                </a:solidFill>
              </a:rPr>
              <a:t>• Tracks cache locations globally
</a:t>
            </a:r>
            <a:endParaRPr lang="en-US" sz="1900" dirty="0"/>
          </a:p>
          <a:p>
            <a:r>
              <a:rPr lang="en-US" sz="1900" dirty="0">
                <a:solidFill>
                  <a:srgbClr val="1F2933"/>
                </a:solidFill>
              </a:rPr>
              <a:t>• Balances priority, load, and KV overlap
</a:t>
            </a:r>
            <a:endParaRPr lang="en-US" sz="1900" dirty="0"/>
          </a:p>
          <a:p>
            <a:r>
              <a:rPr lang="en-US" sz="1900" dirty="0">
                <a:solidFill>
                  <a:srgbClr val="1F2933"/>
                </a:solidFill>
              </a:rPr>
              <a:t>• Orchestrates speculative prefill / disaggregated serving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969264" y="5230368"/>
            <a:ext cx="3794760" cy="475488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BFD2E4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534009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4C77"/>
                </a:solidFill>
              </a:rPr>
              <a:t>Core: decides WHERE work goes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30568" y="1554480"/>
            <a:ext cx="4709160" cy="4498848"/>
          </a:xfrm>
          <a:prstGeom prst="roundRect">
            <a:avLst>
              <a:gd name="adj" fmla="val 2439"/>
            </a:avLst>
          </a:prstGeom>
          <a:solidFill>
            <a:srgbClr val="EFE0DB"/>
          </a:solidFill>
          <a:ln w="15240">
            <a:solidFill>
              <a:srgbClr val="E2C9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1865376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4E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SGLang Worker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178040" y="23591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4E4E"/>
                </a:solidFill>
              </a:rPr>
              <a:t>Worker-level inference + KV manager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50608" y="2889504"/>
            <a:ext cx="416052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900" dirty="0">
                <a:solidFill>
                  <a:srgbClr val="1F2933"/>
                </a:solidFill>
              </a:rPr>
              <a:t>• Allocates local GPU KV-cache pages
</a:t>
            </a:r>
            <a:endParaRPr lang="en-US" sz="1900" dirty="0"/>
          </a:p>
          <a:p>
            <a:r>
              <a:rPr lang="en-US" sz="1900" dirty="0">
                <a:solidFill>
                  <a:srgbClr val="1F2933"/>
                </a:solidFill>
              </a:rPr>
              <a:t>• Stores reusable prefixes with RadixAttention
</a:t>
            </a:r>
            <a:endParaRPr lang="en-US" sz="1900" dirty="0"/>
          </a:p>
          <a:p>
            <a:r>
              <a:rPr lang="en-US" sz="1900" dirty="0">
                <a:solidFill>
                  <a:srgbClr val="1F2933"/>
                </a:solidFill>
              </a:rPr>
              <a:t>• Performs local priority-based cache eviction
</a:t>
            </a:r>
            <a:endParaRPr lang="en-US" sz="1900" dirty="0"/>
          </a:p>
          <a:p>
            <a:r>
              <a:rPr lang="en-US" sz="1900" dirty="0">
                <a:solidFill>
                  <a:srgbClr val="1F2933"/>
                </a:solidFill>
              </a:rPr>
              <a:t>• Moves KV across GPU/CPU tiers with HiCache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141464" y="5230368"/>
            <a:ext cx="3931920" cy="475488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E2C9C1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06056" y="53400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4E4E"/>
                </a:solidFill>
              </a:rPr>
              <a:t>Core: decides WHAT to keep/evict locally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58368" y="6373368"/>
            <a:ext cx="10881360" cy="0"/>
          </a:xfrm>
          <a:prstGeom prst="line">
            <a:avLst/>
          </a:prstGeom>
          <a:noFill/>
          <a:ln w="13970">
            <a:solidFill>
              <a:srgbClr val="CBBF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647395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</a:rPr>
              <a:t>One-liner: Dynamo routes across the cluster; SGLang manages and evicts KV inside each worker.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Dynamo vs SGLang Responsibility Split</dc:title>
  <dc:subject>Core responsibility split between Dynamo and SGLang</dc:subject>
  <dc:creator>OpenAI</dc:creator>
  <cp:lastModifiedBy>OpenAI</cp:lastModifiedBy>
  <cp:revision>1</cp:revision>
  <dcterms:created xsi:type="dcterms:W3CDTF">2026-07-20T15:57:21Z</dcterms:created>
  <dcterms:modified xsi:type="dcterms:W3CDTF">2026-07-20T15:57:21Z</dcterms:modified>
</cp:coreProperties>
</file>