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5B4636"/>
          </a:solidFill>
          <a:ln w="12700">
            <a:solidFill>
              <a:srgbClr val="5B46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1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Dynamo + SGLang: Agent Hint Responsibility Split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29768" y="93268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F6257"/>
                </a:solidFill>
              </a:rPr>
              <a:t>Not every hint is used by every layer. Dynamo makes system-level decisions; SGLang applies worker-local behavior.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20624" y="1444752"/>
            <a:ext cx="11356848" cy="4462272"/>
          </a:xfrm>
          <a:prstGeom prst="roundRect">
            <a:avLst>
              <a:gd name="adj" fmla="val 1025"/>
            </a:avLst>
          </a:prstGeom>
          <a:solidFill>
            <a:srgbClr val="FFFDF8"/>
          </a:solidFill>
          <a:ln w="12700">
            <a:solidFill>
              <a:srgbClr val="D8CE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1444752"/>
            <a:ext cx="11356848" cy="438912"/>
          </a:xfrm>
          <a:prstGeom prst="rect">
            <a:avLst/>
          </a:prstGeom>
          <a:solidFill>
            <a:srgbClr val="5B4636"/>
          </a:solidFill>
          <a:ln w="12700">
            <a:solidFill>
              <a:srgbClr val="5B4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Hint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1896466" y="1444752"/>
            <a:ext cx="10973" cy="438912"/>
          </a:xfrm>
          <a:prstGeom prst="rect">
            <a:avLst/>
          </a:prstGeom>
          <a:solidFill>
            <a:srgbClr val="79614D"/>
          </a:solidFill>
          <a:ln w="12700">
            <a:solidFill>
              <a:srgbClr val="7961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150876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does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4859122" y="1444752"/>
            <a:ext cx="10973" cy="438912"/>
          </a:xfrm>
          <a:prstGeom prst="rect">
            <a:avLst/>
          </a:prstGeom>
          <a:solidFill>
            <a:srgbClr val="79614D"/>
          </a:solidFill>
          <a:ln w="12700">
            <a:solidFill>
              <a:srgbClr val="7961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46904" y="1508760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Dynamo uses it to…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370418" y="1444752"/>
            <a:ext cx="10973" cy="438912"/>
          </a:xfrm>
          <a:prstGeom prst="rect">
            <a:avLst/>
          </a:prstGeom>
          <a:solidFill>
            <a:srgbClr val="79614D"/>
          </a:solidFill>
          <a:ln w="12700">
            <a:solidFill>
              <a:srgbClr val="79614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50876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SGLang uses it to…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420624" y="1883664"/>
            <a:ext cx="11356848" cy="658368"/>
          </a:xfrm>
          <a:prstGeom prst="rect">
            <a:avLst/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47672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3B2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1896466" y="1883664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84248" y="1947672"/>
            <a:ext cx="2798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a request as more or less important.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4859122" y="1883664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46904" y="1947672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urgent work earlier and route it with higher importance.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370418" y="1883664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1947672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high-priority work and keep its KV longer under priority eviction.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420624" y="2542032"/>
            <a:ext cx="11356848" cy="658368"/>
          </a:xfrm>
          <a:prstGeom prst="rect">
            <a:avLst/>
          </a:prstGeom>
          <a:solidFill>
            <a:srgbClr val="FAF4EC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06040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3B2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 prefill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1896466" y="2542032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84248" y="2606040"/>
            <a:ext cx="2798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Warms likely next-turn context before the next real request arrives.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859122" y="2542032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6904" y="2606040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the early warm-up request.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8370418" y="2542032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2606040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prefill and store the resulting KV.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420624" y="3200400"/>
            <a:ext cx="11356848" cy="658368"/>
          </a:xfrm>
          <a:prstGeom prst="rect">
            <a:avLst/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264408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3B2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sensitivity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1896466" y="3200400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84248" y="3264408"/>
            <a:ext cx="2798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 that this request should respond quickly.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4859122" y="3200400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46904" y="3264408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 it in queueing/routing, often by converting it into priority.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8370418" y="3200400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3264408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 if priority scheduling is enabled inside the worker.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420624" y="3858768"/>
            <a:ext cx="11356848" cy="658368"/>
          </a:xfrm>
          <a:prstGeom prst="rect">
            <a:avLst/>
          </a:prstGeom>
          <a:solidFill>
            <a:srgbClr val="FAF4EC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922776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3B2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 length / OSL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1896466" y="3858768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84248" y="3922776"/>
            <a:ext cx="2798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Tells the system roughly how long the response may be.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4859122" y="3858768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46904" y="3922776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worker load and avoid sending long jobs to overloaded workers.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8370418" y="3858768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58200" y="3922776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no direct cache-policy action.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420624" y="4517136"/>
            <a:ext cx="11356848" cy="658368"/>
          </a:xfrm>
          <a:prstGeom prst="rect">
            <a:avLst/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581144"/>
            <a:ext cx="1316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3B2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Subagent / session control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1896466" y="4517136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84248" y="4581144"/>
            <a:ext cx="2798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Separates temporary subagent context from main-agent context.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4859122" y="4517136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46904" y="4581144"/>
            <a:ext cx="3346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session metadata and lifecycle information.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8370418" y="4517136"/>
            <a:ext cx="10973" cy="658368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58200" y="4581144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 session KV and release it when the session ends.</a:t>
            </a:r>
            <a:endParaRPr lang="en-US" sz="1060" dirty="0"/>
          </a:p>
        </p:txBody>
      </p:sp>
      <p:sp>
        <p:nvSpPr>
          <p:cNvPr id="54" name="Shape 52"/>
          <p:cNvSpPr/>
          <p:nvPr/>
        </p:nvSpPr>
        <p:spPr>
          <a:xfrm>
            <a:off x="420624" y="5175504"/>
            <a:ext cx="11356848" cy="731520"/>
          </a:xfrm>
          <a:prstGeom prst="rect">
            <a:avLst/>
          </a:prstGeom>
          <a:solidFill>
            <a:srgbClr val="FAF4EC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5239512"/>
            <a:ext cx="1316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3B2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pinning / TTL</a:t>
            </a:r>
            <a:endParaRPr lang="en-US" sz="1120" dirty="0"/>
          </a:p>
        </p:txBody>
      </p:sp>
      <p:sp>
        <p:nvSpPr>
          <p:cNvPr id="56" name="Shape 54"/>
          <p:cNvSpPr/>
          <p:nvPr/>
        </p:nvSpPr>
        <p:spPr>
          <a:xfrm>
            <a:off x="1896466" y="5175504"/>
            <a:ext cx="10973" cy="731520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84248" y="5239512"/>
            <a:ext cx="2798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that certain KV should stay available longer.</a:t>
            </a:r>
            <a:endParaRPr lang="en-US" sz="1060" dirty="0"/>
          </a:p>
        </p:txBody>
      </p:sp>
      <p:sp>
        <p:nvSpPr>
          <p:cNvPr id="58" name="Shape 56"/>
          <p:cNvSpPr/>
          <p:nvPr/>
        </p:nvSpPr>
        <p:spPr>
          <a:xfrm>
            <a:off x="4859122" y="5175504"/>
            <a:ext cx="10973" cy="731520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46904" y="5239512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or forward cache-control metadata where supported.</a:t>
            </a:r>
            <a:endParaRPr lang="en-US" sz="1060" dirty="0"/>
          </a:p>
        </p:txBody>
      </p:sp>
      <p:sp>
        <p:nvSpPr>
          <p:cNvPr id="60" name="Shape 58"/>
          <p:cNvSpPr/>
          <p:nvPr/>
        </p:nvSpPr>
        <p:spPr>
          <a:xfrm>
            <a:off x="8370418" y="5175504"/>
            <a:ext cx="10973" cy="731520"/>
          </a:xfrm>
          <a:prstGeom prst="rect">
            <a:avLst/>
          </a:prstGeom>
          <a:solidFill>
            <a:srgbClr val="E4D9CA"/>
          </a:solidFill>
          <a:ln w="12700">
            <a:solidFill>
              <a:srgbClr val="E4D9CA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58200" y="5239512"/>
            <a:ext cx="3236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A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retention only when the backend feature supports it; not hard pinning by default.</a:t>
            </a:r>
            <a:endParaRPr lang="en-US" sz="1060" dirty="0"/>
          </a:p>
        </p:txBody>
      </p:sp>
      <p:sp>
        <p:nvSpPr>
          <p:cNvPr id="62" name="Shape 60"/>
          <p:cNvSpPr/>
          <p:nvPr/>
        </p:nvSpPr>
        <p:spPr>
          <a:xfrm>
            <a:off x="420624" y="6144768"/>
            <a:ext cx="11356848" cy="393192"/>
          </a:xfrm>
          <a:prstGeom prst="roundRect">
            <a:avLst>
              <a:gd name="adj" fmla="val 13953"/>
            </a:avLst>
          </a:prstGeom>
          <a:solidFill>
            <a:srgbClr val="EFE5D7"/>
          </a:solidFill>
          <a:ln w="12700">
            <a:solidFill>
              <a:srgbClr val="D3C3A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624535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A3526"/>
                </a:solidFill>
              </a:rPr>
              <a:t>Core idea: Dynamo decides system-level placement; SGLang executes model-local scheduling and KV-cache behavior.</a:t>
            </a:r>
            <a:endParaRPr lang="en-US" sz="12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Dynamo + SGLang Hint Responsibility Split</dc:title>
  <dc:subject>Dynamo vs SGLang hint responsibility split</dc:subject>
  <dc:creator>OpenAI</dc:creator>
  <cp:lastModifiedBy>OpenAI</cp:lastModifiedBy>
  <cp:revision>1</cp:revision>
  <dcterms:created xsi:type="dcterms:W3CDTF">2026-07-20T16:12:14Z</dcterms:created>
  <dcterms:modified xsi:type="dcterms:W3CDTF">2026-07-20T16:12:14Z</dcterms:modified>
</cp:coreProperties>
</file>