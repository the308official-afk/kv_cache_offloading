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AgentBench Experiment 1</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Upstream Deploy-Coding-Agent Variant Run</a:t>
            </a:r>
          </a:p>
        </p:txBody>
      </p:sp>
      <p:sp>
        <p:nvSpPr>
          <p:cNvPr id="4" name="Rounded Rectangle 3"/>
          <p:cNvSpPr/>
          <p:nvPr/>
        </p:nvSpPr>
        <p:spPr>
          <a:xfrm>
            <a:off x="731520" y="1371600"/>
            <a:ext cx="10698480" cy="914400"/>
          </a:xfrm>
          <a:prstGeom prst="roundRect">
            <a:avLst/>
          </a:prstGeom>
          <a:solidFill>
            <a:srgbClr val="DBEAFE"/>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111827"/>
                </a:solidFill>
              </a:rPr>
              <a:t>Best one-line summary: complex tasks from sources like SWE-bench Pro are broken into several steps by the Deep Agents app before the resulting planning, execution, and synthesis requests are sent through the local Dynamo frontend.</a:t>
            </a:r>
          </a:p>
        </p:txBody>
      </p:sp>
      <p:sp>
        <p:nvSpPr>
          <p:cNvPr id="5" name="TextBox 4"/>
          <p:cNvSpPr txBox="1"/>
          <p:nvPr/>
        </p:nvSpPr>
        <p:spPr>
          <a:xfrm>
            <a:off x="822960" y="2743200"/>
            <a:ext cx="10515600" cy="4846320"/>
          </a:xfrm>
          <a:prstGeom prst="rect">
            <a:avLst/>
          </a:prstGeom>
          <a:noFill/>
        </p:spPr>
        <p:txBody>
          <a:bodyPr wrap="square">
            <a:spAutoFit/>
          </a:bodyPr>
          <a:lstStyle/>
          <a:p>
            <a:pPr>
              <a:spcAft>
                <a:spcPts val="800"/>
              </a:spcAft>
              <a:defRPr sz="2200">
                <a:solidFill>
                  <a:srgbClr val="111827"/>
                </a:solidFill>
              </a:defRPr>
            </a:pPr>
            <a:r>
              <a:t>Scope: only Experiment 1, using the upstream deploy-coding-agent variant as the core testbed.</a:t>
            </a:r>
          </a:p>
          <a:p>
            <a:pPr>
              <a:spcAft>
                <a:spcPts val="800"/>
              </a:spcAft>
              <a:defRPr sz="2200">
                <a:solidFill>
                  <a:srgbClr val="111827"/>
                </a:solidFill>
              </a:defRPr>
            </a:pPr>
            <a:r>
              <a:t>Evidence source: real run sample__stronger_behavior__001_20260506_155649.</a:t>
            </a:r>
          </a:p>
          <a:p>
            <a:pPr>
              <a:spcAft>
                <a:spcPts val="800"/>
              </a:spcAft>
              <a:defRPr sz="2200">
                <a:solidFill>
                  <a:srgbClr val="111827"/>
                </a:solidFill>
              </a:defRPr>
            </a:pPr>
            <a:r>
              <a:t>This deck focuses on how the payload evolves across checkpoints 1, 3, 4, and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Setup Components</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All components used in the upstream variant run</a:t>
            </a:r>
          </a:p>
        </p:txBody>
      </p:sp>
      <p:sp>
        <p:nvSpPr>
          <p:cNvPr id="4" name="Rounded Rectangle 3"/>
          <p:cNvSpPr/>
          <p:nvPr/>
        </p:nvSpPr>
        <p:spPr>
          <a:xfrm>
            <a:off x="548640" y="1417320"/>
            <a:ext cx="1645920" cy="777240"/>
          </a:xfrm>
          <a:prstGeom prst="roundRect">
            <a:avLst/>
          </a:prstGeom>
          <a:solidFill>
            <a:srgbClr val="DBEA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Task source
sample JSON or SWE-bench Pro</a:t>
            </a:r>
          </a:p>
        </p:txBody>
      </p:sp>
      <p:sp>
        <p:nvSpPr>
          <p:cNvPr id="5" name="Rounded Rectangle 4"/>
          <p:cNvSpPr/>
          <p:nvPr/>
        </p:nvSpPr>
        <p:spPr>
          <a:xfrm>
            <a:off x="2468880" y="1417320"/>
            <a:ext cx="1554480" cy="777240"/>
          </a:xfrm>
          <a:prstGeom prst="round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AgentBench runner
single-host wrapper</a:t>
            </a:r>
          </a:p>
        </p:txBody>
      </p:sp>
      <p:sp>
        <p:nvSpPr>
          <p:cNvPr id="6" name="Rounded Rectangle 5"/>
          <p:cNvSpPr/>
          <p:nvPr/>
        </p:nvSpPr>
        <p:spPr>
          <a:xfrm>
            <a:off x="4297680" y="1417320"/>
            <a:ext cx="1645920" cy="777240"/>
          </a:xfrm>
          <a:prstGeom prst="roundRect">
            <a:avLst/>
          </a:prstGeom>
          <a:solidFill>
            <a:srgbClr val="FEF3C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Deep Agents app
active harness</a:t>
            </a:r>
          </a:p>
        </p:txBody>
      </p:sp>
      <p:sp>
        <p:nvSpPr>
          <p:cNvPr id="7" name="Rounded Rectangle 6"/>
          <p:cNvSpPr/>
          <p:nvPr/>
        </p:nvSpPr>
        <p:spPr>
          <a:xfrm>
            <a:off x="6217920" y="1417320"/>
            <a:ext cx="1828800" cy="777240"/>
          </a:xfrm>
          <a:prstGeom prst="roundRect">
            <a:avLst/>
          </a:prstGeom>
          <a:solidFill>
            <a:srgbClr val="FFE4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Upstream deploy-coding-agent
instructions + skills</a:t>
            </a:r>
          </a:p>
        </p:txBody>
      </p:sp>
      <p:sp>
        <p:nvSpPr>
          <p:cNvPr id="8" name="Rounded Rectangle 7"/>
          <p:cNvSpPr/>
          <p:nvPr/>
        </p:nvSpPr>
        <p:spPr>
          <a:xfrm>
            <a:off x="8321040" y="1417320"/>
            <a:ext cx="1463040" cy="777240"/>
          </a:xfrm>
          <a:prstGeom prst="roundRect">
            <a:avLst/>
          </a:prstGeom>
          <a:solidFill>
            <a:srgbClr val="DBEA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Dynamo frontend
localhost:8000</a:t>
            </a:r>
          </a:p>
        </p:txBody>
      </p:sp>
      <p:sp>
        <p:nvSpPr>
          <p:cNvPr id="9" name="Rounded Rectangle 8"/>
          <p:cNvSpPr/>
          <p:nvPr/>
        </p:nvSpPr>
        <p:spPr>
          <a:xfrm>
            <a:off x="10058400" y="1417320"/>
            <a:ext cx="1554480" cy="777240"/>
          </a:xfrm>
          <a:prstGeom prst="round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11827"/>
                </a:solidFill>
              </a:rPr>
              <a:t>Local SGLang
worker</a:t>
            </a:r>
          </a:p>
        </p:txBody>
      </p:sp>
      <p:sp>
        <p:nvSpPr>
          <p:cNvPr id="10" name="Chevron 9"/>
          <p:cNvSpPr/>
          <p:nvPr/>
        </p:nvSpPr>
        <p:spPr>
          <a:xfrm>
            <a:off x="224028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406908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a:off x="598932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a:off x="809244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evron 13"/>
          <p:cNvSpPr/>
          <p:nvPr/>
        </p:nvSpPr>
        <p:spPr>
          <a:xfrm>
            <a:off x="982980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2926080"/>
            <a:ext cx="2926080" cy="9144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Checkpoint logging
1 / 3 / 4 / 5 to stdout + checkpoints.json</a:t>
            </a:r>
          </a:p>
        </p:txBody>
      </p:sp>
      <p:sp>
        <p:nvSpPr>
          <p:cNvPr id="16" name="Rounded Rectangle 15"/>
          <p:cNvSpPr/>
          <p:nvPr/>
        </p:nvSpPr>
        <p:spPr>
          <a:xfrm>
            <a:off x="4206240" y="2926080"/>
            <a:ext cx="2926080" cy="9144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Saved artifacts
result.json / plan.json / step_results.json / final_summary.txt</a:t>
            </a:r>
          </a:p>
        </p:txBody>
      </p:sp>
      <p:sp>
        <p:nvSpPr>
          <p:cNvPr id="17" name="Rounded Rectangle 16"/>
          <p:cNvSpPr/>
          <p:nvPr/>
        </p:nvSpPr>
        <p:spPr>
          <a:xfrm>
            <a:off x="7498079" y="2926080"/>
            <a:ext cx="3474720" cy="914400"/>
          </a:xfrm>
          <a:prstGeom prst="roundRect">
            <a:avLst/>
          </a:prstGeom>
          <a:solidFill>
            <a:srgbClr val="FEF3C7"/>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827"/>
                </a:solidFill>
              </a:rPr>
              <a:t>Runtime note
this run still resolved deepagents from python_environment, not the cloned repo path</a:t>
            </a:r>
          </a:p>
        </p:txBody>
      </p:sp>
      <p:sp>
        <p:nvSpPr>
          <p:cNvPr id="18" name="TextBox 17"/>
          <p:cNvSpPr txBox="1"/>
          <p:nvPr/>
        </p:nvSpPr>
        <p:spPr>
          <a:xfrm>
            <a:off x="822960" y="4434840"/>
            <a:ext cx="10515600" cy="4846320"/>
          </a:xfrm>
          <a:prstGeom prst="rect">
            <a:avLst/>
          </a:prstGeom>
          <a:noFill/>
        </p:spPr>
        <p:txBody>
          <a:bodyPr wrap="square">
            <a:spAutoFit/>
          </a:bodyPr>
          <a:lstStyle/>
          <a:p>
            <a:pPr>
              <a:spcAft>
                <a:spcPts val="800"/>
              </a:spcAft>
              <a:defRPr sz="1800">
                <a:solidFill>
                  <a:srgbClr val="111827"/>
                </a:solidFill>
              </a:defRPr>
            </a:pPr>
            <a:r>
              <a:t>The app variant is upstream_deploy_coding_agent.</a:t>
            </a:r>
          </a:p>
          <a:p>
            <a:pPr>
              <a:spcAft>
                <a:spcPts val="800"/>
              </a:spcAft>
              <a:defRPr sz="1800">
                <a:solidFill>
                  <a:srgbClr val="111827"/>
                </a:solidFill>
              </a:defRPr>
            </a:pPr>
            <a:r>
              <a:t>The stronger-behavior helper used an easier sample task and a 4-step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Processing Flow</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How one experiment run moves through the stack</a:t>
            </a:r>
          </a:p>
        </p:txBody>
      </p:sp>
      <p:sp>
        <p:nvSpPr>
          <p:cNvPr id="4" name="TextBox 3"/>
          <p:cNvSpPr txBox="1"/>
          <p:nvPr/>
        </p:nvSpPr>
        <p:spPr>
          <a:xfrm>
            <a:off x="822960" y="1417320"/>
            <a:ext cx="10515600" cy="4846320"/>
          </a:xfrm>
          <a:prstGeom prst="rect">
            <a:avLst/>
          </a:prstGeom>
          <a:noFill/>
        </p:spPr>
        <p:txBody>
          <a:bodyPr wrap="square">
            <a:spAutoFit/>
          </a:bodyPr>
          <a:lstStyle/>
          <a:p>
            <a:pPr>
              <a:spcAft>
                <a:spcPts val="800"/>
              </a:spcAft>
              <a:defRPr sz="1900">
                <a:solidFill>
                  <a:srgbClr val="111827"/>
                </a:solidFill>
              </a:defRPr>
            </a:pPr>
            <a:r>
              <a:t>1. AgentBench loads one task from a local sample JSON or SWE-bench Pro.</a:t>
            </a:r>
          </a:p>
          <a:p>
            <a:pPr>
              <a:spcAft>
                <a:spcPts val="800"/>
              </a:spcAft>
              <a:defRPr sz="1900">
                <a:solidFill>
                  <a:srgbClr val="111827"/>
                </a:solidFill>
              </a:defRPr>
            </a:pPr>
            <a:r>
              <a:t>2. Checkpoint 1 logs the normalized task before Deep Agents planning starts.</a:t>
            </a:r>
          </a:p>
          <a:p>
            <a:pPr>
              <a:spcAft>
                <a:spcPts val="800"/>
              </a:spcAft>
              <a:defRPr sz="1900">
                <a:solidFill>
                  <a:srgbClr val="111827"/>
                </a:solidFill>
              </a:defRPr>
            </a:pPr>
            <a:r>
              <a:t>3. The Deep Agents app sends a planning prompt to Dynamo and logs Checkpoint 3.</a:t>
            </a:r>
          </a:p>
          <a:p>
            <a:pPr>
              <a:spcAft>
                <a:spcPts val="800"/>
              </a:spcAft>
              <a:defRPr sz="1900">
                <a:solidFill>
                  <a:srgbClr val="111827"/>
                </a:solidFill>
              </a:defRPr>
            </a:pPr>
            <a:r>
              <a:t>4. The resulting plan becomes one or more step execution requests and each is logged at Checkpoint 4.</a:t>
            </a:r>
          </a:p>
          <a:p>
            <a:pPr>
              <a:spcAft>
                <a:spcPts val="800"/>
              </a:spcAft>
              <a:defRPr sz="1900">
                <a:solidFill>
                  <a:srgbClr val="111827"/>
                </a:solidFill>
              </a:defRPr>
            </a:pPr>
            <a:r>
              <a:t>5. After the step results come back, the app sends one final synthesis request and logs Checkpoint 5.</a:t>
            </a:r>
          </a:p>
          <a:p>
            <a:pPr>
              <a:spcAft>
                <a:spcPts val="800"/>
              </a:spcAft>
              <a:defRPr sz="1900">
                <a:solidFill>
                  <a:srgbClr val="111827"/>
                </a:solidFill>
              </a:defRPr>
            </a:pPr>
            <a:r>
              <a:t>6. AgentBench saves result.json, checkpoints.json, plan.json, step_results.json, and final_summary.txt.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Experiment Modes</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Main ways to run the upstream deploy-coding-agent variant</a:t>
            </a:r>
          </a:p>
        </p:txBody>
      </p:sp>
      <p:sp>
        <p:nvSpPr>
          <p:cNvPr id="4" name="Rounded Rectangle 3"/>
          <p:cNvSpPr/>
          <p:nvPr/>
        </p:nvSpPr>
        <p:spPr>
          <a:xfrm>
            <a:off x="731520" y="1371600"/>
            <a:ext cx="10972800" cy="420624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a:solidFill>
                  <a:srgbClr val="FFFFFF"/>
                </a:solidFill>
                <a:latin typeface="Courier New"/>
              </a:rPr>
              <a:t>Sample task
bash agentbench/run_upstream_deploy_coding_agent_single_host.sh
SWE-bench Pro input
bash agentbench/run_upstream_deploy_coding_agent_single_host.sh \
  --dataset ScaleAI/SWE-bench_Pro \
  --split test \
  --index 0
Stronger-behavior sample run used in this deck
bash agentbench/run_upstream_deploy_coding_agent_stronger_behavior_single_host.sh</a:t>
            </a:r>
          </a:p>
        </p:txBody>
      </p:sp>
      <p:sp>
        <p:nvSpPr>
          <p:cNvPr id="5" name="TextBox 4"/>
          <p:cNvSpPr txBox="1"/>
          <p:nvPr/>
        </p:nvSpPr>
        <p:spPr>
          <a:xfrm>
            <a:off x="822960" y="5760720"/>
            <a:ext cx="10515600" cy="4846320"/>
          </a:xfrm>
          <a:prstGeom prst="rect">
            <a:avLst/>
          </a:prstGeom>
          <a:noFill/>
        </p:spPr>
        <p:txBody>
          <a:bodyPr wrap="square">
            <a:spAutoFit/>
          </a:bodyPr>
          <a:lstStyle/>
          <a:p>
            <a:pPr>
              <a:spcAft>
                <a:spcPts val="800"/>
              </a:spcAft>
              <a:defRPr sz="1700">
                <a:solidFill>
                  <a:srgbClr val="111827"/>
                </a:solidFill>
              </a:defRPr>
            </a:pPr>
            <a:r>
              <a:t>This deck uses the stronger-behavior run so the checkpoint slides are filled with real outputs.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Checkpoint Map</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Ordered observability points in the upstream pipeline</a:t>
            </a:r>
          </a:p>
        </p:txBody>
      </p:sp>
      <p:sp>
        <p:nvSpPr>
          <p:cNvPr id="4" name="Rounded Rectangle 3"/>
          <p:cNvSpPr/>
          <p:nvPr/>
        </p:nvSpPr>
        <p:spPr>
          <a:xfrm>
            <a:off x="731520" y="1417320"/>
            <a:ext cx="2286000" cy="731520"/>
          </a:xfrm>
          <a:prstGeom prst="roundRect">
            <a:avLst/>
          </a:prstGeom>
          <a:solidFill>
            <a:srgbClr val="DBEAFE"/>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1
Task loaded before
Deep Agents harness</a:t>
            </a:r>
          </a:p>
        </p:txBody>
      </p:sp>
      <p:sp>
        <p:nvSpPr>
          <p:cNvPr id="5" name="Rounded Rectangle 4"/>
          <p:cNvSpPr/>
          <p:nvPr/>
        </p:nvSpPr>
        <p:spPr>
          <a:xfrm>
            <a:off x="3291840" y="1417320"/>
            <a:ext cx="2286000" cy="731520"/>
          </a:xfrm>
          <a:prstGeom prst="roundRect">
            <a:avLst/>
          </a:prstGeom>
          <a:solidFill>
            <a:srgbClr val="D1FAE5"/>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3
Planning request leaving
Deep Agents harness</a:t>
            </a:r>
          </a:p>
        </p:txBody>
      </p:sp>
      <p:sp>
        <p:nvSpPr>
          <p:cNvPr id="6" name="Rounded Rectangle 5"/>
          <p:cNvSpPr/>
          <p:nvPr/>
        </p:nvSpPr>
        <p:spPr>
          <a:xfrm>
            <a:off x="5852160" y="1417320"/>
            <a:ext cx="2286000" cy="731520"/>
          </a:xfrm>
          <a:prstGeom prst="roundRect">
            <a:avLst/>
          </a:prstGeom>
          <a:solidFill>
            <a:srgbClr val="FEF3C7"/>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4
Step execution request
leaving harness</a:t>
            </a:r>
          </a:p>
        </p:txBody>
      </p:sp>
      <p:sp>
        <p:nvSpPr>
          <p:cNvPr id="7" name="Rounded Rectangle 6"/>
          <p:cNvSpPr/>
          <p:nvPr/>
        </p:nvSpPr>
        <p:spPr>
          <a:xfrm>
            <a:off x="8412480" y="1417320"/>
            <a:ext cx="2286000" cy="731520"/>
          </a:xfrm>
          <a:prstGeom prst="roundRect">
            <a:avLst/>
          </a:prstGeom>
          <a:solidFill>
            <a:srgbClr val="FFE4E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11827"/>
                </a:solidFill>
              </a:rPr>
              <a:t>5
Final synthesis request
leaving harness</a:t>
            </a:r>
          </a:p>
        </p:txBody>
      </p:sp>
      <p:sp>
        <p:nvSpPr>
          <p:cNvPr id="8" name="Chevron 7"/>
          <p:cNvSpPr/>
          <p:nvPr/>
        </p:nvSpPr>
        <p:spPr>
          <a:xfrm>
            <a:off x="292608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548640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8046720" y="1600200"/>
            <a:ext cx="45720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43200"/>
            <a:ext cx="10515600" cy="4846320"/>
          </a:xfrm>
          <a:prstGeom prst="rect">
            <a:avLst/>
          </a:prstGeom>
          <a:noFill/>
        </p:spPr>
        <p:txBody>
          <a:bodyPr wrap="square">
            <a:spAutoFit/>
          </a:bodyPr>
          <a:lstStyle/>
          <a:p>
            <a:pPr>
              <a:spcAft>
                <a:spcPts val="800"/>
              </a:spcAft>
              <a:defRPr sz="1800">
                <a:solidFill>
                  <a:srgbClr val="111827"/>
                </a:solidFill>
              </a:defRPr>
            </a:pPr>
            <a:r>
              <a:t>1: measured at the point just before the loaded task enters the Deep Agents harness.</a:t>
            </a:r>
          </a:p>
          <a:p>
            <a:pPr>
              <a:spcAft>
                <a:spcPts val="800"/>
              </a:spcAft>
              <a:defRPr sz="1800">
                <a:solidFill>
                  <a:srgbClr val="111827"/>
                </a:solidFill>
              </a:defRPr>
            </a:pPr>
            <a:r>
              <a:t>3: measured at the point where the planning stage is about to send its first request to the Dynamo frontend.</a:t>
            </a:r>
          </a:p>
          <a:p>
            <a:pPr>
              <a:spcAft>
                <a:spcPts val="800"/>
              </a:spcAft>
              <a:defRPr sz="1800">
                <a:solidFill>
                  <a:srgbClr val="111827"/>
                </a:solidFill>
              </a:defRPr>
            </a:pPr>
            <a:r>
              <a:t>4: measured at the point where the execution stage is about to send one step-level request to the Dynamo frontend.</a:t>
            </a:r>
          </a:p>
          <a:p>
            <a:pPr>
              <a:spcAft>
                <a:spcPts val="800"/>
              </a:spcAft>
              <a:defRPr sz="1800">
                <a:solidFill>
                  <a:srgbClr val="111827"/>
                </a:solidFill>
              </a:defRPr>
            </a:pPr>
            <a:r>
              <a:t>5: measured at the point where the synthesis stage is about to send the final combined request to the Dynamo frontend.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Observed Run Configuration</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Actual run used to fill the checkpoint slides</a:t>
            </a:r>
          </a:p>
        </p:txBody>
      </p:sp>
      <p:sp>
        <p:nvSpPr>
          <p:cNvPr id="4" name="Rounded Rectangle 3"/>
          <p:cNvSpPr/>
          <p:nvPr/>
        </p:nvSpPr>
        <p:spPr>
          <a:xfrm>
            <a:off x="731520" y="1371600"/>
            <a:ext cx="3657600" cy="210312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827"/>
                </a:solidFill>
              </a:rPr>
              <a:t>Run ID
sample__stronger_behavior__001_20260506_155649
Task source
json:agentbench/sample_task_stronger.json
Instance ID
sample__stronger_behavior__001</a:t>
            </a:r>
          </a:p>
        </p:txBody>
      </p:sp>
      <p:sp>
        <p:nvSpPr>
          <p:cNvPr id="5" name="Rounded Rectangle 4"/>
          <p:cNvSpPr/>
          <p:nvPr/>
        </p:nvSpPr>
        <p:spPr>
          <a:xfrm>
            <a:off x="4663440" y="1371600"/>
            <a:ext cx="2834640" cy="2103120"/>
          </a:xfrm>
          <a:prstGeom prst="roundRect">
            <a:avLst/>
          </a:prstGeom>
          <a:solidFill>
            <a:srgbClr val="DBEAFE"/>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827"/>
                </a:solidFill>
              </a:rPr>
              <a:t>App variant
upstream_deploy_coding_agent
Model
Qwen/Qwen2.5-0.5B
Runtime source
python_environment</a:t>
            </a:r>
          </a:p>
        </p:txBody>
      </p:sp>
      <p:sp>
        <p:nvSpPr>
          <p:cNvPr id="6" name="Rounded Rectangle 5"/>
          <p:cNvSpPr/>
          <p:nvPr/>
        </p:nvSpPr>
        <p:spPr>
          <a:xfrm>
            <a:off x="7772400" y="1371600"/>
            <a:ext cx="3474720" cy="2103120"/>
          </a:xfrm>
          <a:prstGeom prst="roundRect">
            <a:avLst/>
          </a:prstGeom>
          <a:solidFill>
            <a:srgbClr val="D1FAE5"/>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827"/>
                </a:solidFill>
              </a:rPr>
              <a:t>Workspace
none provided
Plan step count
4
Checkpoint file
checkpoints.json</a:t>
            </a:r>
          </a:p>
        </p:txBody>
      </p:sp>
      <p:sp>
        <p:nvSpPr>
          <p:cNvPr id="7" name="TextBox 6"/>
          <p:cNvSpPr txBox="1"/>
          <p:nvPr/>
        </p:nvSpPr>
        <p:spPr>
          <a:xfrm>
            <a:off x="822960" y="3886200"/>
            <a:ext cx="10515600" cy="4846320"/>
          </a:xfrm>
          <a:prstGeom prst="rect">
            <a:avLst/>
          </a:prstGeom>
          <a:noFill/>
        </p:spPr>
        <p:txBody>
          <a:bodyPr wrap="square">
            <a:spAutoFit/>
          </a:bodyPr>
          <a:lstStyle/>
          <a:p>
            <a:pPr>
              <a:spcAft>
                <a:spcPts val="800"/>
              </a:spcAft>
              <a:defRPr sz="1800">
                <a:solidFill>
                  <a:srgbClr val="111827"/>
                </a:solidFill>
              </a:defRPr>
            </a:pPr>
            <a:r>
              <a:t>Problem statement: A Python CLI has a `--dry-run` flag. Users say the command still creates a temporary working directory during dry run. Identify the two most likely code areas to inspect first...</a:t>
            </a:r>
          </a:p>
          <a:p>
            <a:pPr>
              <a:spcAft>
                <a:spcPts val="800"/>
              </a:spcAft>
              <a:defRPr sz="1800">
                <a:solidFill>
                  <a:srgbClr val="111827"/>
                </a:solidFill>
              </a:defRPr>
            </a:pPr>
            <a:r>
              <a:t>This run was chosen because it shows Checkpoint 1, Checkpoint 3, four separate Checkpoint 4 events, and Checkpoint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Checkpoint 1</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Task ingestion stage</a:t>
            </a:r>
          </a:p>
        </p:txBody>
      </p:sp>
      <p:sp>
        <p:nvSpPr>
          <p:cNvPr id="4" name="TextBox 3"/>
          <p:cNvSpPr txBox="1"/>
          <p:nvPr/>
        </p:nvSpPr>
        <p:spPr>
          <a:xfrm>
            <a:off x="777240" y="1417320"/>
            <a:ext cx="10698480" cy="5120640"/>
          </a:xfrm>
          <a:prstGeom prst="rect">
            <a:avLst/>
          </a:prstGeom>
          <a:noFill/>
        </p:spPr>
        <p:txBody>
          <a:bodyPr wrap="square" anchor="t">
            <a:spAutoFit/>
          </a:bodyPr>
          <a:lstStyle/>
          <a:p>
            <a:pPr>
              <a:spcBef>
                <a:spcPts val="1000"/>
              </a:spcBef>
              <a:spcAft>
                <a:spcPts val="200"/>
              </a:spcAft>
            </a:pPr>
            <a:r>
              <a:rPr sz="1700" b="1">
                <a:solidFill>
                  <a:srgbClr val="2563EB"/>
                </a:solidFill>
              </a:rPr>
              <a:t>Represents</a:t>
            </a:r>
          </a:p>
          <a:p>
            <a:pPr>
              <a:spcAft>
                <a:spcPts val="300"/>
              </a:spcAft>
              <a:defRPr sz="1400">
                <a:solidFill>
                  <a:srgbClr val="111827"/>
                </a:solidFill>
              </a:defRPr>
            </a:pPr>
            <a:r>
              <a:t>Stage name: task ingestion</a:t>
            </a:r>
          </a:p>
          <a:p>
            <a:pPr>
              <a:spcAft>
                <a:spcPts val="300"/>
              </a:spcAft>
              <a:defRPr sz="1400">
                <a:solidFill>
                  <a:srgbClr val="111827"/>
                </a:solidFill>
              </a:defRPr>
            </a:pPr>
            <a:r>
              <a:t>Meaning: the raw normalized task before Deep Agents planning starts</a:t>
            </a:r>
          </a:p>
          <a:p>
            <a:pPr>
              <a:spcAft>
                <a:spcPts val="300"/>
              </a:spcAft>
              <a:defRPr sz="1400">
                <a:solidFill>
                  <a:srgbClr val="111827"/>
                </a:solidFill>
              </a:defRPr>
            </a:pPr>
            <a:r>
              <a:t>Checkpoint type: internal harness boundary, not yet a frontend-bound model request</a:t>
            </a:r>
          </a:p>
          <a:p>
            <a:pPr>
              <a:spcAft>
                <a:spcPts val="300"/>
              </a:spcAft>
              <a:defRPr sz="1400">
                <a:solidFill>
                  <a:srgbClr val="111827"/>
                </a:solidFill>
              </a:defRPr>
            </a:pPr>
            <a:r>
              <a:t>Measured at: the point just before the loaded task enters the Deep Agents harness</a:t>
            </a:r>
          </a:p>
          <a:p>
            <a:pPr>
              <a:spcBef>
                <a:spcPts val="1000"/>
              </a:spcBef>
              <a:spcAft>
                <a:spcPts val="200"/>
              </a:spcAft>
            </a:pPr>
            <a:r>
              <a:rPr sz="1700" b="1">
                <a:solidFill>
                  <a:srgbClr val="2563EB"/>
                </a:solidFill>
              </a:rPr>
              <a:t>Payload at this stage</a:t>
            </a:r>
          </a:p>
          <a:p>
            <a:pPr>
              <a:spcAft>
                <a:spcPts val="300"/>
              </a:spcAft>
              <a:defRPr sz="1400">
                <a:solidFill>
                  <a:srgbClr val="111827"/>
                </a:solidFill>
              </a:defRPr>
            </a:pPr>
            <a:r>
              <a:t>instance_id: sample__stronger_behavior__001</a:t>
            </a:r>
          </a:p>
          <a:p>
            <a:pPr>
              <a:spcAft>
                <a:spcPts val="300"/>
              </a:spcAft>
              <a:defRPr sz="1400">
                <a:solidFill>
                  <a:srgbClr val="111827"/>
                </a:solidFill>
              </a:defRPr>
            </a:pPr>
            <a:r>
              <a:t>repo: example/repo</a:t>
            </a:r>
          </a:p>
          <a:p>
            <a:pPr>
              <a:spcAft>
                <a:spcPts val="300"/>
              </a:spcAft>
              <a:defRPr sz="1400">
                <a:solidFill>
                  <a:srgbClr val="111827"/>
                </a:solidFill>
              </a:defRPr>
            </a:pPr>
            <a:r>
              <a:t>still a task record, not yet a model request</a:t>
            </a:r>
          </a:p>
          <a:p>
            <a:pPr>
              <a:spcAft>
                <a:spcPts val="300"/>
              </a:spcAft>
              <a:defRPr sz="1400">
                <a:solidFill>
                  <a:srgbClr val="111827"/>
                </a:solidFill>
              </a:defRPr>
            </a:pPr>
            <a:r>
              <a:t>no request wrapper yet</a:t>
            </a:r>
          </a:p>
          <a:p>
            <a:pPr>
              <a:spcAft>
                <a:spcPts val="300"/>
              </a:spcAft>
              <a:defRPr sz="1400">
                <a:solidFill>
                  <a:srgbClr val="111827"/>
                </a:solidFill>
              </a:defRPr>
            </a:pPr>
            <a:r>
              <a:t>no hints attached yet</a:t>
            </a:r>
          </a:p>
          <a:p>
            <a:pPr>
              <a:spcAft>
                <a:spcPts val="300"/>
              </a:spcAft>
              <a:defRPr sz="1400">
                <a:solidFill>
                  <a:srgbClr val="111827"/>
                </a:solidFill>
              </a:defRPr>
            </a:pPr>
            <a:r>
              <a:t>selected_test_files_to_run: tests/test_cli_dry_run.py</a:t>
            </a:r>
          </a:p>
          <a:p>
            <a:pPr>
              <a:spcBef>
                <a:spcPts val="1000"/>
              </a:spcBef>
              <a:spcAft>
                <a:spcPts val="200"/>
              </a:spcAft>
            </a:pPr>
            <a:r>
              <a:rPr sz="1700" b="1">
                <a:solidFill>
                  <a:srgbClr val="2563EB"/>
                </a:solidFill>
              </a:rPr>
              <a:t>Example task excerpt</a:t>
            </a:r>
          </a:p>
          <a:p>
            <a:pPr>
              <a:spcAft>
                <a:spcPts val="300"/>
              </a:spcAft>
              <a:defRPr sz="1400">
                <a:solidFill>
                  <a:srgbClr val="111827"/>
                </a:solidFill>
              </a:defRPr>
            </a:pPr>
            <a:r>
              <a:t>problem_statement: A Python CLI has a `--dry-run` flag. Users say the command still creates a temporary working directory during...</a:t>
            </a:r>
          </a:p>
          <a:p>
            <a:pPr>
              <a:spcAft>
                <a:spcPts val="300"/>
              </a:spcAft>
              <a:defRPr sz="1400">
                <a:solidFill>
                  <a:srgbClr val="111827"/>
                </a:solidFill>
              </a:defRPr>
            </a:pPr>
            <a:r>
              <a:t>requirements: Keep the answer short and structured. Do not claim code was edited or tests were run unless...</a:t>
            </a:r>
          </a:p>
          <a:p>
            <a:pPr>
              <a:spcAft>
                <a:spcPts val="300"/>
              </a:spcAft>
              <a:defRPr sz="1400">
                <a:solidFill>
                  <a:srgbClr val="111827"/>
                </a:solidFill>
              </a:defRPr>
            </a:pPr>
            <a:r>
              <a:t>interface: Assume a small Python CLI app with an argument parser, a dispatcher, and one helper that...</a:t>
            </a:r>
          </a:p>
          <a:p>
            <a:pPr>
              <a:spcBef>
                <a:spcPts val="1000"/>
              </a:spcBef>
              <a:spcAft>
                <a:spcPts val="200"/>
              </a:spcAft>
            </a:pPr>
            <a:r>
              <a:rPr sz="1700" b="1">
                <a:solidFill>
                  <a:srgbClr val="2563EB"/>
                </a:solidFill>
              </a:rPr>
              <a:t>What changed here</a:t>
            </a:r>
          </a:p>
          <a:p>
            <a:pPr>
              <a:spcAft>
                <a:spcPts val="300"/>
              </a:spcAft>
              <a:defRPr sz="1400">
                <a:solidFill>
                  <a:srgbClr val="111827"/>
                </a:solidFill>
              </a:defRPr>
            </a:pPr>
            <a:r>
              <a:t>The external task source was normalized into one task record.</a:t>
            </a:r>
          </a:p>
          <a:p>
            <a:pPr>
              <a:spcAft>
                <a:spcPts val="300"/>
              </a:spcAft>
              <a:defRPr sz="1400">
                <a:solidFill>
                  <a:srgbClr val="111827"/>
                </a:solidFill>
              </a:defRPr>
            </a:pPr>
            <a:r>
              <a:t>Wrapper metadata also exists around it: check_point, task_index, task_source, app_variant.</a:t>
            </a:r>
          </a:p>
          <a:p>
            <a:pPr>
              <a:spcAft>
                <a:spcPts val="300"/>
              </a:spcAft>
              <a:defRPr sz="1400">
                <a:solidFill>
                  <a:srgbClr val="111827"/>
                </a:solidFill>
              </a:defRPr>
            </a:pPr>
            <a:r>
              <a:t>No planning prompt yet.</a:t>
            </a:r>
          </a:p>
          <a:p>
            <a:pPr>
              <a:spcAft>
                <a:spcPts val="300"/>
              </a:spcAft>
              <a:defRPr sz="1400">
                <a:solidFill>
                  <a:srgbClr val="111827"/>
                </a:solidFill>
              </a:defRPr>
            </a:pPr>
            <a:r>
              <a:t>No phase-specific hints yet.</a:t>
            </a:r>
          </a:p>
          <a:p>
            <a:pPr>
              <a:spcBef>
                <a:spcPts val="1000"/>
              </a:spcBef>
              <a:spcAft>
                <a:spcPts val="200"/>
              </a:spcAft>
            </a:pPr>
            <a:r>
              <a:rPr sz="1700" b="1">
                <a:solidFill>
                  <a:srgbClr val="2563EB"/>
                </a:solidFill>
              </a:rPr>
              <a:t>What goes to the next stage</a:t>
            </a:r>
          </a:p>
          <a:p>
            <a:pPr>
              <a:spcAft>
                <a:spcPts val="300"/>
              </a:spcAft>
              <a:defRPr sz="1400">
                <a:solidFill>
                  <a:srgbClr val="111827"/>
                </a:solidFill>
              </a:defRPr>
            </a:pPr>
            <a:r>
              <a:t>This task record is expanded into a planning prompt.</a:t>
            </a:r>
          </a:p>
          <a:p>
            <a:pPr>
              <a:spcAft>
                <a:spcPts val="300"/>
              </a:spcAft>
              <a:defRPr sz="1400">
                <a:solidFill>
                  <a:srgbClr val="111827"/>
                </a:solidFill>
              </a:defRPr>
            </a:pPr>
            <a:r>
              <a:t>The next stage adds task_metadata, phase=planning, prompt text, and planning hints.</a:t>
            </a:r>
          </a:p>
          <a:p>
            <a:pPr>
              <a:spcAft>
                <a:spcPts val="300"/>
              </a:spcAft>
              <a:defRPr sz="1400">
                <a:solidFill>
                  <a:srgbClr val="111827"/>
                </a:solidFill>
              </a:defRPr>
            </a:pPr>
            <a:r>
              <a:t>Destination: Dynamo frontend via the planning request at Checkpoint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Checkpoint 3</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Planning request leaving the Deep Agents harness</a:t>
            </a:r>
          </a:p>
        </p:txBody>
      </p:sp>
      <p:sp>
        <p:nvSpPr>
          <p:cNvPr id="4" name="TextBox 3"/>
          <p:cNvSpPr txBox="1"/>
          <p:nvPr/>
        </p:nvSpPr>
        <p:spPr>
          <a:xfrm>
            <a:off x="777240" y="1417320"/>
            <a:ext cx="10698480" cy="5120640"/>
          </a:xfrm>
          <a:prstGeom prst="rect">
            <a:avLst/>
          </a:prstGeom>
          <a:noFill/>
        </p:spPr>
        <p:txBody>
          <a:bodyPr wrap="square" anchor="t">
            <a:spAutoFit/>
          </a:bodyPr>
          <a:lstStyle/>
          <a:p>
            <a:pPr>
              <a:spcBef>
                <a:spcPts val="1000"/>
              </a:spcBef>
              <a:spcAft>
                <a:spcPts val="200"/>
              </a:spcAft>
            </a:pPr>
            <a:r>
              <a:rPr sz="1700" b="1">
                <a:solidFill>
                  <a:srgbClr val="2563EB"/>
                </a:solidFill>
              </a:rPr>
              <a:t>Represents</a:t>
            </a:r>
          </a:p>
          <a:p>
            <a:pPr>
              <a:spcAft>
                <a:spcPts val="300"/>
              </a:spcAft>
              <a:defRPr sz="1400">
                <a:solidFill>
                  <a:srgbClr val="111827"/>
                </a:solidFill>
              </a:defRPr>
            </a:pPr>
            <a:r>
              <a:t>Stage name: planning request</a:t>
            </a:r>
          </a:p>
          <a:p>
            <a:pPr>
              <a:spcAft>
                <a:spcPts val="300"/>
              </a:spcAft>
              <a:defRPr sz="1400">
                <a:solidFill>
                  <a:srgbClr val="111827"/>
                </a:solidFill>
              </a:defRPr>
            </a:pPr>
            <a:r>
              <a:t>Meaning: the first outbound model request that asks the harness to break the task into steps</a:t>
            </a:r>
          </a:p>
          <a:p>
            <a:pPr>
              <a:spcAft>
                <a:spcPts val="300"/>
              </a:spcAft>
              <a:defRPr sz="1400">
                <a:solidFill>
                  <a:srgbClr val="111827"/>
                </a:solidFill>
              </a:defRPr>
            </a:pPr>
            <a:r>
              <a:t>Checkpoint type: first Dynamo-bound request in the pipeline</a:t>
            </a:r>
          </a:p>
          <a:p>
            <a:pPr>
              <a:spcAft>
                <a:spcPts val="300"/>
              </a:spcAft>
              <a:defRPr sz="1400">
                <a:solidFill>
                  <a:srgbClr val="111827"/>
                </a:solidFill>
              </a:defRPr>
            </a:pPr>
            <a:r>
              <a:t>Measured at: the point where the planning stage is about to send its first request to the Dynamo frontend</a:t>
            </a:r>
          </a:p>
          <a:p>
            <a:pPr>
              <a:spcBef>
                <a:spcPts val="1000"/>
              </a:spcBef>
              <a:spcAft>
                <a:spcPts val="200"/>
              </a:spcAft>
            </a:pPr>
            <a:r>
              <a:rPr sz="1700" b="1">
                <a:solidFill>
                  <a:srgbClr val="2563EB"/>
                </a:solidFill>
              </a:rPr>
              <a:t>Payload at this stage</a:t>
            </a:r>
          </a:p>
          <a:p>
            <a:pPr>
              <a:spcAft>
                <a:spcPts val="300"/>
              </a:spcAft>
              <a:defRPr sz="1400">
                <a:solidFill>
                  <a:srgbClr val="111827"/>
                </a:solidFill>
              </a:defRPr>
            </a:pPr>
            <a:r>
              <a:t>prompt text: task record rendered into a planning prompt</a:t>
            </a:r>
          </a:p>
          <a:p>
            <a:pPr>
              <a:spcAft>
                <a:spcPts val="300"/>
              </a:spcAft>
              <a:defRPr sz="1400">
                <a:solidFill>
                  <a:srgbClr val="111827"/>
                </a:solidFill>
              </a:defRPr>
            </a:pPr>
            <a:r>
              <a:t>request wrapper: task_metadata + phase + prompt_preview</a:t>
            </a:r>
          </a:p>
          <a:p>
            <a:pPr>
              <a:spcAft>
                <a:spcPts val="300"/>
              </a:spcAft>
              <a:defRPr sz="1400">
                <a:solidFill>
                  <a:srgbClr val="111827"/>
                </a:solidFill>
              </a:defRPr>
            </a:pPr>
            <a:r>
              <a:t>phase: planning</a:t>
            </a:r>
          </a:p>
          <a:p>
            <a:pPr>
              <a:spcAft>
                <a:spcPts val="300"/>
              </a:spcAft>
              <a:defRPr sz="1400">
                <a:solidFill>
                  <a:srgbClr val="111827"/>
                </a:solidFill>
              </a:defRPr>
            </a:pPr>
            <a:r>
              <a:t>hints: agent_phase=planning, latency_sensitivity=0.4, expected_output_tokens=512</a:t>
            </a:r>
          </a:p>
          <a:p>
            <a:pPr>
              <a:spcAft>
                <a:spcPts val="300"/>
              </a:spcAft>
              <a:defRPr sz="1400">
                <a:solidFill>
                  <a:srgbClr val="111827"/>
                </a:solidFill>
              </a:defRPr>
            </a:pPr>
            <a:r>
              <a:t>step_limit: 4</a:t>
            </a:r>
          </a:p>
          <a:p>
            <a:pPr>
              <a:spcBef>
                <a:spcPts val="1000"/>
              </a:spcBef>
              <a:spcAft>
                <a:spcPts val="200"/>
              </a:spcAft>
            </a:pPr>
            <a:r>
              <a:rPr sz="1700" b="1">
                <a:solidFill>
                  <a:srgbClr val="2563EB"/>
                </a:solidFill>
              </a:rPr>
              <a:t>Example planning prompt excerpt</a:t>
            </a:r>
          </a:p>
          <a:p>
            <a:pPr>
              <a:spcAft>
                <a:spcPts val="300"/>
              </a:spcAft>
              <a:defRPr sz="1400">
                <a:solidFill>
                  <a:srgbClr val="111827"/>
                </a:solidFill>
              </a:defRPr>
            </a:pPr>
            <a:r>
              <a:t>Return only valid JSON in this exact shape:</a:t>
            </a:r>
          </a:p>
          <a:p>
            <a:pPr>
              <a:spcAft>
                <a:spcPts val="300"/>
              </a:spcAft>
              <a:defRPr sz="1400">
                <a:solidFill>
                  <a:srgbClr val="111827"/>
                </a:solidFill>
              </a:defRPr>
            </a:pPr>
            <a:r>
              <a:t>{</a:t>
            </a:r>
          </a:p>
          <a:p>
            <a:pPr>
              <a:spcAft>
                <a:spcPts val="300"/>
              </a:spcAft>
              <a:defRPr sz="1400">
                <a:solidFill>
                  <a:srgbClr val="111827"/>
                </a:solidFill>
              </a:defRPr>
            </a:pPr>
            <a:r>
              <a:t>  "steps": [</a:t>
            </a:r>
          </a:p>
          <a:p>
            <a:pPr>
              <a:spcAft>
                <a:spcPts val="300"/>
              </a:spcAft>
              <a:defRPr sz="1400">
                <a:solidFill>
                  <a:srgbClr val="111827"/>
                </a:solidFill>
              </a:defRPr>
            </a:pPr>
            <a:r>
              <a:t>    {</a:t>
            </a:r>
          </a:p>
          <a:p>
            <a:pPr>
              <a:spcAft>
                <a:spcPts val="300"/>
              </a:spcAft>
              <a:defRPr sz="1400">
                <a:solidFill>
                  <a:srgbClr val="111827"/>
                </a:solidFill>
              </a:defRPr>
            </a:pPr>
            <a:r>
              <a:t>      "step_id": 1,</a:t>
            </a:r>
          </a:p>
          <a:p>
            <a:pPr>
              <a:spcAft>
                <a:spcPts val="300"/>
              </a:spcAft>
              <a:defRPr sz="1400">
                <a:solidFill>
                  <a:srgbClr val="111827"/>
                </a:solidFill>
              </a:defRPr>
            </a:pPr>
            <a:r>
              <a:t>      "title": "short title",</a:t>
            </a:r>
          </a:p>
          <a:p>
            <a:pPr>
              <a:spcAft>
                <a:spcPts val="300"/>
              </a:spcAft>
              <a:defRPr sz="1400">
                <a:solidFill>
                  <a:srgbClr val="111827"/>
                </a:solidFill>
              </a:defRPr>
            </a:pPr>
            <a:r>
              <a:t>      "goal": "what this step should accomplish",</a:t>
            </a:r>
          </a:p>
          <a:p>
            <a:pPr>
              <a:spcAft>
                <a:spcPts val="300"/>
              </a:spcAft>
              <a:defRPr sz="1400">
                <a:solidFill>
                  <a:srgbClr val="111827"/>
                </a:solidFill>
              </a:defRPr>
            </a:pPr>
            <a:r>
              <a:t>      "deliverable": "what artifact or answer this step should produce"</a:t>
            </a:r>
          </a:p>
          <a:p>
            <a:pPr>
              <a:spcAft>
                <a:spcPts val="300"/>
              </a:spcAft>
              <a:defRPr sz="1400">
                <a:solidFill>
                  <a:srgbClr val="111827"/>
                </a:solidFill>
              </a:defRPr>
            </a:pPr>
            <a:r>
              <a:t>...</a:t>
            </a:r>
          </a:p>
          <a:p>
            <a:pPr>
              <a:spcAft>
                <a:spcPts val="300"/>
              </a:spcAft>
              <a:defRPr sz="1400">
                <a:solidFill>
                  <a:srgbClr val="111827"/>
                </a:solidFill>
              </a:defRPr>
            </a:pPr>
            <a:r>
              <a:t>Prefer task-specific steps over generic planning language.</a:t>
            </a:r>
          </a:p>
          <a:p>
            <a:pPr>
              <a:spcAft>
                <a:spcPts val="300"/>
              </a:spcAft>
              <a:defRPr sz="1400">
                <a:solidFill>
                  <a:srgbClr val="111827"/>
                </a:solidFill>
              </a:defRPr>
            </a:pPr>
            <a:r>
              <a:t>For this kind of CLI dry-run bug, prefer up to 4 steps like:</a:t>
            </a:r>
          </a:p>
          <a:p>
            <a:pPr>
              <a:spcAft>
                <a:spcPts val="300"/>
              </a:spcAft>
              <a:defRPr sz="1400">
                <a:solidFill>
                  <a:srgbClr val="111827"/>
                </a:solidFill>
              </a:defRPr>
            </a:pPr>
            <a:r>
              <a:t>1. inspect argument parsing for `--dry-run`</a:t>
            </a:r>
          </a:p>
          <a:p>
            <a:pPr>
              <a:spcAft>
                <a:spcPts val="300"/>
              </a:spcAft>
              <a:defRPr sz="1400">
                <a:solidFill>
                  <a:srgbClr val="111827"/>
                </a:solidFill>
              </a:defRPr>
            </a:pPr>
            <a:r>
              <a:t>2. inspect the dispatch or command execution flow</a:t>
            </a:r>
          </a:p>
          <a:p>
            <a:pPr>
              <a:spcAft>
                <a:spcPts val="300"/>
              </a:spcAft>
              <a:defRPr sz="1400">
                <a:solidFill>
                  <a:srgbClr val="111827"/>
                </a:solidFill>
              </a:defRPr>
            </a:pPr>
            <a:r>
              <a:t>3. inspect the helper that creates temporary directories</a:t>
            </a:r>
          </a:p>
          <a:p>
            <a:pPr>
              <a:spcAft>
                <a:spcPts val="300"/>
              </a:spcAft>
              <a:defRPr sz="1400">
                <a:solidFill>
                  <a:srgbClr val="111827"/>
                </a:solidFill>
              </a:defRPr>
            </a:pPr>
            <a:r>
              <a:t>4. propose a safe high-level fix strategy</a:t>
            </a:r>
          </a:p>
          <a:p>
            <a:pPr>
              <a:spcBef>
                <a:spcPts val="1000"/>
              </a:spcBef>
              <a:spcAft>
                <a:spcPts val="200"/>
              </a:spcAft>
            </a:pPr>
            <a:r>
              <a:rPr sz="1700" b="1">
                <a:solidFill>
                  <a:srgbClr val="2563EB"/>
                </a:solidFill>
              </a:rPr>
              <a:t>What changed here</a:t>
            </a:r>
          </a:p>
          <a:p>
            <a:pPr>
              <a:spcAft>
                <a:spcPts val="300"/>
              </a:spcAft>
              <a:defRPr sz="1400">
                <a:solidFill>
                  <a:srgbClr val="111827"/>
                </a:solidFill>
              </a:defRPr>
            </a:pPr>
            <a:r>
              <a:t>The raw task record became prompt text.</a:t>
            </a:r>
          </a:p>
          <a:p>
            <a:pPr>
              <a:spcAft>
                <a:spcPts val="300"/>
              </a:spcAft>
              <a:defRPr sz="1400">
                <a:solidFill>
                  <a:srgbClr val="111827"/>
                </a:solidFill>
              </a:defRPr>
            </a:pPr>
            <a:r>
              <a:t>Planning hints were attached under nvext.agent_hints.</a:t>
            </a:r>
          </a:p>
          <a:p>
            <a:pPr>
              <a:spcAft>
                <a:spcPts val="300"/>
              </a:spcAft>
              <a:defRPr sz="1400">
                <a:solidFill>
                  <a:srgbClr val="111827"/>
                </a:solidFill>
              </a:defRPr>
            </a:pPr>
            <a:r>
              <a:t>A prompt_preview field was added for observability.</a:t>
            </a:r>
          </a:p>
          <a:p>
            <a:pPr>
              <a:spcAft>
                <a:spcPts val="300"/>
              </a:spcAft>
              <a:defRPr sz="1400">
                <a:solidFill>
                  <a:srgbClr val="111827"/>
                </a:solidFill>
              </a:defRPr>
            </a:pPr>
            <a:r>
              <a:t>This is where the payload changes from 'task object' to 'frontend-bound request'.</a:t>
            </a:r>
          </a:p>
          <a:p>
            <a:pPr>
              <a:spcBef>
                <a:spcPts val="1000"/>
              </a:spcBef>
              <a:spcAft>
                <a:spcPts val="200"/>
              </a:spcAft>
            </a:pPr>
            <a:r>
              <a:rPr sz="1700" b="1">
                <a:solidFill>
                  <a:srgbClr val="2563EB"/>
                </a:solidFill>
              </a:rPr>
              <a:t>What goes to the next stage</a:t>
            </a:r>
          </a:p>
          <a:p>
            <a:pPr>
              <a:spcAft>
                <a:spcPts val="300"/>
              </a:spcAft>
              <a:defRPr sz="1400">
                <a:solidFill>
                  <a:srgbClr val="111827"/>
                </a:solidFill>
              </a:defRPr>
            </a:pPr>
            <a:r>
              <a:t>Planning response preview: You are a helpful assistant.Jeste You are working on one SWE-bench Pro software engineering task. Task metadata: - instance_id:...</a:t>
            </a:r>
          </a:p>
          <a:p>
            <a:pPr>
              <a:spcAft>
                <a:spcPts val="300"/>
              </a:spcAft>
              <a:defRPr sz="1400">
                <a:solidFill>
                  <a:srgbClr val="111827"/>
                </a:solidFill>
              </a:defRPr>
            </a:pPr>
            <a:r>
              <a:t>The planning output is parsed into a decomposition plan.</a:t>
            </a:r>
          </a:p>
          <a:p>
            <a:pPr>
              <a:spcAft>
                <a:spcPts val="300"/>
              </a:spcAft>
              <a:defRPr sz="1400">
                <a:solidFill>
                  <a:srgbClr val="111827"/>
                </a:solidFill>
              </a:defRPr>
            </a:pPr>
            <a:r>
              <a:t>That plan becomes one or more per-step execution requests at Checkpoint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Checkpoint 4</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Step execution requests leaving the harness</a:t>
            </a:r>
          </a:p>
        </p:txBody>
      </p:sp>
      <p:sp>
        <p:nvSpPr>
          <p:cNvPr id="4" name="TextBox 3"/>
          <p:cNvSpPr txBox="1"/>
          <p:nvPr/>
        </p:nvSpPr>
        <p:spPr>
          <a:xfrm>
            <a:off x="777240" y="1417320"/>
            <a:ext cx="10698480" cy="5120640"/>
          </a:xfrm>
          <a:prstGeom prst="rect">
            <a:avLst/>
          </a:prstGeom>
          <a:noFill/>
        </p:spPr>
        <p:txBody>
          <a:bodyPr wrap="square" anchor="t">
            <a:spAutoFit/>
          </a:bodyPr>
          <a:lstStyle/>
          <a:p>
            <a:pPr>
              <a:spcBef>
                <a:spcPts val="1000"/>
              </a:spcBef>
              <a:spcAft>
                <a:spcPts val="200"/>
              </a:spcAft>
            </a:pPr>
            <a:r>
              <a:rPr sz="1700" b="1">
                <a:solidFill>
                  <a:srgbClr val="2563EB"/>
                </a:solidFill>
              </a:rPr>
              <a:t>Represents</a:t>
            </a:r>
          </a:p>
          <a:p>
            <a:pPr>
              <a:spcAft>
                <a:spcPts val="300"/>
              </a:spcAft>
              <a:defRPr sz="1400">
                <a:solidFill>
                  <a:srgbClr val="111827"/>
                </a:solidFill>
              </a:defRPr>
            </a:pPr>
            <a:r>
              <a:t>Stage name: per-step execution request</a:t>
            </a:r>
          </a:p>
          <a:p>
            <a:pPr>
              <a:spcAft>
                <a:spcPts val="300"/>
              </a:spcAft>
              <a:defRPr sz="1400">
                <a:solidFill>
                  <a:srgbClr val="111827"/>
                </a:solidFill>
              </a:defRPr>
            </a:pPr>
            <a:r>
              <a:t>Meaning: one outbound request for one current step after a plan exists</a:t>
            </a:r>
          </a:p>
          <a:p>
            <a:pPr>
              <a:spcAft>
                <a:spcPts val="300"/>
              </a:spcAft>
              <a:defRPr sz="1400">
                <a:solidFill>
                  <a:srgbClr val="111827"/>
                </a:solidFill>
              </a:defRPr>
            </a:pPr>
            <a:r>
              <a:t>Occurrences in this run: 4 separate Checkpoint 4 events</a:t>
            </a:r>
          </a:p>
          <a:p>
            <a:pPr>
              <a:spcAft>
                <a:spcPts val="300"/>
              </a:spcAft>
              <a:defRPr sz="1400">
                <a:solidFill>
                  <a:srgbClr val="111827"/>
                </a:solidFill>
              </a:defRPr>
            </a:pPr>
            <a:r>
              <a:t>Measured at: the point where the execution stage is about to send one step-level request to the Dynamo frontend</a:t>
            </a:r>
          </a:p>
          <a:p>
            <a:pPr>
              <a:spcBef>
                <a:spcPts val="1000"/>
              </a:spcBef>
              <a:spcAft>
                <a:spcPts val="200"/>
              </a:spcAft>
            </a:pPr>
            <a:r>
              <a:rPr sz="1700" b="1">
                <a:solidFill>
                  <a:srgbClr val="2563EB"/>
                </a:solidFill>
              </a:rPr>
              <a:t>Payload at this stage</a:t>
            </a:r>
          </a:p>
          <a:p>
            <a:pPr>
              <a:spcAft>
                <a:spcPts val="300"/>
              </a:spcAft>
              <a:defRPr sz="1400">
                <a:solidFill>
                  <a:srgbClr val="111827"/>
                </a:solidFill>
              </a:defRPr>
            </a:pPr>
            <a:r>
              <a:t>prompt text: planning context rendered into one step-specific execution prompt</a:t>
            </a:r>
          </a:p>
          <a:p>
            <a:pPr>
              <a:spcAft>
                <a:spcPts val="300"/>
              </a:spcAft>
              <a:defRPr sz="1400">
                <a:solidFill>
                  <a:srgbClr val="111827"/>
                </a:solidFill>
              </a:defRPr>
            </a:pPr>
            <a:r>
              <a:t>request wrapper: task_metadata + phase + step_index + step_title + prompt_preview</a:t>
            </a:r>
          </a:p>
          <a:p>
            <a:pPr>
              <a:spcAft>
                <a:spcPts val="300"/>
              </a:spcAft>
              <a:defRPr sz="1400">
                <a:solidFill>
                  <a:srgbClr val="111827"/>
                </a:solidFill>
              </a:defRPr>
            </a:pPr>
            <a:r>
              <a:t>phase pattern: step_n_execution</a:t>
            </a:r>
          </a:p>
          <a:p>
            <a:pPr>
              <a:spcAft>
                <a:spcPts val="300"/>
              </a:spcAft>
              <a:defRPr sz="1400">
                <a:solidFill>
                  <a:srgbClr val="111827"/>
                </a:solidFill>
              </a:defRPr>
            </a:pPr>
            <a:r>
              <a:t>hints: agent_phase changes per step, expected_output_tokens=768</a:t>
            </a:r>
          </a:p>
          <a:p>
            <a:pPr>
              <a:spcAft>
                <a:spcPts val="300"/>
              </a:spcAft>
              <a:defRPr sz="1400">
                <a:solidFill>
                  <a:srgbClr val="111827"/>
                </a:solidFill>
              </a:defRPr>
            </a:pPr>
            <a:r>
              <a:t>step title in focus: inspect argument parsing for `--dry-run`</a:t>
            </a:r>
          </a:p>
          <a:p>
            <a:pPr>
              <a:spcBef>
                <a:spcPts val="1000"/>
              </a:spcBef>
              <a:spcAft>
                <a:spcPts val="200"/>
              </a:spcAft>
            </a:pPr>
            <a:r>
              <a:rPr sz="1700" b="1">
                <a:solidFill>
                  <a:srgbClr val="2563EB"/>
                </a:solidFill>
              </a:rPr>
              <a:t>Example step-execution prompt excerpt</a:t>
            </a:r>
          </a:p>
          <a:p>
            <a:pPr>
              <a:spcAft>
                <a:spcPts val="300"/>
              </a:spcAft>
              <a:defRPr sz="1400">
                <a:solidFill>
                  <a:srgbClr val="111827"/>
                </a:solidFill>
              </a:defRPr>
            </a:pPr>
            <a:r>
              <a:t>Approved decomposition plan:</a:t>
            </a:r>
          </a:p>
          <a:p>
            <a:pPr>
              <a:spcAft>
                <a:spcPts val="300"/>
              </a:spcAft>
              <a:defRPr sz="1400">
                <a:solidFill>
                  <a:srgbClr val="111827"/>
                </a:solidFill>
              </a:defRPr>
            </a:pPr>
            <a:r>
              <a:t>[</a:t>
            </a:r>
          </a:p>
          <a:p>
            <a:pPr>
              <a:spcAft>
                <a:spcPts val="300"/>
              </a:spcAft>
              <a:defRPr sz="1400">
                <a:solidFill>
                  <a:srgbClr val="111827"/>
                </a:solidFill>
              </a:defRPr>
            </a:pPr>
            <a:r>
              <a:t>  {</a:t>
            </a:r>
          </a:p>
          <a:p>
            <a:pPr>
              <a:spcAft>
                <a:spcPts val="300"/>
              </a:spcAft>
              <a:defRPr sz="1400">
                <a:solidFill>
                  <a:srgbClr val="111827"/>
                </a:solidFill>
              </a:defRPr>
            </a:pPr>
            <a:r>
              <a:t>    "step_id": 1,</a:t>
            </a:r>
          </a:p>
          <a:p>
            <a:pPr>
              <a:spcAft>
                <a:spcPts val="300"/>
              </a:spcAft>
              <a:defRPr sz="1400">
                <a:solidFill>
                  <a:srgbClr val="111827"/>
                </a:solidFill>
              </a:defRPr>
            </a:pPr>
            <a:r>
              <a:t>    "title": "A Python CLI has a `--dry-run` flag. Users say the command still creates a temporary working directory during dry run. Identify the two most likely code areas to inspect first and propose one safe high-level fix strategy",</a:t>
            </a:r>
          </a:p>
          <a:p>
            <a:pPr>
              <a:spcAft>
                <a:spcPts val="300"/>
              </a:spcAft>
              <a:defRPr sz="1400">
                <a:solidFill>
                  <a:srgbClr val="111827"/>
                </a:solidFill>
              </a:defRPr>
            </a:pPr>
            <a:r>
              <a:t>    "goal": "A Python CLI has a `--dry-run` flag. Users say the command still creates a temporary working directory during dry run. Identify the two most likely code areas to inspect first and propose one safe high-level fix strategy",</a:t>
            </a:r>
          </a:p>
          <a:p>
            <a:pPr>
              <a:spcAft>
                <a:spcPts val="300"/>
              </a:spcAft>
              <a:defRPr sz="1400">
                <a:solidFill>
                  <a:srgbClr val="111827"/>
                </a:solidFill>
              </a:defRPr>
            </a:pPr>
            <a:r>
              <a:t>...</a:t>
            </a:r>
          </a:p>
          <a:p>
            <a:pPr>
              <a:spcAft>
                <a:spcPts val="300"/>
              </a:spcAft>
              <a:defRPr sz="1400">
                <a:solidFill>
                  <a:srgbClr val="111827"/>
                </a:solidFill>
              </a:defRPr>
            </a:pPr>
            <a:r>
              <a:t>Current step:</a:t>
            </a:r>
          </a:p>
          <a:p>
            <a:pPr>
              <a:spcAft>
                <a:spcPts val="300"/>
              </a:spcAft>
              <a:defRPr sz="1400">
                <a:solidFill>
                  <a:srgbClr val="111827"/>
                </a:solidFill>
              </a:defRPr>
            </a:pPr>
            <a:r>
              <a:t>{</a:t>
            </a:r>
          </a:p>
          <a:p>
            <a:pPr>
              <a:spcAft>
                <a:spcPts val="300"/>
              </a:spcAft>
              <a:defRPr sz="1400">
                <a:solidFill>
                  <a:srgbClr val="111827"/>
                </a:solidFill>
              </a:defRPr>
            </a:pPr>
            <a:r>
              <a:t>  "step_id": 4,</a:t>
            </a:r>
          </a:p>
          <a:p>
            <a:pPr>
              <a:spcAft>
                <a:spcPts val="300"/>
              </a:spcAft>
              <a:defRPr sz="1400">
                <a:solidFill>
                  <a:srgbClr val="111827"/>
                </a:solidFill>
              </a:defRPr>
            </a:pPr>
            <a:r>
              <a:t>  "title": "inspect argument parsing for `--dry-run`",</a:t>
            </a:r>
          </a:p>
          <a:p>
            <a:pPr>
              <a:spcAft>
                <a:spcPts val="300"/>
              </a:spcAft>
              <a:defRPr sz="1400">
                <a:solidFill>
                  <a:srgbClr val="111827"/>
                </a:solidFill>
              </a:defRPr>
            </a:pPr>
            <a:r>
              <a:t>  "goal": "inspect argument parsing for `--dry-run`",</a:t>
            </a:r>
          </a:p>
          <a:p>
            <a:pPr>
              <a:spcAft>
                <a:spcPts val="300"/>
              </a:spcAft>
              <a:defRPr sz="1400">
                <a:solidFill>
                  <a:srgbClr val="111827"/>
                </a:solidFill>
              </a:defRPr>
            </a:pPr>
            <a:r>
              <a:t>  "deliverable": ""</a:t>
            </a:r>
          </a:p>
          <a:p>
            <a:pPr>
              <a:spcBef>
                <a:spcPts val="1000"/>
              </a:spcBef>
              <a:spcAft>
                <a:spcPts val="200"/>
              </a:spcAft>
            </a:pPr>
            <a:r>
              <a:rPr sz="1700" b="1">
                <a:solidFill>
                  <a:srgbClr val="2563EB"/>
                </a:solidFill>
              </a:rPr>
              <a:t>What changed here</a:t>
            </a:r>
          </a:p>
          <a:p>
            <a:pPr>
              <a:spcAft>
                <a:spcPts val="300"/>
              </a:spcAft>
              <a:defRPr sz="1400">
                <a:solidFill>
                  <a:srgbClr val="111827"/>
                </a:solidFill>
              </a:defRPr>
            </a:pPr>
            <a:r>
              <a:t>The single planning output became multiple outbound requests.</a:t>
            </a:r>
          </a:p>
          <a:p>
            <a:pPr>
              <a:spcAft>
                <a:spcPts val="300"/>
              </a:spcAft>
              <a:defRPr sz="1400">
                <a:solidFill>
                  <a:srgbClr val="111827"/>
                </a:solidFill>
              </a:defRPr>
            </a:pPr>
            <a:r>
              <a:t>Each request now includes the approved decomposition plan in the prompt.</a:t>
            </a:r>
          </a:p>
          <a:p>
            <a:pPr>
              <a:spcAft>
                <a:spcPts val="300"/>
              </a:spcAft>
              <a:defRPr sz="1400">
                <a:solidFill>
                  <a:srgbClr val="111827"/>
                </a:solidFill>
              </a:defRPr>
            </a:pPr>
            <a:r>
              <a:t>Each request also includes the current step and any completed step summaries.</a:t>
            </a:r>
          </a:p>
          <a:p>
            <a:pPr>
              <a:spcAft>
                <a:spcPts val="300"/>
              </a:spcAft>
              <a:defRPr sz="1400">
                <a:solidFill>
                  <a:srgbClr val="111827"/>
                </a:solidFill>
              </a:defRPr>
            </a:pPr>
            <a:r>
              <a:t>The agent_phase hint changes from planning to step_n_execution.</a:t>
            </a:r>
          </a:p>
          <a:p>
            <a:pPr>
              <a:spcBef>
                <a:spcPts val="1000"/>
              </a:spcBef>
              <a:spcAft>
                <a:spcPts val="200"/>
              </a:spcAft>
            </a:pPr>
            <a:r>
              <a:rPr sz="1700" b="1">
                <a:solidFill>
                  <a:srgbClr val="2563EB"/>
                </a:solidFill>
              </a:rPr>
              <a:t>What goes to the next stage</a:t>
            </a:r>
          </a:p>
          <a:p>
            <a:pPr>
              <a:spcAft>
                <a:spcPts val="300"/>
              </a:spcAft>
              <a:defRPr sz="1400">
                <a:solidFill>
                  <a:srgbClr val="111827"/>
                </a:solidFill>
              </a:defRPr>
            </a:pPr>
            <a:r>
              <a:t>Dynamo receives one request per planned step.</a:t>
            </a:r>
          </a:p>
          <a:p>
            <a:pPr>
              <a:spcAft>
                <a:spcPts val="300"/>
              </a:spcAft>
              <a:defRPr sz="1400">
                <a:solidFill>
                  <a:srgbClr val="111827"/>
                </a:solidFill>
              </a:defRPr>
            </a:pPr>
            <a:r>
              <a:t>Each response is stored as a step summary/result.</a:t>
            </a:r>
          </a:p>
          <a:p>
            <a:pPr>
              <a:spcAft>
                <a:spcPts val="300"/>
              </a:spcAft>
              <a:defRPr sz="1400">
                <a:solidFill>
                  <a:srgbClr val="111827"/>
                </a:solidFill>
              </a:defRPr>
            </a:pPr>
            <a:r>
              <a:t>After all step requests complete, those accumulated results feed the synthesis request at Checkpoint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Checkpoint 5</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Final synthesis request leaving the harness</a:t>
            </a:r>
          </a:p>
        </p:txBody>
      </p:sp>
      <p:sp>
        <p:nvSpPr>
          <p:cNvPr id="4" name="TextBox 3"/>
          <p:cNvSpPr txBox="1"/>
          <p:nvPr/>
        </p:nvSpPr>
        <p:spPr>
          <a:xfrm>
            <a:off x="777240" y="1417320"/>
            <a:ext cx="10698480" cy="5120640"/>
          </a:xfrm>
          <a:prstGeom prst="rect">
            <a:avLst/>
          </a:prstGeom>
          <a:noFill/>
        </p:spPr>
        <p:txBody>
          <a:bodyPr wrap="square" anchor="t">
            <a:spAutoFit/>
          </a:bodyPr>
          <a:lstStyle/>
          <a:p>
            <a:pPr>
              <a:spcBef>
                <a:spcPts val="1000"/>
              </a:spcBef>
              <a:spcAft>
                <a:spcPts val="200"/>
              </a:spcAft>
            </a:pPr>
            <a:r>
              <a:rPr sz="1700" b="1">
                <a:solidFill>
                  <a:srgbClr val="2563EB"/>
                </a:solidFill>
              </a:rPr>
              <a:t>Represents</a:t>
            </a:r>
          </a:p>
          <a:p>
            <a:pPr>
              <a:spcAft>
                <a:spcPts val="300"/>
              </a:spcAft>
              <a:defRPr sz="1400">
                <a:solidFill>
                  <a:srgbClr val="111827"/>
                </a:solidFill>
              </a:defRPr>
            </a:pPr>
            <a:r>
              <a:t>Stage name: final synthesis request</a:t>
            </a:r>
          </a:p>
          <a:p>
            <a:pPr>
              <a:spcAft>
                <a:spcPts val="300"/>
              </a:spcAft>
              <a:defRPr sz="1400">
                <a:solidFill>
                  <a:srgbClr val="111827"/>
                </a:solidFill>
              </a:defRPr>
            </a:pPr>
            <a:r>
              <a:t>Meaning: the final outbound merge request after step execution is complete</a:t>
            </a:r>
          </a:p>
          <a:p>
            <a:pPr>
              <a:spcAft>
                <a:spcPts val="300"/>
              </a:spcAft>
              <a:defRPr sz="1400">
                <a:solidFill>
                  <a:srgbClr val="111827"/>
                </a:solidFill>
              </a:defRPr>
            </a:pPr>
            <a:r>
              <a:t>Checkpoint type: one last Dynamo-bound request that combines step outputs into one answer</a:t>
            </a:r>
          </a:p>
          <a:p>
            <a:pPr>
              <a:spcAft>
                <a:spcPts val="300"/>
              </a:spcAft>
              <a:defRPr sz="1400">
                <a:solidFill>
                  <a:srgbClr val="111827"/>
                </a:solidFill>
              </a:defRPr>
            </a:pPr>
            <a:r>
              <a:t>Measured at: the point where the synthesis stage is about to send the final combined request to the Dynamo frontend</a:t>
            </a:r>
          </a:p>
          <a:p>
            <a:pPr>
              <a:spcBef>
                <a:spcPts val="1000"/>
              </a:spcBef>
              <a:spcAft>
                <a:spcPts val="200"/>
              </a:spcAft>
            </a:pPr>
            <a:r>
              <a:rPr sz="1700" b="1">
                <a:solidFill>
                  <a:srgbClr val="2563EB"/>
                </a:solidFill>
              </a:rPr>
              <a:t>Payload at this stage</a:t>
            </a:r>
          </a:p>
          <a:p>
            <a:pPr>
              <a:spcAft>
                <a:spcPts val="300"/>
              </a:spcAft>
              <a:defRPr sz="1400">
                <a:solidFill>
                  <a:srgbClr val="111827"/>
                </a:solidFill>
              </a:defRPr>
            </a:pPr>
            <a:r>
              <a:t>prompt text: accumulated step outputs rendered into one synthesis prompt</a:t>
            </a:r>
          </a:p>
          <a:p>
            <a:pPr>
              <a:spcAft>
                <a:spcPts val="300"/>
              </a:spcAft>
              <a:defRPr sz="1400">
                <a:solidFill>
                  <a:srgbClr val="111827"/>
                </a:solidFill>
              </a:defRPr>
            </a:pPr>
            <a:r>
              <a:t>request wrapper: task_metadata + phase + prompt_preview + step_count</a:t>
            </a:r>
          </a:p>
          <a:p>
            <a:pPr>
              <a:spcAft>
                <a:spcPts val="300"/>
              </a:spcAft>
              <a:defRPr sz="1400">
                <a:solidFill>
                  <a:srgbClr val="111827"/>
                </a:solidFill>
              </a:defRPr>
            </a:pPr>
            <a:r>
              <a:t>phase: synthesis</a:t>
            </a:r>
          </a:p>
          <a:p>
            <a:pPr>
              <a:spcAft>
                <a:spcPts val="300"/>
              </a:spcAft>
              <a:defRPr sz="1400">
                <a:solidFill>
                  <a:srgbClr val="111827"/>
                </a:solidFill>
              </a:defRPr>
            </a:pPr>
            <a:r>
              <a:t>new field: step_count=4</a:t>
            </a:r>
          </a:p>
          <a:p>
            <a:pPr>
              <a:spcAft>
                <a:spcPts val="300"/>
              </a:spcAft>
              <a:defRPr sz="1400">
                <a:solidFill>
                  <a:srgbClr val="111827"/>
                </a:solidFill>
              </a:defRPr>
            </a:pPr>
            <a:r>
              <a:t>hints: agent_phase=synthesis, expected_output_tokens=768</a:t>
            </a:r>
          </a:p>
          <a:p>
            <a:pPr>
              <a:spcBef>
                <a:spcPts val="1000"/>
              </a:spcBef>
              <a:spcAft>
                <a:spcPts val="200"/>
              </a:spcAft>
            </a:pPr>
            <a:r>
              <a:rPr sz="1700" b="1">
                <a:solidFill>
                  <a:srgbClr val="2563EB"/>
                </a:solidFill>
              </a:rPr>
              <a:t>Example synthesis prompt excerpt</a:t>
            </a:r>
          </a:p>
          <a:p>
            <a:pPr>
              <a:spcAft>
                <a:spcPts val="300"/>
              </a:spcAft>
              <a:defRPr sz="1400">
                <a:solidFill>
                  <a:srgbClr val="111827"/>
                </a:solidFill>
              </a:defRPr>
            </a:pPr>
            <a:r>
              <a:t>Step results:</a:t>
            </a:r>
          </a:p>
          <a:p>
            <a:pPr>
              <a:spcAft>
                <a:spcPts val="300"/>
              </a:spcAft>
              <a:defRPr sz="1400">
                <a:solidFill>
                  <a:srgbClr val="111827"/>
                </a:solidFill>
              </a:defRPr>
            </a:pPr>
            <a:r>
              <a:t>Step 1 (A Python CLI has a `--dry-run` flag. Users say the command still creates a temporary working directory during dry run. Identify the two most likely code areas to inspect first and propose one safe high-level fix strategy):</a:t>
            </a:r>
          </a:p>
          <a:p>
            <a:pPr>
              <a:spcAft>
                <a:spcPts val="300"/>
              </a:spcAft>
              <a:defRPr sz="1400">
                <a:solidFill>
                  <a:srgbClr val="111827"/>
                </a:solidFill>
              </a:defRPr>
            </a:pPr>
            <a:r>
              <a:t>{'messages': [HumanMessage(content='You are working on one SWE-bench Pro software engineering task.\n\nTask metadata:\n- instance_id: sample__stronger_behavior__001\n- repo: example/repo\n\nProblem statement:\nA Python CLI has a `--dry-run` flag. Users say the command still creates a temporary working directory during dry run. Identify the two most likely code areas to inspect first and propose one safe high-level fix strategy.\n\nRequirements:\nKeep the answer short and structured. Do not claim code was edited or tests were run unless that actually happened.\n\nInterface / environment notes:\nAssume a small Python CLI app with an argument parser, a dispatcher, and one helper that creates temporary directories.\n\nSelected tests to run:\ntests/test_cli_dry_run.py\n\nWorkspace:\nNo local repo workspace was provided for this run.\n\nYour job:\n1. Break this task into concrete steps.\n2. Identify what information would be needed to solve it well.\n3. Inspect the local repo if a workspace is available.\n4. Produce a structured plan for solving it.\n5. If the workspace is available, make a safe first-pass fix in the repo.\n6. Summarize what changed and what should be validated next.\n\nDo not claim that code was changed or tests were run unless you actually did so.\nFocus on decomposition, reasoning, and a clear action plan.\n\nApproved decomposition plan:\n[\n  {\n    "step_id": 1,\n    "title": "A Python CLI has a `--dry-run` flag. Users say the command still creates a temporary working directory during dry run. Identify the two most likely code areas to inspect first and propose one safe high-level fix strategy",\n    "goal": "A Python CLI has a `--dry-run` flag. Users say the command still creates a temporary working directory during dry run. Identify the two most likely code areas to inspect first and propose one safe high-level fix strategy",\n    "deliverable": ""\n  },\n  {\n    "step_id": 2,\n    "title": "Identify what information would be needed to solve it well",\n    "goal": "Identify what information would be needed to solve it well",\n    "deliverable": ""\n  },\n  {\n    "step_id": 3,\n    "title": "Inspect the local repo if a workspace is available",\n    "goal": "Inspect the local repo if a workspace is available",\n    "deliverable": ""\n  },\n  {\n    "step_id": 4,\n    "title": "inspect argument parsing for `--dry-run`",\n    "goal": "inspect argument parsing for `--dry-run`",\n    "deliverable": ""\n  }\n]\n\nCurrent step:\n{\n  "step_id": 1,\n  "title": "A Python CLI has a `--dry-run` flag. Users say the command still creates a temporary working directory during dry run. Identify the two most likely code areas to inspect first and propose one safe high-level fix strategy",\n  "goal": "A Python CLI has a `--dry-run` flag. Users say the command still creates a temporary working directory during dry run. Identify the two most likely code areas to inspect first and propose one safe high-level fix strategy",\n  "deliverable": ""\n}\n\nCompleted step summaries so far:\nNone yet.\n\nYour job for this step:\n1. Focus only on the current step.\n2. Inspect or modify the workspace if it is available and needed.\n3. Produce a concise step summary.\n4. Say exactly what files or code locations mattered for this step.\n5. Do not invent test runs or edits you did not perform.', additional_kwargs={}, response_metadata={}, id='d7efaead-42c8-43a5-b979-011af1dd53b1'), AIMessage(content="Assistant: Assistant: Sure, let's break down the task into concrete steps and identify the most likely code areas to inspect first.\n\n### Step 1: Identify the most likely code areas to inspect first\n\n1. **Inspect argument parsing for `--dry-run`**\n2. **Inspect the working directory during dry run**\n\n### Step 2: Inspect or modify the workspace if it is available and needed\n\nAssistant: Assistant: I'll start by inspecting the working directory during dry run. This will help me understand the context and ensure that the command is being run correctly.\n\n### Step 3: Produce a concise step summary\n\nAssistant: Assistant: Sure, here's a concise step summary:\n\n1. **Inspect argument parsing for `--dry-run`**\n2. **Inspect the working directory during dry run**\n\n### Step 4: Say exactly what files or code locations mattered for this step\n\nAssistant: Assistant: The working directory during dry run is crucial for understanding the context and ensuring that the command is being run correctly. I'll focus on the working directory during dry run and inspect the argument parsing for `--dry-run`.\n\n### Step 5: Do not invent test runs or edits you did not perform\n\nAssistant: Assistant: I'll focus on the working directory during dry run and inspect the argument parsing for `--dry-run`. I won't invent test runs or edits that I didn't perform.\n\n### Step 6: Summarize what changed and what should be validated next\n\nAssistant: Assistant: The working directory during dry run is the most likely code area to inspect first. I'll focus on the working directory during dry run and inspect the argument parsing for `--dry-run`. I'll also ensure that the command is being run correctly.\n\n### Completed step summaries so far:\n\nAssistant: Assistant: Sure, here are the completed step summaries so far:\n\n1. **Inspect argument parsing for `--dry-run`**\n2. **Inspect the working directory during dry run**\n\nAssistant: Assistant: The working directory during dry run is crucial for understanding the context and ensuring that the command is being run correctly. I'll focus on the working directory during dry run and inspect the argument parsing for `--dry-run`. I'll also ensure that the command is being run correctly.\n\n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Assistant:", additional_kwargs={'refusal': None}, response_metadata={'token_usage': {'completion_tokens': 2048, 'prompt_tokens': 6877, 'total_tokens': 8925, 'completion_tokens_details': None, 'prompt_tokens_details': None}, 'model_provider': 'openai', 'model_name': 'Qwen/Qwen2.5-0.5B', 'system_fingerprint': None, 'id': 'chatcmpl-c83bcabc-d47f-4d89-a7f7-d0aa894f45f5', 'finish_reason': 'length', 'logprobs': None}, id='lc_run--019dff14-5651-7530-bcff-fd15bf4bd8bb-0', tool_calls=[], invalid_tool_calls=[], usage_metadata={'input_tokens': 6877, 'output_tokens': 2048, 'total_tokens': 8925, 'input_token_details': {}, 'output_token_details': {}})]}</a:t>
            </a:r>
          </a:p>
          <a:p>
            <a:pPr>
              <a:spcAft>
                <a:spcPts val="300"/>
              </a:spcAft>
              <a:defRPr sz="1400">
                <a:solidFill>
                  <a:srgbClr val="111827"/>
                </a:solidFill>
              </a:defRPr>
            </a:pPr>
            <a:r>
              <a:t>Step 2 (Identify what information would be needed to solve it well):</a:t>
            </a:r>
          </a:p>
          <a:p>
            <a:pPr>
              <a:spcAft>
                <a:spcPts val="300"/>
              </a:spcAft>
              <a:defRPr sz="1400">
                <a:solidFill>
                  <a:srgbClr val="111827"/>
                </a:solidFill>
              </a:defRPr>
            </a:pPr>
            <a:r>
              <a:t>{'messages': [HumanMessage(content='You are working on one SWE-bench Pro software engineering task.\n\nTask metadata:\n- instance_id: sample__stronger_behavior__001\n- repo: example/repo\n\nProblem statement:\nA Python CLI has a `--dry-run` flag. Users say the command still creates a temporary working directory during dry run. Identify the two most likely code areas to inspect first and propose one safe high-level fix strategy.\n\nRequirements:\nKeep the answer short and structured. Do not claim code was edited or tests were run unless that actually happened.\n\nInterface / environment notes:\nAssume a small Python CLI app with an argument parser, a dispatcher, and one helper that creates temporary directories.\n\nSelected tests to run:\ntests/test_cli_dry_run.py\n\nWorkspace:\nNo local repo workspace was provided for this run.\n\nYour job:\n1. Break this task into concrete steps.\n2. Identify what information would be needed to solve it well.\n3. Inspect the local repo if a workspace is available.\n4. Produce a structured plan for solving it.\n5. If the workspace is available, make a safe first-pass fix in the repo.\n6. Summarize what changed and what should be validated next.\n\nDo not claim that code was changed or tests were run unless you actually did so.\nFocus on decomposition, reasoning, and a clear action plan.\n\nApproved decomposition plan:\n[\n  {\n    "step_id": 1,\n    "title": "A Python CLI has a `--dry-run` flag. Users say the command still creates a temporary working directory during dry run. Identify the two most likely code areas to inspect first and propose one safe high-level fix strategy",\n    "goal": "A Python CLI has a `--dry-run` flag. Users say the command still creates a temporary working directory during dry run. Identify the two most likely code areas to inspect first and propose one safe high-level fix strategy",\n    "deliverable": ""\n  },\n  {\n    "step_id": 2,\n    "title": "Identify what information would be needed to solve it well",\n    "goal": "Identify what information would be needed to solve it well",\n    "deliverable": ""\n  },\n  {\n    "step_id": 3,\n    "title": "Inspect the local repo if a workspace is available",\n    "goal": "Inspect the local repo if a workspace is available",\n    "deliverable": ""\n  },\n  {\n    "step_id": 4,\n    "title": "inspect argument parsing for `--dry-run`",\n    "goal": "inspect argument parsing for `--dry-run`",\n    "deliverable": ""\n  }\n]\n\nCurrent step:\n{\n  "step_id": 2,\n  "title": "Identify what information would be needed to solve it well",\n  "goal": "Identify what information would be needed to solve it well",\n  "deliverable": ""\n}\n\nCompleted step summaries so far:\n- Step 1 summary: {\'messages\': [HumanMessage(content=\'You are working on one SWE-bench Pro software engineering task.\\n\\nTask metadata:\\n- instance_id: sample__stronger_behavior__001\\n- repo: example/repo\\n\\nProblem statement:\\nA Python CLI has a `--dry-run` flag. Users say the command still creates a temporary working directory during dry run. Identify the two most likely code areas to inspect first and propose one safe high-level fix strategy.\\n\\nRequirements:\\nKeep the answer short and structured. Do not claim code was edited or tests were run unless that actually happened.\\n\\nInterface / environment notes:\\nAssume a small Python CLI app with an argument parser, a dispatcher, and one helper that creates temporary directories.\\n\\nSelected tests to run:\\ntests/test_cli_dry_run.py\\n\\nWorkspace:\\nNo local repo workspace was provided for this run.\\n\\nYour job:\\n1. Break this task into concrete steps.\\n2. Identify what information would be needed to solve it well.\\n3. Inspect the local repo if a workspace is available.\\n4. Produce a structured plan for solving it.\\n5. If the workspace is available, make a safe first-pass fix in the repo.\\n6. Summarize what changed and what should be validated next.\\n\\n\n\nYour job for this step:\n1. Focus only on the current step.\n2. Inspect or modify the workspace if it is available and needed.\n3. Produce a concise step summary.\n4. Say exactly what files or code locations mattered for this step.\n5. Do not invent test runs or edits you did not perform.', additional_kwargs={}, response_metadata={}, id='10cb8d0b-5b6b-479a-b18c-b96c365edb8e'), AIMessage(content='Assistant: Assistant: Sure, let\'s break down the task into concrete steps and identify the most likely code areas to inspect first.\n\n### Step 1: Identify What Information Would Be Needed to Solve It Well\n\n#### Step 1.1: Understand the Problem\n- **Problem Statement**: A Python CLI has a `--dry-run` flag. Users say the command still creates a temporary working directory during dry run. Identify the two most likely code areas to inspect first and propose one safe high-level fix strategy.\n\n#### Step 1.2: Inspect the Local Repo\n- **Inspect Argument Parsing for `--dry-run`**: Inspect the argument parsing for the `--dry-run` flag to understand the context and parameters.\n\n#### Step 1.3: Identify Code Areas to Inspect\n- **Code Areas to Inspect**: Focus on the code that interacts with the `--dry-run` flag and the temporary working directory during dry run.\n\n### Step 2: Inspect the Argument Parsing for `--dry-run`\n\n#### Step 2.1: Understand the Argument Parsing\n- **Argument Parsing**: Understand how the `--dry-run` flag is parsed and what parameters are passed.\n\n#### Step 2.2: Inspect the Temporary Working Directory\n- **Temporary Working Directory**: Inspect the temporary working directory during dry run to understand the context and parameters.\n\n### Step 3: Identify Code Areas to Inspect\n\n#### Step 3.1: Focus on the Code That Interacts with `--dry-run`\n- **Code Interactions**: Identify the code that interacts with the `--dry-run` flag and the temporary working directory during dry run.\n\n#### Step 3.2: Inspect the Code Interactions\n- **Code Interactions**: Inspect the code that interacts with the `--dry-run` flag and the temporary working directory during dry run.\n\n### Step 4: Inspect the Argument Parsing for `--dry-run`\n\n#### Step 4.1: Understand the Argument Parsing\n- **Argument Parsing**: Understand how the `--dry-run` flag is parsed and what parameters are passed.\n\n#### Step 4.2: Inspect the Temporary Working Directory\n- **Temporary Working Directory**: Inspect the temporary working directory during dry run to understand the context and parameters.\n\n### Step 5: Identify Code Areas to Inspect\n\n#### Step 5.1: Focus on the Code That Interacts with `--dry-run`\n- **Code Interactions**: Identify the code that interacts with the `--dry-run` flag and the temporary working directory during dry run.\n\n#### Step 5.2: Inspect the Code Interactions\n- **Code Interactions**: Inspect the code that interacts with the `--dry-run` flag and the temporary working directory during dry run.\n\n### Step 6: Produce a Concise Step Summary\n\n#### Step 6.1: Summarize the Steps\n- **Step 1 Summary**: "Identify what information would be needed to solve it well."\n- **Step 2 Summary**: "Inspect the argument parsing for `--dry-run`."\n- **Step 3 Summary**: "Identify code areas to inspect."\n- **Step 4 Summary**: "Inspect the argument parsing for `--dry-run`."\n- **Step 5 Summary**: "Identify code areas to inspect."\n- **Step 6 Summary**: "Summarize what changed and what should be validated next."\n\nAssistant: Assistant: Sure, let\'s break down the task into concrete steps and identify the most likely code areas to inspect first.\n\n### Step 1: Identify What Information Would Be Needed to Solve It Well\n\n#### Step 1.1: Understand the Problem\n- **Problem Statement**: A Python CLI has a `--dry-run` flag. Users say the command still creates a temporary working directory during dry run. Identify the two most likely code areas to inspect first and propose one safe high-level fix strategy.\n\n#### Step 1.2: Inspect the Local Repo\n- **Inspect Argument Parsing for `--dry-run`**: Inspect the argument parsing for the `--dry-run` flag to understand the context and parameters.\n\n#### Step 1.3: Identify Code Areas to Inspect\n- **Code Areas to Inspect**: Focus on the code that interacts with the `--dry-run` flag and the temporary working directory during dry run.\n\n### Step 2: Inspect the Argument Parsing for `--dry-run`\n\n#### Step 2.1: Understand the Argument Parsing\n- **Argument Parsing**: Understand how the `--dry-run` flag is parsed and what parameters are passed.\n\n#### Step 2.2: Inspect the Temporary Working Directory\n- **Temporary Working Directory**: Inspect the temporary working directory during dry run to understand the context and parameters.\n\n### Step 3: Identify Code Areas to Inspect\n\n#### Step 3.1: Focus on the Code That Interacts with `--dry-run`\n- **Code Interactions**: Identify the code that interacts with the `--dry-run` flag and the temporary working directory during dry run.\n\n#### Step 3.2: Inspect the Code Interactions\n- **Code Interactions**: Inspect the code that interacts with the `--dry-run` flag and the temporary working directory during dry run.\n\n### Step 4: Inspect the Argument Parsing for `--dry-run`\n\n#### Step 4.1: Understand the Argument Parsing\n- **Argument Parsing**: Understand how the `--dry-run` flag is parsed and what parameters are passed.\n\n#### Step 4.2: Inspect the Temporary Working Directory\n- **Temporary Working Directory**: Inspect the temporary working directory during dry run to understand the context and parameters.\n\n### Step 5: Identify Code Areas to Inspect\n\n#### Step 5.1: Focus on the Code That Interacts with `--dry-run`\n- **Code Interactions**: Identify the code that interacts with the `--dry-run` flag and the temporary working directory during dry run.\n\n#### Step 5.2: Inspect the Code Interactions\n- **Code Interactions**: Inspect the code that interacts with the `--dry-run` flag and the temporary working directory during dry run.\n\n### Step 6: Produce a Concise Step Summary\n\n#### Step 6.1: Summarize the Steps\n- **Step 1 Summary**: "Identify what information would be needed to solve it well."\n- **Step 2 Summary**: "Inspect the argument parsing for `--dry-run`."\n- **Step 3 Summary**: "Identify code areas to inspect."\n- **Step 4 Summary**: "Inspect the argument parsing for `--dry-run`."\n- **Step 5 Summary**: "Identify code areas to inspect."\n- **Step 6 Summary**: "Summarize what changed and what should be validated next."\n\nAssistant: Assistant: Sure, let\'s break down the task into concrete steps and identify the most likely code areas to inspect first.\n\n### Step 1: Identify What Information Would Be Needed to Solve It Well\n\n#### Step 1.1: Understand the Problem\n- **Problem Statement**: A Python CLI has a `--dry-run` flag. Users say the command still creates a temporary working directory during dry run. Identify the two most likely code areas to inspect first and propose one safe high-level fix strategy.\n\n#### Step 1.2: Inspect the Local Repo\n- **Inspect Argument Parsing for `--dry-run`**: Inspect the argument parsing for the `--dry-run` flag to understand the context and parameters.\n\n#### Step 1.3: Identify Code Areas to Inspect\n- **Code Areas to Inspect**: Focus on the code that interacts with the `--dry-run` flag and the temporary working directory during dry run.\n\n### Step 2: Inspect the Argument Parsing for `--dry-run`\n\n#### Step 2.1: Understand the Argument Parsing\n- **Argument Parsing**: Understand how the `--dry-run` flag is parsed and what parameters are passed.\n\n#### Step 2.2: Inspect the Temporary Working Directory\n- **Temporary Working Directory**: Inspect the temporary working directory during dry run to understand the context and parameters.\n\n### Step 3: Identify Code Areas to Inspect\n\n#### Step 3.1: Focus on the Code That Interacts with `--dry-run`\n- **Code Interactions**: Identify the code that interacts with the `--dry-run` flag and the temporary working directory during dry run.\n\n#### Step 3.2: Inspect the Code Interactions\n- **Code Interactions**: Inspect the code that interacts with the `--dry-run` flag and the temporary working directory during dry run.\n\n### Step 4: Inspect the Argument Parsing for `--dry-run`\n\n#### Step 4.1: Understand the Argument Parsing\n- **Argument Parsing**: Understand how the `--dry-run` flag is parsed and what parameters are passed.\n\n#### Step 4.2: Inspect the Temporary Working Directory\n- **Temporary Working Directory**: Inspect the temporary working directory during dry run to understand the context and parameters.\n\n### Step 5: Identify Code Areas to Inspect\n\n#### Step 5.1: Focus on the Code That Interacts with `--dry-run`\n- **Code Interactions**: Identify the code that interacts with the `--dry-run` flag and the temporary working directory during dry run.\n\n#### Step 5.2: Inspect the Code Interactions\n- **Code Interactions**: Inspect the code that interacts with the `--dry-run` flag and the temporary working directory during dry run.\n\n### Step 6: Produce a Concise Step Summary\n\n#### Step 6.1: Summarize the Steps\n- **Step 1 Summary**: "Identify what information would be needed to solve it well."\n- **Step 2 Summary**: "Inspect the argument parsing for `--dry-run`."\n- **Step 3', additional_kwargs={'refusal': None}, response_metadata={'token_usage': {'completion_tokens': 2048, 'prompt_tokens': 7092, 'total_tokens': 9140, 'completion_tokens_details': None, 'prompt_tokens_details': {'audio_tokens': None, 'cached_tokens': 6656}}, 'model_provider': 'openai', 'model_name': 'Qwen/Qwen2.5-0.5B', 'system_fingerprint': None, 'id': 'chatcmpl-afffdce5-5343-4c37-b6c0-3e176b01d9b7', 'finish_reason': 'length', 'logprobs': None}, id='lc_run--019dff14-7131-7d61-a9a9-b2d5ba283396-0', tool_calls=[], invalid_tool_calls=[], usage_metadata={'input_tokens': 7092, 'output_tokens': 2048, 'total_tokens': 9140, 'input_token_details': {'cache_read': 6656}, 'output_token_details': {}})]}</a:t>
            </a:r>
          </a:p>
          <a:p>
            <a:pPr>
              <a:spcAft>
                <a:spcPts val="300"/>
              </a:spcAft>
              <a:defRPr sz="1400">
                <a:solidFill>
                  <a:srgbClr val="111827"/>
                </a:solidFill>
              </a:defRPr>
            </a:pPr>
            <a:r>
              <a:t>...</a:t>
            </a:r>
          </a:p>
          <a:p>
            <a:pPr>
              <a:spcAft>
                <a:spcPts val="300"/>
              </a:spcAft>
              <a:defRPr sz="1400">
                <a:solidFill>
                  <a:srgbClr val="111827"/>
                </a:solidFill>
              </a:defRPr>
            </a:pPr>
            <a:r>
              <a:t>Produce a final summary with these sections:</a:t>
            </a:r>
          </a:p>
          <a:p>
            <a:pPr>
              <a:spcAft>
                <a:spcPts val="300"/>
              </a:spcAft>
              <a:defRPr sz="1400">
                <a:solidFill>
                  <a:srgbClr val="111827"/>
                </a:solidFill>
              </a:defRPr>
            </a:pPr>
            <a:r>
              <a:t>1. Overall diagnosis</a:t>
            </a:r>
          </a:p>
          <a:p>
            <a:pPr>
              <a:spcAft>
                <a:spcPts val="300"/>
              </a:spcAft>
              <a:defRPr sz="1400">
                <a:solidFill>
                  <a:srgbClr val="111827"/>
                </a:solidFill>
              </a:defRPr>
            </a:pPr>
            <a:r>
              <a:t>2. Proposed fix strategy</a:t>
            </a:r>
          </a:p>
          <a:p>
            <a:pPr>
              <a:spcAft>
                <a:spcPts val="300"/>
              </a:spcAft>
              <a:defRPr sz="1400">
                <a:solidFill>
                  <a:srgbClr val="111827"/>
                </a:solidFill>
              </a:defRPr>
            </a:pPr>
            <a:r>
              <a:t>3. Files or code areas that matter most</a:t>
            </a:r>
          </a:p>
          <a:p>
            <a:pPr>
              <a:spcAft>
                <a:spcPts val="300"/>
              </a:spcAft>
              <a:defRPr sz="1400">
                <a:solidFill>
                  <a:srgbClr val="111827"/>
                </a:solidFill>
              </a:defRPr>
            </a:pPr>
            <a:r>
              <a:t>4. Validation steps still needed</a:t>
            </a:r>
          </a:p>
          <a:p>
            <a:pPr>
              <a:spcAft>
                <a:spcPts val="300"/>
              </a:spcAft>
              <a:defRPr sz="1400">
                <a:solidFill>
                  <a:srgbClr val="111827"/>
                </a:solidFill>
              </a:defRPr>
            </a:pPr>
            <a:r>
              <a:t>5. What actually changed in the workspace, if anything</a:t>
            </a:r>
          </a:p>
          <a:p>
            <a:pPr>
              <a:spcBef>
                <a:spcPts val="1000"/>
              </a:spcBef>
              <a:spcAft>
                <a:spcPts val="200"/>
              </a:spcAft>
            </a:pPr>
            <a:r>
              <a:rPr sz="1700" b="1">
                <a:solidFill>
                  <a:srgbClr val="2563EB"/>
                </a:solidFill>
              </a:rPr>
              <a:t>What changed here</a:t>
            </a:r>
          </a:p>
          <a:p>
            <a:pPr>
              <a:spcAft>
                <a:spcPts val="300"/>
              </a:spcAft>
              <a:defRPr sz="1400">
                <a:solidFill>
                  <a:srgbClr val="111827"/>
                </a:solidFill>
              </a:defRPr>
            </a:pPr>
            <a:r>
              <a:t>Per-step results were aggregated into one combined prompt.</a:t>
            </a:r>
          </a:p>
          <a:p>
            <a:pPr>
              <a:spcAft>
                <a:spcPts val="300"/>
              </a:spcAft>
              <a:defRPr sz="1400">
                <a:solidFill>
                  <a:srgbClr val="111827"/>
                </a:solidFill>
              </a:defRPr>
            </a:pPr>
            <a:r>
              <a:t>The request is no longer about a single step; it is about the whole task again.</a:t>
            </a:r>
          </a:p>
          <a:p>
            <a:pPr>
              <a:spcAft>
                <a:spcPts val="300"/>
              </a:spcAft>
              <a:defRPr sz="1400">
                <a:solidFill>
                  <a:srgbClr val="111827"/>
                </a:solidFill>
              </a:defRPr>
            </a:pPr>
            <a:r>
              <a:t>The agent_phase hint changes from step_n_execution to synthesis.</a:t>
            </a:r>
          </a:p>
          <a:p>
            <a:pPr>
              <a:spcBef>
                <a:spcPts val="1000"/>
              </a:spcBef>
              <a:spcAft>
                <a:spcPts val="200"/>
              </a:spcAft>
            </a:pPr>
            <a:r>
              <a:rPr sz="1700" b="1">
                <a:solidFill>
                  <a:srgbClr val="2563EB"/>
                </a:solidFill>
              </a:rPr>
              <a:t>What goes to the next stage</a:t>
            </a:r>
          </a:p>
          <a:p>
            <a:pPr>
              <a:spcAft>
                <a:spcPts val="300"/>
              </a:spcAft>
              <a:defRPr sz="1400">
                <a:solidFill>
                  <a:srgbClr val="111827"/>
                </a:solidFill>
              </a:defRPr>
            </a:pPr>
            <a:r>
              <a:t>Final summary preview: Assistant: Sure, let's break down the task into concrete steps and identify the most likely code areas to inspect first, then propose a safe high-...</a:t>
            </a:r>
          </a:p>
          <a:p>
            <a:pPr>
              <a:spcAft>
                <a:spcPts val="300"/>
              </a:spcAft>
              <a:defRPr sz="1400">
                <a:solidFill>
                  <a:srgbClr val="111827"/>
                </a:solidFill>
              </a:defRPr>
            </a:pPr>
            <a:r>
              <a:t>Dynamo returns one final combined answer.</a:t>
            </a:r>
          </a:p>
          <a:p>
            <a:pPr>
              <a:spcAft>
                <a:spcPts val="300"/>
              </a:spcAft>
              <a:defRPr sz="1400">
                <a:solidFill>
                  <a:srgbClr val="111827"/>
                </a:solidFill>
              </a:defRPr>
            </a:pPr>
            <a:r>
              <a:t>That answer is saved into final_summary.txt and result.json.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Payload Evolution Summary</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How the structure changes from checkpoint to checkpoint</a:t>
            </a:r>
          </a:p>
        </p:txBody>
      </p:sp>
      <p:sp>
        <p:nvSpPr>
          <p:cNvPr id="4" name="Rounded Rectangle 3"/>
          <p:cNvSpPr/>
          <p:nvPr/>
        </p:nvSpPr>
        <p:spPr>
          <a:xfrm>
            <a:off x="502920" y="1417320"/>
            <a:ext cx="2468880" cy="914400"/>
          </a:xfrm>
          <a:prstGeom prst="roundRect">
            <a:avLst/>
          </a:prstGeom>
          <a:solidFill>
            <a:srgbClr val="DBEAFE"/>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111827"/>
                </a:solidFill>
              </a:rPr>
              <a:t>1
Task record</a:t>
            </a:r>
          </a:p>
        </p:txBody>
      </p:sp>
      <p:sp>
        <p:nvSpPr>
          <p:cNvPr id="5" name="Rounded Rectangle 4"/>
          <p:cNvSpPr/>
          <p:nvPr/>
        </p:nvSpPr>
        <p:spPr>
          <a:xfrm>
            <a:off x="3154680" y="1417320"/>
            <a:ext cx="2651760" cy="914400"/>
          </a:xfrm>
          <a:prstGeom prst="roundRect">
            <a:avLst/>
          </a:prstGeom>
          <a:solidFill>
            <a:srgbClr val="D1FAE5"/>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111827"/>
                </a:solidFill>
              </a:rPr>
              <a:t>3
Planning request</a:t>
            </a:r>
          </a:p>
        </p:txBody>
      </p:sp>
      <p:sp>
        <p:nvSpPr>
          <p:cNvPr id="6" name="Rounded Rectangle 5"/>
          <p:cNvSpPr/>
          <p:nvPr/>
        </p:nvSpPr>
        <p:spPr>
          <a:xfrm>
            <a:off x="6035040" y="1417320"/>
            <a:ext cx="2651760" cy="914400"/>
          </a:xfrm>
          <a:prstGeom prst="roundRect">
            <a:avLst/>
          </a:prstGeom>
          <a:solidFill>
            <a:srgbClr val="FEF3C7"/>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111827"/>
                </a:solidFill>
              </a:rPr>
              <a:t>4
Step request(s)</a:t>
            </a:r>
          </a:p>
        </p:txBody>
      </p:sp>
      <p:sp>
        <p:nvSpPr>
          <p:cNvPr id="7" name="Rounded Rectangle 6"/>
          <p:cNvSpPr/>
          <p:nvPr/>
        </p:nvSpPr>
        <p:spPr>
          <a:xfrm>
            <a:off x="8915400" y="1417320"/>
            <a:ext cx="2560320" cy="914400"/>
          </a:xfrm>
          <a:prstGeom prst="roundRect">
            <a:avLst/>
          </a:prstGeom>
          <a:solidFill>
            <a:srgbClr val="FFE4E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111827"/>
                </a:solidFill>
              </a:rPr>
              <a:t>5
Synthesis request</a:t>
            </a:r>
          </a:p>
        </p:txBody>
      </p:sp>
      <p:sp>
        <p:nvSpPr>
          <p:cNvPr id="8" name="Chevron 7"/>
          <p:cNvSpPr/>
          <p:nvPr/>
        </p:nvSpPr>
        <p:spPr>
          <a:xfrm>
            <a:off x="2834640" y="1664208"/>
            <a:ext cx="41148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5715000" y="1664208"/>
            <a:ext cx="41148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8595360" y="1664208"/>
            <a:ext cx="411480" cy="411480"/>
          </a:xfrm>
          <a:prstGeom prst="chevron">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43200"/>
            <a:ext cx="10972800" cy="2743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600" b="1">
                <a:solidFill>
                  <a:srgbClr val="111827"/>
                </a:solidFill>
              </a:rPr>
              <a:t>Structure change by stage</a:t>
            </a:r>
          </a:p>
          <a:p>
            <a:pPr>
              <a:spcBef>
                <a:spcPts val="600"/>
              </a:spcBef>
              <a:spcAft>
                <a:spcPts val="400"/>
              </a:spcAft>
              <a:defRPr sz="1300">
                <a:solidFill>
                  <a:srgbClr val="111827"/>
                </a:solidFill>
              </a:defRPr>
            </a:pPr>
            <a:r>
              <a:t>Checkpoint 1: task fields only -&gt; instance_id, repo, problem_statement, requirements, interface, selected tests.</a:t>
            </a:r>
          </a:p>
          <a:p>
            <a:pPr>
              <a:spcAft>
                <a:spcPts val="400"/>
              </a:spcAft>
              <a:defRPr sz="1300">
                <a:solidFill>
                  <a:srgbClr val="111827"/>
                </a:solidFill>
              </a:defRPr>
            </a:pPr>
            <a:r>
              <a:t>Checkpoint 3: task fields become a planning prompt -&gt; prompt text gains JSON/output constraints and planning guidance; wrapper gains phase + planning hints.</a:t>
            </a:r>
          </a:p>
          <a:p>
            <a:pPr>
              <a:spcAft>
                <a:spcPts val="400"/>
              </a:spcAft>
              <a:defRPr sz="1300">
                <a:solidFill>
                  <a:srgbClr val="111827"/>
                </a:solidFill>
              </a:defRPr>
            </a:pPr>
            <a:r>
              <a:t>Checkpoint 4: planning output becomes per-step requests -&gt; prompt text gains approved plan + current step + prior summaries; wrapper gains step_index + step_title.</a:t>
            </a:r>
          </a:p>
          <a:p>
            <a:pPr>
              <a:spcAft>
                <a:spcPts val="400"/>
              </a:spcAft>
              <a:defRPr sz="1300">
                <a:solidFill>
                  <a:srgbClr val="111827"/>
                </a:solidFill>
              </a:defRPr>
            </a:pPr>
            <a:r>
              <a:t>Checkpoint 5: step outputs become one merge request -&gt; prompt text gains accumulated step results + final summary sections; wrapper gains step_count + synthesis hints.</a:t>
            </a:r>
          </a:p>
          <a:p>
            <a:pPr>
              <a:spcAft>
                <a:spcPts val="400"/>
              </a:spcAft>
              <a:defRPr sz="1300">
                <a:solidFill>
                  <a:srgbClr val="111827"/>
                </a:solidFill>
              </a:defRPr>
            </a:pPr>
            <a:r>
              <a:t>Measurement points: just before harness entry for Checkpoint 1; just before outbound planning / step / synthesis requests for Checkpoints 3 / 4 /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none">
            <a:spAutoFit/>
          </a:bodyPr>
          <a:lstStyle/>
          <a:p>
            <a:r>
              <a:rPr sz="2800" b="1">
                <a:solidFill>
                  <a:srgbClr val="111827"/>
                </a:solidFill>
              </a:rPr>
              <a:t>Recommended Presentation Pattern</a:t>
            </a:r>
          </a:p>
        </p:txBody>
      </p:sp>
      <p:sp>
        <p:nvSpPr>
          <p:cNvPr id="3" name="TextBox 2"/>
          <p:cNvSpPr txBox="1"/>
          <p:nvPr/>
        </p:nvSpPr>
        <p:spPr>
          <a:xfrm>
            <a:off x="566928" y="960120"/>
            <a:ext cx="10972800" cy="457200"/>
          </a:xfrm>
          <a:prstGeom prst="rect">
            <a:avLst/>
          </a:prstGeom>
          <a:noFill/>
        </p:spPr>
        <p:txBody>
          <a:bodyPr wrap="none">
            <a:spAutoFit/>
          </a:bodyPr>
          <a:lstStyle/>
          <a:p>
            <a:r>
              <a:rPr sz="1300">
                <a:solidFill>
                  <a:srgbClr val="6B7280"/>
                </a:solidFill>
              </a:rPr>
              <a:t>How to present checkpoints clearly in future decks</a:t>
            </a:r>
          </a:p>
        </p:txBody>
      </p:sp>
      <p:sp>
        <p:nvSpPr>
          <p:cNvPr id="4" name="TextBox 3"/>
          <p:cNvSpPr txBox="1"/>
          <p:nvPr/>
        </p:nvSpPr>
        <p:spPr>
          <a:xfrm>
            <a:off x="822960" y="1554480"/>
            <a:ext cx="10515600" cy="4846320"/>
          </a:xfrm>
          <a:prstGeom prst="rect">
            <a:avLst/>
          </a:prstGeom>
          <a:noFill/>
        </p:spPr>
        <p:txBody>
          <a:bodyPr wrap="square">
            <a:spAutoFit/>
          </a:bodyPr>
          <a:lstStyle/>
          <a:p>
            <a:pPr>
              <a:spcAft>
                <a:spcPts val="800"/>
              </a:spcAft>
              <a:defRPr sz="2000">
                <a:solidFill>
                  <a:srgbClr val="111827"/>
                </a:solidFill>
              </a:defRPr>
            </a:pPr>
            <a:r>
              <a:t>Use the same four labels on every checkpoint slide: Represents, Payload at this stage, What changed here, What goes to the next stage.</a:t>
            </a:r>
          </a:p>
          <a:p>
            <a:pPr>
              <a:spcAft>
                <a:spcPts val="800"/>
              </a:spcAft>
              <a:defRPr sz="2000">
                <a:solidFill>
                  <a:srgbClr val="111827"/>
                </a:solidFill>
              </a:defRPr>
            </a:pPr>
            <a:r>
              <a:t>Color-code field categories consistently: task fields, prompt fields, hint fields, and step/synthesis fields.</a:t>
            </a:r>
          </a:p>
          <a:p>
            <a:pPr>
              <a:spcAft>
                <a:spcPts val="800"/>
              </a:spcAft>
              <a:defRPr sz="2000">
                <a:solidFill>
                  <a:srgbClr val="111827"/>
                </a:solidFill>
              </a:defRPr>
            </a:pPr>
            <a:r>
              <a:t>Show only one short real excerpt per checkpoint; let the field-shape summary carry the slide.</a:t>
            </a:r>
          </a:p>
          <a:p>
            <a:pPr>
              <a:spcAft>
                <a:spcPts val="800"/>
              </a:spcAft>
              <a:defRPr sz="2000">
                <a:solidFill>
                  <a:srgbClr val="111827"/>
                </a:solidFill>
              </a:defRPr>
            </a:pPr>
            <a:r>
              <a:t>When a checkpoint repeats, as Checkpoint 4 does, explain that it is one request per planned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