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ae07cde66f4649c9" Type="http://schemas.openxmlformats.org/package/2006/relationships/metadata/core-properties" Target="docProps/core.xml"/><Relationship Id="Re86d14a93b4f4d19" Type="http://schemas.openxmlformats.org/officeDocument/2006/relationships/extended-properties" Target="docProps/app.xml"/><Relationship Id="Rec767afa649e464f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f8ea95f23e42d8"/>
  </p:sldMasterIdLst>
  <p:notesMasterIdLst>
    <p:notesMasterId xmlns:r="http://schemas.openxmlformats.org/officeDocument/2006/relationships" r:id="R8e71ca30743a42bf"/>
  </p:notesMasterIdLst>
  <p:sldIdLst>
    <p:sldId xmlns:r="http://schemas.openxmlformats.org/officeDocument/2006/relationships" id="256" r:id="R793c8f992715436e"/>
    <p:sldId xmlns:r="http://schemas.openxmlformats.org/officeDocument/2006/relationships" id="257" r:id="Rf207b0a559ca45f2"/>
    <p:sldId xmlns:r="http://schemas.openxmlformats.org/officeDocument/2006/relationships" id="258" r:id="R3db2c5b5e7d14b00"/>
    <p:sldId xmlns:r="http://schemas.openxmlformats.org/officeDocument/2006/relationships" id="259" r:id="R517e4c89823d43f3"/>
    <p:sldId xmlns:r="http://schemas.openxmlformats.org/officeDocument/2006/relationships" id="260" r:id="R6e26323cfa4c4f3f"/>
    <p:sldId xmlns:r="http://schemas.openxmlformats.org/officeDocument/2006/relationships" id="262" r:id="Rcbbc69489ad748d2"/>
    <p:sldId xmlns:ns0="http://schemas.openxmlformats.org/officeDocument/2006/relationships" id="270" ns0:id="rId20"/>
    <p:sldId xmlns:ns0="http://schemas.openxmlformats.org/officeDocument/2006/relationships" id="271" ns0:id="rId21"/>
    <p:sldId xmlns:r="http://schemas.openxmlformats.org/officeDocument/2006/relationships" id="263" r:id="R46a4316e15ba49c1"/>
    <p:sldId xmlns:ns0="http://schemas.openxmlformats.org/officeDocument/2006/relationships" id="272" ns0:id="rId22"/>
    <p:sldId xmlns:ns0="http://schemas.openxmlformats.org/officeDocument/2006/relationships" id="273" ns0:id="rId23"/>
    <p:sldId xmlns:r="http://schemas.openxmlformats.org/officeDocument/2006/relationships" id="264" r:id="Rb58f983638004103"/>
    <p:sldId xmlns:ns0="http://schemas.openxmlformats.org/officeDocument/2006/relationships" id="274" ns0:id="rId24"/>
    <p:sldId xmlns:r="http://schemas.openxmlformats.org/officeDocument/2006/relationships" id="265" r:id="R8714b87761c844b0"/>
    <p:sldId xmlns:ns0="http://schemas.openxmlformats.org/officeDocument/2006/relationships" id="275" ns0:id="rId25"/>
    <p:sldId xmlns:ns0="http://schemas.openxmlformats.org/officeDocument/2006/relationships" id="276" ns0:id="rId26"/>
    <p:sldId xmlns:r="http://schemas.openxmlformats.org/officeDocument/2006/relationships" id="266" r:id="Ra3831c2bcf62425b"/>
    <p:sldId xmlns:ns0="http://schemas.openxmlformats.org/officeDocument/2006/relationships" id="277" ns0:id="rId27"/>
    <p:sldId xmlns:r="http://schemas.openxmlformats.org/officeDocument/2006/relationships" id="267" r:id="Ra4d62c5824da47bb"/>
    <p:sldId xmlns:r="http://schemas.openxmlformats.org/officeDocument/2006/relationships" id="268" r:id="R1a7058b07e694a19"/>
    <p:sldId xmlns:r="http://schemas.openxmlformats.org/officeDocument/2006/relationships" id="269" r:id="R7f71fabc9322409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1a7058b07e694a19" Type="http://schemas.openxmlformats.org/officeDocument/2006/relationships/slide" Target="slides/slide20.xml"/><Relationship Id="R28c5c7c3aa644b3b" Type="http://schemas.openxmlformats.org/officeDocument/2006/relationships/presProps" Target="presProps.xml"/><Relationship Id="R3db2c5b5e7d14b00" Type="http://schemas.openxmlformats.org/officeDocument/2006/relationships/slide" Target="slides/slide3.xml"/><Relationship Id="R46a4316e15ba49c1" Type="http://schemas.openxmlformats.org/officeDocument/2006/relationships/slide" Target="slides/slide9.xml"/><Relationship Id="R517220ff9ac74cf7" Type="http://schemas.openxmlformats.org/officeDocument/2006/relationships/tableStyles" Target="tableStyles.xml"/><Relationship Id="R517e4c89823d43f3" Type="http://schemas.openxmlformats.org/officeDocument/2006/relationships/slide" Target="slides/slide4.xml"/><Relationship Id="R547ba60eb7154629" Type="http://schemas.openxmlformats.org/officeDocument/2006/relationships/theme" Target="theme/theme1.xml"/><Relationship Id="R5ef8ea95f23e42d8" Type="http://schemas.openxmlformats.org/officeDocument/2006/relationships/slideMaster" Target="slideMasters/slideMaster1.xml"/><Relationship Id="R6e26323cfa4c4f3f" Type="http://schemas.openxmlformats.org/officeDocument/2006/relationships/slide" Target="slides/slide5.xml"/><Relationship Id="R793c8f992715436e" Type="http://schemas.openxmlformats.org/officeDocument/2006/relationships/slide" Target="slides/slide1.xml"/><Relationship Id="R7f71fabc93224096" Type="http://schemas.openxmlformats.org/officeDocument/2006/relationships/slide" Target="slides/slide21.xml"/><Relationship Id="R8714b87761c844b0" Type="http://schemas.openxmlformats.org/officeDocument/2006/relationships/slide" Target="slides/slide14.xml"/><Relationship Id="R898aa5ae461644fe" Type="http://schemas.openxmlformats.org/officeDocument/2006/relationships/viewProps" Target="viewProps.xml"/><Relationship Id="R8e71ca30743a42bf" Type="http://schemas.openxmlformats.org/officeDocument/2006/relationships/notesMaster" Target="notesMasters/notesMaster1.xml"/><Relationship Id="Ra3831c2bcf62425b" Type="http://schemas.openxmlformats.org/officeDocument/2006/relationships/slide" Target="slides/slide17.xml"/><Relationship Id="Ra4d62c5824da47bb" Type="http://schemas.openxmlformats.org/officeDocument/2006/relationships/slide" Target="slides/slide19.xml"/><Relationship Id="Rb58f983638004103" Type="http://schemas.openxmlformats.org/officeDocument/2006/relationships/slide" Target="slides/slide12.xml"/><Relationship Id="Rcbbc69489ad748d2" Type="http://schemas.openxmlformats.org/officeDocument/2006/relationships/slide" Target="slides/slide6.xml"/><Relationship Id="Rf207b0a559ca45f2" Type="http://schemas.openxmlformats.org/officeDocument/2006/relationships/slide" Target="slides/slide2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3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5f41195b8b824f8f" Type="http://schemas.openxmlformats.org/officeDocument/2006/relationships/theme" Target="theme/theme2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7f8adeccc92d48a3" Type="http://schemas.openxmlformats.org/officeDocument/2006/relationships/slide" Target="../slides/slide1.xml"/><Relationship Id="Ra2c56da2951043fb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896a132b8ec941be" Type="http://schemas.openxmlformats.org/officeDocument/2006/relationships/notesMaster" Target="../notesMasters/notesMaster1.xml"/><Relationship Id="Rf6736db0d11741a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5b0a95021028424a" Type="http://schemas.openxmlformats.org/officeDocument/2006/relationships/notesMaster" Target="../notesMasters/notesMaster1.xml"/><Relationship Id="Rb05db4a2154b4d2b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1173fef161b5487a" Type="http://schemas.openxmlformats.org/officeDocument/2006/relationships/slide" Target="../slides/slide4.xml"/><Relationship Id="R9911e2674a974e1a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5ce4c15c38a24ffa" Type="http://schemas.openxmlformats.org/officeDocument/2006/relationships/notesMaster" Target="../notesMasters/notesMaster1.xml"/><Relationship Id="Rf39cc918e9b54ef9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66f64d18af7a4247" Type="http://schemas.openxmlformats.org/officeDocument/2006/relationships/notesMaster" Target="../notesMasters/notesMaster1.xml"/><Relationship Id="R72785da2fd1543a3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5473f06c5cef421e" Type="http://schemas.openxmlformats.org/officeDocument/2006/relationships/slide" Target="../slides/slide9.xml"/><Relationship Id="Re046695df14345ba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1215c7658a134d07" Type="http://schemas.openxmlformats.org/officeDocument/2006/relationships/notesMaster" Target="../notesMasters/notesMaster1.xml"/><Relationship Id="R3b6999fc99844569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8d4f8bc7f0bd42ed" Type="http://schemas.openxmlformats.org/officeDocument/2006/relationships/notesMaster" Target="../notesMasters/notesMaster1.xml"/><Relationship Id="Re6982f1093d84883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252fd1d8770e464b" Type="http://schemas.openxmlformats.org/officeDocument/2006/relationships/slide" Target="../slides/slide17.xml"/><Relationship Id="R6188af24e3f54e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a6c554b604774ec4" Type="http://schemas.openxmlformats.org/officeDocument/2006/relationships/notesMaster" Target="../notesMasters/notesMaster1.xml"/><Relationship Id="Rceb10b2cb50e4814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0accd8df757a4079" Type="http://schemas.openxmlformats.org/officeDocument/2006/relationships/slide" Target="../slides/slide20.xml"/><Relationship Id="R67367f1f60ad4296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8a9e03d046ea48af" Type="http://schemas.openxmlformats.org/officeDocument/2006/relationships/slide" Target="../slides/slide21.xml"/><Relationship Id="Rb7562a0ba8194656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<?xml version='1.0' encoding='UTF-8' standalone='yes'?>
<Relationships xmlns="http://schemas.openxmlformats.org/package/2006/relationships"><Relationship Id="R644b370554004ff5" Type="http://schemas.openxmlformats.org/officeDocument/2006/relationships/slideMaster" Target="../slideMasters/slideMaster1.xml"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c1080db32804514" Type="http://schemas.openxmlformats.org/officeDocument/2006/relationships/theme" Target="../theme/theme1.xml"/><Relationship Id="R46c749db1dbe41aa" Type="http://schemas.openxmlformats.org/officeDocument/2006/relationships/slideLayout" Target="../slideLayouts/slideLayout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c749db1dbe41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4f53e8d3b4784718" Type="http://schemas.openxmlformats.org/officeDocument/2006/relationships/slideLayout" Target="../slideLayouts/slideLayout2.xml"/><Relationship Id="Rc1500be1a6b84e6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ae30f87a021242d1" Type="http://schemas.openxmlformats.org/officeDocument/2006/relationships/notesSlide" Target="../notesSlides/notesSlide2.xml"/><Relationship Id="Rcbf378cc27334853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7f200eb1cfed494a" Type="http://schemas.openxmlformats.org/officeDocument/2006/relationships/slideLayout" Target="../slideLayouts/slideLayout2.xml"/><Relationship Id="Rcd2c48d53ada4079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49b5e7b452e8447c" Type="http://schemas.openxmlformats.org/officeDocument/2006/relationships/slideLayout" Target="../slideLayouts/slideLayout2.xml"/><Relationship Id="R72cb0def8a5741e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24c32f3d76624be3" Type="http://schemas.openxmlformats.org/officeDocument/2006/relationships/slideLayout" Target="../slideLayouts/slideLayout2.xml"/><Relationship Id="R74c7d5f0049d449e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2d69b09414634a9c" Type="http://schemas.openxmlformats.org/officeDocument/2006/relationships/notesSlide" Target="../notesSlides/notesSlide7.xml"/><Relationship Id="Ra28ba13ca79d4474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b7243d39766a4677" Type="http://schemas.openxmlformats.org/officeDocument/2006/relationships/notesSlide" Target="../notesSlides/notesSlide8.xml"/><Relationship Id="Rf0b602b57cef4243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068c3109878d4e55" Type="http://schemas.openxmlformats.org/officeDocument/2006/relationships/slideLayout" Target="../slideLayouts/slideLayout2.xml"/><Relationship Id="R0ebdf7d25c254fc8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2e1f9692f8374a5b" Type="http://schemas.openxmlformats.org/officeDocument/2006/relationships/notesSlide" Target="../notesSlides/notesSlide10.xml"/><Relationship Id="R5bb4ae5a1a964242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3266088cfc47470c" Type="http://schemas.openxmlformats.org/officeDocument/2006/relationships/notesSlide" Target="../notesSlides/notesSlide11.xml"/><Relationship Id="R77702c0a8238463b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5ee56a9d5f61424a" Type="http://schemas.openxmlformats.org/officeDocument/2006/relationships/notesSlide" Target="../notesSlides/notesSlide12.xml"/><Relationship Id="R6cb7ddbb299f4b7b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7045208368454abd" Type="http://schemas.openxmlformats.org/officeDocument/2006/relationships/slideLayout" Target="../slideLayouts/slideLayout2.xml"/><Relationship Id="Rf99a30465d4b4e0a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1c9fcc6cbeba4f0b" Type="http://schemas.openxmlformats.org/officeDocument/2006/relationships/slideLayout" Target="../slideLayouts/slideLayout2.xml"/><Relationship Id="R4467874fce214fc6" Type="http://schemas.openxmlformats.org/officeDocument/2006/relationships/notesSlide" Target="../notesSlides/notesSlide14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F499F0-7CD8-4D07-AB20-B8DD6A58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D584C-1FB9-415F-B4DC-96ACC667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3992E-6D3E-47AB-8B8A-29EACE88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PLAIN-ENGLISH INTRODUCTION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23F055-F305-4FB2-90E4-6EB81EAD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This setup traces how one task changes as it moves through the agent 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85824-5C85-48E8-892C-FD76CEDF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Think of it like tracking a package: we see what entered the system, how it was repackaged at each handoff, and what came out at the end.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2A2BA-850D-4A03-BD1F-A743B4AF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66384-7771-4581-997D-CFC192AF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A452C-8EB7-450C-AC59-51454DF7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442F26-2FFC-4B6F-ABA7-02BD6C39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527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Raw task enters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63808-92FB-4888-BD3B-61707F0F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52725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Repo, bug report, tests, and workspace are loaded.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A96A12-055F-492B-98DB-D5BDEB94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F8F63-B324-4069-A7D9-59A54EA8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D174DF-4A8E-48E4-9028-EA7CCFBA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6D7518-C0DD-4F0A-B2AC-B68B93DE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432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Task becomes a prompt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BDB818-B387-4947-9AFC-20724C3F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43275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scattered task details become one instruction message.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3B40FC-5465-4192-81A0-0E9EC4F3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0C3C7F-A5F1-4DF7-A0B1-872D59C6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F8BACD-74D4-4525-90D9-6A123336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996C06-0D40-4BCB-A706-849861FC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338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Prompt becomes a request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D86A5C-3A8E-4A9C-A08C-4D539532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933825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message is wrapped with model, context, and tool settings.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115F13-8E4C-43F8-89CE-70F465BB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2A4874-5D47-4E98-B94A-04094B3C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3E6B35-A37D-4DE3-822A-83EDE0CD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6037AB-1253-4B50-89DB-34166397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243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Runtime context is attached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5473E5-C93E-4469-97E9-8633D804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524375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Tools, parser, token counts, and cache signals are recorded.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B6D225-8D7D-424D-B48A-01FAA734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4BC3A1-FFE5-4C4C-85D3-C3BB923D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F15658-5A7F-47E4-8BDE-D3DEDA0B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BABE0E-8BA4-4A8D-8E5E-4F5A51B9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149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Behavior is recorded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D53AA3-9847-43BC-9B7C-8FE2F543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114925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final trace shows tool calls, response, and workspace outcome.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DB9934-7D00-4348-A21E-C9723B9E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38350"/>
            <a:ext cx="3905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28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CA3EB8-7424-413F-9DB5-FE0DEBE3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38350"/>
            <a:ext cx="390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AC7BAD-D809-4912-A748-09F38CE4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241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Who Is Involved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8BE6B1-DBC7-4548-BDF7-15D72E51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57500"/>
            <a:ext cx="1485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953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Benchmark Loader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A16534-8BB9-4AAF-8597-64CCDA7A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57500"/>
            <a:ext cx="1676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loads the task and workspace.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331CDA-4754-4DA2-8599-E9B6F262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52800"/>
            <a:ext cx="1485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33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Prompt Builder (local helper script)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26D2C8-FF38-448A-9C0D-49B55EAA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52800"/>
            <a:ext cx="1676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writes the agent instructions.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29DFE8-4C98-4638-87B3-959C751A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48100"/>
            <a:ext cx="1485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833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Request Wrapper (local helper script)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2E726A-01A2-428F-B1D1-D001D676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48100"/>
            <a:ext cx="1676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packages the model request.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829928-67D7-45E7-AB14-17EF3971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43400"/>
            <a:ext cx="1485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53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0B3A5D-B147-49E0-B7D8-DCCC09F5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43400"/>
            <a:ext cx="1676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adds behavior rules and records behavior.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AEDB8B-0EF9-4F86-90CD-C6B346B7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38700"/>
            <a:ext cx="1485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953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Runtime Layer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42543A-D1C9-43ED-BFB1-85E62016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838700"/>
            <a:ext cx="1676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prepares tools, parser, and runtime state.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C62120-1664-4E0C-A5CC-90A2BCF3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DBB4FE-0472-4592-B306-F351F3E4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63D3F3B-1FBB-417A-B5BA-505FBA38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2542518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AE63CA-FB1C-4F8F-8CB7-7A808E59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868ED-8959-4E5F-8126-37515146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24611-9AFA-4542-B682-0FD5C868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COMPONENT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785F1-14E4-4944-A576-7ED4AA8B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Each layer has a clear job in the prompt pipeline.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BAB7F-0E43-4997-BE0A-DD4B2A1B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28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6D28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DDA63-E40F-4BCF-87A9-8190B08D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28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8C366-B84B-43B3-8C57-29BFDF5E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SWE-bench Pro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89630-A11B-44D1-BA8E-279ECC3F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717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real coding task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445FA-6BFE-4322-8CBB-EDB023AC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2383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6D28D9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6D28D9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59BF2F-268B-4911-B387-E743E41C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962150"/>
            <a:ext cx="1028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56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969148-F1F0-4D86-9414-16B5E240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962150"/>
            <a:ext cx="1028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051AF-AB48-489E-B6B4-695ACCEB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1336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AgentBench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5FC35D-B2CB-4C4C-9867-B3597BF5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3717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loads task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B95218-A0A2-41BA-A75B-DBB9AABC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2383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CDC57A-40FB-4848-AB2D-C34DFE06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62150"/>
            <a:ext cx="1028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D4E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8B8B13-B880-48B9-B131-87459F59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62150"/>
            <a:ext cx="1028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B7CE75-5EE1-49B8-B0DD-BD3E585A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336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0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Prompt Builder (local helper script)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E92004-A49B-491B-BF9D-D5074543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717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writes prompt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F9094C-69D3-47C2-B013-D4BA103D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383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D4ED8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1D4ED8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CAC7D7-24B9-4ACC-B373-2D6AEB7A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962150"/>
            <a:ext cx="1028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770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EBF90C-C4BF-4E16-BE1A-92FD3ED4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962150"/>
            <a:ext cx="1028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AD2146-D969-41B0-9F46-137F6EAC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336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Deep Agents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0A0AE9-28E7-4024-B3D4-6C366F80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3717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agent behavior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940536-4854-414F-98AC-B1E5D2FD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383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5E0773-2D44-431F-9003-382F0B45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62150"/>
            <a:ext cx="1028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22E934-9E79-42D7-A224-385484AE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62150"/>
            <a:ext cx="1028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FDB612-75BB-406A-B6A1-1B6DD73D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336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7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Dynamo Frontend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83EF6E-87AF-4ED4-B422-F4CAFFBF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717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prepares request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B2345D-0E00-4154-8FE7-FB186445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2383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F9F6E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0F9F6E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A9DE1F-2A4A-47DB-85BE-B229A339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62150"/>
            <a:ext cx="1028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062C51-AFF4-4492-95A3-58D1668A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62150"/>
            <a:ext cx="1028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506B86-11DC-4053-AB0F-5E9C3095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SGLang Worker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4ADDE5-3D05-4AAC-9438-AB12BF49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717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runs model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7DA045-7D33-418E-9AFC-732E15AE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2383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F9F6E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0F9F6E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5C46FE-5947-47AA-8478-18E39D23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62150"/>
            <a:ext cx="1028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04F5C5-9DAF-40EA-8D6A-3F50E71F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62150"/>
            <a:ext cx="1028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C58E9A-3090-4FA4-B9F1-25C3E7C9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336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647F9E-945A-4027-BE4D-E7704E82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717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captures shape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724321-AEF7-4139-8F9E-9A4975FA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7772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D4C947-1CA5-4CC5-AD56-A92DC771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BF5821-167F-4A43-AB98-E2F143C3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4675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SWE-bench Pro Task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EC1554-A5A9-4B7A-8439-915FA87E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14675"/>
            <a:ext cx="525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Real software-engineering bug task with repo, tests, and expected behavior.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D462F85-5D1A-42FD-AF02-F2279DCC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7772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8FDAAC-400D-4DD7-A196-A17CA3A5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EA730D-B7F3-45F0-8E2E-DB2DCCEC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95675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AgentBench Bootstrap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273990-16D8-492C-B8BC-7F61CBD0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95675"/>
            <a:ext cx="525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Our simple local harness that loads the benchmark task and prepares the workspace.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82EA18-7213-4DC3-99C4-CF42D94A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772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8899718-3FA5-4FE0-AD0C-EDE9C5AF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3C4AF3-FCC5-4E11-9679-A2EF4AFB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758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Prompt Builder (local helper script)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4EE2992-14EC-403E-95A7-1B03889E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76675"/>
            <a:ext cx="525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Our local helper that turns task fields into one agent prompt.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DAB7041-DE36-4780-B4BC-826E8330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772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C5CBB77-15E2-4CAF-96D9-195DCAFF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E1A218B-9929-42A9-A297-1FD86453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Deep Agents App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1B9C76E-6227-4706-88D6-139A7CA4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57675"/>
            <a:ext cx="525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Uses Deep Agents from LangChain to apply coding-agent behavior and tool workflow.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3D64556-E103-406B-98EF-0B991C11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7772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2819983-B7DD-436A-A11D-03EFD90D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6FBE408-49BA-4867-8005-4ECD0360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Frontend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14EE2C9-25D4-4739-9EE6-378406FA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38675"/>
            <a:ext cx="525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Receives the model request and prepares it for runtime execution.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B7DCC8B-DA47-4066-B072-53D3030A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7772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F03C83B-FA98-4E54-80CB-0EEE13C6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9E2E2A4-0708-4E4A-A754-BD6E4D12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9675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SGLang Worker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838C50D-F1D0-4CE3-B333-FB84E486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019675"/>
            <a:ext cx="525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Runs model execution and returns response/runtime signals.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0719E5B-C89A-49D5-8B7B-EAC182F6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7772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99DAF6C-5E74-47AB-AEA1-1222D287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DD83E49-5071-4575-A4FE-5F2CD3FA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00675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Prompt Evolution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F6B7AF3-D468-485E-BFDD-0C1F5289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400675"/>
            <a:ext cx="525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Captures payload shape, added fields, size changes, and runtime facts.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8833EA2-1AB2-4BA9-B623-59C6C7E5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62150"/>
            <a:ext cx="283845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28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0D9553B-01CF-4A8D-9E46-0B612A38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62150"/>
            <a:ext cx="2838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4DC5DE2-FB37-4AAA-AC95-FFE46918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669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Where This Came From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494D1AB-C4F1-47BA-959B-2FE56F8D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43200"/>
            <a:ext cx="1047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Deep Agents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3A57831-0FE6-4A4C-8357-9FEFFB0D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9560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langchain-ai/deepagents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CC40F32-6F3D-42E5-97C3-3CE02B74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57550"/>
            <a:ext cx="1047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Dynamo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AAA7858-F1B5-4472-BBCA-64BCB478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0995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ai-dynamo/dynamo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50F9759-961A-467C-8368-1FF41F6B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71900"/>
            <a:ext cx="1047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Benchmark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BF3108B-F446-40A9-A319-4545C86D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2430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ScaleAI/SWE-bench_Pro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F472D95-B889-4E18-BE70-166AE08F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86250"/>
            <a:ext cx="1047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Local glue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8CC3253-36F7-4CE0-9316-626CC7D7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3865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AgentBench loader + prompt builder (local helper script)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4862B63-6026-4FBF-B66C-4EC19D1A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00600"/>
            <a:ext cx="1047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Instrumentation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AFAF3F3-0782-4D86-A1E0-6DAC3A7B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95300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Deep Agents app/harness logs + Dynamo/SGLang runtime JSON logs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56F4C88-9593-4F8E-9134-B3E8D7D1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B623F57-4CD8-4132-8D10-58DAC8F2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A7D1FEC-7130-4542-BF1D-00E79BEF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461313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2283EC-D9CF-47E7-ABCF-73E367FE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46AAD-05E9-4379-8F83-587B9478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6A3B9B-08DF-4E12-A0E5-60D7DD61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BENCHMARK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CAA11-D6A9-4598-A183-5F81A677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Why SWE-bench Pro was the right benchmark.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E462F-2BD6-4415-8DEF-E1C4EF8F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09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SWE-bench Pro gives us realistic software-engineering tasks, not toy prompts: codebase context, a bug or requested behavior, requirements, tests, and an expected fix path.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76D4E-8383-4800-878A-56E0A14A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32004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77B8B-F8BF-40CD-96F1-A17173CA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20C6E-CBD4-4CC7-BDFE-C99F868B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D96CDF-25D1-40A4-A899-9F01428F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272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Real Repo 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DE2D8-C900-4277-BFBE-E05469A3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2724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 benchmark built around realistic software-engineering tasks with repo context, problem details, requirements, and tests.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F775F9-B243-45B6-85FE-F773EDCF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3718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1163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2A804-A367-49B9-BA12-839BE773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95550"/>
            <a:ext cx="32004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28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D22052-9640-4E2E-A84B-93ACDFC0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9555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494259-5476-4632-98D7-8091E232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WHY WE USED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C14C13-EE05-44EE-B3B1-F0398C24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272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Agent Workflow Stress 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8599CF-2027-48A7-A297-F4B1971A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38550"/>
            <a:ext cx="2724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It exercises prompt construction, tool use, runtime execution, and result capture instead of only testing text generation.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603C17-7A2B-4463-A749-C17C79B9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718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6D28D9"/>
                </a:solidFill>
                <a:latin typeface="Aptos Mono"/>
                <a:ea typeface="Aptos Mono"/>
                <a:cs typeface="Aptos Mono"/>
              </a:defRPr>
            </a:pPr>
            <a:r>
              <a:rPr sz="1163" b="1">
                <a:solidFill>
                  <a:srgbClr val="6D28D9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556695-D4E2-47A0-B84C-3A1A52F9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95550"/>
            <a:ext cx="32004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14D395-82ED-4110-B927-CAB6A0A8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9555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09F305-0185-45EC-AB16-FC800E63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81300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WHY IT MATTERS HERE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8FDB05-FBCC-4FD3-A5AC-40FC7B96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28950"/>
            <a:ext cx="272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End-to-End Observability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B38B9B-8D32-4807-BBF8-03AF9EC3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38550"/>
            <a:ext cx="2724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It makes prompt growth and stage-by-stage transformation visible as the task moves through every layer.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66781B-14F9-40D2-95CB-246DA3BE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FD2502-D847-4C6F-AC5B-3E266C9D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EC6F82-705C-443D-AD02-250B3161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Experiment task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7AAB8C-8640-4B49-9D55-C123165A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054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3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The next slide shows the exact NodeBB issue that traveled through the pipeline.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E66346-25BC-461D-9F84-D57B72A3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372100"/>
            <a:ext cx="438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Benchmark used: ScaleAI/SWE-bench_Pro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7DAC24-AD27-4CF9-86DB-D15A1253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143500"/>
            <a:ext cx="323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task is realistic enough to expose prompt growth, request packaging, runtime preparation, and final behavior.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38E9C4-4067-4F80-B4B3-D21CC155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8748DF-3AAD-43EE-9306-79C39A16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229418-B653-447B-A3E9-49A928AF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2882363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0BB5D0-B601-4EA4-8FC3-38E16E2F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021B1-824D-4EBA-8134-AECD3755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988CE-3858-4122-BED9-4CBF02CE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EXPERIMENT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0347F-6118-4E37-87DA-1709B199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task asked the agent to fix a real NodeBB email validation bug.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130C9-30C2-4E56-92B2-234E5230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704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6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This is the concrete work item that entered the pipeline before it became a prompt, then a model request, then runtime behavior.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A4E04-D9F8-4103-A5D3-672BA93E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71650"/>
            <a:ext cx="3257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D4E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B3120-766C-416C-BD5D-AFF84B44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716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81E2C2-6001-4623-8E28-CD8125E2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85950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7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LLM model used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7F1C1-E036-49C6-8973-63B2F449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0025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1820"/>
                </a:solidFill>
                <a:latin typeface="Aptos Mono"/>
                <a:ea typeface="Aptos Mono"/>
                <a:cs typeface="Aptos Mono"/>
              </a:defRPr>
            </a:pPr>
            <a:r>
              <a:rPr sz="1013" b="1">
                <a:solidFill>
                  <a:srgbClr val="101820"/>
                </a:solidFill>
                <a:latin typeface="Aptos Mono"/>
                <a:ea typeface="Aptos Mono"/>
                <a:cs typeface="Aptos Mono"/>
              </a:rPr>
              <a:t>Qwen/Qwen2.5-7B-Instruct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52416-D419-4561-865F-810EA23C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41719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A20804-35F4-48A3-AA30-1A77E923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4171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1D44E5-4E7B-4471-B03F-39DD0C65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What entered the 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46978-A2BA-4A9C-954D-ED76C491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047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Repository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B1891-A319-4E4E-8D01-42C1C173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099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2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NodeBB/NodeBB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2D5F16-58F7-432F-8FF9-5202A2B9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1047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Task title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C2F961-2E1B-4C20-B94D-8FC52910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Email Validation Status Not Handled Correctly in ACP and Confirmation Logic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8AF2FB-2579-4EEA-A82C-CF036E2A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000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Problem in simple words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2A1FE8-812B-4E1F-9C74-80D64A5F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342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82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82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In NodeBB's Admin Control Panel, email validation status could show incorrectly, and admin actions like validate or resend email could fail when confirmation keys expired or email data was missing.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F7C491-642C-4603-BD3A-8FC13E90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1047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Selected tests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B52EAD-F5C2-4C60-9852-A5368D94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911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test/database.js, test/database/keys.js, test/user/emails.js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20DF1C-FF22-43C1-A65F-1B15606D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05050"/>
            <a:ext cx="2857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80E044-4662-4DED-8FEC-173D493E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050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25C722-88BC-4B7C-9F1D-3C4548C8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098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What was going wrong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2C2608-DB5B-4E3F-B4F7-1007F354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86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D2D0C3-A11A-4CEF-A339-1B47D89C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4325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E5D393-1D44-486D-B05B-2FCA0885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861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Expired confirmation keys blocked validation.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136F0B-8CF9-4B7A-BD72-F542D4D8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00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A027EE-3FCF-4C5F-AA2E-18DF7F2B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5760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ADEF6D-4A17-427D-8459-31810B28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004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ACP status could be unclear or wrong.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4D39B3-65A2-4B24-AE05-D9C7522C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14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91D675-6743-46A4-98FD-0284FF61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7195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CE5D16-372A-4924-ACF2-5D2EEFA6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1148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Validate and resend actions could fail.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3BC228-2AA8-43C1-95BB-D9834710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29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915EF-92D2-48DE-944C-D4E139AD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8630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4BD651-4C96-4EE8-BBCE-B3D10A58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6291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Email lookup needed a safer fallback path.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4F6366-5FFA-4E8F-9CE8-F2DFF5CE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0292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Main areas: database adapters + user email logic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AE5E1E-328F-40B5-9450-73066E0F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05050"/>
            <a:ext cx="32575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646F35-859A-4170-9BEF-3A42A842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05050"/>
            <a:ext cx="3257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9188CC-943A-4DBE-BDFA-B55EE229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0985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What the agent was asked to fix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E1F202-699A-46A4-A43D-64DE4DC4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10478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696BBB-42E4-4135-9AF3-BEEEAD8B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266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4BC437-EAF0-42C7-B80B-3A7DEBA2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3850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3937C5-BB55-4503-AC5F-220B49C3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90875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Show correct status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AA0A84-0121-49BB-979A-E653A50D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4327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Attach pending and expired flags to users.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04185AF-FCD4-4DDF-88F3-17C3EB39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8140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10478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51FF84-E005-40DA-A552-6061A61D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81400"/>
            <a:ext cx="266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90B8306-D1EA-4180-B6E8-F2E5C142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766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6179FCD-C7DC-44A7-96BC-C3D18F17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29025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Add batch lookup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A6201BD-F1FE-4FE6-AACD-592B8EB9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8142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Add db.mget(keys) across database adapters.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1D3802E-33E5-4B20-A147-7211B111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1955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10478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7573C81-75EA-4240-AEB0-C79C2E1B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19550"/>
            <a:ext cx="266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3D2CEF5-BD7C-4AFF-81B6-43292272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1480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9F1A89D-B881-4D75-9EA6-CFABAC03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67175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Recover validation email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924412C-5638-49F4-92A0-275E3BB5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1957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Find email from profile or confirmation data.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C600420-EBBC-4C3C-BCC1-7A24A8C2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10478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8644520-2B39-468D-AB44-D539D0EB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66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D4DD61A-86D4-4A03-BEB4-745F4B7E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529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50C17A2-86DD-462A-B0BB-E2187360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05325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Use explicit expiry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F312B43-E425-4B4D-8DE2-EC71C6D0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5772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Use timestamp-based confirmation expiry.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AA124F2-02C1-48C6-85F9-D6F3E0F4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0673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2E208DD-C3A8-4207-B44E-146DCF05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05400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Next: watch this task become a prompt, request, runtime record, and behavior trace.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DFB5522-BB14-4D15-B07D-ECA1F21D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82599B7-AAEB-4D11-B641-E7BE1FC4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54E41BD-2CE3-423E-8845-34D83C84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019820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99D8CA-0E69-4C58-93C9-3394D477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89F0A-B285-4A45-AECC-02EA8FD6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E7649-B806-4314-8C5E-0070465B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STRUCTURE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72171-FF73-4AF8-987C-C072BC1C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This map shows the five handoffs we will inspect next.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C1C62-1DDA-40AF-BEA2-AD04D7D9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Use this as the audience map: each row below is one handoff. The summary slide comes first, then the following proof slides show the exact JSON artifacts from the latest run.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6E63F-4C00-4AB5-90B6-798230B5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6D9BE-5967-4F4F-986D-BE4A7A35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628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Slide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AC198-8194-4D64-9777-900C8285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0AB716-AE28-4439-9814-5C892590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5745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Handoff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9F66E8-78B9-4516-B498-2CCD7890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81250"/>
            <a:ext cx="2419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9AEBB-177C-4087-8A94-C2779BE4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57450"/>
            <a:ext cx="2228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From -&gt; 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0C733E-7474-45EF-8B32-D4E4E38E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E390FE-E9C6-4C87-ACCB-9659F0C4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57450"/>
            <a:ext cx="2533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What to watch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01758A-6A88-4652-B1B6-9CCC2CC5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812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7B8332-8668-49B6-847A-51204560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5745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1420B3-0523-4EC7-951A-7BD929CA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812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9FE08C-42B7-4852-9B15-3ECF7C64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45745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Added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6DCA7A-A74C-4DDE-9545-ADDB3360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18622B-FC9F-4A0C-8719-775D9EED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48E5A2-BD2D-4A09-AD83-B73D29EF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Slides 6-8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DC6422-8533-4BFB-B67C-801B6430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1 of 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C14424-E6F2-4963-8CAD-CC24A88B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194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9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9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Task -&gt; Prompt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057ACE-3E03-4B0F-8453-ED1A9A63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67050"/>
            <a:ext cx="2038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66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Prompt Builder (local helper script)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9E0123-253C-4A25-BB33-A2CC6C3C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765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Task Loaded -&gt; Prompt Built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0E704B-E94C-4668-8951-5DF2C73F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9875"/>
            <a:ext cx="2495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New field: prompt. Payload grows by +5,576.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9F2E6F-A757-4F03-85F9-44D98035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20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1020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+5,576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5E4C36-4E10-41F8-89C8-6DD08C47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47975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6CB899-72E4-4780-A9B0-42859298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1E389E-5184-48A0-8C83-AC849DF5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8BC1A2-7C3B-464B-BC47-16128377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163BF3-3F7D-4061-92AF-2864AE0C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Slides 9-11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64348C-05CF-4FCA-88EC-F6BC2BA0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2 of 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8332D2-0228-476C-9510-09434494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052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9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9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Prompt -&gt; Request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384614-93E2-40BC-A842-A074B35C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52850"/>
            <a:ext cx="2038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66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Request Wrapper (local helper script)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07BD29-3CFB-42E1-A271-FA7D09B2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623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 Built -&gt; Request Packaged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C7F769-0AB6-47D0-8FCB-79F4C45C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95675"/>
            <a:ext cx="2495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New fields: model, messages, request_context, agent_hints.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E83C69-35D7-4BDF-8F1A-7D3EDEBA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433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20" b="1">
                <a:solidFill>
                  <a:srgbClr val="1D4ED8"/>
                </a:solidFill>
                <a:latin typeface="Aptos Mono"/>
                <a:ea typeface="Aptos Mono"/>
                <a:cs typeface="Aptos Mono"/>
              </a:defRPr>
            </a:pPr>
            <a:r>
              <a:rPr sz="1020" b="1">
                <a:solidFill>
                  <a:srgbClr val="1D4ED8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F51811-C117-4E84-A811-294248B1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533775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model, messages, request_context, agent_h...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18A590-F413-47AE-BF11-C6140B65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5550BD-80B0-4261-9B06-E09A0AFB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D39A76-0FED-4BD1-A833-A4CC18EE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C7950A-EFDC-49EF-8281-68DAEE34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Slides 12-13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70D9B9-298E-429B-8A38-0B527EE6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3 of 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611713A-48EE-4728-B7F7-AA75CC7C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910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9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9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Request -&gt; Agent Rules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B09978-0D76-4C17-AC8C-3BF4EC3C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38650"/>
            <a:ext cx="2038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2CA35F8-0369-409F-B115-DECC0F28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481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Request Packaged -&gt; Agent Rules Applied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43A3EF-70B0-4770-9AA4-BEF79BC6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81475"/>
            <a:ext cx="2495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New field: system_prompt.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633398C-8408-44E0-9A2F-E94BC3F4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291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20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020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CA4119C-8055-4D9C-B33B-774E1DCF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219575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system_prompt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3400EC9-C45A-494E-9069-AE1B1B5E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022C53-2A9F-4EF2-912F-3D498A26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ADBB560-03DE-4E8A-B19F-7C650582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EB90D1C-3C1B-41BB-8CCF-DB740568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Slides 14-16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5D28C43-141C-4029-B1AB-F4D3CB84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4 of 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14F0F00-33DE-4C73-8489-B193D277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8768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9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9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Tools -&gt; Runtime Prepared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7BA62E4-DDB5-4D43-829B-5A0C86EB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24450"/>
            <a:ext cx="2038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Runtime Layer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E6A9507-B895-4AA0-9D98-009594BD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339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Tools Attached -&gt; Runtime Prepared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693B010-2421-42CB-B657-F9C7081E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67275"/>
            <a:ext cx="2495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 parser plus prompt/cache token fields.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C64E21C-23EF-484C-988C-EE037A7C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149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20" b="1">
                <a:solidFill>
                  <a:srgbClr val="0F9F6E"/>
                </a:solidFill>
                <a:latin typeface="Aptos Mono"/>
                <a:ea typeface="Aptos Mono"/>
                <a:cs typeface="Aptos Mono"/>
              </a:defRPr>
            </a:pPr>
            <a:r>
              <a:rPr sz="1020" b="1">
                <a:solidFill>
                  <a:srgbClr val="0F9F6E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5A310E0-6181-404A-95F1-FB200CDC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905375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tools, parser, prompt/cache tokens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3D718A9-2177-40FF-B8A9-0C91ED53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6846D44-16D7-480E-B129-88471EFF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D07B8AD-7E08-4BAB-AF89-92B005E2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E7B3051-3800-4E9B-BA61-096B941C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Slides 17-18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FFC038E-7CBF-4171-B800-F7B5082D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5 of 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79BF7DD-F2C9-487C-BA76-BEFD7A41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5626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9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9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Runtime -&gt; Behavior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DC52C16-7FFD-48B7-B4C4-EF630992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810250"/>
            <a:ext cx="2038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268BB99-7319-4295-8A71-587A574B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6197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Runtime Prepared -&gt; Behavior Recorded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62A9DFB-4174-4931-B453-4EA0600E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53075"/>
            <a:ext cx="2495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 calls, finish_reason, response_text, workspace_changed.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3602783-F5F0-4937-BDA5-EEE03DD8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6007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20" b="1">
                <a:solidFill>
                  <a:srgbClr val="BE123C"/>
                </a:solidFill>
                <a:latin typeface="Aptos Mono"/>
                <a:ea typeface="Aptos Mono"/>
                <a:cs typeface="Aptos Mono"/>
              </a:defRPr>
            </a:pPr>
            <a:r>
              <a:rPr sz="1020" b="1">
                <a:solidFill>
                  <a:srgbClr val="BE123C"/>
                </a:solidFill>
                <a:latin typeface="Aptos Mono"/>
                <a:ea typeface="Aptos Mono"/>
                <a:cs typeface="Aptos Mono"/>
              </a:rPr>
              <a:t>+2,066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B4FD6D3-9D75-4551-BAAB-C2C9434F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591175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 calls, response, outcome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5237FFD-AC35-4936-B0D1-CF37BCD1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F7D0F1F-80CB-49E5-AF52-0AF84B61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9A904F1-594D-48DD-A9C1-DD5525EC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B837DB8-6C60-446E-8D50-F68FAE5A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628136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609600" y="495300"/>
            <a:ext cx="76200" cy="2286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TextBox 3"/>
          <p:cNvSpPr txBox="1"/>
          <p:nvPr/>
        </p:nvSpPr>
        <p:spPr>
          <a:xfrm>
            <a:off x="800100" y="495300"/>
            <a:ext cx="5905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STEP 1 OF 5 | TASK -&gt; PROMPT | PROMPT BUILDER (LOCAL HELPER SCRIPT)</a:t>
            </a:r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7658100" y="514350"/>
            <a:ext cx="742950" cy="209550"/>
          </a:xfrm>
          <a:prstGeom prst="rect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7715250" y="571500"/>
            <a:ext cx="6286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Task</a:t>
            </a:r>
          </a:p>
        </p:txBody>
      </p:sp>
      <p:sp xmlns:a="http://schemas.openxmlformats.org/drawingml/2006/main">
        <p:nvSpPr>
          <p:cNvPr id="7" name="Rectangle 6"/>
          <p:cNvSpPr/>
          <p:nvPr/>
        </p:nvSpPr>
        <p:spPr>
          <a:xfrm>
            <a:off x="847725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8534400" y="571500"/>
            <a:ext cx="6286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Prompt</a:t>
            </a:r>
          </a:p>
        </p:txBody>
      </p:sp>
      <p:sp xmlns:a="http://schemas.openxmlformats.org/drawingml/2006/main">
        <p:nvSpPr>
          <p:cNvPr id="9" name="Rectangle 8"/>
          <p:cNvSpPr/>
          <p:nvPr/>
        </p:nvSpPr>
        <p:spPr>
          <a:xfrm>
            <a:off x="929640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9353550" y="571500"/>
            <a:ext cx="6286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Request</a:t>
            </a:r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1011555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TextBox 11"/>
          <p:cNvSpPr txBox="1"/>
          <p:nvPr/>
        </p:nvSpPr>
        <p:spPr>
          <a:xfrm>
            <a:off x="10172700" y="571500"/>
            <a:ext cx="6286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Runtime</a:t>
            </a:r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1093470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TextBox 13"/>
          <p:cNvSpPr txBox="1"/>
          <p:nvPr/>
        </p:nvSpPr>
        <p:spPr>
          <a:xfrm>
            <a:off x="10991850" y="571500"/>
            <a:ext cx="6286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Behavior</a:t>
            </a:r>
          </a:p>
        </p:txBody>
      </p:sp>
      <p:sp xmlns:a="http://schemas.openxmlformats.org/drawingml/2006/main">
        <p:nvSpPr>
          <p:cNvPr id="15" name="TextBox 14"/>
          <p:cNvSpPr txBox="1"/>
          <p:nvPr/>
        </p:nvSpPr>
        <p:spPr>
          <a:xfrm>
            <a:off x="609600" y="819150"/>
            <a:ext cx="10096500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101820"/>
                </a:solidFill>
                <a:latin typeface="Aptos Display"/>
              </a:rPr>
              <a:t>First, the raw task becomes one prompt object.</a:t>
            </a:r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609600" y="1866900"/>
            <a:ext cx="10972800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609600" y="2457450"/>
            <a:ext cx="10972800" cy="9525"/>
          </a:xfrm>
          <a:prstGeom prst="rect">
            <a:avLst/>
          </a:prstGeom>
          <a:solidFill>
            <a:srgbClr val="D7D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609600" y="1866900"/>
            <a:ext cx="76200" cy="5905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TextBox 18"/>
          <p:cNvSpPr txBox="1"/>
          <p:nvPr/>
        </p:nvSpPr>
        <p:spPr>
          <a:xfrm>
            <a:off x="838200" y="1971675"/>
            <a:ext cx="10477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What changed</a:t>
            </a:r>
          </a:p>
        </p:txBody>
      </p:sp>
      <p:sp xmlns:a="http://schemas.openxmlformats.org/drawingml/2006/main">
        <p:nvSpPr>
          <p:cNvPr id="20" name="TextBox 19"/>
          <p:cNvSpPr txBox="1"/>
          <p:nvPr/>
        </p:nvSpPr>
        <p:spPr>
          <a:xfrm>
            <a:off x="838200" y="2114550"/>
            <a:ext cx="25717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>
                <a:solidFill>
                  <a:srgbClr val="101820"/>
                </a:solidFill>
                <a:latin typeface="Aptos"/>
              </a:rPr>
              <a:t>Raw benchmark fields become one prompt field.</a:t>
            </a:r>
          </a:p>
        </p:txBody>
      </p:sp>
      <p:sp xmlns:a="http://schemas.openxmlformats.org/drawingml/2006/main">
        <p:nvSpPr>
          <p:cNvPr id="21" name="TextBox 20"/>
          <p:cNvSpPr txBox="1"/>
          <p:nvPr/>
        </p:nvSpPr>
        <p:spPr>
          <a:xfrm>
            <a:off x="3676650" y="1971675"/>
            <a:ext cx="10477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Why it matters</a:t>
            </a:r>
          </a:p>
        </p:txBody>
      </p:sp>
      <p:sp xmlns:a="http://schemas.openxmlformats.org/drawingml/2006/main">
        <p:nvSpPr>
          <p:cNvPr id="22" name="TextBox 21"/>
          <p:cNvSpPr txBox="1"/>
          <p:nvPr/>
        </p:nvSpPr>
        <p:spPr>
          <a:xfrm>
            <a:off x="3676650" y="2114550"/>
            <a:ext cx="2667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>
                <a:solidFill>
                  <a:srgbClr val="101820"/>
                </a:solidFill>
                <a:latin typeface="Aptos"/>
              </a:rPr>
              <a:t>This is where the task becomes instructions the agent can follow.</a:t>
            </a:r>
          </a:p>
        </p:txBody>
      </p:sp>
      <p:sp xmlns:a="http://schemas.openxmlformats.org/drawingml/2006/main">
        <p:nvSpPr>
          <p:cNvPr id="23" name="TextBox 22"/>
          <p:cNvSpPr txBox="1"/>
          <p:nvPr/>
        </p:nvSpPr>
        <p:spPr>
          <a:xfrm>
            <a:off x="6610350" y="1971675"/>
            <a:ext cx="1143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What to look at</a:t>
            </a:r>
          </a:p>
        </p:txBody>
      </p:sp>
      <p:sp xmlns:a="http://schemas.openxmlformats.org/drawingml/2006/main">
        <p:nvSpPr>
          <p:cNvPr id="24" name="TextBox 23"/>
          <p:cNvSpPr txBox="1"/>
          <p:nvPr/>
        </p:nvSpPr>
        <p:spPr>
          <a:xfrm>
            <a:off x="6610350" y="2114550"/>
            <a:ext cx="31051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>
                <a:solidFill>
                  <a:srgbClr val="101820"/>
                </a:solidFill>
                <a:latin typeface="Aptos"/>
              </a:rPr>
              <a:t>New field: prompt. Payload grows by +5,576.</a:t>
            </a:r>
          </a:p>
        </p:txBody>
      </p:sp>
      <p:sp xmlns:a="http://schemas.openxmlformats.org/drawingml/2006/main">
        <p:nvSpPr>
          <p:cNvPr id="25" name="TextBox 24"/>
          <p:cNvSpPr txBox="1"/>
          <p:nvPr/>
        </p:nvSpPr>
        <p:spPr>
          <a:xfrm>
            <a:off x="10001250" y="1971675"/>
            <a:ext cx="857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Component</a:t>
            </a:r>
          </a:p>
        </p:txBody>
      </p:sp>
      <p:sp xmlns:a="http://schemas.openxmlformats.org/drawingml/2006/main">
        <p:nvSpPr>
          <p:cNvPr id="26" name="TextBox 25"/>
          <p:cNvSpPr txBox="1"/>
          <p:nvPr/>
        </p:nvSpPr>
        <p:spPr>
          <a:xfrm>
            <a:off x="10001250" y="2114550"/>
            <a:ext cx="13144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>
                <a:solidFill>
                  <a:srgbClr val="2563EB"/>
                </a:solidFill>
                <a:latin typeface="Aptos"/>
              </a:rPr>
              <a:t>Prompt Builder (local helper script)</a:t>
            </a:r>
          </a:p>
        </p:txBody>
      </p:sp>
      <p:sp xmlns:a="http://schemas.openxmlformats.org/drawingml/2006/main">
        <p:nvSpPr>
          <p:cNvPr id="27" name="TextBox 26"/>
          <p:cNvSpPr txBox="1"/>
          <p:nvPr/>
        </p:nvSpPr>
        <p:spPr>
          <a:xfrm>
            <a:off x="609600" y="2476500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01820"/>
                </a:solidFill>
                <a:latin typeface="Aptos"/>
              </a:rPr>
              <a:t>Prompt Built</a:t>
            </a:r>
          </a:p>
        </p:txBody>
      </p:sp>
      <p:sp xmlns:a="http://schemas.openxmlformats.org/drawingml/2006/main">
        <p:nvSpPr>
          <p:cNvPr id="28" name="TextBox 27"/>
          <p:cNvSpPr txBox="1"/>
          <p:nvPr/>
        </p:nvSpPr>
        <p:spPr>
          <a:xfrm>
            <a:off x="3257550" y="2495550"/>
            <a:ext cx="12573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67085"/>
                </a:solidFill>
                <a:latin typeface="Aptos"/>
              </a:rPr>
              <a:t>Added in this step</a:t>
            </a:r>
          </a:p>
        </p:txBody>
      </p:sp>
      <p:sp xmlns:a="http://schemas.openxmlformats.org/drawingml/2006/main">
        <p:nvSpPr>
          <p:cNvPr id="29" name="Rectangle 28"/>
          <p:cNvSpPr/>
          <p:nvPr/>
        </p:nvSpPr>
        <p:spPr>
          <a:xfrm>
            <a:off x="4533900" y="2457450"/>
            <a:ext cx="581025" cy="209550"/>
          </a:xfrm>
          <a:prstGeom prst="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TextBox 29"/>
          <p:cNvSpPr txBox="1"/>
          <p:nvPr/>
        </p:nvSpPr>
        <p:spPr>
          <a:xfrm>
            <a:off x="4619625" y="2505075"/>
            <a:ext cx="409575" cy="104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1">
                <a:solidFill>
                  <a:srgbClr val="334155"/>
                </a:solidFill>
                <a:latin typeface="Aptos"/>
              </a:rPr>
              <a:t>prompt</a:t>
            </a:r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9658350" y="2381250"/>
            <a:ext cx="1924050" cy="400050"/>
          </a:xfrm>
          <a:prstGeom prst="rect">
            <a:avLst/>
          </a:prstGeom>
          <a:solidFill>
            <a:srgbClr val="FFFFFF"/>
          </a:solidFill>
          <a:ln w="2032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TextBox 31"/>
          <p:cNvSpPr txBox="1"/>
          <p:nvPr/>
        </p:nvSpPr>
        <p:spPr>
          <a:xfrm>
            <a:off x="9772650" y="2447925"/>
            <a:ext cx="16954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>
                <a:solidFill>
                  <a:srgbClr val="667085"/>
                </a:solidFill>
                <a:latin typeface="Aptos"/>
              </a:rPr>
              <a:t>Payload size change</a:t>
            </a:r>
          </a:p>
        </p:txBody>
      </p:sp>
      <p:sp xmlns:a="http://schemas.openxmlformats.org/drawingml/2006/main">
        <p:nvSpPr>
          <p:cNvPr id="33" name="TextBox 32"/>
          <p:cNvSpPr txBox="1"/>
          <p:nvPr/>
        </p:nvSpPr>
        <p:spPr>
          <a:xfrm>
            <a:off x="9772650" y="2571750"/>
            <a:ext cx="16954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>
                <a:solidFill>
                  <a:srgbClr val="2563EB"/>
                </a:solidFill>
                <a:latin typeface="Aptos Mono"/>
              </a:rPr>
              <a:t>+5,576</a:t>
            </a:r>
          </a:p>
        </p:txBody>
      </p:sp>
      <p:sp xmlns:a="http://schemas.openxmlformats.org/drawingml/2006/main">
        <p:nvSpPr>
          <p:cNvPr id="34" name="Rectangle 33"/>
          <p:cNvSpPr/>
          <p:nvPr/>
        </p:nvSpPr>
        <p:spPr>
          <a:xfrm>
            <a:off x="609600" y="2857500"/>
            <a:ext cx="5219700" cy="2914650"/>
          </a:xfrm>
          <a:prstGeom prst="rect">
            <a:avLst/>
          </a:prstGeom>
          <a:solidFill>
            <a:srgbClr val="FFFFFF"/>
          </a:solidFill>
          <a:ln w="25400">
            <a:solidFill>
              <a:srgbClr val="8D9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Rectangle 34"/>
          <p:cNvSpPr/>
          <p:nvPr/>
        </p:nvSpPr>
        <p:spPr>
          <a:xfrm>
            <a:off x="609600" y="2857500"/>
            <a:ext cx="5219700" cy="400050"/>
          </a:xfrm>
          <a:prstGeom prst="rect">
            <a:avLst/>
          </a:prstGeom>
          <a:solidFill>
            <a:srgbClr val="E9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TextBox 35"/>
          <p:cNvSpPr txBox="1"/>
          <p:nvPr/>
        </p:nvSpPr>
        <p:spPr>
          <a:xfrm>
            <a:off x="781050" y="2962275"/>
            <a:ext cx="4876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101820"/>
                </a:solidFill>
                <a:latin typeface="Aptos"/>
              </a:rPr>
              <a:t>Before</a:t>
            </a:r>
          </a:p>
        </p:txBody>
      </p:sp>
      <p:sp xmlns:a="http://schemas.openxmlformats.org/drawingml/2006/main">
        <p:nvSpPr>
          <p:cNvPr id="37" name="TextBox 36"/>
          <p:cNvSpPr txBox="1"/>
          <p:nvPr/>
        </p:nvSpPr>
        <p:spPr>
          <a:xfrm>
            <a:off x="781050" y="3409950"/>
            <a:ext cx="4876800" cy="2247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{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  </a:t>
            </a:r>
            <a:r>
              <a:rPr sz="855" b="1">
                <a:solidFill>
                  <a:srgbClr val="1D4ED8"/>
                </a:solidFill>
                <a:latin typeface="Aptos Mono"/>
              </a:rPr>
              <a:t>"repo"</a:t>
            </a:r>
            <a:r>
              <a:rPr sz="855" b="0">
                <a:solidFill>
                  <a:srgbClr val="667085"/>
                </a:solidFill>
                <a:latin typeface="Aptos Mono"/>
              </a:rPr>
              <a:t>: </a:t>
            </a:r>
            <a:r>
              <a:rPr sz="855" b="0">
                <a:solidFill>
                  <a:srgbClr val="172033"/>
                </a:solidFill>
                <a:latin typeface="Aptos Mono"/>
              </a:rPr>
              <a:t>"NodeBB/NodeBB",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  </a:t>
            </a:r>
            <a:r>
              <a:rPr sz="855" b="1">
                <a:solidFill>
                  <a:srgbClr val="1D4ED8"/>
                </a:solidFill>
                <a:latin typeface="Aptos Mono"/>
              </a:rPr>
              <a:t>"base_commit"</a:t>
            </a:r>
            <a:r>
              <a:rPr sz="855" b="0">
                <a:solidFill>
                  <a:srgbClr val="667085"/>
                </a:solidFill>
                <a:latin typeface="Aptos Mono"/>
              </a:rPr>
              <a:t>: </a:t>
            </a:r>
            <a:r>
              <a:rPr sz="855" b="0">
                <a:solidFill>
                  <a:srgbClr val="172033"/>
                </a:solidFill>
                <a:latin typeface="Aptos Mono"/>
              </a:rPr>
              <a:t>"...",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  </a:t>
            </a:r>
            <a:r>
              <a:rPr sz="855" b="1">
                <a:solidFill>
                  <a:srgbClr val="1D4ED8"/>
                </a:solidFill>
                <a:latin typeface="Aptos Mono"/>
              </a:rPr>
              <a:t>"problem_statement"</a:t>
            </a:r>
            <a:r>
              <a:rPr sz="855" b="0">
                <a:solidFill>
                  <a:srgbClr val="667085"/>
                </a:solidFill>
                <a:latin typeface="Aptos Mono"/>
              </a:rPr>
              <a:t>: </a:t>
            </a:r>
            <a:r>
              <a:rPr sz="855" b="0">
                <a:solidFill>
                  <a:srgbClr val="172033"/>
                </a:solidFill>
                <a:latin typeface="Aptos Mono"/>
              </a:rPr>
              <a:t>"...",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  </a:t>
            </a:r>
            <a:r>
              <a:rPr sz="855" b="1">
                <a:solidFill>
                  <a:srgbClr val="1D4ED8"/>
                </a:solidFill>
                <a:latin typeface="Aptos Mono"/>
              </a:rPr>
              <a:t>"requirements"</a:t>
            </a:r>
            <a:r>
              <a:rPr sz="855" b="0">
                <a:solidFill>
                  <a:srgbClr val="667085"/>
                </a:solidFill>
                <a:latin typeface="Aptos Mono"/>
              </a:rPr>
              <a:t>: </a:t>
            </a:r>
            <a:r>
              <a:rPr sz="855" b="0">
                <a:solidFill>
                  <a:srgbClr val="172033"/>
                </a:solidFill>
                <a:latin typeface="Aptos Mono"/>
              </a:rPr>
              <a:t>"...",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  </a:t>
            </a:r>
            <a:r>
              <a:rPr sz="855" b="1">
                <a:solidFill>
                  <a:srgbClr val="1D4ED8"/>
                </a:solidFill>
                <a:latin typeface="Aptos Mono"/>
              </a:rPr>
              <a:t>"selected_test_files_to_run"</a:t>
            </a:r>
            <a:r>
              <a:rPr sz="855" b="0">
                <a:solidFill>
                  <a:srgbClr val="667085"/>
                </a:solidFill>
                <a:latin typeface="Aptos Mono"/>
              </a:rPr>
              <a:t>: </a:t>
            </a:r>
            <a:r>
              <a:rPr sz="855" b="0">
                <a:solidFill>
                  <a:srgbClr val="667085"/>
                </a:solidFill>
                <a:latin typeface="Aptos Mono"/>
              </a:rPr>
              <a:t>[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172033"/>
                </a:solidFill>
                <a:latin typeface="Aptos Mono"/>
              </a:rPr>
              <a:t>    "test/database.js",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172033"/>
                </a:solidFill>
                <a:latin typeface="Aptos Mono"/>
              </a:rPr>
              <a:t>    "test/database/keys.js",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172033"/>
                </a:solidFill>
                <a:latin typeface="Aptos Mono"/>
              </a:rPr>
              <a:t>    "test/user/emails.js"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  ],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  </a:t>
            </a:r>
            <a:r>
              <a:rPr sz="855" b="1">
                <a:solidFill>
                  <a:srgbClr val="1D4ED8"/>
                </a:solidFill>
                <a:latin typeface="Aptos Mono"/>
              </a:rPr>
              <a:t>"workspace_path"</a:t>
            </a:r>
            <a:r>
              <a:rPr sz="855" b="0">
                <a:solidFill>
                  <a:srgbClr val="667085"/>
                </a:solidFill>
                <a:latin typeface="Aptos Mono"/>
              </a:rPr>
              <a:t>: </a:t>
            </a:r>
            <a:r>
              <a:rPr sz="855" b="0">
                <a:solidFill>
                  <a:srgbClr val="172033"/>
                </a:solidFill>
                <a:latin typeface="Aptos Mono"/>
              </a:rPr>
              <a:t>"..."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}</a:t>
            </a:r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6362700" y="2857500"/>
            <a:ext cx="5219700" cy="291465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6362700" y="2857500"/>
            <a:ext cx="5219700" cy="400050"/>
          </a:xfrm>
          <a:prstGeom prst="rect">
            <a:avLst/>
          </a:prstGeom>
          <a:solidFill>
            <a:srgbClr val="E9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0" name="TextBox 39"/>
          <p:cNvSpPr txBox="1"/>
          <p:nvPr/>
        </p:nvSpPr>
        <p:spPr>
          <a:xfrm>
            <a:off x="6534150" y="2962275"/>
            <a:ext cx="4876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101820"/>
                </a:solidFill>
                <a:latin typeface="Aptos"/>
              </a:rPr>
              <a:t>After - actual prompt field, lightly truncated</a:t>
            </a:r>
          </a:p>
        </p:txBody>
      </p:sp>
      <p:sp xmlns:a="http://schemas.openxmlformats.org/drawingml/2006/main">
        <p:nvSpPr>
          <p:cNvPr id="41" name="TextBox 40"/>
          <p:cNvSpPr txBox="1"/>
          <p:nvPr/>
        </p:nvSpPr>
        <p:spPr>
          <a:xfrm>
            <a:off x="6534150" y="3409950"/>
            <a:ext cx="4876800" cy="2247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667085"/>
                </a:solidFill>
                <a:latin typeface="Aptos Mono"/>
              </a:rPr>
              <a:t>{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667085"/>
                </a:solidFill>
                <a:latin typeface="Aptos Mono"/>
              </a:rPr>
              <a:t>  </a:t>
            </a:r>
            <a:r>
              <a:rPr sz="835" b="1">
                <a:solidFill>
                  <a:srgbClr val="1D4ED8"/>
                </a:solidFill>
                <a:latin typeface="Aptos Mono"/>
              </a:rPr>
              <a:t>"prompt"</a:t>
            </a:r>
            <a:r>
              <a:rPr sz="835" b="0">
                <a:solidFill>
                  <a:srgbClr val="667085"/>
                </a:solidFill>
                <a:latin typeface="Aptos Mono"/>
              </a:rPr>
              <a:t>: "</a:t>
            </a:r>
            <a:r>
              <a:rPr sz="835" b="0">
                <a:solidFill>
                  <a:srgbClr val="172033"/>
                </a:solidFill>
                <a:latin typeface="Aptos Mono"/>
              </a:rPr>
              <a:t>You are working on one SWE-bench Pro software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engineering task.\n\nTask metadata:\n-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instance_id: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instance_NodeBB__NodeBB-04998908ba6721d64eba79ae3b65a351dcfbc5b5-vnan\n-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repo: NodeBB/NodeBB\n\nProblem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statement:\n**Title: Email Validation Status Not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Handled Correctly in ACP and Confirmation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Logic**\n\n**Description:**\n...</a:t>
            </a:r>
            <a:r>
              <a:rPr sz="835" b="0">
                <a:solidFill>
                  <a:srgbClr val="667085"/>
                </a:solidFill>
                <a:latin typeface="Aptos Mono"/>
              </a:rPr>
              <a:t>"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667085"/>
                </a:solidFill>
                <a:latin typeface="Aptos Mono"/>
              </a:rPr>
              <a:t>}</a:t>
            </a:r>
          </a:p>
        </p:txBody>
      </p:sp>
      <p:sp xmlns:a="http://schemas.openxmlformats.org/drawingml/2006/main">
        <p:nvSpPr>
          <p:cNvPr id="42" name="TextBox 41"/>
          <p:cNvSpPr txBox="1"/>
          <p:nvPr/>
        </p:nvSpPr>
        <p:spPr>
          <a:xfrm>
            <a:off x="609600" y="5810250"/>
            <a:ext cx="990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0">
                <a:solidFill>
                  <a:srgbClr val="334155"/>
                </a:solidFill>
                <a:latin typeface="Aptos"/>
              </a:rPr>
              <a:t>Prompt grew here | user_prompt_lines=114 | user_prompt_chars=6906 | next two slides show the actual prompt field contents.</a:t>
            </a:r>
          </a:p>
        </p:txBody>
      </p:sp>
      <p:sp xmlns:a="http://schemas.openxmlformats.org/drawingml/2006/main">
        <p:nvSpPr>
          <p:cNvPr id="43" name="Rectangle 42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7D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4" name="TextBox 43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 xmlns:a="http://schemas.openxmlformats.org/drawingml/2006/main">
        <p:nvSpPr>
          <p:cNvPr id="45" name="TextBox 44"/>
          <p:cNvSpPr txBox="1"/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31228134"/>
      </p:ext>
    </p:extLst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0050" y="476250"/>
            <a:ext cx="76200" cy="2095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0550" y="466725"/>
            <a:ext cx="4953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PROMPT FIELD (1 OF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50" y="742950"/>
            <a:ext cx="93345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01820"/>
                </a:solidFill>
                <a:latin typeface="Aptos Display"/>
              </a:rPr>
              <a:t>Verbatim artifact view of the prompt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123950"/>
            <a:ext cx="11734800" cy="514350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 w="2413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23950"/>
            <a:ext cx="117348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6250" y="1314450"/>
            <a:ext cx="19050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others/result.json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86950" y="1314450"/>
            <a:ext cx="17907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80" b="1">
                <a:solidFill>
                  <a:srgbClr val="667085"/>
                </a:solidFill>
                <a:latin typeface="Aptos"/>
              </a:rPr>
              <a:t>result.baseline_prompt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000" y="1524000"/>
            <a:ext cx="11430000" cy="462915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0550" y="1733550"/>
            <a:ext cx="20955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667085"/>
                </a:solidFill>
                <a:latin typeface="Aptos Mono"/>
              </a:rPr>
              <a:t>{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550" y="1905000"/>
            <a:ext cx="16002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40" b="1">
                <a:solidFill>
                  <a:srgbClr val="2563EB"/>
                </a:solidFill>
                <a:latin typeface="Aptos Mono"/>
              </a:rPr>
              <a:t>  "baseline_prompt": 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550" y="209550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750" y="209550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You are working on one SWE-bench Pro software engineering task.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550" y="217265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50" y="217265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550" y="224980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7750" y="224980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2563EB"/>
                </a:solidFill>
                <a:latin typeface="Aptos Mono"/>
              </a:rPr>
              <a:t>Task metadata: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550" y="232695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7750" y="232695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instance_id: instance_NodeBB__NodeBB-04998908ba6721d64eba79ae3b65a351dcfbc5b5-vnan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550" y="240411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7750" y="240411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repo: NodeBB/NodeBB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0550" y="248126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7750" y="248126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0550" y="255841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7750" y="255841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2563EB"/>
                </a:solidFill>
                <a:latin typeface="Aptos Mono"/>
              </a:rPr>
              <a:t>Problem statement: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0550" y="263556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7750" y="263556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**Title: Email Validation Status Not Handled Correctly in ACP and Confirmation Logic**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0550" y="271272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7750" y="271272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0550" y="278987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7750" y="278987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2563EB"/>
                </a:solidFill>
                <a:latin typeface="Aptos Mono"/>
              </a:rPr>
              <a:t>**Description:**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0550" y="286702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7750" y="286702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0550" y="294417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7750" y="294417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The Admin Control Panel (ACP) does not accurately reflect the email validation status of users. Also, validation and confirmation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0550" y="302133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7750" y="302133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processes rely on key expiration, which can prevent correct verification if the keys expire. There's no fallback to recover the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0550" y="309848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7750" y="309848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email if it's not found under the expected keys. This leads to failures when trying to validate or re-send confirmation emails.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0550" y="317563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7750" y="317563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0550" y="325278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7750" y="325278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2563EB"/>
                </a:solidFill>
                <a:latin typeface="Aptos Mono"/>
              </a:rPr>
              <a:t>Steps to reproduce: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0550" y="332994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7750" y="332994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0550" y="340709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7750" y="340709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1. Go to ACP → Manage Users.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0550" y="348424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7750" y="348424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0550" y="356139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7750" y="356139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2. Create a user without confirming their email.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0550" y="363855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7750" y="363855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0550" y="371570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7750" y="371570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3. Attempt to validate or resend confirmation via ACP after some time (allow keys to expire).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0550" y="379285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7750" y="379285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0550" y="387000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7750" y="387000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4. Observe the UI display and backend behavior.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0550" y="394716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7750" y="394716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0550" y="402431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7750" y="402431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2563EB"/>
                </a:solidFill>
                <a:latin typeface="Aptos Mono"/>
              </a:rPr>
              <a:t>**What is expected:**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0550" y="410146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47750" y="410146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0550" y="417861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47750" y="417861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Accurate display of email status in ACP (validated, pending, expired, or missing).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0550" y="425577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47750" y="425577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0550" y="433292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47750" y="433292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Email confirmation should remain valid until it explicitly expires.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0550" y="441007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47750" y="441007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90550" y="448722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47750" y="448722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Validation actions should fallback to alternative sources to locate user emails.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0550" y="456438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47750" y="456438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90550" y="464153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47750" y="464153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2563EB"/>
                </a:solidFill>
                <a:latin typeface="Aptos Mono"/>
              </a:rPr>
              <a:t>**What happened instead:**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0550" y="471868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47750" y="471868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0550" y="479583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47750" y="479583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Expired confirmation keys prevented email validation.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90550" y="487299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47750" y="487299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0550" y="495014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47750" y="495014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The email status was unclear or incorrect in ACP.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90550" y="502729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47750" y="502729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90550" y="510444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47750" y="510444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"Validate" and "Send validation email" actions failed when the expected data was missing.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90550" y="518160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47750" y="518160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90550" y="525875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040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47750" y="525875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2563EB"/>
                </a:solidFill>
                <a:latin typeface="Aptos Mono"/>
              </a:rPr>
              <a:t>**Labels:**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90550" y="533590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041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47750" y="533590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90550" y="541305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042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47750" y="541305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bug, back-end, authentication, ui/ux, email-confirmation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90550" y="5772150"/>
            <a:ext cx="1143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667085"/>
                </a:solidFill>
                <a:latin typeface="Aptos Mono"/>
              </a:rPr>
              <a:t>"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90550" y="5924550"/>
            <a:ext cx="1143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667085"/>
                </a:solidFill>
                <a:latin typeface="Aptos Mono"/>
              </a:rPr>
              <a:t>}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7D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0050" y="476250"/>
            <a:ext cx="76200" cy="20955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0550" y="466725"/>
            <a:ext cx="4953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PROMPT FIELD (2 OF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50" y="742950"/>
            <a:ext cx="93345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01820"/>
                </a:solidFill>
                <a:latin typeface="Aptos Display"/>
              </a:rPr>
              <a:t>Verbatim continuation of the same prompt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123950"/>
            <a:ext cx="11734800" cy="5143500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 w="2413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23950"/>
            <a:ext cx="11734800" cy="9525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6250" y="1314450"/>
            <a:ext cx="19050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others/result.json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86950" y="1314450"/>
            <a:ext cx="17907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80" b="1">
                <a:solidFill>
                  <a:srgbClr val="667085"/>
                </a:solidFill>
                <a:latin typeface="Aptos"/>
              </a:rPr>
              <a:t>result.baseline_prompt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000" y="1524000"/>
            <a:ext cx="11430000" cy="4629150"/>
          </a:xfrm>
          <a:prstGeom prst="rect">
            <a:avLst/>
          </a:prstGeom>
          <a:solidFill>
            <a:srgbClr val="FFFFFF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0550" y="1733550"/>
            <a:ext cx="20955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667085"/>
                </a:solidFill>
                <a:latin typeface="Aptos Mono"/>
              </a:rPr>
              <a:t>{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550" y="1905000"/>
            <a:ext cx="16002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40" b="1">
                <a:solidFill>
                  <a:srgbClr val="6D28D9"/>
                </a:solidFill>
                <a:latin typeface="Aptos Mono"/>
              </a:rPr>
              <a:t>  "baseline_prompt": 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550" y="209550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750" y="209550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6D28D9"/>
                </a:solidFill>
                <a:latin typeface="Aptos Mono"/>
              </a:rPr>
              <a:t>Requirements: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550" y="217265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50" y="217265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The loadUserInfo(callerUid, uids) function should include logic to retrieve and attach `email:pending` and `email:expired` flags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550" y="224980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7750" y="224980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to each user object. These flags must be derived by resolving `confirm:byUid:&lt;uid&gt;` keys via the new `getConfirmObjs()` function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550" y="232695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7750" y="232695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and checking expires timestamps in corresponding `confirm:&lt;code&gt;` objects.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550" y="240411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046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7750" y="240411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0550" y="248126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7750" y="248126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The `getConfirmObjs()` helper within `loadUserInfo()` should fetch confirmation codes using `db.mget()` on `confirm:byUid:&lt;uid&gt;`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0550" y="255841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7750" y="255841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keys, then retrieve the corresponding `confirm:&lt;code&gt;` objects using `db.getObjects()`. The mapping must ensure each user’s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0550" y="263556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7750" y="263556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confirmation object is accurately indexed by position.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0550" y="271272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048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7750" y="271272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0550" y="278987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049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7750" y="278987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Each database adapter MongoDB, PostgreSQL, and Redis, must implement a `db.mget(keys: string[]): Promise&lt;string[]&gt;` method 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0550" y="286702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7750" y="286702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their respective `main.js` files. This method takes an array of keys and returns an array of corresponding string values.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0550" y="294417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7750" y="294417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0550" y="302133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051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7750" y="302133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The `db.mget` implementation should ensure that for any keys not found in the database, the method returns null at the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0550" y="309848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7750" y="309848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corresponding index in the output array. For Redis, this must be achieved using `client.mget`. For MongoDB, the objects collection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0550" y="317563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7750" y="317563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must be queried using a `$in` filter on `_key`. For PostgreSQL, the implementation must join `legacy_object_live` and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0550" y="325278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7750" y="325278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`legacy_string` tables to retrieve values by key.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0550" y="332994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052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7750" y="332994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0550" y="340709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053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7750" y="340709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The `mget` implementation in all database adapters should preserve the input order of keys and explicitly return null for any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0550" y="348424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7750" y="348424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key that does not exist in the data store. This behavior should be enforced in the return mapping logic.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0550" y="356139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054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7750" y="356139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0550" y="363855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055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7750" y="363855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The `User.validateEmail` handler should retrieve the user’s email using `user.email.getEmailForValidation(uid)` before calling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0550" y="371570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7750" y="371570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`user.email.confirmByUid(uid)`. If a valid email is found, it must be saved to the user's profile using `user.setUserField(uid,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0550" y="379285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7750" y="379285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'email', email)`.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0550" y="387000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056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7750" y="387000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0550" y="394716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057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7750" y="394716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The `User.sendValidationEmail` handler must use `user.email.getEmailForValidation(uid)` to obtain the correct email and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0550" y="402431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7750" y="402431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explicitly pass it as the email option to `user.email.sendValidationEmail.`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0550" y="416814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096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47750" y="416814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6D28D9"/>
                </a:solidFill>
                <a:latin typeface="Aptos Mono"/>
              </a:rPr>
              <a:t>Selected tests to run: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0550" y="424529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097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47750" y="424529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test/database.js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0550" y="432244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098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47750" y="432244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test/database/keys.js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0550" y="439959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099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47750" y="439959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test/user/emails.js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0550" y="447675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100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47750" y="447675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90550" y="455390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101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47750" y="455390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6D28D9"/>
                </a:solidFill>
                <a:latin typeface="Aptos Mono"/>
              </a:rPr>
              <a:t>Workspace: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0550" y="463105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102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47750" y="463105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You have a writable local workspace at: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90550" y="470820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103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47750" y="470820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/home/ec2-user/kv_cache_offloading/agentbench/repos/NodeBB__NodeBB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0550" y="478536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104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47750" y="478536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0550" y="486251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105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47750" y="486251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Use the available filesystem and shell tools to inspect the repo, edit files when needed, run focused validation, and leave the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90550" y="493966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47750" y="493966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workspace in a state where a git diff can be captured.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0550" y="501681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106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47750" y="501681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90550" y="509397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107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47750" y="509397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Solve the issue in the workspace if you can.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90550" y="517112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108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47750" y="517112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90550" y="524827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109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47750" y="524827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6D28D9"/>
                </a:solidFill>
                <a:latin typeface="Aptos Mono"/>
              </a:rPr>
              <a:t>Expectations: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90550" y="532542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110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47750" y="532542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Inspect the real repo before deciding on changes.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90550" y="540258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111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47750" y="540258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Use the available tools to read files, edit code, and run focused commands or tests when useful.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90550" y="547973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112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47750" y="547973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Do not stop at a plan if you can make progress on the fix.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90550" y="555688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113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47750" y="555688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Report only what you actually changed and actually validated.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90550" y="563403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114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47750" y="563403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If you are blocked, explain the specific blocker briefly.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90550" y="5772150"/>
            <a:ext cx="1143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667085"/>
                </a:solidFill>
                <a:latin typeface="Aptos Mono"/>
              </a:rPr>
              <a:t>"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90550" y="5924550"/>
            <a:ext cx="1143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667085"/>
                </a:solidFill>
                <a:latin typeface="Aptos Mono"/>
              </a:rPr>
              <a:t>}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7D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609600" y="495300"/>
            <a:ext cx="76200" cy="2286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TextBox 3"/>
          <p:cNvSpPr txBox="1"/>
          <p:nvPr/>
        </p:nvSpPr>
        <p:spPr>
          <a:xfrm>
            <a:off x="800100" y="495300"/>
            <a:ext cx="5905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STEP 2 OF 5 | PROMPT -&gt; REQUEST | REQUEST WRAPPER (LOCAL HELPER SCRIPT)</a:t>
            </a:r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765810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7715250" y="571500"/>
            <a:ext cx="6286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Task</a:t>
            </a:r>
          </a:p>
        </p:txBody>
      </p:sp>
      <p:sp xmlns:a="http://schemas.openxmlformats.org/drawingml/2006/main">
        <p:nvSpPr>
          <p:cNvPr id="7" name="Rectangle 6"/>
          <p:cNvSpPr/>
          <p:nvPr/>
        </p:nvSpPr>
        <p:spPr>
          <a:xfrm>
            <a:off x="8477250" y="514350"/>
            <a:ext cx="742950" cy="209550"/>
          </a:xfrm>
          <a:prstGeom prst="rect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8534400" y="571500"/>
            <a:ext cx="6286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Prompt</a:t>
            </a:r>
          </a:p>
        </p:txBody>
      </p:sp>
      <p:sp xmlns:a="http://schemas.openxmlformats.org/drawingml/2006/main">
        <p:nvSpPr>
          <p:cNvPr id="9" name="Rectangle 8"/>
          <p:cNvSpPr/>
          <p:nvPr/>
        </p:nvSpPr>
        <p:spPr>
          <a:xfrm>
            <a:off x="929640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9353550" y="571500"/>
            <a:ext cx="6286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Request</a:t>
            </a:r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1011555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TextBox 11"/>
          <p:cNvSpPr txBox="1"/>
          <p:nvPr/>
        </p:nvSpPr>
        <p:spPr>
          <a:xfrm>
            <a:off x="10172700" y="571500"/>
            <a:ext cx="6286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Runtime</a:t>
            </a:r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1093470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TextBox 13"/>
          <p:cNvSpPr txBox="1"/>
          <p:nvPr/>
        </p:nvSpPr>
        <p:spPr>
          <a:xfrm>
            <a:off x="10991850" y="571500"/>
            <a:ext cx="6286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Behavior</a:t>
            </a:r>
          </a:p>
        </p:txBody>
      </p:sp>
      <p:sp xmlns:a="http://schemas.openxmlformats.org/drawingml/2006/main">
        <p:nvSpPr>
          <p:cNvPr id="15" name="TextBox 14"/>
          <p:cNvSpPr txBox="1"/>
          <p:nvPr/>
        </p:nvSpPr>
        <p:spPr>
          <a:xfrm>
            <a:off x="609600" y="819150"/>
            <a:ext cx="10096500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101820"/>
                </a:solidFill>
                <a:latin typeface="Aptos Display"/>
              </a:rPr>
              <a:t>Next, the prompt is wrapped for the model.</a:t>
            </a:r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609600" y="1866900"/>
            <a:ext cx="10972800" cy="1905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609600" y="2457450"/>
            <a:ext cx="10972800" cy="9525"/>
          </a:xfrm>
          <a:prstGeom prst="rect">
            <a:avLst/>
          </a:prstGeom>
          <a:solidFill>
            <a:srgbClr val="D7D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609600" y="1866900"/>
            <a:ext cx="76200" cy="59055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TextBox 18"/>
          <p:cNvSpPr txBox="1"/>
          <p:nvPr/>
        </p:nvSpPr>
        <p:spPr>
          <a:xfrm>
            <a:off x="838200" y="1971675"/>
            <a:ext cx="10477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What changed</a:t>
            </a:r>
          </a:p>
        </p:txBody>
      </p:sp>
      <p:sp xmlns:a="http://schemas.openxmlformats.org/drawingml/2006/main">
        <p:nvSpPr>
          <p:cNvPr id="20" name="TextBox 19"/>
          <p:cNvSpPr txBox="1"/>
          <p:nvPr/>
        </p:nvSpPr>
        <p:spPr>
          <a:xfrm>
            <a:off x="838200" y="2114550"/>
            <a:ext cx="25717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>
                <a:solidFill>
                  <a:srgbClr val="101820"/>
                </a:solidFill>
                <a:latin typeface="Aptos"/>
              </a:rPr>
              <a:t>The prompt is wrapped in model request fields.</a:t>
            </a:r>
          </a:p>
        </p:txBody>
      </p:sp>
      <p:sp xmlns:a="http://schemas.openxmlformats.org/drawingml/2006/main">
        <p:nvSpPr>
          <p:cNvPr id="21" name="TextBox 20"/>
          <p:cNvSpPr txBox="1"/>
          <p:nvPr/>
        </p:nvSpPr>
        <p:spPr>
          <a:xfrm>
            <a:off x="3676650" y="1971675"/>
            <a:ext cx="10477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Why it matters</a:t>
            </a:r>
          </a:p>
        </p:txBody>
      </p:sp>
      <p:sp xmlns:a="http://schemas.openxmlformats.org/drawingml/2006/main">
        <p:nvSpPr>
          <p:cNvPr id="22" name="TextBox 21"/>
          <p:cNvSpPr txBox="1"/>
          <p:nvPr/>
        </p:nvSpPr>
        <p:spPr>
          <a:xfrm>
            <a:off x="3676650" y="2114550"/>
            <a:ext cx="2667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>
                <a:solidFill>
                  <a:srgbClr val="101820"/>
                </a:solidFill>
                <a:latin typeface="Aptos"/>
              </a:rPr>
              <a:t>The system now knows the model, messages, request ID, and hints.</a:t>
            </a:r>
          </a:p>
        </p:txBody>
      </p:sp>
      <p:sp xmlns:a="http://schemas.openxmlformats.org/drawingml/2006/main">
        <p:nvSpPr>
          <p:cNvPr id="23" name="TextBox 22"/>
          <p:cNvSpPr txBox="1"/>
          <p:nvPr/>
        </p:nvSpPr>
        <p:spPr>
          <a:xfrm>
            <a:off x="6610350" y="1971675"/>
            <a:ext cx="1143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What to look at</a:t>
            </a:r>
          </a:p>
        </p:txBody>
      </p:sp>
      <p:sp xmlns:a="http://schemas.openxmlformats.org/drawingml/2006/main">
        <p:nvSpPr>
          <p:cNvPr id="24" name="TextBox 23"/>
          <p:cNvSpPr txBox="1"/>
          <p:nvPr/>
        </p:nvSpPr>
        <p:spPr>
          <a:xfrm>
            <a:off x="6610350" y="2114550"/>
            <a:ext cx="31051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>
                <a:solidFill>
                  <a:srgbClr val="101820"/>
                </a:solidFill>
                <a:latin typeface="Aptos"/>
              </a:rPr>
              <a:t>New fields: model, messages, request_context, agent_hints.</a:t>
            </a:r>
          </a:p>
        </p:txBody>
      </p:sp>
      <p:sp xmlns:a="http://schemas.openxmlformats.org/drawingml/2006/main">
        <p:nvSpPr>
          <p:cNvPr id="25" name="TextBox 24"/>
          <p:cNvSpPr txBox="1"/>
          <p:nvPr/>
        </p:nvSpPr>
        <p:spPr>
          <a:xfrm>
            <a:off x="10001250" y="1971675"/>
            <a:ext cx="857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Component</a:t>
            </a:r>
          </a:p>
        </p:txBody>
      </p:sp>
      <p:sp xmlns:a="http://schemas.openxmlformats.org/drawingml/2006/main">
        <p:nvSpPr>
          <p:cNvPr id="26" name="TextBox 25"/>
          <p:cNvSpPr txBox="1"/>
          <p:nvPr/>
        </p:nvSpPr>
        <p:spPr>
          <a:xfrm>
            <a:off x="10001250" y="2114550"/>
            <a:ext cx="13144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>
                <a:solidFill>
                  <a:srgbClr val="6D28D9"/>
                </a:solidFill>
                <a:latin typeface="Aptos"/>
              </a:rPr>
              <a:t>Request Wrapper (local helper script)</a:t>
            </a:r>
          </a:p>
        </p:txBody>
      </p:sp>
      <p:sp xmlns:a="http://schemas.openxmlformats.org/drawingml/2006/main">
        <p:nvSpPr>
          <p:cNvPr id="27" name="TextBox 26"/>
          <p:cNvSpPr txBox="1"/>
          <p:nvPr/>
        </p:nvSpPr>
        <p:spPr>
          <a:xfrm>
            <a:off x="609600" y="2476500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01820"/>
                </a:solidFill>
                <a:latin typeface="Aptos"/>
              </a:rPr>
              <a:t>Request Packaged</a:t>
            </a:r>
          </a:p>
        </p:txBody>
      </p:sp>
      <p:sp xmlns:a="http://schemas.openxmlformats.org/drawingml/2006/main">
        <p:nvSpPr>
          <p:cNvPr id="28" name="TextBox 27"/>
          <p:cNvSpPr txBox="1"/>
          <p:nvPr/>
        </p:nvSpPr>
        <p:spPr>
          <a:xfrm>
            <a:off x="3257550" y="2495550"/>
            <a:ext cx="12573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67085"/>
                </a:solidFill>
                <a:latin typeface="Aptos"/>
              </a:rPr>
              <a:t>Added in this step</a:t>
            </a:r>
          </a:p>
        </p:txBody>
      </p:sp>
      <p:sp xmlns:a="http://schemas.openxmlformats.org/drawingml/2006/main">
        <p:nvSpPr>
          <p:cNvPr id="29" name="Rectangle 28"/>
          <p:cNvSpPr/>
          <p:nvPr/>
        </p:nvSpPr>
        <p:spPr>
          <a:xfrm>
            <a:off x="4533900" y="2457450"/>
            <a:ext cx="552450" cy="209550"/>
          </a:xfrm>
          <a:prstGeom prst="rect">
            <a:avLst/>
          </a:prstGeom>
          <a:solidFill>
            <a:srgbClr val="FFFFFF"/>
          </a:solidFill>
          <a:ln w="1397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TextBox 29"/>
          <p:cNvSpPr txBox="1"/>
          <p:nvPr/>
        </p:nvSpPr>
        <p:spPr>
          <a:xfrm>
            <a:off x="4619625" y="2505075"/>
            <a:ext cx="381000" cy="104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1">
                <a:solidFill>
                  <a:srgbClr val="334155"/>
                </a:solidFill>
                <a:latin typeface="Aptos"/>
              </a:rPr>
              <a:t>model</a:t>
            </a:r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5143500" y="2457450"/>
            <a:ext cx="704850" cy="209550"/>
          </a:xfrm>
          <a:prstGeom prst="rect">
            <a:avLst/>
          </a:prstGeom>
          <a:solidFill>
            <a:srgbClr val="FFFFFF"/>
          </a:solidFill>
          <a:ln w="1397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TextBox 31"/>
          <p:cNvSpPr txBox="1"/>
          <p:nvPr/>
        </p:nvSpPr>
        <p:spPr>
          <a:xfrm>
            <a:off x="5229225" y="2505075"/>
            <a:ext cx="533400" cy="104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1">
                <a:solidFill>
                  <a:srgbClr val="334155"/>
                </a:solidFill>
                <a:latin typeface="Aptos"/>
              </a:rPr>
              <a:t>messages</a:t>
            </a:r>
          </a:p>
        </p:txBody>
      </p:sp>
      <p:sp xmlns:a="http://schemas.openxmlformats.org/drawingml/2006/main">
        <p:nvSpPr>
          <p:cNvPr id="33" name="Rectangle 32"/>
          <p:cNvSpPr/>
          <p:nvPr/>
        </p:nvSpPr>
        <p:spPr>
          <a:xfrm>
            <a:off x="5905500" y="2457450"/>
            <a:ext cx="1162050" cy="209550"/>
          </a:xfrm>
          <a:prstGeom prst="rect">
            <a:avLst/>
          </a:prstGeom>
          <a:solidFill>
            <a:srgbClr val="FFFFFF"/>
          </a:solidFill>
          <a:ln w="1397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4" name="TextBox 33"/>
          <p:cNvSpPr txBox="1"/>
          <p:nvPr/>
        </p:nvSpPr>
        <p:spPr>
          <a:xfrm>
            <a:off x="5991225" y="2505075"/>
            <a:ext cx="990600" cy="104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1">
                <a:solidFill>
                  <a:srgbClr val="334155"/>
                </a:solidFill>
                <a:latin typeface="Aptos"/>
              </a:rPr>
              <a:t>request_context</a:t>
            </a:r>
          </a:p>
        </p:txBody>
      </p:sp>
      <p:sp xmlns:a="http://schemas.openxmlformats.org/drawingml/2006/main">
        <p:nvSpPr>
          <p:cNvPr id="35" name="Rectangle 34"/>
          <p:cNvSpPr/>
          <p:nvPr/>
        </p:nvSpPr>
        <p:spPr>
          <a:xfrm>
            <a:off x="7124700" y="2457450"/>
            <a:ext cx="904875" cy="209550"/>
          </a:xfrm>
          <a:prstGeom prst="rect">
            <a:avLst/>
          </a:prstGeom>
          <a:solidFill>
            <a:srgbClr val="FFFFFF"/>
          </a:solidFill>
          <a:ln w="1397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TextBox 35"/>
          <p:cNvSpPr txBox="1"/>
          <p:nvPr/>
        </p:nvSpPr>
        <p:spPr>
          <a:xfrm>
            <a:off x="7210425" y="2505075"/>
            <a:ext cx="733425" cy="104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1">
                <a:solidFill>
                  <a:srgbClr val="334155"/>
                </a:solidFill>
                <a:latin typeface="Aptos"/>
              </a:rPr>
              <a:t>agent_hints</a:t>
            </a:r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4533900" y="2724150"/>
            <a:ext cx="904875" cy="209550"/>
          </a:xfrm>
          <a:prstGeom prst="rect">
            <a:avLst/>
          </a:prstGeom>
          <a:solidFill>
            <a:srgbClr val="FFFFFF"/>
          </a:solidFill>
          <a:ln w="1397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TextBox 37"/>
          <p:cNvSpPr txBox="1"/>
          <p:nvPr/>
        </p:nvSpPr>
        <p:spPr>
          <a:xfrm>
            <a:off x="4619625" y="2771775"/>
            <a:ext cx="733425" cy="104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1">
                <a:solidFill>
                  <a:srgbClr val="334155"/>
                </a:solidFill>
                <a:latin typeface="Aptos"/>
              </a:rPr>
              <a:t>tool_choice</a:t>
            </a:r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9658350" y="2381250"/>
            <a:ext cx="1924050" cy="400050"/>
          </a:xfrm>
          <a:prstGeom prst="rect">
            <a:avLst/>
          </a:prstGeom>
          <a:solidFill>
            <a:srgbClr val="FFFFFF"/>
          </a:solidFill>
          <a:ln w="20320">
            <a:solidFill>
              <a:srgbClr val="667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0" name="TextBox 39"/>
          <p:cNvSpPr txBox="1"/>
          <p:nvPr/>
        </p:nvSpPr>
        <p:spPr>
          <a:xfrm>
            <a:off x="9772650" y="2447925"/>
            <a:ext cx="16954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>
                <a:solidFill>
                  <a:srgbClr val="667085"/>
                </a:solidFill>
                <a:latin typeface="Aptos"/>
              </a:rPr>
              <a:t>Payload size change</a:t>
            </a:r>
          </a:p>
        </p:txBody>
      </p:sp>
      <p:sp xmlns:a="http://schemas.openxmlformats.org/drawingml/2006/main">
        <p:nvSpPr>
          <p:cNvPr id="41" name="TextBox 40"/>
          <p:cNvSpPr txBox="1"/>
          <p:nvPr/>
        </p:nvSpPr>
        <p:spPr>
          <a:xfrm>
            <a:off x="9772650" y="2571750"/>
            <a:ext cx="16954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>
                <a:solidFill>
                  <a:srgbClr val="667085"/>
                </a:solidFill>
                <a:latin typeface="Aptos Mono"/>
              </a:rPr>
              <a:t>0</a:t>
            </a:r>
          </a:p>
        </p:txBody>
      </p:sp>
      <p:sp xmlns:a="http://schemas.openxmlformats.org/drawingml/2006/main">
        <p:nvSpPr>
          <p:cNvPr id="42" name="Rectangle 41"/>
          <p:cNvSpPr/>
          <p:nvPr/>
        </p:nvSpPr>
        <p:spPr>
          <a:xfrm>
            <a:off x="609600" y="2857500"/>
            <a:ext cx="5219700" cy="2914650"/>
          </a:xfrm>
          <a:prstGeom prst="rect">
            <a:avLst/>
          </a:prstGeom>
          <a:solidFill>
            <a:srgbClr val="FFFFFF"/>
          </a:solidFill>
          <a:ln w="25400">
            <a:solidFill>
              <a:srgbClr val="8D9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3" name="Rectangle 42"/>
          <p:cNvSpPr/>
          <p:nvPr/>
        </p:nvSpPr>
        <p:spPr>
          <a:xfrm>
            <a:off x="609600" y="2857500"/>
            <a:ext cx="5219700" cy="400050"/>
          </a:xfrm>
          <a:prstGeom prst="rect">
            <a:avLst/>
          </a:prstGeom>
          <a:solidFill>
            <a:srgbClr val="E9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4" name="TextBox 43"/>
          <p:cNvSpPr txBox="1"/>
          <p:nvPr/>
        </p:nvSpPr>
        <p:spPr>
          <a:xfrm>
            <a:off x="781050" y="2962275"/>
            <a:ext cx="4876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101820"/>
                </a:solidFill>
                <a:latin typeface="Aptos"/>
              </a:rPr>
              <a:t>Before</a:t>
            </a:r>
          </a:p>
        </p:txBody>
      </p:sp>
      <p:sp xmlns:a="http://schemas.openxmlformats.org/drawingml/2006/main">
        <p:nvSpPr>
          <p:cNvPr id="45" name="TextBox 44"/>
          <p:cNvSpPr txBox="1"/>
          <p:nvPr/>
        </p:nvSpPr>
        <p:spPr>
          <a:xfrm>
            <a:off x="781050" y="3409950"/>
            <a:ext cx="4876800" cy="2247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667085"/>
                </a:solidFill>
                <a:latin typeface="Aptos Mono"/>
              </a:rPr>
              <a:t>{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667085"/>
                </a:solidFill>
                <a:latin typeface="Aptos Mono"/>
              </a:rPr>
              <a:t>  </a:t>
            </a:r>
            <a:r>
              <a:rPr sz="835" b="1">
                <a:solidFill>
                  <a:srgbClr val="1D4ED8"/>
                </a:solidFill>
                <a:latin typeface="Aptos Mono"/>
              </a:rPr>
              <a:t>"prompt"</a:t>
            </a:r>
            <a:r>
              <a:rPr sz="835" b="0">
                <a:solidFill>
                  <a:srgbClr val="667085"/>
                </a:solidFill>
                <a:latin typeface="Aptos Mono"/>
              </a:rPr>
              <a:t>: "</a:t>
            </a:r>
            <a:r>
              <a:rPr sz="835" b="0">
                <a:solidFill>
                  <a:srgbClr val="172033"/>
                </a:solidFill>
                <a:latin typeface="Aptos Mono"/>
              </a:rPr>
              <a:t>You are working on one SWE-bench Pro software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engineering task.\n\nTask metadata:\n-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instance_id: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instance_NodeBB__NodeBB-04998908ba6721d64eba79ae3b65a351dcfbc5b5-vnan\n-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repo: NodeBB/NodeBB\n\nProblem statement:\n...</a:t>
            </a:r>
            <a:r>
              <a:rPr sz="835" b="0">
                <a:solidFill>
                  <a:srgbClr val="667085"/>
                </a:solidFill>
                <a:latin typeface="Aptos Mono"/>
              </a:rPr>
              <a:t>"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667085"/>
                </a:solidFill>
                <a:latin typeface="Aptos Mono"/>
              </a:rPr>
              <a:t>}</a:t>
            </a:r>
          </a:p>
        </p:txBody>
      </p:sp>
      <p:sp xmlns:a="http://schemas.openxmlformats.org/drawingml/2006/main">
        <p:nvSpPr>
          <p:cNvPr id="46" name="Rectangle 45"/>
          <p:cNvSpPr/>
          <p:nvPr/>
        </p:nvSpPr>
        <p:spPr>
          <a:xfrm>
            <a:off x="6362700" y="2857500"/>
            <a:ext cx="5219700" cy="2914650"/>
          </a:xfrm>
          <a:prstGeom prst="rect">
            <a:avLst/>
          </a:prstGeom>
          <a:solidFill>
            <a:srgbClr val="FFFFFF"/>
          </a:solidFill>
          <a:ln w="254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7" name="Rectangle 46"/>
          <p:cNvSpPr/>
          <p:nvPr/>
        </p:nvSpPr>
        <p:spPr>
          <a:xfrm>
            <a:off x="6362700" y="2857500"/>
            <a:ext cx="5219700" cy="400050"/>
          </a:xfrm>
          <a:prstGeom prst="rect">
            <a:avLst/>
          </a:prstGeom>
          <a:solidFill>
            <a:srgbClr val="E9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8" name="TextBox 47"/>
          <p:cNvSpPr txBox="1"/>
          <p:nvPr/>
        </p:nvSpPr>
        <p:spPr>
          <a:xfrm>
            <a:off x="6534150" y="2962275"/>
            <a:ext cx="4876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101820"/>
                </a:solidFill>
                <a:latin typeface="Aptos"/>
              </a:rPr>
              <a:t>After - actual request object, lightly truncated</a:t>
            </a:r>
          </a:p>
        </p:txBody>
      </p:sp>
      <p:sp xmlns:a="http://schemas.openxmlformats.org/drawingml/2006/main">
        <p:nvSpPr>
          <p:cNvPr id="49" name="TextBox 48"/>
          <p:cNvSpPr txBox="1"/>
          <p:nvPr/>
        </p:nvSpPr>
        <p:spPr>
          <a:xfrm>
            <a:off x="6534150" y="3409950"/>
            <a:ext cx="4876800" cy="2247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{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"model"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"Qwen/Qwen2.5-7B-Instruct",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"messages"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667085"/>
                </a:solidFill>
                <a:latin typeface="Aptos Mono"/>
              </a:rPr>
              <a:t>[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{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"role"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"user",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"content"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"You are working on one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    SWE-bench Pro software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    engineering task.\\n\\nTask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    metadata:\\n- instance_id: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    instance_NodeBB__NodeBB-04998908ba6721d64eba79ae3b65a351dcfbc5b5-vnan\\n..."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}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],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"request_context"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667085"/>
                </a:solidFill>
                <a:latin typeface="Aptos Mono"/>
              </a:rPr>
              <a:t>{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"request_id"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172033"/>
                </a:solidFill>
                <a:latin typeface="Aptos Mono"/>
              </a:rPr>
              <a:t>      "...::baseline_execution",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"phase"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"baseline_execution",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"app_variant"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172033"/>
                </a:solidFill>
                <a:latin typeface="Aptos Mono"/>
              </a:rPr>
              <a:t>      "upstream_deploy_coding_agent"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},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"agent_hints"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667085"/>
                </a:solidFill>
                <a:latin typeface="Aptos Mono"/>
              </a:rPr>
              <a:t>{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"priority"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5,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"reuse_likelihood"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0.9,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"expected_output_tokens"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2048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},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"tool_choice"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"auto"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}</a:t>
            </a:r>
          </a:p>
        </p:txBody>
      </p:sp>
      <p:sp xmlns:a="http://schemas.openxmlformats.org/drawingml/2006/main">
        <p:nvSpPr>
          <p:cNvPr id="50" name="TextBox 49"/>
          <p:cNvSpPr txBox="1"/>
          <p:nvPr/>
        </p:nvSpPr>
        <p:spPr>
          <a:xfrm>
            <a:off x="609600" y="5810250"/>
            <a:ext cx="990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0">
                <a:solidFill>
                  <a:srgbClr val="334155"/>
                </a:solidFill>
                <a:latin typeface="Aptos"/>
              </a:rPr>
              <a:t>No payload growth | model=Qwen/Qwen2.5-7B-Instruct | tool_choice=auto | request_id=...::baseline_execution</a:t>
            </a:r>
          </a:p>
        </p:txBody>
      </p:sp>
      <p:sp xmlns:a="http://schemas.openxmlformats.org/drawingml/2006/main">
        <p:nvSpPr>
          <p:cNvPr id="51" name="Rectangle 50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7D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2" name="TextBox 51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 xmlns:a="http://schemas.openxmlformats.org/drawingml/2006/main">
        <p:nvSpPr>
          <p:cNvPr id="53" name="TextBox 52"/>
          <p:cNvSpPr txBox="1"/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96926758"/>
      </p:ext>
    </p:extLst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533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REQUEST PAYLOAD (1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50" y="742950"/>
            <a:ext cx="10096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01820"/>
                </a:solidFill>
                <a:latin typeface="Aptos Display"/>
              </a:rPr>
              <a:t>Verbatim artifact excerpt of the packaged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23950"/>
            <a:ext cx="11734800" cy="5143500"/>
          </a:xfrm>
          <a:prstGeom prst="rect">
            <a:avLst/>
          </a:prstGeom>
          <a:solidFill>
            <a:srgbClr val="F7FAFC"/>
          </a:solidFill>
          <a:ln w="2413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23950"/>
            <a:ext cx="11734800" cy="9525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6250" y="1314450"/>
            <a:ext cx="2476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others/result.json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0399" y="1314450"/>
            <a:ext cx="4667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80" b="1">
                <a:solidFill>
                  <a:srgbClr val="667085"/>
                </a:solidFill>
                <a:latin typeface="Aptos"/>
              </a:rPr>
              <a:t>prompt_evolution_report.stages[2]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1524000"/>
            <a:ext cx="11430000" cy="4629150"/>
          </a:xfrm>
          <a:prstGeom prst="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550" y="173355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" y="173355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"initial_messages": [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550" y="181070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181070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{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550" y="188785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50" y="188785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  "role": "user",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550" y="196500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" y="196500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  "content": "You are working on one SWE-bench Pro software engineering task.\n\nTask metadata:\n- instance_id: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550" y="2042159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750" y="2042159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instance_NodeBB__NodeBB-04998908ba6721d64eba79ae3b65a351dcfbc5b5-vnan\n- repo: NodeBB/NodeBB\n\nProblem statement:\n**Title: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550" y="211931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750" y="211931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Email Validation Status Not Handled Correctly in ACP and Confirmation Logic**\n\n**Description:**\n\nThe Admin Control Panel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550" y="2196464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7750" y="2196464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(ACP) does not accurately reflect the email validation status of users. Also, validation and confirmation processes rely 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550" y="227361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7750" y="227361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key expiration, which can prevent correct verification if the keys expire. There's no fallback to recover the email if it's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0550" y="2350769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7750" y="2350769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not found under the expected keys. This leads to failures when trying to validate or re-send confirmation emails.\n\nSteps 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0550" y="242792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7750" y="242792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reproduce:\n\n1. Go to ACP \u2192 Manage Users.\n\n2. Create a user without confirming their email.\n\n3. Attempt to validate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0550" y="2505074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7750" y="2505074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or resend confirmation via ACP after some time (allow keys to expire).\n\n4. Observe the UI display and backend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0550" y="258222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7750" y="258222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behavior.\n\n**What is expected:**\n\nAccurate display of email status in ACP (validated, pending, expired, 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0550" y="265938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7750" y="265938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missing).\n\nEmail confirmation should remain valid until it explicitly expires.\n\nValidation actions should fallback 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0550" y="273653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7750" y="273653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alternative sources to locate user emails.\n\n**What happened instead:**\n\nExpired confirmation keys prevented email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0550" y="281368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7750" y="281368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validation.\n\nThe email status was unclear or incorrect in ACP.\n\n\"Validate\" and \"Send validation email\" actions failed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0550" y="289083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7750" y="289083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when the expected data was missing.\n\n**Labels:**\n\nbug, back-end, authentication, ui/ux,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0550" y="296799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7750" y="296799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email-confirmation\n\nRequirements:\n- The loadUserInfo(callerUid, uids) function should include logic to retrieve and attach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0550" y="304514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7750" y="304514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`email:pending` and `email:expired` flags to each user object. These flags must be derived by resolving `confirm:byUid:&lt;uid&gt;`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0550" y="312229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7750" y="312229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keys via the new `getConfirmObjs()` function and checking expires timestamps in corresponding `confirm:&lt;code&gt;` objects.\n\n-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0550" y="319944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7750" y="319944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The `getConfirmObjs()` helper within `loadUserInfo()` should fetch confirmation codes using `db.mget()` 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0550" y="327660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7750" y="327660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`confirm:byUid:&lt;uid&gt;` keys, then retrieve the corresponding `confirm:&lt;code&gt;` objects using `db.getObjects()`. The mapping must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0550" y="335375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7750" y="335375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ensure each user\u2019s confirmation object is accurately indexed by position.\n\n- Each database adapter MongoDB, PostgreSQL,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0550" y="343090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7750" y="343090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and Redis, must implement a `db.mget(keys: string[]): Promise&lt;string[]&gt;` method in their respective `main.js` files. This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0550" y="350805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7750" y="350805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method takes an array of keys and returns an array of corresponding string values.  \n\n- The `db.mget` implementation should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0550" y="358521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7750" y="358521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ensure that for any keys not found in the database, the method returns null at the corresponding index in the output array.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0550" y="366236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7750" y="366236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For Redis, this must be achieved using `client.mget`. For MongoDB, the objects collection must be queried using a `$in` filter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0550" y="373951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7750" y="373951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on `_key`. For PostgreSQL, the implementation must join `legacy_object_live` and `legacy_string` tables to retrieve values by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0550" y="381666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7750" y="381666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key.\n\n- The `mget` implementation in all database adapters should preserve the input order of keys and explicitly return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0550" y="389382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7750" y="389382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null for any key that does not exist in the data store. This behavior should be enforced in the return mapping logic.\n\n- The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0550" y="397097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7750" y="397097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`User.validateEmail` handler should retrieve the user\u2019s email using `user.email.getEmailForValidation(uid)` before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0550" y="404812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7750" y="404812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calling `user.email.confirmByUid(uid)`. If a valid email is found, it must be saved to the user's profile using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0550" y="412527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47750" y="412527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`user.setUserField(uid, 'email', email)`.\n\n- The `User.sendValidationEmail` handler must use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0550" y="420243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47750" y="420243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`user.email.getEmailForValidation(uid)` to obtain the correct email and explicitly pass it as the email option to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0550" y="427958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47750" y="427958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`user.email.sendValidationEmail.`\n\n- When a user account is deleted, the system should invoke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0550" y="435673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7750" y="435673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`User.email.expireValidation(uid)` to remove any pending email confirmation data associated with that user.\n\n- When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0550" y="443388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47750" y="443388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generating a new email confirmation entry `confirm:&lt;code&gt;`, the `User.email.sendValidationEmail` function should store an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90550" y="451104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47750" y="451104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expires field as a Unix timestamp in milliseconds in the confirmation object instead of relying on database-level TTL.  \n\n-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90550" y="458819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47750" y="458819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When generating a new email confirmation entry `confirm:&lt;code&gt;`, the `User.email.sendValidationEmail` function should store an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0550" y="466534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47750" y="466534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expires field (as a Unix timestamp in milliseconds) in the confirmation object instead of relying on database-level TTL (e.g.,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90550" y="474249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47750" y="474249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pexpire). This timestamp must be used for all future expiry checks.\n\n- The method `User.email.getEmailForValidation(uid)`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90550" y="481965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47750" y="481965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must first try to retrieve the email from the user\u2019s profile (user:&lt;uid&gt;). If no email is set, it must fallback to the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0550" y="489680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47750" y="489680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email field in the confirmation object (confirm:&lt;code&gt;) corresponding to confirm:byUid:&lt;uid&gt;. It must only return the email if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90550" y="497395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47750" y="497395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the UID matches.\n\n- The method `User.email.isValidationPending(uid, email)` must return true only if the confirmation object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90550" y="505110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47750" y="505110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exists, the current time is before the expires timestamp, and if provided, the email matches the email in the confirmation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90550" y="512826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47750" y="512826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object.\n\n- In `User.email.canSendValidation(uid, email)`, the interval check must compare the stored TTL timestamp if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90550" y="520541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47750" y="520541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available (or, if TTL is unavailable, use the current time as the baseline) plus the configured interval against the max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90550" y="528256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47750" y="528256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confirmation period, ensuring the system prevents excessive resends.\n\nInterface / environment notes:\nType: Method\n\nName: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90550" y="535971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47750" y="535971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db.mget\n\nPath: src/database/mongo/main.js, src/database/postgres/main.js, src/database/redis/main.js\n\nInput: keys: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90550" y="543687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47750" y="543687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string[] (An array of database keys to retrieve.)\n\nOutput: Promise&lt;(string | null)[]&gt; (A promise that resolves to an array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90550" y="551402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47750" y="551402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of values. The order of values in the output array corresponds to the order of keys in the input array.)\n\nDescription: A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90550" y="559117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47750" y="559117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method on the database abstraction layer that retrieves multiple objects from the database in a single batch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90550" y="566832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47750" y="566832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operation.\n\nType: Function\n\nName: user.email.getEmailForValidation\n\nPath: src/user/email.js\n\nInput: uid: number (The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90550" y="574548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47750" y="574548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user ID for which to find a validation email.)\n\nOutput: Promise&lt;string | null&gt; (A promise that resolves to the email address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90550" y="582263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47750" y="582263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string, or `null` if no suitable email is found.)\n\nDescription: A utility function that retrieves the most appropriate email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90550" y="589978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47750" y="589978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address for an administrative action like \"force validate\" or \"resend validation email\".\n\nSelected tests to run:\n-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90550" y="597693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47750" y="597693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test/database.js\n- test/database/keys.js\n- test/user/emails.js\n\nWorkspace:\nYou have a writable local workspace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90550" y="605409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47750" y="605409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at:\n/home/ec2-user/kv_cache_offloading/agentbench/repos/NodeBB__NodeBB\n\nUse the available filesystem and shell tools to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90550" y="613124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47750" y="613124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inspect the repo, edit files when needed, run focused validation, and leave the workspace in a state where a git diff can be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90550" y="620839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47750" y="620839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captured.\n\nSolve the issue in the workspace if you can.\n\nExpectations:\n- Inspect the real repo before deciding on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90550" y="628554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47750" y="628554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changes.\n- Use the available tools to read files, edit code, and run focused commands or tests when useful.\n- Do not stop at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90550" y="636270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47750" y="636270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a plan if you can make progress on the fix.\n- Report only what you actually changed and actually validated.\n- If you are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90550" y="643985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47750" y="643985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blocked, explain the specific blocker briefly.",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90550" y="651700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47750" y="651700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  "_provenance": {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90550" y="659415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47750" y="659415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    "role": "MEASURED",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90550" y="667131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47750" y="667131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    "content": "MEASURED"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533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REQUEST PAYLOAD (2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50" y="742950"/>
            <a:ext cx="10096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01820"/>
                </a:solidFill>
                <a:latin typeface="Aptos Display"/>
              </a:rPr>
              <a:t>Verbatim request metadata carried with the same payload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23950"/>
            <a:ext cx="11734800" cy="5143500"/>
          </a:xfrm>
          <a:prstGeom prst="rect">
            <a:avLst/>
          </a:prstGeom>
          <a:solidFill>
            <a:srgbClr val="F7FAFC"/>
          </a:solidFill>
          <a:ln w="2413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23950"/>
            <a:ext cx="11734800" cy="9525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6250" y="1314450"/>
            <a:ext cx="2476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others/result.json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0399" y="1314450"/>
            <a:ext cx="4667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80" b="1">
                <a:solidFill>
                  <a:srgbClr val="667085"/>
                </a:solidFill>
                <a:latin typeface="Aptos"/>
              </a:rPr>
              <a:t>prompt_evolution_report.stages[2]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1524000"/>
            <a:ext cx="11430000" cy="4629150"/>
          </a:xfrm>
          <a:prstGeom prst="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550" y="173355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" y="173355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"request_context": {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550" y="181070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181070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"request_id": "instance_NodeBB__NodeBB-04998908ba6721d64eba79ae3b65a351dcfbc5b5-vnan_20260515_155633::baseline_execution",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550" y="188785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50" y="188785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"parent_run_id": "instance_NodeBB__NodeBB-04998908ba6721d64eba79ae3b65a351dcfbc5b5-vnan_20260515_155633",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550" y="196500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" y="196500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"task_instance_id": "instance_NodeBB__NodeBB-04998908ba6721d64eba79ae3b65a351dcfbc5b5-vnan",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550" y="2042159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750" y="2042159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"phase": "baseline_execution",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550" y="211931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043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750" y="211931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"step_index": null,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550" y="2196464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044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7750" y="2196464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"step_title": null,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550" y="227361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7750" y="227361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"app_variant": "upstream_deploy_coding_agent",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0550" y="2350769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046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7750" y="2350769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"_provenance": {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0550" y="242792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047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7750" y="242792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  "request_id": "MEASURED",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0550" y="2505074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048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7750" y="2505074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  "parent_run_id": "MEASURED",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0550" y="258222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049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7750" y="258222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  "task_instance_id": "MEASURED",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0550" y="265938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7750" y="265938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  "phase": "MEASURED",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0550" y="273653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7750" y="273653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  "step_index": "MEASURED",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0550" y="281368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052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7750" y="281368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  "step_title": "MEASURED",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0550" y="289083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053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7750" y="289083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  "app_variant": "MEASURED"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0550" y="296799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054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7750" y="296799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0550" y="304514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055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7750" y="304514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},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0550" y="312229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056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7750" y="312229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"agent_hints": {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0550" y="319944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057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7750" y="319944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"priority": 5,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0550" y="327660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058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7750" y="327660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"reuse_likelihood": 0.9,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0550" y="335375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059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7750" y="335375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"agent_phase": "baseline_execution",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0550" y="343090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060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7750" y="343090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"latency_sensitivity": 0.7,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0550" y="350805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061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7750" y="350805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"program_id": "agentbench.deepagents_app",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0550" y="358521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062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7750" y="358521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"context_type": "software_engineering_long_horizon",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0550" y="366236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063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7750" y="366236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"expected_output_tokens": 2048,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0550" y="373951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064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7750" y="373951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"_provenance": {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0550" y="381666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065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7750" y="381666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  "priority": "MEASURED",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0550" y="389382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066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7750" y="389382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  "reuse_likelihood": "MEASURED",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0550" y="397097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067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7750" y="397097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  "agent_phase": "MEASURED",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0550" y="404812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068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7750" y="404812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  "latency_sensitivity": "MEASURED",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0550" y="412527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069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47750" y="412527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  "program_id": "MEASURED",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0550" y="420243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070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47750" y="420243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  "context_type": "MEASURED",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0550" y="427958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071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47750" y="427958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1D4ED8"/>
                </a:solidFill>
                <a:latin typeface="Aptos Mono"/>
              </a:rPr>
              <a:t>      "expected_output_tokens": "MEASURED"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0550" y="435673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072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7750" y="435673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}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0550" y="443388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073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47750" y="443388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},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1D4FC3-C9FD-4C82-91F9-9D370A98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67793-9966-4524-9D2A-0BA12492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277FD-5D06-460D-BDC9-1E55E45C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3 OF 5 | REQUEST -&gt; AGENT RULES | DEEP AGENTS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832FD-A172-4A58-8E82-18831194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Then, agent rules are layered into the request.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4E2FE-FDE2-40A1-AD5C-835A02EA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0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F93E3F-3255-4940-B90A-CD44942F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6D818-3017-4E40-9A62-E929A95C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0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BA479-FA44-4765-ACE9-B1F9C2BE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0F078-9BB5-4E59-BFED-D0AE62FE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1430">
            <a:solidFill>
              <a:srgbClr val="1D4E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81F9A7-8CD9-4101-A2E3-C351E280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9896E1-3509-40EA-9FCB-F44146A3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0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B02424-C4B6-4AE8-8F8B-439CFB92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789E81-02A6-4889-9577-7004DC87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0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460361-4957-480D-8BDB-93F7A9B8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F7DF24-5BC6-4B5C-B27B-3428707D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BDCDDE-F317-417A-B396-FD4FD68C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5052E7-1154-4066-BB85-D0793019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635CCC-CBB7-42E4-8742-E0016225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changed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9E7502-C6D3-4A98-B1EC-FB04491F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Coding-agent behavior rules are layered around the request.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D02F61-9EC7-4D58-AFED-5B189655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7167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20401A-A59E-40D9-A781-42710609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145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They tell the agent how to behave: inspect, use tools, and verify.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75F80C-BF55-4AFA-A052-5EA24C69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71675"/>
            <a:ext cx="114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to look 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AF236D-09D0-42F6-A424-7B35AB11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1455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New field: system_prompt.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C36F80-2ADB-4FF8-BFBE-FCF34940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71675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B33FDB-5F72-4167-AD49-E17B755D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14550"/>
            <a:ext cx="1314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1D062C-0630-4209-B859-9FEDFF5F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Agent Rules Applied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5286A6-7502-4F9B-B794-E1C77758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95550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Added in this step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FC075E-6D74-414B-9FDF-20672074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57450"/>
            <a:ext cx="103251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83316E-28BD-46EA-A61D-585A74EB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05075"/>
            <a:ext cx="86106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system_prompt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2FF6F7-EAE6-46F6-B609-7F9BD990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66708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649EF0-BA93-4F8C-A6DA-084012D7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47925"/>
            <a:ext cx="1695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Payload size change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A81F45-6752-4AE5-B3E6-4406EFDB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71750"/>
            <a:ext cx="1695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1238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DCF01A-3BBB-4343-B1A5-530D0204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19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D99A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814BD6-9E41-4AA0-BE60-86AA061F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B3FB14-EB75-4CBA-AAA9-49C087F8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2275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3F8DB3-4215-4D3C-8F5C-48EFC326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48768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"model":"...",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"messages":[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"role":"...",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"content":"..."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"request_context":{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"agent_hints":{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"tool_choice":"..."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5C9A9E-BA5F-40AB-A057-8DBED4D2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5219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AE9F64-4009-40F9-B3F3-2A84A8B4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4658FB-28C7-4435-B8D7-97BB0909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62275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After - added fields are called out above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00DAEF-7F8B-4C7C-B7D7-E8C0668D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09950"/>
            <a:ext cx="48768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"model":"...",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"system_prompt":"...",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"messages":[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"role":"...",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"content":"..."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"request_context":{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"agent_hints":{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"tool_choice":"..."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93502F-E4E6-48E2-BCA0-FF454456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No payload growth | system_prompt_chars=0 | runtime_source=python_environment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DE6CAF-6071-49D0-BD1D-E3C357E3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445FA0-92B7-41E5-A55E-1D7E1B44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E39FFD-163A-4781-9251-6D72815B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48697137"/>
      </p:ext>
    </p:extLst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533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50" y="742950"/>
            <a:ext cx="10096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01820"/>
                </a:solidFill>
                <a:latin typeface="Aptos Display"/>
              </a:rPr>
              <a:t>Verbatim artifact excerpt of the agent-rules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23950"/>
            <a:ext cx="11734800" cy="5143500"/>
          </a:xfrm>
          <a:prstGeom prst="rect">
            <a:avLst/>
          </a:prstGeom>
          <a:solidFill>
            <a:srgbClr val="F7FAFC"/>
          </a:solidFill>
          <a:ln w="2413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23950"/>
            <a:ext cx="11734800" cy="952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6250" y="1314450"/>
            <a:ext cx="2476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others/result.json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0399" y="1314450"/>
            <a:ext cx="4667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80" b="1">
                <a:solidFill>
                  <a:srgbClr val="667085"/>
                </a:solidFill>
                <a:latin typeface="Aptos"/>
              </a:rPr>
              <a:t>prompt_evolution_report.stages[3]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1524000"/>
            <a:ext cx="11430000" cy="4629150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550" y="173355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" y="173355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{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550" y="181070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181070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D97706"/>
                </a:solidFill>
                <a:latin typeface="Aptos Mono"/>
              </a:rPr>
              <a:t>  "stage": "system_context",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550" y="188785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50" y="188785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D97706"/>
                </a:solidFill>
                <a:latin typeface="Aptos Mono"/>
              </a:rPr>
              <a:t>  "component": "deepagents_app",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550" y="196500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" y="196500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D97706"/>
                </a:solidFill>
                <a:latin typeface="Aptos Mono"/>
              </a:rPr>
              <a:t>  "question_answered": "what exact request shape did we send?",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550" y="2042159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750" y="2042159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D97706"/>
                </a:solidFill>
                <a:latin typeface="Aptos Mono"/>
              </a:rPr>
              <a:t>  "changed_from": "final_model_request",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550" y="211931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750" y="211931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D97706"/>
                </a:solidFill>
                <a:latin typeface="Aptos Mono"/>
              </a:rPr>
              <a:t>  "change_summary": "Prepared the Deep Agents instruction layer that guides tool use and coding-agent behavior around the user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550" y="2196464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7750" y="2196464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D97706"/>
                </a:solidFill>
                <a:latin typeface="Aptos Mono"/>
              </a:rPr>
              <a:t>message.",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550" y="227361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7750" y="227361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D97706"/>
                </a:solidFill>
                <a:latin typeface="Aptos Mono"/>
              </a:rPr>
              <a:t>  "delta_summary": "Introduced the system-level coding-agent instructions that shape how the model should behave, even if the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0550" y="2350769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7750" y="2350769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D97706"/>
                </a:solidFill>
                <a:latin typeface="Aptos Mono"/>
              </a:rPr>
              <a:t>full wrapped request is not persisted verbatim.",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0550" y="242792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7750" y="242792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D97706"/>
                </a:solidFill>
                <a:latin typeface="Aptos Mono"/>
              </a:rPr>
              <a:t>  "result_summary": "system_prompt_chars=0 | runtime_source=python_environment",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0550" y="2505074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7750" y="2505074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D97706"/>
                </a:solidFill>
                <a:latin typeface="Aptos Mono"/>
              </a:rPr>
              <a:t>  "prompt_preview": "",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0550" y="258222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7750" y="258222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D97706"/>
                </a:solidFill>
                <a:latin typeface="Aptos Mono"/>
              </a:rPr>
              <a:t>  "prompt_chars": 0,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0550" y="265938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7750" y="265938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D97706"/>
                </a:solidFill>
                <a:latin typeface="Aptos Mono"/>
              </a:rPr>
              <a:t>  "major_additions": "Deep Agents system prompt and app-specific coding agent behavior.",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0550" y="273653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7750" y="273653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D97706"/>
                </a:solidFill>
                <a:latin typeface="Aptos Mono"/>
              </a:rPr>
              <a:t>  "added_elements": "system prompt, coding-agent behavior rules",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0550" y="281368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7750" y="281368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D97706"/>
                </a:solidFill>
                <a:latin typeface="Aptos Mono"/>
              </a:rPr>
              <a:t>  "removed_elements": "none",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0550" y="289083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7750" y="289083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D97706"/>
                </a:solidFill>
                <a:latin typeface="Aptos Mono"/>
              </a:rPr>
              <a:t>  "unchanged_core": "formatted user prompt remained the user-visible task content",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0550" y="296799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7750" y="296799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D97706"/>
                </a:solidFill>
                <a:latin typeface="Aptos Mono"/>
              </a:rPr>
              <a:t>  "key_facts": "system_prompt_chars=0 | runtime_source=python_environment",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0550" y="304514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7750" y="304514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D97706"/>
                </a:solidFill>
                <a:latin typeface="Aptos Mono"/>
              </a:rPr>
              <a:t>  "structure_before": "request envelope centered on one user message",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0550" y="312229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7750" y="312229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D97706"/>
                </a:solidFill>
                <a:latin typeface="Aptos Mono"/>
              </a:rPr>
              <a:t>  "structure_after": "request envelope plus system prompt and Deep Agents behavior layer",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0550" y="319944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7750" y="319944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D97706"/>
                </a:solidFill>
                <a:latin typeface="Aptos Mono"/>
              </a:rPr>
              <a:t>  "keys_before": "model, messages[].role, messages[].content, request_context.*, agent_hints.*, tool_choice",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0550" y="327660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7750" y="327660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D97706"/>
                </a:solidFill>
                <a:latin typeface="Aptos Mono"/>
              </a:rPr>
              <a:t>  "keys_after": "model, system_prompt, messages[].role, messages[].content, request_context.*, agent_hints.*, tool_choice",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0550" y="335375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7750" y="335375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D97706"/>
                </a:solidFill>
                <a:latin typeface="Aptos Mono"/>
              </a:rPr>
              <a:t>  "json_keys_before":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0550" y="343090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7750" y="343090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D97706"/>
                </a:solidFill>
                <a:latin typeface="Aptos Mono"/>
              </a:rPr>
              <a:t>"{\"model\":\"...\",\"messages\":[{\"role\":\"...\",\"content\":\"...\"}],\"request_context\":{...},\"agent_hints\":{...},\"to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0550" y="350805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7750" y="350805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D97706"/>
                </a:solidFill>
                <a:latin typeface="Aptos Mono"/>
              </a:rPr>
              <a:t>ol_choice\":\"...\"}",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0550" y="358521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7750" y="358521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D97706"/>
                </a:solidFill>
                <a:latin typeface="Aptos Mono"/>
              </a:rPr>
              <a:t>  "json_keys_after":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0550" y="366236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7750" y="366236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D97706"/>
                </a:solidFill>
                <a:latin typeface="Aptos Mono"/>
              </a:rPr>
              <a:t>"{\"model\":\"...\",\"system_prompt\":\"...\",\"messages\":[{\"role\":\"...\",\"content\":\"...\"}],\"request_context\":{...},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0550" y="373951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7750" y="373951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D97706"/>
                </a:solidFill>
                <a:latin typeface="Aptos Mono"/>
              </a:rPr>
              <a:t>\"agent_hints\":{...},\"tool_choice\":\"...\"}",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0550" y="381666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7750" y="381666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D97706"/>
                </a:solidFill>
                <a:latin typeface="Aptos Mono"/>
              </a:rPr>
              <a:t>  "added_keys": "system_prompt",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0550" y="389382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7750" y="389382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D97706"/>
                </a:solidFill>
                <a:latin typeface="Aptos Mono"/>
              </a:rPr>
              <a:t>  "removed_keys": "none",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0550" y="397097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7750" y="397097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D97706"/>
                </a:solidFill>
                <a:latin typeface="Aptos Mono"/>
              </a:rPr>
              <a:t>  "changed_keys": "request interpretation now includes system instructions",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0550" y="404812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7750" y="404812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D97706"/>
                </a:solidFill>
                <a:latin typeface="Aptos Mono"/>
              </a:rPr>
              <a:t>  "chars_before": 6906,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0550" y="412527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47750" y="412527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D97706"/>
                </a:solidFill>
                <a:latin typeface="Aptos Mono"/>
              </a:rPr>
              <a:t>  "chars_after": 6906,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0550" y="420243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47750" y="420243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D97706"/>
                </a:solidFill>
                <a:latin typeface="Aptos Mono"/>
              </a:rPr>
              <a:t>  "char_delta": 0,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0550" y="427958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47750" y="427958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D97706"/>
                </a:solidFill>
                <a:latin typeface="Aptos Mono"/>
              </a:rPr>
              <a:t>  "system_prompt": "",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0550" y="435673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7750" y="435673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"_provenance": {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50508A-E6B8-4008-857C-182A847F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A949A-3710-44DF-8E7C-687B15F0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37E85-3CA4-4DD4-8F1C-82E41F2F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4 OF 5 | TOOLS -&gt; RUNTIME PREPARED | DYNAMO RUNTIME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4360D-D39D-4C0B-A7A2-E03CA526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Then, runtime adds tool and token context.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3F7A8-F305-4B4E-9B8C-CF2E2823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0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4D7A4-F1CB-4160-BC85-3D2A15C9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2D129-A2A0-41D5-9B3A-6F2EE84A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0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E0297-A039-45E0-9F2D-0C1A443B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FF782-9090-4F9C-8AD7-2FD148F3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0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A3FF7A-A625-464E-8997-F0F97623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A9901-77C6-448B-B7D5-1762FEF8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92E20F-AC6E-4961-AF10-B601BB9F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13EC79-5BA6-4DC0-8F6C-2FF148C5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0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CE48E1-1C8A-4472-8C92-C15D2545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137158-C0E9-405F-AEBF-98A25172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FFD728-CFDB-4D14-A618-0E5214D8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C64FCD-3BAA-4095-AFFD-B9BEA173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E43CF5-806F-415E-BBC6-A95183B7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changed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C640EF-BBB1-4EC3-80F2-1D88391C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 and runtime preparation evidence is attached.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A9FF1D-9C1A-4518-8CEA-DB5DF896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7167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F45305-7DB4-46ED-B56F-6B219495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145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We can see tools, parser, token counts, and cache signals.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DB175D-46DB-4CD3-8249-AAAC22AB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71675"/>
            <a:ext cx="114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to look 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8A7BAF-6DDD-4942-80EC-3D101DED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1455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 parser plus prompt/cache token fields.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5714BA-A0F9-4F0B-80C6-43E84C9A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71675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EE022D-A25D-4D0F-AA24-C98DDC69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14550"/>
            <a:ext cx="1314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Runtime Layer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37D28C-3033-47BE-96FF-4363B2EB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Tools Attached -&gt; Runtime Prepared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80599D-DE63-416B-8D14-D0C7C1C7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95550"/>
            <a:ext cx="133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Added in these steps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A789A1-C487-45EE-9639-026597B3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57450"/>
            <a:ext cx="161544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27ACC4-766D-4CB3-943C-3138C2BF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505075"/>
            <a:ext cx="144399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expected_builtin_tools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D6AB2C-39DF-4E04-AE83-19B6A4AA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7540" y="2457450"/>
            <a:ext cx="103251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15ADCF-5D60-45B4-8F16-7582E555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3265" y="2505075"/>
            <a:ext cx="86106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tool_parser_*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853AEE-F7B7-4312-B559-E9A00B20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24150"/>
            <a:ext cx="142113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11C7C6-EA0E-498F-9D65-D3B8ED53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771775"/>
            <a:ext cx="124968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prompt/cache tokens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27AE60-889B-4242-A7A1-22163D65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66708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847F6B-DADC-47C1-89EA-CF944B9A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47925"/>
            <a:ext cx="1695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Payload size change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6D526F-7005-41E0-B6F3-8A87AC27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71750"/>
            <a:ext cx="1695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1238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F3220A-A7E0-47C0-A535-B1DE53A6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19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07B168-DD4E-4036-B7F2-45332292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237962-465B-47A4-BD24-F8DC9EA3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2275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After Tools Attached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0ACF34-F40C-4870-A6E5-8171C46D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48768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"model":"...",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"system_prompt":"...",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"messages":[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"role":"...",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"content":"..."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"request_context":{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"agent_hints":{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"tool_choice":"...",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"expected_builtin_tools":[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"tool_parser_names_seen":[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"tool_parser_observed":"..."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6B0546-C363-41AE-B093-A9B95A31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5219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79B44B-0412-4604-AA0C-68231E06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454FF0-B1ED-4948-BB4E-F8072C16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62275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After Runtime Prepared - added fields called out above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E4CA68-389D-4704-96FD-BFF0B20E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09950"/>
            <a:ext cx="48768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"model":"...",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"system_prompt":"...",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"messages":[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"role":"...",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"content":"..."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"request_context":{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"agent_hints":{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"tool_choice":"...",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"expected_builtin_tools":[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"tool_parser_names_seen":[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"tool_parser_observed":"...",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"prompt_tokens":"...",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"cached_prompt_tokens":"...",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"cached_input_tokens":"..."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7F564AA-9589-4FB5-801E-0F231974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No payload growth | parser_observed=True | prompt_tokens=12553 | cached_input_tokens=12544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859340-F1DF-4168-B22B-407E6AC0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539338-4DE8-44D8-BBD8-4DF85B32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BED890-2976-462F-BEAA-441DD847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90912313"/>
      </p:ext>
    </p:extLst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533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TOOL RUNTIME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50" y="742950"/>
            <a:ext cx="10096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01820"/>
                </a:solidFill>
                <a:latin typeface="Aptos Display"/>
              </a:rPr>
              <a:t>Verbatim artifact excerpt of the tool-capable request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23950"/>
            <a:ext cx="11734800" cy="5143500"/>
          </a:xfrm>
          <a:prstGeom prst="rect">
            <a:avLst/>
          </a:prstGeom>
          <a:solidFill>
            <a:srgbClr val="F7FAFC"/>
          </a:solidFill>
          <a:ln w="24130"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23950"/>
            <a:ext cx="11734800" cy="95250"/>
          </a:xfrm>
          <a:prstGeom prst="rect">
            <a:avLst/>
          </a:prstGeom>
          <a:solidFill>
            <a:srgbClr val="0F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6250" y="1314450"/>
            <a:ext cx="2476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others/result.json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0399" y="1314450"/>
            <a:ext cx="4667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80" b="1">
                <a:solidFill>
                  <a:srgbClr val="667085"/>
                </a:solidFill>
                <a:latin typeface="Aptos"/>
              </a:rPr>
              <a:t>prompt_evolution_report.stages[4]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1524000"/>
            <a:ext cx="11430000" cy="4629150"/>
          </a:xfrm>
          <a:prstGeom prst="rect">
            <a:avLst/>
          </a:prstGeom>
          <a:solidFill>
            <a:srgbClr val="FFFFFF"/>
          </a:solidFill>
          <a:ln w="15240"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550" y="173355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" y="173355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{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550" y="181070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181070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"stage": "tool_runtime_context",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550" y="188785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50" y="188785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"component": "frontend_dynamo",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550" y="196500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" y="196500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"question_answered": "what tools were available?",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550" y="2042159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750" y="2042159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"changed_from": "system_context",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550" y="211931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750" y="211931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"change_summary": "The runtime attached the tool-capable surface and frontend parsing behavior before inference.",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550" y="2196464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7750" y="2196464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"delta_summary": "Made the request tool-capable by exposing built-in tools and confirming which tool parser the 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550" y="227361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7750" y="227361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actually used.",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0550" y="2350769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7750" y="2350769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"result_summary": "expected_tools=write_todos, ls, read_file, write_file, edit_file, glob, grep, execute, task |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0550" y="242792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7750" y="242792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parser=hermes | prompt_tokens=12553 | cached_prompt_tokens=12544",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0550" y="2505074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7750" y="2505074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"prompt_preview": "You are working on one SWE-bench Pro software engineering task. Task metadata: - instance_id: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0550" y="258222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7750" y="258222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instance_NodeBB__NodeBB-04998908ba6721d64eba79ae3b65a351dcfbc5b5-vnan - repo: NodeBB/NodeBB Problem statement: **Title: Email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0550" y="265938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7750" y="265938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Validation Status...",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0550" y="273653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7750" y="273653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"prompt_chars": 6906,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0550" y="281368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7750" y="281368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"major_additions": "Built-in tool surface, tool parser selection, tokenizer work, and prompt-cache context.",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0550" y="289083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7750" y="289083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"added_elements": "built-in tool surface, tool parser, prompt tokenization, prompt caching context",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0550" y="296799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7750" y="296799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"removed_elements": "none",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0550" y="304514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7750" y="304514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"unchanged_core": "same user prompt content, now made tool-capable",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0550" y="312229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7750" y="312229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"key_facts": "expected_tools=write_todos, ls, read_file, write_file, edit_file, glob, grep, execute, task | parser=hermes |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0550" y="319944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7750" y="319944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prompt_tokens=12553 | cached_prompt_tokens=12544",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0550" y="327660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7750" y="327660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"structure_before": "request envelope plus system prompt",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0550" y="335375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7750" y="335375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"structure_after": "tool-capable request with expected tools and parser context",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0550" y="343090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7750" y="343090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"keys_before": "model, system_prompt, messages[].role, messages[].content, request_context.*, agent_hints.*, tool_choice",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0550" y="350805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7750" y="350805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"keys_after": "model, system_prompt, messages[].role, messages[].content, request_context.*, agent_hints.*, tool_choice,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0550" y="358521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7750" y="358521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expected_builtin_tools[], tool_parser_names_seen[], tool_parser_observed",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0550" y="366236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7750" y="366236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"json_keys_before":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0550" y="373951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7750" y="373951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"{\"model\":\"...\",\"system_prompt\":\"...\",\"messages\":[{\"role\":\"...\",\"content\":\"...\"}],\"request_context\":{...},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0550" y="381666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7750" y="381666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\"agent_hints\":{...},\"tool_choice\":\"...\"}",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0550" y="389382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7750" y="389382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"json_keys_after":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0550" y="397097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7750" y="397097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"{\"model\":\"...\",\"system_prompt\":\"...\",\"messages\":[{\"role\":\"...\",\"content\":\"...\"}],\"request_context\":{...},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0550" y="404812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7750" y="404812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\"agent_hints\":{...},\"tool_choice\":\"...\",\"expected_builtin_tools\":[\"...\"],\"tool_parser_names_seen\":[\"...\"],\"tool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0550" y="412527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47750" y="412527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_parser_observed\":\"...\"}",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0550" y="420243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47750" y="420243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"added_keys": "expected_builtin_tools, tool_parser_names_seen, tool_parser_observed",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0550" y="427958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47750" y="427958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"removed_keys": "none",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0550" y="435673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7750" y="435673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"changed_keys": "runtime view now includes tool surface and parser metadata",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0550" y="443388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47750" y="443388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"chars_before": 6906,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90550" y="451104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47750" y="451104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"chars_after": 6906,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90550" y="458819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47750" y="458819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"char_delta": 0,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0550" y="466534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47750" y="466534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"expected_builtin_tools": [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90550" y="474249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47750" y="474249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"write_todos",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90550" y="481965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47750" y="481965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"ls",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0550" y="489680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47750" y="489680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"read_file",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90550" y="497395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47750" y="497395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"write_file",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90550" y="505110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47750" y="505110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"edit_file",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90550" y="512826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47750" y="512826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"glob",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90550" y="520541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47750" y="520541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"grep",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90550" y="528256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47750" y="528256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"execute",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90550" y="535971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037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47750" y="535971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"task"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90550" y="543687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47750" y="543687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],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90550" y="551402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47750" y="551402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"tool_parser_names_seen": [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90550" y="559117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040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47750" y="559117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"hermes"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90550" y="566832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041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47750" y="566832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],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90550" y="574548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042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47750" y="574548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"tool_parser_observed": true,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533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RUNTIME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50" y="742950"/>
            <a:ext cx="10096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01820"/>
                </a:solidFill>
                <a:latin typeface="Aptos Display"/>
              </a:rPr>
              <a:t>Verbatim measurement excerpt captured before the response completed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23950"/>
            <a:ext cx="11734800" cy="5143500"/>
          </a:xfrm>
          <a:prstGeom prst="rect">
            <a:avLst/>
          </a:prstGeom>
          <a:solidFill>
            <a:srgbClr val="F7FAFC"/>
          </a:solidFill>
          <a:ln w="24130"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23950"/>
            <a:ext cx="11734800" cy="95250"/>
          </a:xfrm>
          <a:prstGeom prst="rect">
            <a:avLst/>
          </a:prstGeom>
          <a:solidFill>
            <a:srgbClr val="0F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6250" y="1314450"/>
            <a:ext cx="2476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others/result.json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0399" y="1314450"/>
            <a:ext cx="4667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80" b="1">
                <a:solidFill>
                  <a:srgbClr val="667085"/>
                </a:solidFill>
                <a:latin typeface="Aptos"/>
              </a:rPr>
              <a:t>measurements[0]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1524000"/>
            <a:ext cx="11430000" cy="4629150"/>
          </a:xfrm>
          <a:prstGeom prst="rect">
            <a:avLst/>
          </a:prstGeom>
          <a:solidFill>
            <a:srgbClr val="FFFFFF"/>
          </a:solidFill>
          <a:ln w="15240"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550" y="173355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" y="173355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"latency_ms": 81000.822,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550" y="181070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181070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"prompt_chars": 6906,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550" y="188785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059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50" y="188785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"prompt_lines": 114,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550" y="196500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" y="196500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"prompt_preview": "You are working on one SWE-bench Pro software engineering task. Task metadata: - instance_id: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550" y="2042159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750" y="2042159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instance_NodeBB__NodeBB-04998908ba6721d64eba79ae3b65a351dcfbc5b5-vnan",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550" y="211931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061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750" y="211931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"finish_reason": "length",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550" y="2196464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062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7750" y="2196464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"provider_response_id": "chatcmpl-17e85786-29d3-4c8d-8ad6-e146ba18ff82",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550" y="227361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063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7750" y="227361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"model_name_reported": "Qwen/Qwen2.5-7B-Instruct",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0550" y="2350769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064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7750" y="2350769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"input_tokens": 12553,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0550" y="242792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065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7750" y="242792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"output_tokens": 2048,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0550" y="2505074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066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7750" y="2505074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"total_tokens": 14601,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0550" y="258222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067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7750" y="258222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"cached_input_tokens": 12544,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0550" y="265938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068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7750" y="265938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"prompt_tokens": 12553,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0550" y="273653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069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7750" y="273653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"completion_tokens": 2048,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0550" y="281368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070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7750" y="281368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"total_tokens_reported": 14601,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0550" y="289083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071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7750" y="289083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0F9F6E"/>
                </a:solidFill>
                <a:latin typeface="Aptos Mono"/>
              </a:rPr>
              <a:t>  "cached_prompt_tokens": 12544,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1BA132-8087-42AF-A38C-A2E20BB5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AD595-CC07-473F-96AA-577A7564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46231-B0E7-47E4-8456-B428A229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5 OF 5 | RUNTIME -&gt; BEHAVIOR | DEEP AGENTS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06395-D85A-4BBF-9EFD-2ADDAA88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Finally, we observe what the model actually did.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94584-A3E8-4403-9415-0B7CD8D9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0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C6FCC-6B23-4390-A22F-F22E08BB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540E4-2AF1-49FA-B807-50244476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0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057A1-EC1B-467E-ABF5-F1AEE7FF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B08F6-382A-4906-BCC8-3FBFAA1C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0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38A144-BBB2-4E66-87D3-A3A9DCD1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ECE9D-86B4-470D-B744-352FD361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0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A09FE-46EB-43DC-A21A-7565405C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75ABB-EE54-414D-A83A-FD39118A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693C4-B5AB-4D97-BB5D-B9C10D18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6BB1C6-DADA-4ED0-A74E-449BA2DE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8C67CF-1325-49D7-956E-A7D606DA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647D34-FC5A-4192-9D12-9B382B1B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756147-0B88-41E6-B756-97C2C681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changed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2E7C5D-242B-4D02-A7DE-524412B2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The prepared request becomes an observed behavior record.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19FB67-EB7D-4864-A322-B1FF214E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7167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341672-2ED9-44A3-8A00-3A7B4146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145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We can see what the model actually did, not just what we expected.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C00439-C54C-4FDF-887A-7BB822BC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71675"/>
            <a:ext cx="114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to look 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3FAF63-E012-4464-837D-BFA80082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1455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 calls, finish_reason, response_text, workspace_changed.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D2F363-A01F-4D02-AF00-DFC12136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71675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ED2F14-FA39-4F54-ACE0-8852A391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14550"/>
            <a:ext cx="1314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DA8411-63E2-49B1-9304-0DF98619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Behavior Recorded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C97614-BD14-499B-BEA5-164408DC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95550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Added in this step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99186D-6269-429E-A0BA-F53D714E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57450"/>
            <a:ext cx="17449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1F5352-5269-4C3E-B04C-FFC4F7BF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05075"/>
            <a:ext cx="157353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observed_tool_call_names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BDF7E5-7074-4C51-8DDA-EED9CE0D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030" y="245745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46100F-AE7F-4737-909A-B3F0CB21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755" y="2505075"/>
            <a:ext cx="16954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observed_tool_result_names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74DC7C-933E-4F3D-A5D4-1AABD4DA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24150"/>
            <a:ext cx="103251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2EA57A-6E0A-4084-A0A8-AB656945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71775"/>
            <a:ext cx="86106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finish_reason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0D99DD-C904-4221-A8E2-E3FE5A28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724150"/>
            <a:ext cx="103251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FC5D40-6F60-4F46-B0C7-FD9F8100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9285" y="2771775"/>
            <a:ext cx="86106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response_text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EEC416-0629-4370-B161-1DFB4B9B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220" y="2724150"/>
            <a:ext cx="129159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6C2E67-BA05-41D2-B358-894049FB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8945" y="2771775"/>
            <a:ext cx="112014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workspace_changed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CBF267-20D3-48CF-A942-5927BD1E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64B1CA-607B-4FB5-B417-975D8079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47925"/>
            <a:ext cx="1695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Payload size change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3F2276-6266-417D-98C3-90B47072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71750"/>
            <a:ext cx="1695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BE123C"/>
                </a:solidFill>
                <a:latin typeface="Aptos Mono"/>
                <a:ea typeface="Aptos Mono"/>
                <a:cs typeface="Aptos Mono"/>
              </a:defRPr>
            </a:pPr>
            <a:r>
              <a:rPr sz="1238" b="1">
                <a:solidFill>
                  <a:srgbClr val="BE123C"/>
                </a:solidFill>
                <a:latin typeface="Aptos Mono"/>
                <a:ea typeface="Aptos Mono"/>
                <a:cs typeface="Aptos Mono"/>
              </a:rPr>
              <a:t>+2,066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25B5B0-E46A-4B7D-84A6-B713890F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19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D99A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DD38C3-C242-415C-A5E5-2E59C36B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0EBF32-FD2A-41B2-B716-6C560E7C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2275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008921-B214-4EB0-BB8F-C01BDCCF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48768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"model":"...",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"system_prompt":"...",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"messages":[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"role":"...",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"content":"..."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"request_context":{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"agent_hints":{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"tool_choice":"...",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"expected_builtin_tools":[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"tool_parser_names_seen":[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"tool_parser_observed":"...",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"prompt_tokens":"...",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"cached_prompt_tokens":"...",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"cached_input_tokens":"..."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08C0A5-0096-42B9-96A9-C978DEC7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5219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F6BEC20-43D6-43CF-B063-C6BBF3AB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CCB160-2527-40DE-9DC4-CBA6DA00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62275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After - added fields are called out above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94296C-3486-490E-A4BF-B1B0CD20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09950"/>
            <a:ext cx="48768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"messages": [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"type": 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"name": 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"content": 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"tool_calls": [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  {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    "name": 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  }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],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"invalid_tool_calls": [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  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]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}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"observed_tool_call_names": [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"observed_tool_result_names": [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"observed_tool_call_count": 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"finish_reason": 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"response_text": 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"workspace_changed": 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88A4F27-7C9B-45D8-952C-7DE19636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Output record grew | observed_tool_calls=2 | tools_used=ls, read_file | workspace_changed=False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D49C85F-FE69-48CB-A850-5C1556B0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F972D44-D454-4BCA-9AD9-0FEBACF9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FF3FA0F-4B32-47B2-AEFF-536F7470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31123781"/>
      </p:ext>
    </p:extLst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533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MODEL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50" y="742950"/>
            <a:ext cx="10096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01820"/>
                </a:solidFill>
                <a:latin typeface="Aptos Display"/>
              </a:rPr>
              <a:t>Verbatim artifact excerpt of the observed response and tool outcome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23950"/>
            <a:ext cx="11734800" cy="5143500"/>
          </a:xfrm>
          <a:prstGeom prst="rect">
            <a:avLst/>
          </a:prstGeom>
          <a:solidFill>
            <a:srgbClr val="F7FAFC"/>
          </a:solidFill>
          <a:ln w="2413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23950"/>
            <a:ext cx="11734800" cy="9525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6250" y="1314450"/>
            <a:ext cx="2476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others/result.json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0399" y="1314450"/>
            <a:ext cx="4667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80" b="1">
                <a:solidFill>
                  <a:srgbClr val="667085"/>
                </a:solidFill>
                <a:latin typeface="Aptos"/>
              </a:rPr>
              <a:t>prompt_evolution_report.stages[6]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1524000"/>
            <a:ext cx="11430000" cy="4629150"/>
          </a:xfrm>
          <a:prstGeom prst="rect">
            <a:avLst/>
          </a:prstGeom>
          <a:solidFill>
            <a:srgbClr val="FFFFFF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550" y="1733550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" y="1733550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BE123C"/>
                </a:solidFill>
                <a:latin typeface="Aptos Mono"/>
              </a:rPr>
              <a:t>  "observed_tool_call_names": [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550" y="181070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181070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"ls",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550" y="1887855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50" y="1887855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"read_file"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550" y="196500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" y="196500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],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550" y="2042159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750" y="2042159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BE123C"/>
                </a:solidFill>
                <a:latin typeface="Aptos Mono"/>
              </a:rPr>
              <a:t>  "observed_tool_result_names": [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550" y="211931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750" y="211931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"ls",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550" y="2196464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7750" y="2196464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  "read_file"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550" y="2273617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7750" y="2273617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  ],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0550" y="2350769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7750" y="2350769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BE123C"/>
                </a:solidFill>
                <a:latin typeface="Aptos Mono"/>
              </a:rPr>
              <a:t>  "observed_tool_call_count": 2,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0550" y="2427922"/>
            <a:ext cx="323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7750" y="2427922"/>
            <a:ext cx="10458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BE123C"/>
                </a:solidFill>
                <a:latin typeface="Aptos Mono"/>
              </a:rPr>
              <a:t>  "finish_reason": "length",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CD5A75-FE81-486D-B954-94C81C5D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C9AED-82C8-4DAC-A408-8A089582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C1FE0-BC46-46CA-9B6A-0963F5EB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ADDED FIELDS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A4EEE-4E37-4ACA-81CA-4E5610EE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Each stage adds specific fields that explain the handoff.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A94A8-C73E-413D-8FE0-7699C998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easiest way to read this slide: the left column names the step, the middle shows the new fields created at that step, and the right side shows whether the payload grew.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B2234-57DE-4E70-8F19-02EA9471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50454-3E28-47AF-B0E6-F822B79E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Stage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315AF-10E6-437D-A769-8DB9F1BF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669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04E1B8-3B68-47F9-8033-242627A5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43150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Fields added here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6D995-FECF-4C0E-8B13-CDF40635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66950"/>
            <a:ext cx="2819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0F2834-662E-437D-88B6-AC548EE6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43150"/>
            <a:ext cx="2628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Meaning of the change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31F8F-206A-4C39-96E5-13FD9127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2669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8C1AC9-B97C-4372-9784-CD981C44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3431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Size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7EF71-A298-4524-B267-055ACB89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501E89-9B2B-414E-92F1-20D54521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774AB-6CA8-473D-98B2-3883D9D9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57475"/>
            <a:ext cx="1657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Task Loaded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605270-EE0C-4E93-BB44-A2B4D2CA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67025"/>
            <a:ext cx="1657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Benchmark Loader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4D1C7B-EB59-4D1E-9489-34E3B31F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860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D28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AA385A-B5DC-45FD-8AD1-4BF7225C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733675"/>
            <a:ext cx="381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repo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938528-939C-41F3-8CDD-F824C130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86050"/>
            <a:ext cx="90297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D28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1F9C6F-AC5B-47B5-AE71-5C90D2A2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733675"/>
            <a:ext cx="73152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base_commit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27805B-4FE6-4B89-A629-625F6E88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6720" y="2686050"/>
            <a:ext cx="64389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D28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BCDC4C-7C12-4062-9DDB-462D9104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445" y="2733675"/>
            <a:ext cx="47244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+4 more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F33455-FB2E-4C0E-99E9-DC7BD8FE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8605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Established the starting task description from dataset fields before any prompt assembly.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FF3FC6-841F-4734-B5A8-D875E6A5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6860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05" b="1">
                <a:solidFill>
                  <a:srgbClr val="BE123C"/>
                </a:solidFill>
                <a:latin typeface="Aptos Mono"/>
                <a:ea typeface="Aptos Mono"/>
                <a:cs typeface="Aptos Mono"/>
              </a:defRPr>
            </a:pPr>
            <a:r>
              <a:rPr sz="1005" b="1">
                <a:solidFill>
                  <a:srgbClr val="BE123C"/>
                </a:solidFill>
                <a:latin typeface="Aptos Mono"/>
                <a:ea typeface="Aptos Mono"/>
                <a:cs typeface="Aptos Mono"/>
              </a:rPr>
              <a:t>+1,330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383B06-8B74-45E0-945A-2691456C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67025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Output record grew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CA1EA0-14A0-45C8-A3A6-3C8608CF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C7B9E8-2628-44AE-889E-C6ECAF9F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24F512-7DAC-4796-8CDA-AF241FDD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C182BF-9078-4106-90B9-B0C9C62E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71825"/>
            <a:ext cx="1657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Prompt Built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3280C4-BACD-429A-AD84-7FF86BF8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1657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66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Prompt Builder (local helper script)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5DA3D0-92D4-4B27-81AD-458CE325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00400"/>
            <a:ext cx="57912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74C1A0-4976-49D1-A4D0-348A3CFC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248025"/>
            <a:ext cx="40767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AC98C2-E4C4-47A8-AFA0-04572C24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0040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problem_statement, requirements, selected tests -&gt; prompt text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9CF3AF-F379-473C-A31B-CDE78C10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2004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05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1005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+5,576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7597FF-65E6-4F21-ACE5-65883A87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81375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grew here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05773F-F9E0-4F29-ADA2-74210AB4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B228DE-F70B-4171-96CA-099C7B58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3550AB-609A-4F9A-8DE0-C134C047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9AFE15-0686-416A-92DD-C27DCDDA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657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Request Packaged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E63BDA-4BC0-49AE-B69D-08AA5391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95725"/>
            <a:ext cx="1657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66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Request Wrapper (local helper script)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E4276F-F3CD-42B5-8D6E-C4901003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147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D4E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AD27FA-A45A-498C-86DD-71F2700D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762375"/>
            <a:ext cx="381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E890A1A-0DA8-4028-8322-2BB77691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14750"/>
            <a:ext cx="70866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D4E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9E56B4-5FA3-4344-B179-2970C804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762375"/>
            <a:ext cx="53721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messages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0DB0B49-30DB-4FD4-B831-DC5C27D2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410" y="3714750"/>
            <a:ext cx="64389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D4E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7A7A84-D871-4B4D-9207-9963824D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8135" y="3762375"/>
            <a:ext cx="47244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+3 more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029F8AC-1BBB-4864-8C9F-263D806A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 -&gt; messages[0].content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06DFC7-99D4-4158-BCEE-A85A98FA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7147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05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1005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43B13B2-3567-4B41-87C7-C329C98E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895725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 payload growth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66DCCC2-F79F-4EA9-98B8-F0292062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31F6E79-072F-4B86-8B85-E002FAFD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B5AA782-5027-4B0A-A828-ECD90A5B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6434326-D31E-4EFE-8D27-5A865AA9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1657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Agent Rules Applied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1A2B06B-4755-45B6-97A5-41547BD0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1657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E5F7564-F912-4FED-90D4-12A9F065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29100"/>
            <a:ext cx="103251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FB5C98E-7CCA-4C07-AAC9-393924D8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276725"/>
            <a:ext cx="86106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system_prompt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1B38DA0-1DAA-4FE7-BE56-67DF584C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2910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request interpretation now includes system instructions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71B9FBB-30D4-4867-8242-C3C4C8B8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2291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05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1005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B827E48-7E5C-4305-A4A8-7D9C4CD9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410075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 payload growth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1DA0F40-FE8D-4042-9EE2-F19734D8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18E4FB5-A784-414D-9292-4F484947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D31FD42-4ACF-4157-ADD2-0501D146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22F77D5-F1B1-4B5F-8CB9-08E54510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1657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Tools Attached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6F18995-7637-4E28-8C19-1B5B463E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24425"/>
            <a:ext cx="1657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Runtime Layer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687480C-DFA9-4155-AD48-9749C4C9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43450"/>
            <a:ext cx="161544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5893884-FE60-45CD-8F96-72825B7D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791075"/>
            <a:ext cx="144399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expected_builtin_tools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ED7CD97-87EF-4138-84C7-38FB5369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9590" y="4743450"/>
            <a:ext cx="161544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FF51E53-6463-463D-9BD8-7B1D7E86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315" y="4791075"/>
            <a:ext cx="144399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tool_parser_names_seen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19A0ABE-4D74-4E24-93C8-2F654F33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2180" y="4743450"/>
            <a:ext cx="64389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01D2C4E-CD2B-4C95-850D-2463DAA0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905" y="4791075"/>
            <a:ext cx="47244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+1 more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53B49E4-8E2A-405D-8EBF-549E3AC1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4345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runtime view now includes tool surface and parser metadata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1AC7527-D4A5-4930-B6E0-8111DDFF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7434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05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1005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1EBD797-988E-4E01-AF30-CBC13F6A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924425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 payload growth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D74A570-2892-4745-8C67-3733B403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B0D9C04-86E2-445F-A6AD-801551BC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007C850-255B-44E7-B6A4-6582391E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8184A89-1BDC-4B16-87E8-C1160D25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29225"/>
            <a:ext cx="1657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Runtime Prepared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24E3372-3C2C-4DC9-8524-9A124810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38775"/>
            <a:ext cx="1657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Runtime Layer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571C712-9EC0-4E28-A691-6A6DD798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57800"/>
            <a:ext cx="103251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76BCBC3-367A-4670-9013-DF51FF62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305425"/>
            <a:ext cx="86106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prompt_tokens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7574E0E-D123-449B-BD6A-D0EA2C36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660" y="525780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5B00B10-06BE-4C47-B468-BFADFA32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2385" y="5305425"/>
            <a:ext cx="13144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cached_prompt_tokens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BEE8781-AD82-4B4C-BFD8-E4564245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9710" y="5257800"/>
            <a:ext cx="64389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8AC7D38-C66D-4D1C-A1AC-DEEDE50F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435" y="5305425"/>
            <a:ext cx="47244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+1 more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8B401A5-8F7C-43EC-AF53-A3C25F54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5780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request now carries observed runtime preprocessing metrics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7F14313-5F9B-4D5B-B33B-2871C193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2578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05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1005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DA57794-5F3A-4841-B18A-2BE3C6F4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438775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 payload growth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AB5AC82-9C5A-4F17-BA4B-A6659449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59B285D-2ECA-4555-A511-E415FC51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106C792-58FE-4AA7-8C8A-F63118C1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A185714-B282-4F09-AFA1-8A38023E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43575"/>
            <a:ext cx="1657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Behavior Recorded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1044BCA-CC2A-4F47-A607-04813337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53125"/>
            <a:ext cx="1657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543A90E-6B52-49DD-A0AC-49385ED1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72150"/>
            <a:ext cx="17449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64EB2A7-0CB1-4DE1-83DA-ECFF070B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819775"/>
            <a:ext cx="157353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observed_tool_call_names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014298E-688C-4353-BFF0-8E8A0A84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130" y="577215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689E39A-681D-439A-B05C-4B48887E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4855" y="5819775"/>
            <a:ext cx="16954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observed_tool_result_names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7418A5A-1400-4952-9E4A-1E844329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180" y="5772150"/>
            <a:ext cx="64389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28F581C-1DC0-48D3-9D55-6731F0D1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905" y="5819775"/>
            <a:ext cx="47244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+3 more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54C866D-2A35-4669-82DA-04810337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77215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request state -&gt; response and outcome state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52635A6-CB89-4ABF-9A42-D1636C08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7721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05" b="1">
                <a:solidFill>
                  <a:srgbClr val="BE123C"/>
                </a:solidFill>
                <a:latin typeface="Aptos Mono"/>
                <a:ea typeface="Aptos Mono"/>
                <a:cs typeface="Aptos Mono"/>
              </a:defRPr>
            </a:pPr>
            <a:r>
              <a:rPr sz="1005" b="1">
                <a:solidFill>
                  <a:srgbClr val="BE123C"/>
                </a:solidFill>
                <a:latin typeface="Aptos Mono"/>
                <a:ea typeface="Aptos Mono"/>
                <a:cs typeface="Aptos Mono"/>
              </a:rPr>
              <a:t>+2,066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D2E33EF-EC3C-48A3-9638-35659C29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953125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Output record grew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7367036-6157-4F40-AFEF-750B6965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430CB38-238D-4C99-A58F-9192A922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76FF085-95E6-4756-9B61-551AD365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0344681-D314-48AF-9C40-D584BAB8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9158192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C25783-100F-4C9B-83B2-29E07440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3FDAE-209A-4DAC-A15A-75C6AFB9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4D302-6F31-4AE5-ADF6-F4595365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EVIDENCE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A7791-03AB-4CEE-BEB3-1464F6DF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Each stage leaves a short proof trail executives can inspect.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4870B-E1E8-4EEB-8FC6-F44972F3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3276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4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BD66F-CCE0-48F7-B828-6EBAC075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2933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+5,576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CDE57-B044-4A7A-9750-36EF21DB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7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 Builder (local helper script)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13357-2B59-44BF-917C-5958F432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2933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largest growth: raw task becomes 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CFC89E-BC5D-46F2-A11F-B4F2215A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47850"/>
            <a:ext cx="3276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4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F12E41-BDED-4526-8B36-4C56E0DB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81200"/>
            <a:ext cx="2933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9F6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9F6E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6F6062-1404-4EF0-8BAB-006447B3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6220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Runtime Preparation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15100-7ECA-4F62-8B11-2FD6C57F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2933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same request, more runtime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8105C2-623B-410E-B361-D6B8BB36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47850"/>
            <a:ext cx="3276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4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1AC4E3-135B-471B-9A49-059914B8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81200"/>
            <a:ext cx="2933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E123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BE123C"/>
                </a:solidFill>
                <a:latin typeface="Aptos Display"/>
                <a:ea typeface="Aptos Display"/>
                <a:cs typeface="Aptos Display"/>
              </a:rPr>
              <a:t>+2,066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59A322-321E-4566-BD5E-ACA32DBB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6220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Behavior Record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48A60-AB62-43D8-B065-B95958F7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933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response and tool outcome are added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5CCE0A-EA8F-4AAD-A078-DC203876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55A8CB-ABF9-4193-A1C8-87ECBE9E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71825"/>
            <a:ext cx="1562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D6B5A8-7B56-4DBD-9B18-8250EB45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05150"/>
            <a:ext cx="3638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97FAAE-45FD-462E-8156-7024C6FE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71825"/>
            <a:ext cx="3448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Key facts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1F509F-49C5-4792-AF7E-05DC2272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05150"/>
            <a:ext cx="4057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1BED5E-6A0C-4855-BC9C-8413E078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71825"/>
            <a:ext cx="3867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0CC4F3-EEEF-4876-8E32-B1D9C479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1051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E9B5CC-1ED0-43A3-8A70-4481F15C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171825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Size signal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9D9E94-B965-4E5F-BBC4-7A8EED72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4943E0-0F6C-49BA-9EB0-75EF5183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57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FFEA51-69D9-46A3-BA82-0AFD9E36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14859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Task Loaded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674397-8D85-43F7-8250-60672353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76625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repo=NodeBB/NodeBB | base_commit=1e137b07052bc3ea0da44ed201702c94055b8ad2 | tests...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EE517C-CAF4-4FD2-BE0F-995C10C7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76625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repo=NodeBB/NodeBB | base_commit=1e137b07052bc3ea0da44ed201702c94055b8ad2 | tests=["test/...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2A132F-D534-4D32-B9C8-61C09C18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4861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+1,330 | Output record grew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6CDFFD-5758-4792-AE6A-5EE7BF37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E07EF7-958C-4E86-AA6F-D802C6BA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10972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4B985E-C481-4CA3-B4E0-232A809F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57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376A86-6060-4338-8B7A-2BE4C6F8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14859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Prompt Built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A87392-5608-42E0-94BA-12775287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86200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prompt_lines=114 | prompt_chars=6906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65BFF7-6372-4865-BFB7-C4196D52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86200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user_prompt_lines=114 | user_prompt_chars=6906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27EDE1-B61F-4816-8EDC-DE767976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8957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+5,576 | Prompt grew here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41465E-C7F2-4E9E-AAF5-8FA51FD0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AD12F0-4171-440E-89D3-EF10EAD3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972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131C31-8E06-40C5-8F5E-FD8903EF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57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0573B9-95A1-4447-9AE5-6E61318F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14859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Request Packaged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A858CE-2D05-4F68-B5F9-D1F95FCB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295775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model=Qwen/Qwen2.5-7B-Instruct | frontend=http://127.0.0.1:8000/v1/chat/completio...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1AA652-2E29-4D63-81D3-1EA3F13E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95775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model=Qwen/Qwen2.5-7B-Instruct | frontend=http://127.0.0.1:8000/v1/chat/completions | too...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68912A-1266-4F80-BAA6-33E8B6E5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3053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 | No payload growth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3D6A28-BAC5-4C28-929C-E63F0219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12D056-23C2-40DD-A97C-90C824C4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10972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82D96D6-8731-4FA0-9E95-49333CDD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57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F913DE-9273-420F-9B09-A91B21A4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14859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Agent Rules Applied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A05A91-0D28-465A-BDBE-CC8FA2D0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05350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system_prompt_chars=0 | runtime_source=python_environment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AC5F6F-C05F-4B9E-9850-002BE305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05350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system_prompt_chars=0 | runtime_source=python_environment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CE4F68A-E77C-43AB-956F-04AE77F2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71487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 | No payload growth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738CD65-A965-4090-B56D-EFC2BDB4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4919940-CCD2-4CE3-BB2B-0AC39B40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195FBA7-231E-457B-8656-D6FFC15D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57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2E42859-D924-4425-B239-43F4EB7D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14925"/>
            <a:ext cx="14859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Tools Attached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25E8EEB-F2FC-4682-B769-F5943B09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114925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expected_tools=write_todos, ls, read_file, write_file, edit_file, glob, grep, exe...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671947B-3333-4C64-A9EA-C0549E8B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14925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expected_tools=write_todos, ls, read_file, write_file, edit_file, glob, grep, execute, ta...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794262E-71AD-42DE-95D6-4C0DEAA6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1244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 | No payload growth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9528132-FBE6-4A02-8575-A69B1A3D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3B5632C-F037-4C52-AE9F-B7DCF113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77A9119-B9AA-4700-886C-607DDF5D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57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B936ABF-D4E2-43E6-96EE-E244B288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4859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Runtime Prepared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1E5240E-6075-479E-A561-C2B146A0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24500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parser_observed=True | prompt_tokens=12553 | cached_input_tokens=12544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10C2EA3-BA25-46E0-A7BB-9F3B3FDC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24500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parser_observed=True | prompt_tokens=12553 | cached_input_tokens=12544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7EEDDDD-AD28-447B-B3BB-3CBB16AF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5340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 | No payload growth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1ABE275-F097-474F-BD56-EAF09754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43EA0DE-E2C7-4443-97CB-055F619A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324B2E8-F55B-49D3-8C19-A22B4E69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57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4E451E1-7728-463D-AE3E-2E798B00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34075"/>
            <a:ext cx="14859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Behavior Recorded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B8393F4-49B7-47EF-A669-1B0C1F8F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934075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observed_tool_calls=2 | tools_used=ls, read_file | finish_reason=length | workspa...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03084B5-B494-41BA-807F-D710E634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934075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observed_tool_calls=2 | tools_used=ls, read_file | workspace_changed=False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1AB28DC-3949-4DEB-8921-8A99FFBD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9436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+2,066 | Output record grew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ED53AB2-97A2-4395-B4DB-F416D9E1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4D0E517-839C-4FC9-B9C7-0488EE57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7282040-9769-41DF-9EAC-C8A86BF2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03A68C9-45EE-483D-9357-28C0F389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8766609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2C6526-A0DA-4873-8170-CD0B151E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87912-D235-470C-9332-DA53D841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DA9CE-C8AA-4028-B9A9-48173BA9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FINAL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5B18D-F3C4-4204-B0A4-83C0C3EA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We can now explain how one real engineering task becomes model behavior.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EB452-0734-4C67-A19C-C877A8C1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9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9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This experiment followed a NodeBB SWE-bench Pro task through the prompt pipeline: task intake, prompt construction, model request packaging, runtime preparation, and observed behavior.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FCF53-EFAE-4E7E-A5E3-8249545C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4003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75818A-86A9-4612-B8F7-38D59A98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400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B1C79-BBD1-4816-A57A-6018623C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WENT 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8D140-B1A2-4B9E-A086-F29EA915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Real NodeBB 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0E207-77D6-4E27-A06E-53A91B58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1924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 concrete email-validation bug with repo context, requirements, selected tests, and a target workspace.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D7438-12C5-40FF-87BF-1CA82B8A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90800"/>
            <a:ext cx="24003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28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12D6B9-1B54-4C8E-B824-F8C6DA0E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90800"/>
            <a:ext cx="2400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4C8AF7-BA80-4C80-A853-CFF85291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956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CHANGED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33ECF5-0AFF-4BFC-9899-FA70B46B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432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D28D9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6D28D9"/>
                </a:solidFill>
                <a:latin typeface="Aptos Display"/>
                <a:ea typeface="Aptos Display"/>
                <a:cs typeface="Aptos Display"/>
              </a:rPr>
              <a:t>+5,576 chars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96BF31-2F06-4DAE-B9FD-8BCBA47D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38550"/>
            <a:ext cx="1924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largest transformation happened when raw task fields became one runnable agent prompt.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8D83AE-B1AF-47A2-8868-9DB42853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90800"/>
            <a:ext cx="24003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798D4A-CB3B-4403-B8FC-5CD8C649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90800"/>
            <a:ext cx="2400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417BC3-F285-4A65-9699-93A9F7E3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956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RAN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D2AD64-3599-48E4-B0E8-27CCE141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9F6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F9F6E"/>
                </a:solidFill>
                <a:latin typeface="Aptos Display"/>
                <a:ea typeface="Aptos Display"/>
                <a:cs typeface="Aptos Display"/>
              </a:rPr>
              <a:t>Qwen 2.5 7B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7F0662-03D6-4DAD-B807-50BB1C8D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1924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prompt was packaged and sent through the stack using Qwen/Qwen2.5-7B-Instruct.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E9D39D-F933-44CE-A4D2-5D9E18B7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90800"/>
            <a:ext cx="24003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EC4175-DB93-4FBD-9DAE-F9474CA6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90800"/>
            <a:ext cx="2400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214C2C-2F26-4980-A1FA-9D32D498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956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CAME OUT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D00490-1695-4C7E-BC49-87BD0B54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432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E123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BE123C"/>
                </a:solidFill>
                <a:latin typeface="Aptos Display"/>
                <a:ea typeface="Aptos Display"/>
                <a:cs typeface="Aptos Display"/>
              </a:rPr>
              <a:t>Behavior trace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CDD5A4-AF83-451F-A31C-248064DF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38550"/>
            <a:ext cx="1924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final record shows tool calls, response status, and whether the workspace changed.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D537D3-7168-4190-8E9F-90B6BB62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17145">
            <a:solidFill>
              <a:srgbClr val="D9770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605D06-50D5-4E9F-B7D3-FEAE342B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6AC883-3564-4B77-9210-792EAA89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Simple takeaway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A24B0C-F116-467E-94D9-B37F1332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971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6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The prompt pipeline is now explainable stage by stage: we can see the structure before and after each handoff, the fields each layer adds, and the evidence produced by the run.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AE1CA9-9A70-4DAF-82D0-56337D03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424765-EF67-4039-87B6-04FBAC07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881258-F645-44D1-B076-4C4FFF20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306240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2026-05-18T19:45:15.8280000Z</dcterms:created>
  <dcterms:modified xsi:type="dcterms:W3CDTF">2026-05-18T19:45:15.8280000Z</dcterms:modified>
</coreProperties>
</file>