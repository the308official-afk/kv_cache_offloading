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2" r:id="rId7"/>
    <p:sldId id="270" r:id="rId8"/>
    <p:sldId id="271" r:id="rId9"/>
    <p:sldId id="263" r:id="rId10"/>
    <p:sldId id="272" r:id="rId11"/>
    <p:sldId id="273" r:id="rId12"/>
    <p:sldId id="264" r:id="rId13"/>
    <p:sldId id="274" r:id="rId14"/>
    <p:sldId id="265" r:id="rId15"/>
    <p:sldId id="275" r:id="rId16"/>
    <p:sldId id="276" r:id="rId17"/>
    <p:sldId id="278" r:id="rId18"/>
    <p:sldId id="266" r:id="rId19"/>
    <p:sldId id="277" r:id="rId20"/>
    <p:sldId id="280" r:id="rId21"/>
    <p:sldId id="281" r:id="rId22"/>
    <p:sldId id="267" r:id="rId23"/>
    <p:sldId id="268" r:id="rId24"/>
    <p:sldId id="269" r:id="rId2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C3F499F0-7CD8-4D07-AB20-B8DD6A5883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9D584C-1FB9-415F-B4DC-96ACC667259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63992E-6D3E-47AB-8B8A-29EACE88B244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PLAIN-ENGLISH INTRODUCTION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23F055-F305-4FB2-90E4-6EB81EADEA2A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This setup traces how one task changes as it moves through the agent system.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C85824-5C85-48E8-892C-FD76CEDFB05F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Think of it like tracking a package: we see what entered the system, how it was repackaged at each handoff, and what came out at the end.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02A2BA-850D-4A03-BD1F-A743B4AF38B1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6477000" cy="45720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C66384-7771-4581-997D-CFC192AFFFF4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323850" cy="32385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0A452C-8EB7-450C-AC59-51454DF71DCA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442F26-2FFC-4B6F-ABA7-02BD6C39898E}"/>
              </a:ext>
            </a:extLst>
          </p:cNvPr>
          <p:cNvSpPr>
            <a:spLocks noGrp="1"/>
          </p:cNvSpPr>
          <p:nvPr/>
        </p:nvSpPr>
        <p:spPr>
          <a:xfrm>
            <a:off x="1104900" y="2752725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Raw task enters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D63808-92FB-4888-BD3B-61707F0FF094}"/>
              </a:ext>
            </a:extLst>
          </p:cNvPr>
          <p:cNvSpPr>
            <a:spLocks noGrp="1"/>
          </p:cNvSpPr>
          <p:nvPr/>
        </p:nvSpPr>
        <p:spPr>
          <a:xfrm>
            <a:off x="3219450" y="2752725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Repo, bug report, tests, and workspace are loaded.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A96A12-055F-492B-98DB-D5BDEB94584E}"/>
              </a:ext>
            </a:extLst>
          </p:cNvPr>
          <p:cNvSpPr>
            <a:spLocks noGrp="1"/>
          </p:cNvSpPr>
          <p:nvPr/>
        </p:nvSpPr>
        <p:spPr>
          <a:xfrm>
            <a:off x="609600" y="3276600"/>
            <a:ext cx="6477000" cy="457200"/>
          </a:xfrm>
          <a:prstGeom prst="rect">
            <a:avLst/>
          </a:prstGeom>
          <a:solidFill>
            <a:srgbClr val="F2E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AF8F63-B324-4069-A7D9-59A54EA83FB0}"/>
              </a:ext>
            </a:extLst>
          </p:cNvPr>
          <p:cNvSpPr>
            <a:spLocks noGrp="1"/>
          </p:cNvSpPr>
          <p:nvPr/>
        </p:nvSpPr>
        <p:spPr>
          <a:xfrm>
            <a:off x="609600" y="3276600"/>
            <a:ext cx="323850" cy="3238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D174DF-4A8E-48E4-9028-EA7CCFBA040F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6D7518-C0DD-4F0A-B2AC-B68B93DE753C}"/>
              </a:ext>
            </a:extLst>
          </p:cNvPr>
          <p:cNvSpPr>
            <a:spLocks noGrp="1"/>
          </p:cNvSpPr>
          <p:nvPr/>
        </p:nvSpPr>
        <p:spPr>
          <a:xfrm>
            <a:off x="1104900" y="3343275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Task becomes a prompt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BDB818-B387-4947-9AFC-20724C3FA8DD}"/>
              </a:ext>
            </a:extLst>
          </p:cNvPr>
          <p:cNvSpPr>
            <a:spLocks noGrp="1"/>
          </p:cNvSpPr>
          <p:nvPr/>
        </p:nvSpPr>
        <p:spPr>
          <a:xfrm>
            <a:off x="3219450" y="3343275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scattered task details become one instruction message.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3B40FC-5465-4192-81A0-0E9EC4F39FCE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6477000" cy="45720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0C3C7F-A5F1-4DF7-A0B1-872D59C60F2A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323850" cy="323850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F8BACD-74D4-4525-90D9-6A12333693E3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996C06-0D40-4BCB-A706-849861FC126B}"/>
              </a:ext>
            </a:extLst>
          </p:cNvPr>
          <p:cNvSpPr>
            <a:spLocks noGrp="1"/>
          </p:cNvSpPr>
          <p:nvPr/>
        </p:nvSpPr>
        <p:spPr>
          <a:xfrm>
            <a:off x="1104900" y="3933825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becomes a request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D86A5C-3A8E-4A9C-A08C-4D5395325F1A}"/>
              </a:ext>
            </a:extLst>
          </p:cNvPr>
          <p:cNvSpPr>
            <a:spLocks noGrp="1"/>
          </p:cNvSpPr>
          <p:nvPr/>
        </p:nvSpPr>
        <p:spPr>
          <a:xfrm>
            <a:off x="3219450" y="3933825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message is wrapped with model, context, and tool settings.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115F13-8E4C-43F8-89CE-70F465BBA79D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6477000" cy="457200"/>
          </a:xfrm>
          <a:prstGeom prst="rect">
            <a:avLst/>
          </a:prstGeom>
          <a:solidFill>
            <a:srgbClr val="F2E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2A4874-5D47-4E98-B94A-04094B3CA60C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323850" cy="3238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3E6B35-A37D-4DE3-822A-83EDE0CD076B}"/>
              </a:ext>
            </a:extLst>
          </p:cNvPr>
          <p:cNvSpPr>
            <a:spLocks noGrp="1"/>
          </p:cNvSpPr>
          <p:nvPr/>
        </p:nvSpPr>
        <p:spPr>
          <a:xfrm>
            <a:off x="609600" y="45339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6037AB-1253-4B50-89DB-341663978872}"/>
              </a:ext>
            </a:extLst>
          </p:cNvPr>
          <p:cNvSpPr>
            <a:spLocks noGrp="1"/>
          </p:cNvSpPr>
          <p:nvPr/>
        </p:nvSpPr>
        <p:spPr>
          <a:xfrm>
            <a:off x="1104900" y="4524375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context is attached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5473E5-C93E-4469-97E9-8633D8045A79}"/>
              </a:ext>
            </a:extLst>
          </p:cNvPr>
          <p:cNvSpPr>
            <a:spLocks noGrp="1"/>
          </p:cNvSpPr>
          <p:nvPr/>
        </p:nvSpPr>
        <p:spPr>
          <a:xfrm>
            <a:off x="3219450" y="4524375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Tools, parser, token counts, and cache signals are recorded.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B6D225-8D7D-424D-B48A-01FAA73485FD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6477000" cy="45720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4BC3A1-FFE5-4C4C-85D3-C3BB923D14C2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323850" cy="32385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F15658-5A7F-47E4-8BDE-D3DEDA0B4F7F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BABE0E-8BA4-4A8D-8E5E-4F5A51B9F863}"/>
              </a:ext>
            </a:extLst>
          </p:cNvPr>
          <p:cNvSpPr>
            <a:spLocks noGrp="1"/>
          </p:cNvSpPr>
          <p:nvPr/>
        </p:nvSpPr>
        <p:spPr>
          <a:xfrm>
            <a:off x="1104900" y="5114925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is recorded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D53AA3-9847-43BC-9B7C-8FE2F543DF43}"/>
              </a:ext>
            </a:extLst>
          </p:cNvPr>
          <p:cNvSpPr>
            <a:spLocks noGrp="1"/>
          </p:cNvSpPr>
          <p:nvPr/>
        </p:nvSpPr>
        <p:spPr>
          <a:xfrm>
            <a:off x="3219450" y="5114925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final trace shows tool calls, response, and workspace outcome.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DB9934-7D00-4348-A21E-C9723B9ECBA4}"/>
              </a:ext>
            </a:extLst>
          </p:cNvPr>
          <p:cNvSpPr>
            <a:spLocks noGrp="1"/>
          </p:cNvSpPr>
          <p:nvPr/>
        </p:nvSpPr>
        <p:spPr>
          <a:xfrm>
            <a:off x="7562850" y="2038350"/>
            <a:ext cx="3905250" cy="361950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6CA3EB8-7424-413F-9DB5-FE0DEBE3548C}"/>
              </a:ext>
            </a:extLst>
          </p:cNvPr>
          <p:cNvSpPr>
            <a:spLocks noGrp="1"/>
          </p:cNvSpPr>
          <p:nvPr/>
        </p:nvSpPr>
        <p:spPr>
          <a:xfrm>
            <a:off x="7562850" y="2038350"/>
            <a:ext cx="3905250" cy="762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8AC7BAD-D809-4912-A748-09F38CE47C42}"/>
              </a:ext>
            </a:extLst>
          </p:cNvPr>
          <p:cNvSpPr>
            <a:spLocks noGrp="1"/>
          </p:cNvSpPr>
          <p:nvPr/>
        </p:nvSpPr>
        <p:spPr>
          <a:xfrm>
            <a:off x="7829550" y="232410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Who Is Involved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58BE6B1-DBC7-4548-BDF7-15D72E517401}"/>
              </a:ext>
            </a:extLst>
          </p:cNvPr>
          <p:cNvSpPr>
            <a:spLocks noGrp="1"/>
          </p:cNvSpPr>
          <p:nvPr/>
        </p:nvSpPr>
        <p:spPr>
          <a:xfrm>
            <a:off x="7829550" y="28575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Benchmark Loader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A16534-8BB9-4AAF-8597-64CCDA7A7BC3}"/>
              </a:ext>
            </a:extLst>
          </p:cNvPr>
          <p:cNvSpPr>
            <a:spLocks noGrp="1"/>
          </p:cNvSpPr>
          <p:nvPr/>
        </p:nvSpPr>
        <p:spPr>
          <a:xfrm>
            <a:off x="9467850" y="2857500"/>
            <a:ext cx="1676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loads the task and workspace.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9331CDA-4754-4DA2-8599-E9B6F26299B0}"/>
              </a:ext>
            </a:extLst>
          </p:cNvPr>
          <p:cNvSpPr>
            <a:spLocks noGrp="1"/>
          </p:cNvSpPr>
          <p:nvPr/>
        </p:nvSpPr>
        <p:spPr>
          <a:xfrm>
            <a:off x="7829550" y="33528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5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3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826D2C8-FF38-448A-9C0D-49B55EAA9FB4}"/>
              </a:ext>
            </a:extLst>
          </p:cNvPr>
          <p:cNvSpPr>
            <a:spLocks noGrp="1"/>
          </p:cNvSpPr>
          <p:nvPr/>
        </p:nvSpPr>
        <p:spPr>
          <a:xfrm>
            <a:off x="9467850" y="3352800"/>
            <a:ext cx="1676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writes the agent instructions.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D29DFE8-4C98-4638-87B3-959C751A9C28}"/>
              </a:ext>
            </a:extLst>
          </p:cNvPr>
          <p:cNvSpPr>
            <a:spLocks noGrp="1"/>
          </p:cNvSpPr>
          <p:nvPr/>
        </p:nvSpPr>
        <p:spPr>
          <a:xfrm>
            <a:off x="7829550" y="38481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53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33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Request Wrapper (local helper script)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02E726A-01A2-428F-B1D1-D001D676B7C7}"/>
              </a:ext>
            </a:extLst>
          </p:cNvPr>
          <p:cNvSpPr>
            <a:spLocks noGrp="1"/>
          </p:cNvSpPr>
          <p:nvPr/>
        </p:nvSpPr>
        <p:spPr>
          <a:xfrm>
            <a:off x="9467850" y="3848100"/>
            <a:ext cx="1676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packages the model request.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9829928-67D7-45E7-AB14-17EF397133E6}"/>
              </a:ext>
            </a:extLst>
          </p:cNvPr>
          <p:cNvSpPr>
            <a:spLocks noGrp="1"/>
          </p:cNvSpPr>
          <p:nvPr/>
        </p:nvSpPr>
        <p:spPr>
          <a:xfrm>
            <a:off x="7829550" y="43434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E0B3A5D-B147-49E0-B7D8-DCCC09F56F4F}"/>
              </a:ext>
            </a:extLst>
          </p:cNvPr>
          <p:cNvSpPr>
            <a:spLocks noGrp="1"/>
          </p:cNvSpPr>
          <p:nvPr/>
        </p:nvSpPr>
        <p:spPr>
          <a:xfrm>
            <a:off x="9467850" y="4343400"/>
            <a:ext cx="1676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adds behavior rules and records behavior.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AEDB8B-0EF9-4F86-90CD-C6B346B784ED}"/>
              </a:ext>
            </a:extLst>
          </p:cNvPr>
          <p:cNvSpPr>
            <a:spLocks noGrp="1"/>
          </p:cNvSpPr>
          <p:nvPr/>
        </p:nvSpPr>
        <p:spPr>
          <a:xfrm>
            <a:off x="7829550" y="48387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742543A-D1C9-43ED-BFB1-85E62016DDF3}"/>
              </a:ext>
            </a:extLst>
          </p:cNvPr>
          <p:cNvSpPr>
            <a:spLocks noGrp="1"/>
          </p:cNvSpPr>
          <p:nvPr/>
        </p:nvSpPr>
        <p:spPr>
          <a:xfrm>
            <a:off x="9467850" y="4838700"/>
            <a:ext cx="1676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prepares tools, parser, and runtime state.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DC62120-1664-4E0C-A5CC-90A2BCF38ACF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9DBB4FE-0472-4592-B306-F351F3E457C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63D3F3B-1FBB-417A-B5BA-505FBA38CFA9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2542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53AE63CA-FB1C-4F8F-8CB7-7A808E59D0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D868ED-8959-4E5F-8126-37515146550F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C24611-9AFA-4542-B682-0FD5C868974D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COMPONENT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5785F1-14E4-4944-A576-7ED4AA8BFA24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Each layer has a clear job in the prompt pipeline.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2BAB7F-0E43-4997-BE0A-DD4B2A1B5E49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1028700" cy="704850"/>
          </a:xfrm>
          <a:prstGeom prst="rect">
            <a:avLst/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FDDA63-E40F-4BCF-87A9-8190B08D56D4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1028700" cy="66675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A8C366-B84B-43B3-8C57-29BFDF5E1574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SWE-bench Pro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289630-A11B-44D1-BA8E-279ECC3F561B}"/>
              </a:ext>
            </a:extLst>
          </p:cNvPr>
          <p:cNvSpPr>
            <a:spLocks noGrp="1"/>
          </p:cNvSpPr>
          <p:nvPr/>
        </p:nvSpPr>
        <p:spPr>
          <a:xfrm>
            <a:off x="704850" y="2371725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real coding task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B445FA-6BFE-4322-8CBB-EDB023ACE34C}"/>
              </a:ext>
            </a:extLst>
          </p:cNvPr>
          <p:cNvSpPr>
            <a:spLocks noGrp="1"/>
          </p:cNvSpPr>
          <p:nvPr/>
        </p:nvSpPr>
        <p:spPr>
          <a:xfrm>
            <a:off x="1628775" y="2238375"/>
            <a:ext cx="114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6D28D9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6D28D9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9BF2F-268B-4911-B387-E743E41C892D}"/>
              </a:ext>
            </a:extLst>
          </p:cNvPr>
          <p:cNvSpPr>
            <a:spLocks noGrp="1"/>
          </p:cNvSpPr>
          <p:nvPr/>
        </p:nvSpPr>
        <p:spPr>
          <a:xfrm>
            <a:off x="1733550" y="1962150"/>
            <a:ext cx="1028700" cy="70485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969148-F1F0-4D86-9414-16B5E240899B}"/>
              </a:ext>
            </a:extLst>
          </p:cNvPr>
          <p:cNvSpPr>
            <a:spLocks noGrp="1"/>
          </p:cNvSpPr>
          <p:nvPr/>
        </p:nvSpPr>
        <p:spPr>
          <a:xfrm>
            <a:off x="1733550" y="1962150"/>
            <a:ext cx="1028700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E051AF-AB48-489E-B6B4-695ACCEB52BA}"/>
              </a:ext>
            </a:extLst>
          </p:cNvPr>
          <p:cNvSpPr>
            <a:spLocks noGrp="1"/>
          </p:cNvSpPr>
          <p:nvPr/>
        </p:nvSpPr>
        <p:spPr>
          <a:xfrm>
            <a:off x="1828800" y="21336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AgentBench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5FC35D-B2CB-4C4C-9867-B3597BF5834D}"/>
              </a:ext>
            </a:extLst>
          </p:cNvPr>
          <p:cNvSpPr>
            <a:spLocks noGrp="1"/>
          </p:cNvSpPr>
          <p:nvPr/>
        </p:nvSpPr>
        <p:spPr>
          <a:xfrm>
            <a:off x="1828800" y="2371725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loads task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B95218-A0A2-41BA-A75B-DBB9AABCC634}"/>
              </a:ext>
            </a:extLst>
          </p:cNvPr>
          <p:cNvSpPr>
            <a:spLocks noGrp="1"/>
          </p:cNvSpPr>
          <p:nvPr/>
        </p:nvSpPr>
        <p:spPr>
          <a:xfrm>
            <a:off x="2752725" y="2238375"/>
            <a:ext cx="114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CDC57A-40FB-4848-AB2D-C34DFE066361}"/>
              </a:ext>
            </a:extLst>
          </p:cNvPr>
          <p:cNvSpPr>
            <a:spLocks noGrp="1"/>
          </p:cNvSpPr>
          <p:nvPr/>
        </p:nvSpPr>
        <p:spPr>
          <a:xfrm>
            <a:off x="2857500" y="1962150"/>
            <a:ext cx="1028700" cy="704850"/>
          </a:xfrm>
          <a:prstGeom prst="rect">
            <a:avLst/>
          </a:prstGeom>
          <a:solidFill>
            <a:srgbClr val="FFFFFF"/>
          </a:solidFill>
          <a:ln w="1524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8B8B13-B880-48B9-B131-87459F594A78}"/>
              </a:ext>
            </a:extLst>
          </p:cNvPr>
          <p:cNvSpPr>
            <a:spLocks noGrp="1"/>
          </p:cNvSpPr>
          <p:nvPr/>
        </p:nvSpPr>
        <p:spPr>
          <a:xfrm>
            <a:off x="2857500" y="1962150"/>
            <a:ext cx="1028700" cy="66675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B7CE75-5EE1-49B8-B0DD-BD3E585A77C5}"/>
              </a:ext>
            </a:extLst>
          </p:cNvPr>
          <p:cNvSpPr>
            <a:spLocks noGrp="1"/>
          </p:cNvSpPr>
          <p:nvPr/>
        </p:nvSpPr>
        <p:spPr>
          <a:xfrm>
            <a:off x="2952750" y="21336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77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0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E92004-A49B-491B-BF9D-D5074543E8E9}"/>
              </a:ext>
            </a:extLst>
          </p:cNvPr>
          <p:cNvSpPr>
            <a:spLocks noGrp="1"/>
          </p:cNvSpPr>
          <p:nvPr/>
        </p:nvSpPr>
        <p:spPr>
          <a:xfrm>
            <a:off x="2952750" y="2371725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writes prompt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F9094C-69D3-47C2-B013-D4BA103D63BF}"/>
              </a:ext>
            </a:extLst>
          </p:cNvPr>
          <p:cNvSpPr>
            <a:spLocks noGrp="1"/>
          </p:cNvSpPr>
          <p:nvPr/>
        </p:nvSpPr>
        <p:spPr>
          <a:xfrm>
            <a:off x="3876675" y="2238375"/>
            <a:ext cx="114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D4ED8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1D4ED8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CAC7D7-24B9-4ACC-B373-2D6AEB7A615E}"/>
              </a:ext>
            </a:extLst>
          </p:cNvPr>
          <p:cNvSpPr>
            <a:spLocks noGrp="1"/>
          </p:cNvSpPr>
          <p:nvPr/>
        </p:nvSpPr>
        <p:spPr>
          <a:xfrm>
            <a:off x="3981450" y="1962150"/>
            <a:ext cx="1028700" cy="70485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EBF90C-C4BF-4E16-BE1A-92FD3ED4617E}"/>
              </a:ext>
            </a:extLst>
          </p:cNvPr>
          <p:cNvSpPr>
            <a:spLocks noGrp="1"/>
          </p:cNvSpPr>
          <p:nvPr/>
        </p:nvSpPr>
        <p:spPr>
          <a:xfrm>
            <a:off x="3981450" y="1962150"/>
            <a:ext cx="1028700" cy="6667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AD2146-D969-41B0-9F46-137F6EAC6816}"/>
              </a:ext>
            </a:extLst>
          </p:cNvPr>
          <p:cNvSpPr>
            <a:spLocks noGrp="1"/>
          </p:cNvSpPr>
          <p:nvPr/>
        </p:nvSpPr>
        <p:spPr>
          <a:xfrm>
            <a:off x="4076700" y="21336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Deep Agents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0A0AE9-28E7-4024-B3D4-6C366F8087E8}"/>
              </a:ext>
            </a:extLst>
          </p:cNvPr>
          <p:cNvSpPr>
            <a:spLocks noGrp="1"/>
          </p:cNvSpPr>
          <p:nvPr/>
        </p:nvSpPr>
        <p:spPr>
          <a:xfrm>
            <a:off x="4076700" y="2371725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agent behavior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940536-4854-414F-98AC-B1E5D2FDC8D8}"/>
              </a:ext>
            </a:extLst>
          </p:cNvPr>
          <p:cNvSpPr>
            <a:spLocks noGrp="1"/>
          </p:cNvSpPr>
          <p:nvPr/>
        </p:nvSpPr>
        <p:spPr>
          <a:xfrm>
            <a:off x="5000625" y="2238375"/>
            <a:ext cx="114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5E0773-2D44-431F-9003-382F0B45FC48}"/>
              </a:ext>
            </a:extLst>
          </p:cNvPr>
          <p:cNvSpPr>
            <a:spLocks noGrp="1"/>
          </p:cNvSpPr>
          <p:nvPr/>
        </p:nvSpPr>
        <p:spPr>
          <a:xfrm>
            <a:off x="5105400" y="1962150"/>
            <a:ext cx="1028700" cy="704850"/>
          </a:xfrm>
          <a:prstGeom prst="rect">
            <a:avLst/>
          </a:prstGeom>
          <a:solidFill>
            <a:srgbClr val="FFFFFF"/>
          </a:solidFill>
          <a:ln w="1524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22E934-9E79-42D7-A224-385484AEFE24}"/>
              </a:ext>
            </a:extLst>
          </p:cNvPr>
          <p:cNvSpPr>
            <a:spLocks noGrp="1"/>
          </p:cNvSpPr>
          <p:nvPr/>
        </p:nvSpPr>
        <p:spPr>
          <a:xfrm>
            <a:off x="5105400" y="1962150"/>
            <a:ext cx="1028700" cy="66675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FDB612-75BB-406A-B6A1-1B6DD73D77E6}"/>
              </a:ext>
            </a:extLst>
          </p:cNvPr>
          <p:cNvSpPr>
            <a:spLocks noGrp="1"/>
          </p:cNvSpPr>
          <p:nvPr/>
        </p:nvSpPr>
        <p:spPr>
          <a:xfrm>
            <a:off x="5200650" y="21336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Dynamo Frontend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83EF6E-87AF-4ED4-B422-F4CAFFBF92C9}"/>
              </a:ext>
            </a:extLst>
          </p:cNvPr>
          <p:cNvSpPr>
            <a:spLocks noGrp="1"/>
          </p:cNvSpPr>
          <p:nvPr/>
        </p:nvSpPr>
        <p:spPr>
          <a:xfrm>
            <a:off x="5200650" y="2371725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prepares request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B2345D-0E00-4154-8FE7-FB186445DC4D}"/>
              </a:ext>
            </a:extLst>
          </p:cNvPr>
          <p:cNvSpPr>
            <a:spLocks noGrp="1"/>
          </p:cNvSpPr>
          <p:nvPr/>
        </p:nvSpPr>
        <p:spPr>
          <a:xfrm>
            <a:off x="6124575" y="2238375"/>
            <a:ext cx="114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0F9F6E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0F9F6E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A9DE1F-2A4A-47DB-85BE-B229A3396A9D}"/>
              </a:ext>
            </a:extLst>
          </p:cNvPr>
          <p:cNvSpPr>
            <a:spLocks noGrp="1"/>
          </p:cNvSpPr>
          <p:nvPr/>
        </p:nvSpPr>
        <p:spPr>
          <a:xfrm>
            <a:off x="6229350" y="1962150"/>
            <a:ext cx="1028700" cy="704850"/>
          </a:xfrm>
          <a:prstGeom prst="rect">
            <a:avLst/>
          </a:prstGeom>
          <a:solidFill>
            <a:srgbClr val="FFFFFF"/>
          </a:solidFill>
          <a:ln w="1524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062C51-AFF4-4492-95A3-58D1668A4637}"/>
              </a:ext>
            </a:extLst>
          </p:cNvPr>
          <p:cNvSpPr>
            <a:spLocks noGrp="1"/>
          </p:cNvSpPr>
          <p:nvPr/>
        </p:nvSpPr>
        <p:spPr>
          <a:xfrm>
            <a:off x="6229350" y="1962150"/>
            <a:ext cx="1028700" cy="66675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B506B86-11DC-4053-AB0F-5E9C30955870}"/>
              </a:ext>
            </a:extLst>
          </p:cNvPr>
          <p:cNvSpPr>
            <a:spLocks noGrp="1"/>
          </p:cNvSpPr>
          <p:nvPr/>
        </p:nvSpPr>
        <p:spPr>
          <a:xfrm>
            <a:off x="6324600" y="21336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SGLang Worker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94ADDE5-3D05-4AAC-9438-AB12BF4905CC}"/>
              </a:ext>
            </a:extLst>
          </p:cNvPr>
          <p:cNvSpPr>
            <a:spLocks noGrp="1"/>
          </p:cNvSpPr>
          <p:nvPr/>
        </p:nvSpPr>
        <p:spPr>
          <a:xfrm>
            <a:off x="6324600" y="2371725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runs model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7DA045-7D33-418E-9AFC-732E15AEEB80}"/>
              </a:ext>
            </a:extLst>
          </p:cNvPr>
          <p:cNvSpPr>
            <a:spLocks noGrp="1"/>
          </p:cNvSpPr>
          <p:nvPr/>
        </p:nvSpPr>
        <p:spPr>
          <a:xfrm>
            <a:off x="7248525" y="2238375"/>
            <a:ext cx="114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0F9F6E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0F9F6E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5C46FE-5947-47AA-8478-18E39D23417D}"/>
              </a:ext>
            </a:extLst>
          </p:cNvPr>
          <p:cNvSpPr>
            <a:spLocks noGrp="1"/>
          </p:cNvSpPr>
          <p:nvPr/>
        </p:nvSpPr>
        <p:spPr>
          <a:xfrm>
            <a:off x="7353300" y="1962150"/>
            <a:ext cx="1028700" cy="704850"/>
          </a:xfrm>
          <a:prstGeom prst="rect">
            <a:avLst/>
          </a:prstGeom>
          <a:solidFill>
            <a:srgbClr val="FFFFFF"/>
          </a:solidFill>
          <a:ln w="15240">
            <a:solidFill>
              <a:srgbClr val="BE1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04F5C5-9DAF-40EA-8D6A-3F50E71FAD41}"/>
              </a:ext>
            </a:extLst>
          </p:cNvPr>
          <p:cNvSpPr>
            <a:spLocks noGrp="1"/>
          </p:cNvSpPr>
          <p:nvPr/>
        </p:nvSpPr>
        <p:spPr>
          <a:xfrm>
            <a:off x="7353300" y="1962150"/>
            <a:ext cx="1028700" cy="66675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8C58E9A-3090-4FA4-B9F1-25C3E7C9A2AB}"/>
              </a:ext>
            </a:extLst>
          </p:cNvPr>
          <p:cNvSpPr>
            <a:spLocks noGrp="1"/>
          </p:cNvSpPr>
          <p:nvPr/>
        </p:nvSpPr>
        <p:spPr>
          <a:xfrm>
            <a:off x="7448550" y="21336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8647F9E-945A-4027-BE4D-E7704E8205BD}"/>
              </a:ext>
            </a:extLst>
          </p:cNvPr>
          <p:cNvSpPr>
            <a:spLocks noGrp="1"/>
          </p:cNvSpPr>
          <p:nvPr/>
        </p:nvSpPr>
        <p:spPr>
          <a:xfrm>
            <a:off x="7448550" y="2371725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captures shape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B724321-AEF7-4139-8F9E-9A4975FA866E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7772400" cy="32385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BD4C947-1CA5-4CC5-AD56-A92DC771025A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66675" cy="32385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8BF5821-167F-4A43-AB98-E2F143C33B66}"/>
              </a:ext>
            </a:extLst>
          </p:cNvPr>
          <p:cNvSpPr>
            <a:spLocks noGrp="1"/>
          </p:cNvSpPr>
          <p:nvPr/>
        </p:nvSpPr>
        <p:spPr>
          <a:xfrm>
            <a:off x="781050" y="3114675"/>
            <a:ext cx="1924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SWE-bench Pro Task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9EC1554-A5A9-4B7A-8439-915FA87E8866}"/>
              </a:ext>
            </a:extLst>
          </p:cNvPr>
          <p:cNvSpPr>
            <a:spLocks noGrp="1"/>
          </p:cNvSpPr>
          <p:nvPr/>
        </p:nvSpPr>
        <p:spPr>
          <a:xfrm>
            <a:off x="2876550" y="3114675"/>
            <a:ext cx="5257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Real software-engineering bug task with repo, tests, and expected behavior.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D462F85-5D1A-42FD-AF02-F2279DCC3403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7772400" cy="323850"/>
          </a:xfrm>
          <a:prstGeom prst="rect">
            <a:avLst/>
          </a:prstGeom>
          <a:solidFill>
            <a:srgbClr val="F1EB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38FDAAC-400D-4DD7-A196-A17CA3A5A086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66675" cy="3238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8EA730D-B7F3-45F0-8E2E-DB2DCCECFA9E}"/>
              </a:ext>
            </a:extLst>
          </p:cNvPr>
          <p:cNvSpPr>
            <a:spLocks noGrp="1"/>
          </p:cNvSpPr>
          <p:nvPr/>
        </p:nvSpPr>
        <p:spPr>
          <a:xfrm>
            <a:off x="781050" y="3495675"/>
            <a:ext cx="1924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AgentBench Bootstrap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273990-16D8-492C-B8BC-7F61CBD05D54}"/>
              </a:ext>
            </a:extLst>
          </p:cNvPr>
          <p:cNvSpPr>
            <a:spLocks noGrp="1"/>
          </p:cNvSpPr>
          <p:nvPr/>
        </p:nvSpPr>
        <p:spPr>
          <a:xfrm>
            <a:off x="2876550" y="3495675"/>
            <a:ext cx="5257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Our simple local harness that loads the benchmark task and prepares the workspace.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782EA18-7213-4DC3-99C4-CF42D94AA606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7772400" cy="32385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8899718-3FA5-4FE0-AD0C-EDE9C5AFF027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66675" cy="323850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93C4AF3-FCC5-4E11-9679-A2EF4AFBE0A8}"/>
              </a:ext>
            </a:extLst>
          </p:cNvPr>
          <p:cNvSpPr>
            <a:spLocks noGrp="1"/>
          </p:cNvSpPr>
          <p:nvPr/>
        </p:nvSpPr>
        <p:spPr>
          <a:xfrm>
            <a:off x="781050" y="3876675"/>
            <a:ext cx="1924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848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758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4EE2992-14EC-403E-95A7-1B03889E661C}"/>
              </a:ext>
            </a:extLst>
          </p:cNvPr>
          <p:cNvSpPr>
            <a:spLocks noGrp="1"/>
          </p:cNvSpPr>
          <p:nvPr/>
        </p:nvSpPr>
        <p:spPr>
          <a:xfrm>
            <a:off x="2876550" y="3876675"/>
            <a:ext cx="5257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Our local helper that turns task fields into one agent prompt.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DAB7041-DE36-4780-B4BC-826E83302B6D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7772400" cy="323850"/>
          </a:xfrm>
          <a:prstGeom prst="rect">
            <a:avLst/>
          </a:prstGeom>
          <a:solidFill>
            <a:srgbClr val="F1EB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C5CBB77-15E2-4CAF-96D9-195DCAFF7B72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66675" cy="3238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E1A218B-9929-42A9-A297-1FD864536B97}"/>
              </a:ext>
            </a:extLst>
          </p:cNvPr>
          <p:cNvSpPr>
            <a:spLocks noGrp="1"/>
          </p:cNvSpPr>
          <p:nvPr/>
        </p:nvSpPr>
        <p:spPr>
          <a:xfrm>
            <a:off x="781050" y="4257675"/>
            <a:ext cx="1924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App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1B9C76E-6227-4706-88D6-139A7CA4013B}"/>
              </a:ext>
            </a:extLst>
          </p:cNvPr>
          <p:cNvSpPr>
            <a:spLocks noGrp="1"/>
          </p:cNvSpPr>
          <p:nvPr/>
        </p:nvSpPr>
        <p:spPr>
          <a:xfrm>
            <a:off x="2876550" y="4257675"/>
            <a:ext cx="5257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Uses Deep Agents from LangChain to apply coding-agent behavior and tool workflow.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D64556-E103-406B-98EF-0B991C11D5A5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7772400" cy="32385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2819983-B7DD-436A-A11D-03EFD90D5707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66675" cy="32385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6FBE408-49BA-4867-8005-4ECD0360F665}"/>
              </a:ext>
            </a:extLst>
          </p:cNvPr>
          <p:cNvSpPr>
            <a:spLocks noGrp="1"/>
          </p:cNvSpPr>
          <p:nvPr/>
        </p:nvSpPr>
        <p:spPr>
          <a:xfrm>
            <a:off x="781050" y="4638675"/>
            <a:ext cx="1924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Frontend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14EE2C9-25D4-4739-9EE6-378406FA2C8E}"/>
              </a:ext>
            </a:extLst>
          </p:cNvPr>
          <p:cNvSpPr>
            <a:spLocks noGrp="1"/>
          </p:cNvSpPr>
          <p:nvPr/>
        </p:nvSpPr>
        <p:spPr>
          <a:xfrm>
            <a:off x="2876550" y="4638675"/>
            <a:ext cx="5257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Receives the model request and prepares it for runtime execution.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B7DCC8B-DA47-4066-B072-53D3030A87AC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7772400" cy="323850"/>
          </a:xfrm>
          <a:prstGeom prst="rect">
            <a:avLst/>
          </a:prstGeom>
          <a:solidFill>
            <a:srgbClr val="F1EB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F03C83B-FA98-4E54-80CB-0EEE13C69A4C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66675" cy="32385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9E2E2A4-0708-4E4A-A754-BD6E4D126F6A}"/>
              </a:ext>
            </a:extLst>
          </p:cNvPr>
          <p:cNvSpPr>
            <a:spLocks noGrp="1"/>
          </p:cNvSpPr>
          <p:nvPr/>
        </p:nvSpPr>
        <p:spPr>
          <a:xfrm>
            <a:off x="781050" y="5019675"/>
            <a:ext cx="1924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SGLang Worker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838C50D-F1D0-4CE3-B333-FB84E4865D33}"/>
              </a:ext>
            </a:extLst>
          </p:cNvPr>
          <p:cNvSpPr>
            <a:spLocks noGrp="1"/>
          </p:cNvSpPr>
          <p:nvPr/>
        </p:nvSpPr>
        <p:spPr>
          <a:xfrm>
            <a:off x="2876550" y="5019675"/>
            <a:ext cx="5257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Runs model execution and returns response/runtime signals.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0719E5B-C89A-49D5-8B7B-EAC182F6B4EB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7772400" cy="32385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99DAF6C-5E74-47AB-AEA1-1222D287A418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66675" cy="32385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DD83E49-5071-4575-A4FE-5F2CD3FAF95B}"/>
              </a:ext>
            </a:extLst>
          </p:cNvPr>
          <p:cNvSpPr>
            <a:spLocks noGrp="1"/>
          </p:cNvSpPr>
          <p:nvPr/>
        </p:nvSpPr>
        <p:spPr>
          <a:xfrm>
            <a:off x="781050" y="5400675"/>
            <a:ext cx="1924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Prompt Evolution Evidence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F6B7AF3-D468-485E-BFDD-0C1F5289EF8A}"/>
              </a:ext>
            </a:extLst>
          </p:cNvPr>
          <p:cNvSpPr>
            <a:spLocks noGrp="1"/>
          </p:cNvSpPr>
          <p:nvPr/>
        </p:nvSpPr>
        <p:spPr>
          <a:xfrm>
            <a:off x="2876550" y="5400675"/>
            <a:ext cx="5257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Captures payload shape, added fields, size changes, and runtime facts.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8833EA2-1AB2-4BA9-B623-59C6C7E5E466}"/>
              </a:ext>
            </a:extLst>
          </p:cNvPr>
          <p:cNvSpPr>
            <a:spLocks noGrp="1"/>
          </p:cNvSpPr>
          <p:nvPr/>
        </p:nvSpPr>
        <p:spPr>
          <a:xfrm>
            <a:off x="8743950" y="1962150"/>
            <a:ext cx="2838450" cy="375285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0D9553B-01CF-4A8D-9E46-0B612A38CDD7}"/>
              </a:ext>
            </a:extLst>
          </p:cNvPr>
          <p:cNvSpPr>
            <a:spLocks noGrp="1"/>
          </p:cNvSpPr>
          <p:nvPr/>
        </p:nvSpPr>
        <p:spPr>
          <a:xfrm>
            <a:off x="8743950" y="1962150"/>
            <a:ext cx="2838450" cy="762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4DC5DE2-FB37-4AAA-AC95-FFE46918C62F}"/>
              </a:ext>
            </a:extLst>
          </p:cNvPr>
          <p:cNvSpPr>
            <a:spLocks noGrp="1"/>
          </p:cNvSpPr>
          <p:nvPr/>
        </p:nvSpPr>
        <p:spPr>
          <a:xfrm>
            <a:off x="8991600" y="22669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Where This Came From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494D1AB-C4F1-47BA-959B-2FE56F8D459A}"/>
              </a:ext>
            </a:extLst>
          </p:cNvPr>
          <p:cNvSpPr>
            <a:spLocks noGrp="1"/>
          </p:cNvSpPr>
          <p:nvPr/>
        </p:nvSpPr>
        <p:spPr>
          <a:xfrm>
            <a:off x="8991600" y="2743200"/>
            <a:ext cx="10477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Deep Agents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3A57831-0FE6-4A4C-8357-9FEFFB0D534A}"/>
              </a:ext>
            </a:extLst>
          </p:cNvPr>
          <p:cNvSpPr>
            <a:spLocks noGrp="1"/>
          </p:cNvSpPr>
          <p:nvPr/>
        </p:nvSpPr>
        <p:spPr>
          <a:xfrm>
            <a:off x="8991600" y="2895600"/>
            <a:ext cx="2209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langchain-ai/deepagents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CC40F32-6F3D-42E5-97C3-3CE02B749EB5}"/>
              </a:ext>
            </a:extLst>
          </p:cNvPr>
          <p:cNvSpPr>
            <a:spLocks noGrp="1"/>
          </p:cNvSpPr>
          <p:nvPr/>
        </p:nvSpPr>
        <p:spPr>
          <a:xfrm>
            <a:off x="8991600" y="3257550"/>
            <a:ext cx="10477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Dynamo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AAA7858-F1B5-4472-BBCA-64BCB478A81C}"/>
              </a:ext>
            </a:extLst>
          </p:cNvPr>
          <p:cNvSpPr>
            <a:spLocks noGrp="1"/>
          </p:cNvSpPr>
          <p:nvPr/>
        </p:nvSpPr>
        <p:spPr>
          <a:xfrm>
            <a:off x="8991600" y="3409950"/>
            <a:ext cx="2209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ai-dynamo/dynamo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50F9759-961A-467C-8368-1FF41F6BB523}"/>
              </a:ext>
            </a:extLst>
          </p:cNvPr>
          <p:cNvSpPr>
            <a:spLocks noGrp="1"/>
          </p:cNvSpPr>
          <p:nvPr/>
        </p:nvSpPr>
        <p:spPr>
          <a:xfrm>
            <a:off x="8991600" y="3771900"/>
            <a:ext cx="10477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Benchmark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BF3108B-F446-40A9-A319-4545C86D6359}"/>
              </a:ext>
            </a:extLst>
          </p:cNvPr>
          <p:cNvSpPr>
            <a:spLocks noGrp="1"/>
          </p:cNvSpPr>
          <p:nvPr/>
        </p:nvSpPr>
        <p:spPr>
          <a:xfrm>
            <a:off x="8991600" y="3924300"/>
            <a:ext cx="2209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ScaleAI/SWE-bench_Pro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F472D95-B889-4E18-BE70-166AE08FF07F}"/>
              </a:ext>
            </a:extLst>
          </p:cNvPr>
          <p:cNvSpPr>
            <a:spLocks noGrp="1"/>
          </p:cNvSpPr>
          <p:nvPr/>
        </p:nvSpPr>
        <p:spPr>
          <a:xfrm>
            <a:off x="8991600" y="4286250"/>
            <a:ext cx="10477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Local glue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8CC3253-36F7-4CE0-9316-626CC7D75293}"/>
              </a:ext>
            </a:extLst>
          </p:cNvPr>
          <p:cNvSpPr>
            <a:spLocks noGrp="1"/>
          </p:cNvSpPr>
          <p:nvPr/>
        </p:nvSpPr>
        <p:spPr>
          <a:xfrm>
            <a:off x="8991600" y="4438650"/>
            <a:ext cx="2209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AgentBench loader + prompt builder (local helper script)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4862B63-6026-4FBF-B66C-4EC19D1A8D77}"/>
              </a:ext>
            </a:extLst>
          </p:cNvPr>
          <p:cNvSpPr>
            <a:spLocks noGrp="1"/>
          </p:cNvSpPr>
          <p:nvPr/>
        </p:nvSpPr>
        <p:spPr>
          <a:xfrm>
            <a:off x="8991600" y="4800600"/>
            <a:ext cx="10477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Instrumentation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AFAF3F3-0782-4D86-A1E0-6DAC3A7B4229}"/>
              </a:ext>
            </a:extLst>
          </p:cNvPr>
          <p:cNvSpPr>
            <a:spLocks noGrp="1"/>
          </p:cNvSpPr>
          <p:nvPr/>
        </p:nvSpPr>
        <p:spPr>
          <a:xfrm>
            <a:off x="8991600" y="4953000"/>
            <a:ext cx="2209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Deep Agents app/harness logs + Dynamo/SGLang runtime JSON logs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56F4C88-9593-4F8E-9134-B3E8D7D1EC68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B623F57-4CD8-4132-8D10-58DAC8F267D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A7D1FEC-7130-4542-BF1D-00E79BEF7191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46131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C32283EC-D9CF-47E7-ABCF-73E367FE99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F46AAD-05E9-4379-8F83-587B947817B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6A3B9B-08DF-4E12-A0E5-60D7DD61E426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BENCHMARK CONTEXT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5CAA11-D6A9-4598-A183-5F81A677EB56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Why SWE-bench Pro was the right benchmark.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CE462F-2BD6-4415-8DEF-E1C4EF8F18E9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096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SWE-bench Pro gives us realistic software-engineering tasks, not toy prompts: codebase context, a bug or requested behavior, requirements, tests, and an expected fix path.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476D4E-8383-4800-878A-56E0A14A8213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3200400" cy="207645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177B8B-F8BF-40CD-96F1-A17173CA5EF5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32004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120C6E-CBD4-4CC7-BDFE-C99F868BAA80}"/>
              </a:ext>
            </a:extLst>
          </p:cNvPr>
          <p:cNvSpPr>
            <a:spLocks noGrp="1"/>
          </p:cNvSpPr>
          <p:nvPr/>
        </p:nvSpPr>
        <p:spPr>
          <a:xfrm>
            <a:off x="838200" y="2781300"/>
            <a:ext cx="1905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D96CDF-25D1-40A4-A899-9F01428FE45F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2724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Real Repo Task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BDE2D8-C900-4277-BFBE-E05469A3DE76}"/>
              </a:ext>
            </a:extLst>
          </p:cNvPr>
          <p:cNvSpPr>
            <a:spLocks noGrp="1"/>
          </p:cNvSpPr>
          <p:nvPr/>
        </p:nvSpPr>
        <p:spPr>
          <a:xfrm>
            <a:off x="838200" y="3638550"/>
            <a:ext cx="27241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benchmark built around realistic software-engineering tasks with repo context, problem details, requirements, and tests.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F775F9-B243-45B6-85FE-F773EDCF9202}"/>
              </a:ext>
            </a:extLst>
          </p:cNvPr>
          <p:cNvSpPr>
            <a:spLocks noGrp="1"/>
          </p:cNvSpPr>
          <p:nvPr/>
        </p:nvSpPr>
        <p:spPr>
          <a:xfrm>
            <a:off x="3867150" y="33718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63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163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32A804-A367-49B9-BA12-839BE773F37A}"/>
              </a:ext>
            </a:extLst>
          </p:cNvPr>
          <p:cNvSpPr>
            <a:spLocks noGrp="1"/>
          </p:cNvSpPr>
          <p:nvPr/>
        </p:nvSpPr>
        <p:spPr>
          <a:xfrm>
            <a:off x="4324350" y="2495550"/>
            <a:ext cx="3200400" cy="207645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D22052-9640-4E2E-A84B-93ACDFC07B09}"/>
              </a:ext>
            </a:extLst>
          </p:cNvPr>
          <p:cNvSpPr>
            <a:spLocks noGrp="1"/>
          </p:cNvSpPr>
          <p:nvPr/>
        </p:nvSpPr>
        <p:spPr>
          <a:xfrm>
            <a:off x="4324350" y="2495550"/>
            <a:ext cx="3200400" cy="762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494259-5476-4632-98D7-8091E232F5B4}"/>
              </a:ext>
            </a:extLst>
          </p:cNvPr>
          <p:cNvSpPr>
            <a:spLocks noGrp="1"/>
          </p:cNvSpPr>
          <p:nvPr/>
        </p:nvSpPr>
        <p:spPr>
          <a:xfrm>
            <a:off x="4552950" y="2781300"/>
            <a:ext cx="1905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WE USED IT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C14C13-EE05-44EE-B3B1-F0398C2470DB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724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Agent Workflow Stress Test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8599CF-2027-48A7-A297-F4B1971A2559}"/>
              </a:ext>
            </a:extLst>
          </p:cNvPr>
          <p:cNvSpPr>
            <a:spLocks noGrp="1"/>
          </p:cNvSpPr>
          <p:nvPr/>
        </p:nvSpPr>
        <p:spPr>
          <a:xfrm>
            <a:off x="4552950" y="3638550"/>
            <a:ext cx="27241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It exercises prompt construction, tool use, runtime execution, and result capture instead of only testing text generation.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603C17-7A2B-4463-A749-C17C79B9E5FA}"/>
              </a:ext>
            </a:extLst>
          </p:cNvPr>
          <p:cNvSpPr>
            <a:spLocks noGrp="1"/>
          </p:cNvSpPr>
          <p:nvPr/>
        </p:nvSpPr>
        <p:spPr>
          <a:xfrm>
            <a:off x="7581900" y="33718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63" b="1">
                <a:solidFill>
                  <a:srgbClr val="6D28D9"/>
                </a:solidFill>
                <a:latin typeface="Aptos Mono"/>
                <a:ea typeface="Aptos Mono"/>
                <a:cs typeface="Aptos Mono"/>
              </a:defRPr>
            </a:pPr>
            <a:r>
              <a:rPr sz="1163" b="1">
                <a:solidFill>
                  <a:srgbClr val="6D28D9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556695-D4E2-47A0-B84C-3A1A52F9EC9C}"/>
              </a:ext>
            </a:extLst>
          </p:cNvPr>
          <p:cNvSpPr>
            <a:spLocks noGrp="1"/>
          </p:cNvSpPr>
          <p:nvPr/>
        </p:nvSpPr>
        <p:spPr>
          <a:xfrm>
            <a:off x="8039100" y="2495550"/>
            <a:ext cx="3200400" cy="2076450"/>
          </a:xfrm>
          <a:prstGeom prst="rect">
            <a:avLst/>
          </a:prstGeom>
          <a:solidFill>
            <a:srgbClr val="FFFFFF"/>
          </a:solidFill>
          <a:ln w="1905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14D395-82ED-4110-B927-CAB6A0A8D679}"/>
              </a:ext>
            </a:extLst>
          </p:cNvPr>
          <p:cNvSpPr>
            <a:spLocks noGrp="1"/>
          </p:cNvSpPr>
          <p:nvPr/>
        </p:nvSpPr>
        <p:spPr>
          <a:xfrm>
            <a:off x="8039100" y="2495550"/>
            <a:ext cx="3200400" cy="7620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09F305-0185-45EC-AB16-FC800E63D6C5}"/>
              </a:ext>
            </a:extLst>
          </p:cNvPr>
          <p:cNvSpPr>
            <a:spLocks noGrp="1"/>
          </p:cNvSpPr>
          <p:nvPr/>
        </p:nvSpPr>
        <p:spPr>
          <a:xfrm>
            <a:off x="8267700" y="2781300"/>
            <a:ext cx="1905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IT MATTERS HERE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8FDB05-FBCC-4FD3-A5AC-40FC7B963160}"/>
              </a:ext>
            </a:extLst>
          </p:cNvPr>
          <p:cNvSpPr>
            <a:spLocks noGrp="1"/>
          </p:cNvSpPr>
          <p:nvPr/>
        </p:nvSpPr>
        <p:spPr>
          <a:xfrm>
            <a:off x="8267700" y="3028950"/>
            <a:ext cx="2724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End-to-End Observability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B38B9B-8D32-4807-BBF8-03AF9EC37C7F}"/>
              </a:ext>
            </a:extLst>
          </p:cNvPr>
          <p:cNvSpPr>
            <a:spLocks noGrp="1"/>
          </p:cNvSpPr>
          <p:nvPr/>
        </p:nvSpPr>
        <p:spPr>
          <a:xfrm>
            <a:off x="8267700" y="3638550"/>
            <a:ext cx="27241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It makes prompt growth and stage-by-stage transformation visible as the task moves through every layer.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66781B-14F9-40D2-95CB-246DA3BE745A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972800" cy="685800"/>
          </a:xfrm>
          <a:prstGeom prst="rect">
            <a:avLst/>
          </a:prstGeom>
          <a:solidFill>
            <a:srgbClr val="FBF8F2"/>
          </a:solidFill>
          <a:ln w="14288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FD2502-D847-4C6F-AC5B-3E266C9DE568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76200" cy="6858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EC6F82-705C-443D-AD02-250B3161E5D8}"/>
              </a:ext>
            </a:extLst>
          </p:cNvPr>
          <p:cNvSpPr>
            <a:spLocks noGrp="1"/>
          </p:cNvSpPr>
          <p:nvPr/>
        </p:nvSpPr>
        <p:spPr>
          <a:xfrm>
            <a:off x="876300" y="5124450"/>
            <a:ext cx="1333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Experiment task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7AAB8C-8640-4B49-9D55-C123165AE921}"/>
              </a:ext>
            </a:extLst>
          </p:cNvPr>
          <p:cNvSpPr>
            <a:spLocks noGrp="1"/>
          </p:cNvSpPr>
          <p:nvPr/>
        </p:nvSpPr>
        <p:spPr>
          <a:xfrm>
            <a:off x="2266950" y="51054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3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next slide shows the exact NodeBB issue that traveled through the pipeline.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E66346-25BC-461D-9F84-D57B72A3F3EB}"/>
              </a:ext>
            </a:extLst>
          </p:cNvPr>
          <p:cNvSpPr>
            <a:spLocks noGrp="1"/>
          </p:cNvSpPr>
          <p:nvPr/>
        </p:nvSpPr>
        <p:spPr>
          <a:xfrm>
            <a:off x="2266950" y="5372100"/>
            <a:ext cx="438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Benchmark used: ScaleAI/SWE-bench_Pro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7DAC24-AD27-4CF9-86DB-D15A125322D1}"/>
              </a:ext>
            </a:extLst>
          </p:cNvPr>
          <p:cNvSpPr>
            <a:spLocks noGrp="1"/>
          </p:cNvSpPr>
          <p:nvPr/>
        </p:nvSpPr>
        <p:spPr>
          <a:xfrm>
            <a:off x="7848600" y="5143500"/>
            <a:ext cx="3238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task is realistic enough to expose prompt growth, request packaging, runtime preparation, and final behavior.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38E9C4-4067-4F80-B4B3-D21CC1558856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8748DF-3AAD-43EE-9306-79C39A162D43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229418-B653-447B-A3E9-49A928AFF154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28823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E80BB5D0-B601-4EA4-8FC3-38E16E2F34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6021B1-824D-4EBA-8134-AECD37553FAE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F988CE-3858-4122-BED9-4CBF02CE2AD1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EXPERIMENT TASK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80347F-6118-4E37-87DA-1709B1996435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task asked the agent to fix a real NodeBB email validation bug.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D130C9-30C2-4E56-92B2-234E52306604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704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This is the concrete work item that entered the pipeline before it became a prompt, then a model request, then runtime behavior.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A4E04-D9F8-4103-A5D3-672BA93EDBC8}"/>
              </a:ext>
            </a:extLst>
          </p:cNvPr>
          <p:cNvSpPr>
            <a:spLocks noGrp="1"/>
          </p:cNvSpPr>
          <p:nvPr/>
        </p:nvSpPr>
        <p:spPr>
          <a:xfrm>
            <a:off x="8324850" y="1771650"/>
            <a:ext cx="3257550" cy="476250"/>
          </a:xfrm>
          <a:prstGeom prst="rect">
            <a:avLst/>
          </a:prstGeom>
          <a:solidFill>
            <a:srgbClr val="FFFFFF"/>
          </a:solidFill>
          <a:ln w="17145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6B3120-766C-416C-BD5D-AFF84B447DBE}"/>
              </a:ext>
            </a:extLst>
          </p:cNvPr>
          <p:cNvSpPr>
            <a:spLocks noGrp="1"/>
          </p:cNvSpPr>
          <p:nvPr/>
        </p:nvSpPr>
        <p:spPr>
          <a:xfrm>
            <a:off x="8324850" y="1771650"/>
            <a:ext cx="76200" cy="476250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81E2C2-6001-4623-8E28-CD8125E2480D}"/>
              </a:ext>
            </a:extLst>
          </p:cNvPr>
          <p:cNvSpPr>
            <a:spLocks noGrp="1"/>
          </p:cNvSpPr>
          <p:nvPr/>
        </p:nvSpPr>
        <p:spPr>
          <a:xfrm>
            <a:off x="8553450" y="1885950"/>
            <a:ext cx="1257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LLM model used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07F1C1-E036-49C6-8973-63B2F4490BF1}"/>
              </a:ext>
            </a:extLst>
          </p:cNvPr>
          <p:cNvSpPr>
            <a:spLocks noGrp="1"/>
          </p:cNvSpPr>
          <p:nvPr/>
        </p:nvSpPr>
        <p:spPr>
          <a:xfrm>
            <a:off x="8553450" y="2000250"/>
            <a:ext cx="2724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01820"/>
                </a:solidFill>
                <a:latin typeface="Aptos Mono"/>
                <a:ea typeface="Aptos Mono"/>
                <a:cs typeface="Aptos Mono"/>
              </a:defRPr>
            </a:pPr>
            <a:r>
              <a:rPr sz="1013" b="1">
                <a:solidFill>
                  <a:srgbClr val="101820"/>
                </a:solidFill>
                <a:latin typeface="Aptos Mono"/>
                <a:ea typeface="Aptos Mono"/>
                <a:cs typeface="Aptos Mono"/>
              </a:rPr>
              <a:t>Qwen/Qwen2.5-7B-Instruct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B52416-D419-4561-865F-810EA23C1E63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4171950" cy="31623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0804-35F4-48A3-AA30-1A77E923C7ED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417195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1D44E5-4E7B-4471-B03F-39DD0C6540D3}"/>
              </a:ext>
            </a:extLst>
          </p:cNvPr>
          <p:cNvSpPr>
            <a:spLocks noGrp="1"/>
          </p:cNvSpPr>
          <p:nvPr/>
        </p:nvSpPr>
        <p:spPr>
          <a:xfrm>
            <a:off x="876300" y="2609850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What entered the system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046978-A2BA-4A9C-954D-ED76C4917458}"/>
              </a:ext>
            </a:extLst>
          </p:cNvPr>
          <p:cNvSpPr>
            <a:spLocks noGrp="1"/>
          </p:cNvSpPr>
          <p:nvPr/>
        </p:nvSpPr>
        <p:spPr>
          <a:xfrm>
            <a:off x="876300" y="3028950"/>
            <a:ext cx="10477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7B1891-A319-4E4E-8D01-42C1C173F695}"/>
              </a:ext>
            </a:extLst>
          </p:cNvPr>
          <p:cNvSpPr>
            <a:spLocks noGrp="1"/>
          </p:cNvSpPr>
          <p:nvPr/>
        </p:nvSpPr>
        <p:spPr>
          <a:xfrm>
            <a:off x="2000250" y="3009900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2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2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NodeBB/NodeBB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2D5F16-58F7-432F-8FF9-5202A2B921E7}"/>
              </a:ext>
            </a:extLst>
          </p:cNvPr>
          <p:cNvSpPr>
            <a:spLocks noGrp="1"/>
          </p:cNvSpPr>
          <p:nvPr/>
        </p:nvSpPr>
        <p:spPr>
          <a:xfrm>
            <a:off x="876300" y="3371850"/>
            <a:ext cx="10477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Task title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C2F961-2E1B-4C20-B94D-8FC5291014A5}"/>
              </a:ext>
            </a:extLst>
          </p:cNvPr>
          <p:cNvSpPr>
            <a:spLocks noGrp="1"/>
          </p:cNvSpPr>
          <p:nvPr/>
        </p:nvSpPr>
        <p:spPr>
          <a:xfrm>
            <a:off x="2000250" y="3333750"/>
            <a:ext cx="2343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Email Validation Status Not Handled Correctly in ACP and Confirmation Logic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8AF2FB-2579-4EEA-A82C-CF036E2A6FE4}"/>
              </a:ext>
            </a:extLst>
          </p:cNvPr>
          <p:cNvSpPr>
            <a:spLocks noGrp="1"/>
          </p:cNvSpPr>
          <p:nvPr/>
        </p:nvSpPr>
        <p:spPr>
          <a:xfrm>
            <a:off x="876300" y="3962400"/>
            <a:ext cx="20002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Problem in simple words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2A1FE8-812B-4E1F-9C74-80D64A5F605B}"/>
              </a:ext>
            </a:extLst>
          </p:cNvPr>
          <p:cNvSpPr>
            <a:spLocks noGrp="1"/>
          </p:cNvSpPr>
          <p:nvPr/>
        </p:nvSpPr>
        <p:spPr>
          <a:xfrm>
            <a:off x="876300" y="4171950"/>
            <a:ext cx="3429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82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82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In NodeBB's Admin Control Panel, email validation status could show incorrectly, and admin actions like validate or resend email could fail when confirmation keys expired or email data was missing.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F7C491-642C-4603-BD3A-8FC13E90A0D5}"/>
              </a:ext>
            </a:extLst>
          </p:cNvPr>
          <p:cNvSpPr>
            <a:spLocks noGrp="1"/>
          </p:cNvSpPr>
          <p:nvPr/>
        </p:nvSpPr>
        <p:spPr>
          <a:xfrm>
            <a:off x="876300" y="5048250"/>
            <a:ext cx="10477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Selected tests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B52EAD-F5C2-4C60-9852-A5368D946D8A}"/>
              </a:ext>
            </a:extLst>
          </p:cNvPr>
          <p:cNvSpPr>
            <a:spLocks noGrp="1"/>
          </p:cNvSpPr>
          <p:nvPr/>
        </p:nvSpPr>
        <p:spPr>
          <a:xfrm>
            <a:off x="2000250" y="499110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test/database.js, test/database/keys.js, test/user/emails.js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20DF1C-FF22-43C1-A65F-1B15606D5732}"/>
              </a:ext>
            </a:extLst>
          </p:cNvPr>
          <p:cNvSpPr>
            <a:spLocks noGrp="1"/>
          </p:cNvSpPr>
          <p:nvPr/>
        </p:nvSpPr>
        <p:spPr>
          <a:xfrm>
            <a:off x="5124450" y="2305050"/>
            <a:ext cx="2857500" cy="3162300"/>
          </a:xfrm>
          <a:prstGeom prst="rect">
            <a:avLst/>
          </a:prstGeom>
          <a:solidFill>
            <a:srgbClr val="FBF8F2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80E044-4662-4DED-8FEC-173D493E9900}"/>
              </a:ext>
            </a:extLst>
          </p:cNvPr>
          <p:cNvSpPr>
            <a:spLocks noGrp="1"/>
          </p:cNvSpPr>
          <p:nvPr/>
        </p:nvSpPr>
        <p:spPr>
          <a:xfrm>
            <a:off x="5124450" y="2305050"/>
            <a:ext cx="2857500" cy="762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25C722-88BC-4B7C-9F1D-3C4548C87142}"/>
              </a:ext>
            </a:extLst>
          </p:cNvPr>
          <p:cNvSpPr>
            <a:spLocks noGrp="1"/>
          </p:cNvSpPr>
          <p:nvPr/>
        </p:nvSpPr>
        <p:spPr>
          <a:xfrm>
            <a:off x="5391150" y="26098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What was going wrong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2C2608-DB5B-4E3F-B4F7-1007F3549E82}"/>
              </a:ext>
            </a:extLst>
          </p:cNvPr>
          <p:cNvSpPr>
            <a:spLocks noGrp="1"/>
          </p:cNvSpPr>
          <p:nvPr/>
        </p:nvSpPr>
        <p:spPr>
          <a:xfrm>
            <a:off x="5391150" y="3086100"/>
            <a:ext cx="247650" cy="2476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D2D0C3-A11A-4CEF-A339-1B47D89C42B4}"/>
              </a:ext>
            </a:extLst>
          </p:cNvPr>
          <p:cNvSpPr>
            <a:spLocks noGrp="1"/>
          </p:cNvSpPr>
          <p:nvPr/>
        </p:nvSpPr>
        <p:spPr>
          <a:xfrm>
            <a:off x="5391150" y="3143250"/>
            <a:ext cx="247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9E5D393-1D44-486D-B05B-2FCA0885A09B}"/>
              </a:ext>
            </a:extLst>
          </p:cNvPr>
          <p:cNvSpPr>
            <a:spLocks noGrp="1"/>
          </p:cNvSpPr>
          <p:nvPr/>
        </p:nvSpPr>
        <p:spPr>
          <a:xfrm>
            <a:off x="5772150" y="3086100"/>
            <a:ext cx="180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Expired confirmation keys blocked validation.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136F0B-8CF9-4B7A-BD72-F542D4D8DDA2}"/>
              </a:ext>
            </a:extLst>
          </p:cNvPr>
          <p:cNvSpPr>
            <a:spLocks noGrp="1"/>
          </p:cNvSpPr>
          <p:nvPr/>
        </p:nvSpPr>
        <p:spPr>
          <a:xfrm>
            <a:off x="5391150" y="3600450"/>
            <a:ext cx="247650" cy="2476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A027EE-3FCF-4C5F-AA2E-18DF7F2BB81B}"/>
              </a:ext>
            </a:extLst>
          </p:cNvPr>
          <p:cNvSpPr>
            <a:spLocks noGrp="1"/>
          </p:cNvSpPr>
          <p:nvPr/>
        </p:nvSpPr>
        <p:spPr>
          <a:xfrm>
            <a:off x="5391150" y="3657600"/>
            <a:ext cx="247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ADEF6D-4A17-427D-8459-31810B282871}"/>
              </a:ext>
            </a:extLst>
          </p:cNvPr>
          <p:cNvSpPr>
            <a:spLocks noGrp="1"/>
          </p:cNvSpPr>
          <p:nvPr/>
        </p:nvSpPr>
        <p:spPr>
          <a:xfrm>
            <a:off x="5772150" y="3600450"/>
            <a:ext cx="180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ACP status could be unclear or wrong.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D4D39B3-65A2-4B24-AE05-D9C7522C9C1C}"/>
              </a:ext>
            </a:extLst>
          </p:cNvPr>
          <p:cNvSpPr>
            <a:spLocks noGrp="1"/>
          </p:cNvSpPr>
          <p:nvPr/>
        </p:nvSpPr>
        <p:spPr>
          <a:xfrm>
            <a:off x="5391150" y="4114800"/>
            <a:ext cx="247650" cy="2476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91D675-6743-46A4-98FD-0284FF616DA0}"/>
              </a:ext>
            </a:extLst>
          </p:cNvPr>
          <p:cNvSpPr>
            <a:spLocks noGrp="1"/>
          </p:cNvSpPr>
          <p:nvPr/>
        </p:nvSpPr>
        <p:spPr>
          <a:xfrm>
            <a:off x="5391150" y="4171950"/>
            <a:ext cx="247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CE5D16-372A-4924-ACF2-5D2EEFA60226}"/>
              </a:ext>
            </a:extLst>
          </p:cNvPr>
          <p:cNvSpPr>
            <a:spLocks noGrp="1"/>
          </p:cNvSpPr>
          <p:nvPr/>
        </p:nvSpPr>
        <p:spPr>
          <a:xfrm>
            <a:off x="5772150" y="4114800"/>
            <a:ext cx="180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Validate and resend actions could fail.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F3BC228-2AA8-43C1-95BB-D98347101EB9}"/>
              </a:ext>
            </a:extLst>
          </p:cNvPr>
          <p:cNvSpPr>
            <a:spLocks noGrp="1"/>
          </p:cNvSpPr>
          <p:nvPr/>
        </p:nvSpPr>
        <p:spPr>
          <a:xfrm>
            <a:off x="5391150" y="4629150"/>
            <a:ext cx="247650" cy="2476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67915EF-92D2-48DE-944C-D4E139AD2DCF}"/>
              </a:ext>
            </a:extLst>
          </p:cNvPr>
          <p:cNvSpPr>
            <a:spLocks noGrp="1"/>
          </p:cNvSpPr>
          <p:nvPr/>
        </p:nvSpPr>
        <p:spPr>
          <a:xfrm>
            <a:off x="5391150" y="4686300"/>
            <a:ext cx="247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44BD651-4C96-4EE8-BBCE-B3D10A586C09}"/>
              </a:ext>
            </a:extLst>
          </p:cNvPr>
          <p:cNvSpPr>
            <a:spLocks noGrp="1"/>
          </p:cNvSpPr>
          <p:nvPr/>
        </p:nvSpPr>
        <p:spPr>
          <a:xfrm>
            <a:off x="5772150" y="4629150"/>
            <a:ext cx="180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Email lookup needed a safer fallback path.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D4F6366-5FFA-4E8F-9CE8-F2DFF5CE16C0}"/>
              </a:ext>
            </a:extLst>
          </p:cNvPr>
          <p:cNvSpPr>
            <a:spLocks noGrp="1"/>
          </p:cNvSpPr>
          <p:nvPr/>
        </p:nvSpPr>
        <p:spPr>
          <a:xfrm>
            <a:off x="5391150" y="502920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Main areas: database adapters + user email logic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FAE5E1E-328F-40B5-9450-73066E0FA091}"/>
              </a:ext>
            </a:extLst>
          </p:cNvPr>
          <p:cNvSpPr>
            <a:spLocks noGrp="1"/>
          </p:cNvSpPr>
          <p:nvPr/>
        </p:nvSpPr>
        <p:spPr>
          <a:xfrm>
            <a:off x="8324850" y="2305050"/>
            <a:ext cx="3257550" cy="31623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B646F35-859A-4170-9BEF-3A42A84246F6}"/>
              </a:ext>
            </a:extLst>
          </p:cNvPr>
          <p:cNvSpPr>
            <a:spLocks noGrp="1"/>
          </p:cNvSpPr>
          <p:nvPr/>
        </p:nvSpPr>
        <p:spPr>
          <a:xfrm>
            <a:off x="8324850" y="2305050"/>
            <a:ext cx="3257550" cy="7620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D9188CC-943A-4DBE-BDFA-B55EE22935B2}"/>
              </a:ext>
            </a:extLst>
          </p:cNvPr>
          <p:cNvSpPr>
            <a:spLocks noGrp="1"/>
          </p:cNvSpPr>
          <p:nvPr/>
        </p:nvSpPr>
        <p:spPr>
          <a:xfrm>
            <a:off x="8591550" y="2609850"/>
            <a:ext cx="266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What the agent was asked to fix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E1F202-699A-46A4-A43D-64DE4DC4AC72}"/>
              </a:ext>
            </a:extLst>
          </p:cNvPr>
          <p:cNvSpPr>
            <a:spLocks noGrp="1"/>
          </p:cNvSpPr>
          <p:nvPr/>
        </p:nvSpPr>
        <p:spPr>
          <a:xfrm>
            <a:off x="8591550" y="3143250"/>
            <a:ext cx="2724150" cy="361950"/>
          </a:xfrm>
          <a:prstGeom prst="rect">
            <a:avLst/>
          </a:prstGeom>
          <a:solidFill>
            <a:srgbClr val="FBF8F2"/>
          </a:solidFill>
          <a:ln w="10478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F696BBB-42E4-4135-9AF3-BEEEAD8B3ADB}"/>
              </a:ext>
            </a:extLst>
          </p:cNvPr>
          <p:cNvSpPr>
            <a:spLocks noGrp="1"/>
          </p:cNvSpPr>
          <p:nvPr/>
        </p:nvSpPr>
        <p:spPr>
          <a:xfrm>
            <a:off x="8591550" y="3143250"/>
            <a:ext cx="266700" cy="36195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E4BC437-EAF0-42C7-B80B-3A7DEBA23BAC}"/>
              </a:ext>
            </a:extLst>
          </p:cNvPr>
          <p:cNvSpPr>
            <a:spLocks noGrp="1"/>
          </p:cNvSpPr>
          <p:nvPr/>
        </p:nvSpPr>
        <p:spPr>
          <a:xfrm>
            <a:off x="8591550" y="3238500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73937C5-BB55-4503-AC5F-220B49C3137B}"/>
              </a:ext>
            </a:extLst>
          </p:cNvPr>
          <p:cNvSpPr>
            <a:spLocks noGrp="1"/>
          </p:cNvSpPr>
          <p:nvPr/>
        </p:nvSpPr>
        <p:spPr>
          <a:xfrm>
            <a:off x="8991600" y="3190875"/>
            <a:ext cx="2095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Show correct status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9AA0A84-0121-49BB-979A-E653A50DFA99}"/>
              </a:ext>
            </a:extLst>
          </p:cNvPr>
          <p:cNvSpPr>
            <a:spLocks noGrp="1"/>
          </p:cNvSpPr>
          <p:nvPr/>
        </p:nvSpPr>
        <p:spPr>
          <a:xfrm>
            <a:off x="8991600" y="3343275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Attach pending and expired flags to users.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04185AF-FCD4-4DDF-88F3-17C3EB39020E}"/>
              </a:ext>
            </a:extLst>
          </p:cNvPr>
          <p:cNvSpPr>
            <a:spLocks noGrp="1"/>
          </p:cNvSpPr>
          <p:nvPr/>
        </p:nvSpPr>
        <p:spPr>
          <a:xfrm>
            <a:off x="8591550" y="3581400"/>
            <a:ext cx="2724150" cy="361950"/>
          </a:xfrm>
          <a:prstGeom prst="rect">
            <a:avLst/>
          </a:prstGeom>
          <a:solidFill>
            <a:srgbClr val="F1EBE2"/>
          </a:solidFill>
          <a:ln w="10478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051FF84-E005-40DA-A552-6061A61DB684}"/>
              </a:ext>
            </a:extLst>
          </p:cNvPr>
          <p:cNvSpPr>
            <a:spLocks noGrp="1"/>
          </p:cNvSpPr>
          <p:nvPr/>
        </p:nvSpPr>
        <p:spPr>
          <a:xfrm>
            <a:off x="8591550" y="3581400"/>
            <a:ext cx="266700" cy="36195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90B8306-D1EA-4180-B6E8-F2E5C14288EE}"/>
              </a:ext>
            </a:extLst>
          </p:cNvPr>
          <p:cNvSpPr>
            <a:spLocks noGrp="1"/>
          </p:cNvSpPr>
          <p:nvPr/>
        </p:nvSpPr>
        <p:spPr>
          <a:xfrm>
            <a:off x="8591550" y="3676650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6179FCD-C7DC-44A7-96BC-C3D18F1743DE}"/>
              </a:ext>
            </a:extLst>
          </p:cNvPr>
          <p:cNvSpPr>
            <a:spLocks noGrp="1"/>
          </p:cNvSpPr>
          <p:nvPr/>
        </p:nvSpPr>
        <p:spPr>
          <a:xfrm>
            <a:off x="8991600" y="3629025"/>
            <a:ext cx="2095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Add batch lookup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A6201BD-F1FE-4FE6-AACD-592B8EB9A800}"/>
              </a:ext>
            </a:extLst>
          </p:cNvPr>
          <p:cNvSpPr>
            <a:spLocks noGrp="1"/>
          </p:cNvSpPr>
          <p:nvPr/>
        </p:nvSpPr>
        <p:spPr>
          <a:xfrm>
            <a:off x="8991600" y="3781425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 db.mget(keys) across database adapters.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1D3802E-33E5-4B20-A147-7211B1112A1F}"/>
              </a:ext>
            </a:extLst>
          </p:cNvPr>
          <p:cNvSpPr>
            <a:spLocks noGrp="1"/>
          </p:cNvSpPr>
          <p:nvPr/>
        </p:nvSpPr>
        <p:spPr>
          <a:xfrm>
            <a:off x="8591550" y="4019550"/>
            <a:ext cx="2724150" cy="361950"/>
          </a:xfrm>
          <a:prstGeom prst="rect">
            <a:avLst/>
          </a:prstGeom>
          <a:solidFill>
            <a:srgbClr val="FBF8F2"/>
          </a:solidFill>
          <a:ln w="10478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7573C81-75EA-4240-AEB0-C79C2E1B9B47}"/>
              </a:ext>
            </a:extLst>
          </p:cNvPr>
          <p:cNvSpPr>
            <a:spLocks noGrp="1"/>
          </p:cNvSpPr>
          <p:nvPr/>
        </p:nvSpPr>
        <p:spPr>
          <a:xfrm>
            <a:off x="8591550" y="4019550"/>
            <a:ext cx="266700" cy="36195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3D2CEF5-BD7C-4AFF-81B6-432922726B07}"/>
              </a:ext>
            </a:extLst>
          </p:cNvPr>
          <p:cNvSpPr>
            <a:spLocks noGrp="1"/>
          </p:cNvSpPr>
          <p:nvPr/>
        </p:nvSpPr>
        <p:spPr>
          <a:xfrm>
            <a:off x="8591550" y="4114800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9F1A89D-B881-4D75-9EA6-CFABAC034A26}"/>
              </a:ext>
            </a:extLst>
          </p:cNvPr>
          <p:cNvSpPr>
            <a:spLocks noGrp="1"/>
          </p:cNvSpPr>
          <p:nvPr/>
        </p:nvSpPr>
        <p:spPr>
          <a:xfrm>
            <a:off x="8991600" y="4067175"/>
            <a:ext cx="2095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Recover validation email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924412C-5638-49F4-92A0-275E3BB536EE}"/>
              </a:ext>
            </a:extLst>
          </p:cNvPr>
          <p:cNvSpPr>
            <a:spLocks noGrp="1"/>
          </p:cNvSpPr>
          <p:nvPr/>
        </p:nvSpPr>
        <p:spPr>
          <a:xfrm>
            <a:off x="8991600" y="4219575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Find email from profile or confirmation data.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C600420-EBBC-4C3C-BCC1-7A24A8C2EBCC}"/>
              </a:ext>
            </a:extLst>
          </p:cNvPr>
          <p:cNvSpPr>
            <a:spLocks noGrp="1"/>
          </p:cNvSpPr>
          <p:nvPr/>
        </p:nvSpPr>
        <p:spPr>
          <a:xfrm>
            <a:off x="8591550" y="4457700"/>
            <a:ext cx="2724150" cy="361950"/>
          </a:xfrm>
          <a:prstGeom prst="rect">
            <a:avLst/>
          </a:prstGeom>
          <a:solidFill>
            <a:srgbClr val="F1EBE2"/>
          </a:solidFill>
          <a:ln w="10478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8644520-2B39-468D-AB44-D539D0EB02DC}"/>
              </a:ext>
            </a:extLst>
          </p:cNvPr>
          <p:cNvSpPr>
            <a:spLocks noGrp="1"/>
          </p:cNvSpPr>
          <p:nvPr/>
        </p:nvSpPr>
        <p:spPr>
          <a:xfrm>
            <a:off x="8591550" y="4457700"/>
            <a:ext cx="266700" cy="36195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D4DD61A-86D4-4A03-BEB4-745F4B7ED39D}"/>
              </a:ext>
            </a:extLst>
          </p:cNvPr>
          <p:cNvSpPr>
            <a:spLocks noGrp="1"/>
          </p:cNvSpPr>
          <p:nvPr/>
        </p:nvSpPr>
        <p:spPr>
          <a:xfrm>
            <a:off x="8591550" y="4552950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50C17A2-86DD-462A-B0BB-E2187360CC41}"/>
              </a:ext>
            </a:extLst>
          </p:cNvPr>
          <p:cNvSpPr>
            <a:spLocks noGrp="1"/>
          </p:cNvSpPr>
          <p:nvPr/>
        </p:nvSpPr>
        <p:spPr>
          <a:xfrm>
            <a:off x="8991600" y="4505325"/>
            <a:ext cx="2095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Use explicit expiry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F312B43-E425-4B4D-8DE2-EC71C6D0159B}"/>
              </a:ext>
            </a:extLst>
          </p:cNvPr>
          <p:cNvSpPr>
            <a:spLocks noGrp="1"/>
          </p:cNvSpPr>
          <p:nvPr/>
        </p:nvSpPr>
        <p:spPr>
          <a:xfrm>
            <a:off x="8991600" y="4657725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 timestamp-based confirmation expiry.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AA124F2-02C1-48C6-85F9-D6F3E0F4ECF2}"/>
              </a:ext>
            </a:extLst>
          </p:cNvPr>
          <p:cNvSpPr>
            <a:spLocks noGrp="1"/>
          </p:cNvSpPr>
          <p:nvPr/>
        </p:nvSpPr>
        <p:spPr>
          <a:xfrm>
            <a:off x="8591550" y="5067300"/>
            <a:ext cx="2724150" cy="266700"/>
          </a:xfrm>
          <a:prstGeom prst="rect">
            <a:avLst/>
          </a:prstGeom>
          <a:solidFill>
            <a:srgbClr val="F1EB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2E208DD-C3A8-4207-B44E-146DCF05039B}"/>
              </a:ext>
            </a:extLst>
          </p:cNvPr>
          <p:cNvSpPr>
            <a:spLocks noGrp="1"/>
          </p:cNvSpPr>
          <p:nvPr/>
        </p:nvSpPr>
        <p:spPr>
          <a:xfrm>
            <a:off x="8705850" y="5105400"/>
            <a:ext cx="2495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Next: watch this task become a prompt, request, runtime record, and behavior trace.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DFB5522-BB14-4D15-B07D-ECA1F21D14B6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82599B7-AAEB-4D11-B641-E7BE1FC4F07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54E41BD-2CE3-423E-8845-34D83C848B26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01982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E799D8CA-0E69-4C58-93C9-3394D4772D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D89F0A-B285-4A45-AECC-02EA8FD60942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9E7649-B806-4314-8C5E-0070465BD8D1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STRUCTURE ROADMAP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A72171-FF73-4AF8-987C-C072BC1C75A2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This map shows the five handoffs we will inspect next.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6C1C62-1DDA-40AF-BEA2-AD04D7D9621C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990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Use this as the audience map: each row below is one handoff. The summary slide comes first, then the following proof slides show the exact JSON artifacts from the latest run.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A6E63F-4C00-4AB5-90B6-798230B57287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819150" cy="323850"/>
          </a:xfrm>
          <a:prstGeom prst="rect">
            <a:avLst/>
          </a:prstGeom>
          <a:solidFill>
            <a:srgbClr val="E7E0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76D9BE-5967-4F4F-986D-BE4A7A35CA40}"/>
              </a:ext>
            </a:extLst>
          </p:cNvPr>
          <p:cNvSpPr>
            <a:spLocks noGrp="1"/>
          </p:cNvSpPr>
          <p:nvPr/>
        </p:nvSpPr>
        <p:spPr>
          <a:xfrm>
            <a:off x="704850" y="2457450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Slide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3AC198-8194-4D64-9777-900C8285891B}"/>
              </a:ext>
            </a:extLst>
          </p:cNvPr>
          <p:cNvSpPr>
            <a:spLocks noGrp="1"/>
          </p:cNvSpPr>
          <p:nvPr/>
        </p:nvSpPr>
        <p:spPr>
          <a:xfrm>
            <a:off x="1428750" y="2381250"/>
            <a:ext cx="2266950" cy="323850"/>
          </a:xfrm>
          <a:prstGeom prst="rect">
            <a:avLst/>
          </a:prstGeom>
          <a:solidFill>
            <a:srgbClr val="E7E0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0AB716-AE28-4439-9814-5C8925905B13}"/>
              </a:ext>
            </a:extLst>
          </p:cNvPr>
          <p:cNvSpPr>
            <a:spLocks noGrp="1"/>
          </p:cNvSpPr>
          <p:nvPr/>
        </p:nvSpPr>
        <p:spPr>
          <a:xfrm>
            <a:off x="1524000" y="2457450"/>
            <a:ext cx="2076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Handoff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9F66E8-78B9-4516-B498-2CCD789005BC}"/>
              </a:ext>
            </a:extLst>
          </p:cNvPr>
          <p:cNvSpPr>
            <a:spLocks noGrp="1"/>
          </p:cNvSpPr>
          <p:nvPr/>
        </p:nvSpPr>
        <p:spPr>
          <a:xfrm>
            <a:off x="3695700" y="2381250"/>
            <a:ext cx="2419350" cy="323850"/>
          </a:xfrm>
          <a:prstGeom prst="rect">
            <a:avLst/>
          </a:prstGeom>
          <a:solidFill>
            <a:srgbClr val="E7E0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69AEBB-177C-4087-8A94-C2779BE4DEC1}"/>
              </a:ext>
            </a:extLst>
          </p:cNvPr>
          <p:cNvSpPr>
            <a:spLocks noGrp="1"/>
          </p:cNvSpPr>
          <p:nvPr/>
        </p:nvSpPr>
        <p:spPr>
          <a:xfrm>
            <a:off x="3790950" y="2457450"/>
            <a:ext cx="2228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From -&gt; 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0C733E-7474-45EF-8B32-D4E4E38E0201}"/>
              </a:ext>
            </a:extLst>
          </p:cNvPr>
          <p:cNvSpPr>
            <a:spLocks noGrp="1"/>
          </p:cNvSpPr>
          <p:nvPr/>
        </p:nvSpPr>
        <p:spPr>
          <a:xfrm>
            <a:off x="6115050" y="2381250"/>
            <a:ext cx="2724150" cy="323850"/>
          </a:xfrm>
          <a:prstGeom prst="rect">
            <a:avLst/>
          </a:prstGeom>
          <a:solidFill>
            <a:srgbClr val="E7E0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E390FE-E9C6-4C87-ACCB-9659F0C42128}"/>
              </a:ext>
            </a:extLst>
          </p:cNvPr>
          <p:cNvSpPr>
            <a:spLocks noGrp="1"/>
          </p:cNvSpPr>
          <p:nvPr/>
        </p:nvSpPr>
        <p:spPr>
          <a:xfrm>
            <a:off x="6210300" y="2457450"/>
            <a:ext cx="2533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What to watch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01758A-6A88-4652-B1B6-9CCC2CC5A086}"/>
              </a:ext>
            </a:extLst>
          </p:cNvPr>
          <p:cNvSpPr>
            <a:spLocks noGrp="1"/>
          </p:cNvSpPr>
          <p:nvPr/>
        </p:nvSpPr>
        <p:spPr>
          <a:xfrm>
            <a:off x="8839200" y="2381250"/>
            <a:ext cx="1219200" cy="323850"/>
          </a:xfrm>
          <a:prstGeom prst="rect">
            <a:avLst/>
          </a:prstGeom>
          <a:solidFill>
            <a:srgbClr val="E7E0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7B8332-8668-49B6-847A-512045607092}"/>
              </a:ext>
            </a:extLst>
          </p:cNvPr>
          <p:cNvSpPr>
            <a:spLocks noGrp="1"/>
          </p:cNvSpPr>
          <p:nvPr/>
        </p:nvSpPr>
        <p:spPr>
          <a:xfrm>
            <a:off x="8934450" y="2457450"/>
            <a:ext cx="1028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Size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1420B3-0523-4EC7-951A-7BD929CADDDB}"/>
              </a:ext>
            </a:extLst>
          </p:cNvPr>
          <p:cNvSpPr>
            <a:spLocks noGrp="1"/>
          </p:cNvSpPr>
          <p:nvPr/>
        </p:nvSpPr>
        <p:spPr>
          <a:xfrm>
            <a:off x="10058400" y="2381250"/>
            <a:ext cx="1524000" cy="323850"/>
          </a:xfrm>
          <a:prstGeom prst="rect">
            <a:avLst/>
          </a:prstGeom>
          <a:solidFill>
            <a:srgbClr val="E7E0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9FE08C-42B7-4852-9B15-3ECF7C648EEF}"/>
              </a:ext>
            </a:extLst>
          </p:cNvPr>
          <p:cNvSpPr>
            <a:spLocks noGrp="1"/>
          </p:cNvSpPr>
          <p:nvPr/>
        </p:nvSpPr>
        <p:spPr>
          <a:xfrm>
            <a:off x="10153650" y="2457450"/>
            <a:ext cx="1333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Added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6DCA7A-A74C-4DDE-9545-ADDB3360AD48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10972800" cy="68580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18622B-FC9F-4A0C-8719-775D9EEDBB96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76200" cy="6858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48E5A2-BD2D-4A09-AD83-B73D29EF9F2B}"/>
              </a:ext>
            </a:extLst>
          </p:cNvPr>
          <p:cNvSpPr>
            <a:spLocks noGrp="1"/>
          </p:cNvSpPr>
          <p:nvPr/>
        </p:nvSpPr>
        <p:spPr>
          <a:xfrm>
            <a:off x="742950" y="2838450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Slides 6-8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DC6422-8533-4BFB-B67C-801B6430B56E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5905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1 of 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C14424-E6F2-4963-8CAD-CC24A88B7EC7}"/>
              </a:ext>
            </a:extLst>
          </p:cNvPr>
          <p:cNvSpPr>
            <a:spLocks noGrp="1"/>
          </p:cNvSpPr>
          <p:nvPr/>
        </p:nvSpPr>
        <p:spPr>
          <a:xfrm>
            <a:off x="1543050" y="281940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Task -&gt; Prompt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057ACE-3E03-4B0F-8453-ED1A9A632AC9}"/>
              </a:ext>
            </a:extLst>
          </p:cNvPr>
          <p:cNvSpPr>
            <a:spLocks noGrp="1"/>
          </p:cNvSpPr>
          <p:nvPr/>
        </p:nvSpPr>
        <p:spPr>
          <a:xfrm>
            <a:off x="1543050" y="3067050"/>
            <a:ext cx="2038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73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6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9E0123-253C-4A25-BB33-A2CC6C3CE559}"/>
              </a:ext>
            </a:extLst>
          </p:cNvPr>
          <p:cNvSpPr>
            <a:spLocks noGrp="1"/>
          </p:cNvSpPr>
          <p:nvPr/>
        </p:nvSpPr>
        <p:spPr>
          <a:xfrm>
            <a:off x="3810000" y="28765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Task Loaded -&gt; Prompt Built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0E704B-E94C-4668-8951-5DF2C73F7794}"/>
              </a:ext>
            </a:extLst>
          </p:cNvPr>
          <p:cNvSpPr>
            <a:spLocks noGrp="1"/>
          </p:cNvSpPr>
          <p:nvPr/>
        </p:nvSpPr>
        <p:spPr>
          <a:xfrm>
            <a:off x="6229350" y="2809875"/>
            <a:ext cx="2495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New field: prompt. Payload grows by +5,576.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9F2E6F-A757-4F03-85F9-44D98035B815}"/>
              </a:ext>
            </a:extLst>
          </p:cNvPr>
          <p:cNvSpPr>
            <a:spLocks noGrp="1"/>
          </p:cNvSpPr>
          <p:nvPr/>
        </p:nvSpPr>
        <p:spPr>
          <a:xfrm>
            <a:off x="8953500" y="2857500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2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+5,576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5E4C36-4E10-41F8-89C8-6DD08C4769B6}"/>
              </a:ext>
            </a:extLst>
          </p:cNvPr>
          <p:cNvSpPr>
            <a:spLocks noGrp="1"/>
          </p:cNvSpPr>
          <p:nvPr/>
        </p:nvSpPr>
        <p:spPr>
          <a:xfrm>
            <a:off x="10172700" y="2847975"/>
            <a:ext cx="1295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6CB899-72E4-4780-A9B0-42859298F11B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1E389E-5184-48A0-8C83-AC849DF5728C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10972800" cy="685800"/>
          </a:xfrm>
          <a:prstGeom prst="rect">
            <a:avLst/>
          </a:prstGeom>
          <a:solidFill>
            <a:srgbClr val="F1EB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78BC1A2-7C3B-464B-BC47-161283779590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76200" cy="685800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3163BF3-3F7D-4061-92AF-2864AE0C819D}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Slides 9-11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64348C-05CF-4FCA-88EC-F6BC2BA01B88}"/>
              </a:ext>
            </a:extLst>
          </p:cNvPr>
          <p:cNvSpPr>
            <a:spLocks noGrp="1"/>
          </p:cNvSpPr>
          <p:nvPr/>
        </p:nvSpPr>
        <p:spPr>
          <a:xfrm>
            <a:off x="742950" y="3752850"/>
            <a:ext cx="5905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2 of 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8332D2-0228-476C-9510-094344941914}"/>
              </a:ext>
            </a:extLst>
          </p:cNvPr>
          <p:cNvSpPr>
            <a:spLocks noGrp="1"/>
          </p:cNvSpPr>
          <p:nvPr/>
        </p:nvSpPr>
        <p:spPr>
          <a:xfrm>
            <a:off x="1543050" y="350520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-&gt; Request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384614-93E2-40BC-A842-A074B35CA6D7}"/>
              </a:ext>
            </a:extLst>
          </p:cNvPr>
          <p:cNvSpPr>
            <a:spLocks noGrp="1"/>
          </p:cNvSpPr>
          <p:nvPr/>
        </p:nvSpPr>
        <p:spPr>
          <a:xfrm>
            <a:off x="1543050" y="3752850"/>
            <a:ext cx="2038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73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66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Request Wrapper (local helper script)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907BD29-3CFB-42E1-A271-FA7D09B27EA2}"/>
              </a:ext>
            </a:extLst>
          </p:cNvPr>
          <p:cNvSpPr>
            <a:spLocks noGrp="1"/>
          </p:cNvSpPr>
          <p:nvPr/>
        </p:nvSpPr>
        <p:spPr>
          <a:xfrm>
            <a:off x="3810000" y="35623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 Built -&gt; Request Packaged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C7F769-0AB6-47D0-8FCB-79F4C45CC3F6}"/>
              </a:ext>
            </a:extLst>
          </p:cNvPr>
          <p:cNvSpPr>
            <a:spLocks noGrp="1"/>
          </p:cNvSpPr>
          <p:nvPr/>
        </p:nvSpPr>
        <p:spPr>
          <a:xfrm>
            <a:off x="6229350" y="3495675"/>
            <a:ext cx="2495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New fields: model, messages, request_context, agent_hints.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5E83C69-35D7-4BDF-8F1A-7D3EDEBA6B47}"/>
              </a:ext>
            </a:extLst>
          </p:cNvPr>
          <p:cNvSpPr>
            <a:spLocks noGrp="1"/>
          </p:cNvSpPr>
          <p:nvPr/>
        </p:nvSpPr>
        <p:spPr>
          <a:xfrm>
            <a:off x="8953500" y="3543300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20" b="1">
                <a:solidFill>
                  <a:srgbClr val="1D4ED8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1D4ED8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F51811-C117-4E84-A811-294248B1E137}"/>
              </a:ext>
            </a:extLst>
          </p:cNvPr>
          <p:cNvSpPr>
            <a:spLocks noGrp="1"/>
          </p:cNvSpPr>
          <p:nvPr/>
        </p:nvSpPr>
        <p:spPr>
          <a:xfrm>
            <a:off x="10172700" y="3533775"/>
            <a:ext cx="1295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model, messages, request_context, agent_h...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18A590-F413-47AE-BF11-C6140B65CDE7}"/>
              </a:ext>
            </a:extLst>
          </p:cNvPr>
          <p:cNvSpPr>
            <a:spLocks noGrp="1"/>
          </p:cNvSpPr>
          <p:nvPr/>
        </p:nvSpPr>
        <p:spPr>
          <a:xfrm>
            <a:off x="609600" y="4067175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C5550BD-80B0-4261-9B06-E09A0AFB9598}"/>
              </a:ext>
            </a:extLst>
          </p:cNvPr>
          <p:cNvSpPr>
            <a:spLocks noGrp="1"/>
          </p:cNvSpPr>
          <p:nvPr/>
        </p:nvSpPr>
        <p:spPr>
          <a:xfrm>
            <a:off x="609600" y="4076700"/>
            <a:ext cx="10972800" cy="68580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CD39A76-0FED-4BD1-A833-A4CC18EE103B}"/>
              </a:ext>
            </a:extLst>
          </p:cNvPr>
          <p:cNvSpPr>
            <a:spLocks noGrp="1"/>
          </p:cNvSpPr>
          <p:nvPr/>
        </p:nvSpPr>
        <p:spPr>
          <a:xfrm>
            <a:off x="609600" y="4076700"/>
            <a:ext cx="76200" cy="6858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7C7950A-EFDC-49EF-8281-68DAEE3432A8}"/>
              </a:ext>
            </a:extLst>
          </p:cNvPr>
          <p:cNvSpPr>
            <a:spLocks noGrp="1"/>
          </p:cNvSpPr>
          <p:nvPr/>
        </p:nvSpPr>
        <p:spPr>
          <a:xfrm>
            <a:off x="742950" y="4210050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Slides 12-13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70D9B9-298E-429B-8A38-0B527EE64CFD}"/>
              </a:ext>
            </a:extLst>
          </p:cNvPr>
          <p:cNvSpPr>
            <a:spLocks noGrp="1"/>
          </p:cNvSpPr>
          <p:nvPr/>
        </p:nvSpPr>
        <p:spPr>
          <a:xfrm>
            <a:off x="742950" y="4438650"/>
            <a:ext cx="5905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3 of 5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611713A-48EE-4728-B7F7-AA75CC7CEDEA}"/>
              </a:ext>
            </a:extLst>
          </p:cNvPr>
          <p:cNvSpPr>
            <a:spLocks noGrp="1"/>
          </p:cNvSpPr>
          <p:nvPr/>
        </p:nvSpPr>
        <p:spPr>
          <a:xfrm>
            <a:off x="1543050" y="419100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Request -&gt; Agent Rules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FB09978-0D76-4C17-AC8C-3BF4EC3CB94F}"/>
              </a:ext>
            </a:extLst>
          </p:cNvPr>
          <p:cNvSpPr>
            <a:spLocks noGrp="1"/>
          </p:cNvSpPr>
          <p:nvPr/>
        </p:nvSpPr>
        <p:spPr>
          <a:xfrm>
            <a:off x="1543050" y="4438650"/>
            <a:ext cx="2038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2CA35F8-0369-409F-B115-DECC0F28B7ED}"/>
              </a:ext>
            </a:extLst>
          </p:cNvPr>
          <p:cNvSpPr>
            <a:spLocks noGrp="1"/>
          </p:cNvSpPr>
          <p:nvPr/>
        </p:nvSpPr>
        <p:spPr>
          <a:xfrm>
            <a:off x="3810000" y="42481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Packaged -&gt; Agent Rules Applied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943A3EF-70B0-4770-9AA4-BEF79BC6C8A7}"/>
              </a:ext>
            </a:extLst>
          </p:cNvPr>
          <p:cNvSpPr>
            <a:spLocks noGrp="1"/>
          </p:cNvSpPr>
          <p:nvPr/>
        </p:nvSpPr>
        <p:spPr>
          <a:xfrm>
            <a:off x="6229350" y="4181475"/>
            <a:ext cx="2495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New field: system_prompt.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633398C-8408-44E0-9A2F-E94BC3F44EC7}"/>
              </a:ext>
            </a:extLst>
          </p:cNvPr>
          <p:cNvSpPr>
            <a:spLocks noGrp="1"/>
          </p:cNvSpPr>
          <p:nvPr/>
        </p:nvSpPr>
        <p:spPr>
          <a:xfrm>
            <a:off x="8953500" y="4229100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20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CA4119C-8055-4D9C-B33B-774E1DCF9967}"/>
              </a:ext>
            </a:extLst>
          </p:cNvPr>
          <p:cNvSpPr>
            <a:spLocks noGrp="1"/>
          </p:cNvSpPr>
          <p:nvPr/>
        </p:nvSpPr>
        <p:spPr>
          <a:xfrm>
            <a:off x="10172700" y="4219575"/>
            <a:ext cx="1295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3400EC9-C45A-494E-9069-AE1B1B5EB499}"/>
              </a:ext>
            </a:extLst>
          </p:cNvPr>
          <p:cNvSpPr>
            <a:spLocks noGrp="1"/>
          </p:cNvSpPr>
          <p:nvPr/>
        </p:nvSpPr>
        <p:spPr>
          <a:xfrm>
            <a:off x="609600" y="4752975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1022C53-2A9F-4EF2-912F-3D498A2673DD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972800" cy="685800"/>
          </a:xfrm>
          <a:prstGeom prst="rect">
            <a:avLst/>
          </a:prstGeom>
          <a:solidFill>
            <a:srgbClr val="F1EB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ADBB560-03DE-4E8A-B19F-7C650582DCEA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76200" cy="68580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EB90D1C-3C1B-41BB-8CCF-DB740568AA38}"/>
              </a:ext>
            </a:extLst>
          </p:cNvPr>
          <p:cNvSpPr>
            <a:spLocks noGrp="1"/>
          </p:cNvSpPr>
          <p:nvPr/>
        </p:nvSpPr>
        <p:spPr>
          <a:xfrm>
            <a:off x="742950" y="4895850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Slides 14-17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5D28C43-141C-4029-B1AB-F4D3CB84DC69}"/>
              </a:ext>
            </a:extLst>
          </p:cNvPr>
          <p:cNvSpPr>
            <a:spLocks noGrp="1"/>
          </p:cNvSpPr>
          <p:nvPr/>
        </p:nvSpPr>
        <p:spPr>
          <a:xfrm>
            <a:off x="742950" y="5124450"/>
            <a:ext cx="5905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4 of 5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14F0F00-33DE-4C73-8489-B193D277EBE9}"/>
              </a:ext>
            </a:extLst>
          </p:cNvPr>
          <p:cNvSpPr>
            <a:spLocks noGrp="1"/>
          </p:cNvSpPr>
          <p:nvPr/>
        </p:nvSpPr>
        <p:spPr>
          <a:xfrm>
            <a:off x="1543050" y="487680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Tools -&gt; Runtime Prepared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7BA62E4-DDB5-4D43-829B-5A0C86EBDC5C}"/>
              </a:ext>
            </a:extLst>
          </p:cNvPr>
          <p:cNvSpPr>
            <a:spLocks noGrp="1"/>
          </p:cNvSpPr>
          <p:nvPr/>
        </p:nvSpPr>
        <p:spPr>
          <a:xfrm>
            <a:off x="1543050" y="5124450"/>
            <a:ext cx="2038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E6A9507-B895-4AA0-9D98-009594BD01C9}"/>
              </a:ext>
            </a:extLst>
          </p:cNvPr>
          <p:cNvSpPr>
            <a:spLocks noGrp="1"/>
          </p:cNvSpPr>
          <p:nvPr/>
        </p:nvSpPr>
        <p:spPr>
          <a:xfrm>
            <a:off x="3810000" y="49339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Tools Attached -&gt; Runtime Prepared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693B010-2421-42CB-B657-F9C7081E2F48}"/>
              </a:ext>
            </a:extLst>
          </p:cNvPr>
          <p:cNvSpPr>
            <a:spLocks noGrp="1"/>
          </p:cNvSpPr>
          <p:nvPr/>
        </p:nvSpPr>
        <p:spPr>
          <a:xfrm>
            <a:off x="6229350" y="4867275"/>
            <a:ext cx="2495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 parser plus prompt/cache token fields.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C64E21C-23EF-484C-988C-EE037A7C3106}"/>
              </a:ext>
            </a:extLst>
          </p:cNvPr>
          <p:cNvSpPr>
            <a:spLocks noGrp="1"/>
          </p:cNvSpPr>
          <p:nvPr/>
        </p:nvSpPr>
        <p:spPr>
          <a:xfrm>
            <a:off x="8953500" y="4914900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20" b="1">
                <a:solidFill>
                  <a:srgbClr val="0F9F6E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0F9F6E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5A310E0-6181-404A-95F1-FB200CDC8727}"/>
              </a:ext>
            </a:extLst>
          </p:cNvPr>
          <p:cNvSpPr>
            <a:spLocks noGrp="1"/>
          </p:cNvSpPr>
          <p:nvPr/>
        </p:nvSpPr>
        <p:spPr>
          <a:xfrm>
            <a:off x="10172700" y="4905375"/>
            <a:ext cx="1295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tools, parser, prompt/cache tokens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3D718A9-2177-40FF-B8A9-0C91ED53B20C}"/>
              </a:ext>
            </a:extLst>
          </p:cNvPr>
          <p:cNvSpPr>
            <a:spLocks noGrp="1"/>
          </p:cNvSpPr>
          <p:nvPr/>
        </p:nvSpPr>
        <p:spPr>
          <a:xfrm>
            <a:off x="609600" y="5438775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6846D44-16D7-480E-B129-88471EFFDAB0}"/>
              </a:ext>
            </a:extLst>
          </p:cNvPr>
          <p:cNvSpPr>
            <a:spLocks noGrp="1"/>
          </p:cNvSpPr>
          <p:nvPr/>
        </p:nvSpPr>
        <p:spPr>
          <a:xfrm>
            <a:off x="609600" y="5448300"/>
            <a:ext cx="10972800" cy="68580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D07B8AD-7E08-4BAB-AF89-92B005E2F38D}"/>
              </a:ext>
            </a:extLst>
          </p:cNvPr>
          <p:cNvSpPr>
            <a:spLocks noGrp="1"/>
          </p:cNvSpPr>
          <p:nvPr/>
        </p:nvSpPr>
        <p:spPr>
          <a:xfrm>
            <a:off x="609600" y="5448300"/>
            <a:ext cx="76200" cy="68580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E7B3051-3800-4E9B-BA61-096B941CF509}"/>
              </a:ext>
            </a:extLst>
          </p:cNvPr>
          <p:cNvSpPr>
            <a:spLocks noGrp="1"/>
          </p:cNvSpPr>
          <p:nvPr/>
        </p:nvSpPr>
        <p:spPr>
          <a:xfrm>
            <a:off x="742950" y="5581650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Slides 18-21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FFC038E-7CBF-4171-B800-F7B5082D01D8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5905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5 of 5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79BF7DD-F2C9-487C-BA76-BEFD7A41952E}"/>
              </a:ext>
            </a:extLst>
          </p:cNvPr>
          <p:cNvSpPr>
            <a:spLocks noGrp="1"/>
          </p:cNvSpPr>
          <p:nvPr/>
        </p:nvSpPr>
        <p:spPr>
          <a:xfrm>
            <a:off x="1543050" y="556260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-&gt; Behavior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DC52C16-7FFD-48B7-B4C4-EF6309920D75}"/>
              </a:ext>
            </a:extLst>
          </p:cNvPr>
          <p:cNvSpPr>
            <a:spLocks noGrp="1"/>
          </p:cNvSpPr>
          <p:nvPr/>
        </p:nvSpPr>
        <p:spPr>
          <a:xfrm>
            <a:off x="1543050" y="5810250"/>
            <a:ext cx="2038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268BB99-7319-4295-8A71-587A574B905B}"/>
              </a:ext>
            </a:extLst>
          </p:cNvPr>
          <p:cNvSpPr>
            <a:spLocks noGrp="1"/>
          </p:cNvSpPr>
          <p:nvPr/>
        </p:nvSpPr>
        <p:spPr>
          <a:xfrm>
            <a:off x="3810000" y="56197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 Prepared -&gt; Behavior Recorded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62A9DFB-4174-4931-B453-4EA0600E936A}"/>
              </a:ext>
            </a:extLst>
          </p:cNvPr>
          <p:cNvSpPr>
            <a:spLocks noGrp="1"/>
          </p:cNvSpPr>
          <p:nvPr/>
        </p:nvSpPr>
        <p:spPr>
          <a:xfrm>
            <a:off x="6229350" y="5553075"/>
            <a:ext cx="2495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 calls, finish_reason, response_text, workspace_changed.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3602783-F5F0-4937-BDA5-EEE03DD82B93}"/>
              </a:ext>
            </a:extLst>
          </p:cNvPr>
          <p:cNvSpPr>
            <a:spLocks noGrp="1"/>
          </p:cNvSpPr>
          <p:nvPr/>
        </p:nvSpPr>
        <p:spPr>
          <a:xfrm>
            <a:off x="8953500" y="5600700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20" b="1">
                <a:solidFill>
                  <a:srgbClr val="BE123C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BE123C"/>
                </a:solidFill>
                <a:latin typeface="Aptos Mono"/>
                <a:ea typeface="Aptos Mono"/>
                <a:cs typeface="Aptos Mono"/>
              </a:rPr>
              <a:t>+2,066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B4FD6D3-9D75-4551-BAAB-C2C9434FD763}"/>
              </a:ext>
            </a:extLst>
          </p:cNvPr>
          <p:cNvSpPr>
            <a:spLocks noGrp="1"/>
          </p:cNvSpPr>
          <p:nvPr/>
        </p:nvSpPr>
        <p:spPr>
          <a:xfrm>
            <a:off x="10172700" y="5591175"/>
            <a:ext cx="1295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 calls, response, outcome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5237FFD-AC35-4936-B0D1-CF37BCD1342E}"/>
              </a:ext>
            </a:extLst>
          </p:cNvPr>
          <p:cNvSpPr>
            <a:spLocks noGrp="1"/>
          </p:cNvSpPr>
          <p:nvPr/>
        </p:nvSpPr>
        <p:spPr>
          <a:xfrm>
            <a:off x="609600" y="6124575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F7D0F1F-80CB-49E5-AF52-0AF84B614444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9A904F1-594D-48DD-A9C1-DD5525EC5655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B837DB8-6C60-446E-8D50-F68FAE5AA102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62813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0100" y="495300"/>
            <a:ext cx="5905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STEP 1 OF 5 | TASK -&gt; PROMPT | PROMPT BUILDER (LOCAL HELPER SCRIPT)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58100" y="514350"/>
            <a:ext cx="742950" cy="209550"/>
          </a:xfrm>
          <a:prstGeom prst="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15250" y="571500"/>
            <a:ext cx="628650" cy="9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Task</a:t>
            </a:r>
          </a:p>
        </p:txBody>
      </p:sp>
      <p:sp>
        <p:nvSpPr>
          <p:cNvPr id="7" name="Rectangle 6"/>
          <p:cNvSpPr/>
          <p:nvPr/>
        </p:nvSpPr>
        <p:spPr>
          <a:xfrm>
            <a:off x="847725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34400" y="571500"/>
            <a:ext cx="628650" cy="9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Prompt</a:t>
            </a:r>
          </a:p>
        </p:txBody>
      </p:sp>
      <p:sp>
        <p:nvSpPr>
          <p:cNvPr id="9" name="Rectangle 8"/>
          <p:cNvSpPr/>
          <p:nvPr/>
        </p:nvSpPr>
        <p:spPr>
          <a:xfrm>
            <a:off x="92964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53550" y="571500"/>
            <a:ext cx="628650" cy="9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Request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1555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172700" y="571500"/>
            <a:ext cx="628650" cy="9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Runtime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347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91850" y="571500"/>
            <a:ext cx="628650" cy="9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Behavior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101820"/>
                </a:solidFill>
                <a:latin typeface="Aptos Display"/>
              </a:rPr>
              <a:t>First, the raw task becomes one prompt object.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1866900"/>
            <a:ext cx="10972800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" y="245745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9600" y="1866900"/>
            <a:ext cx="76200" cy="5905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8200" y="1971675"/>
            <a:ext cx="10477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What changed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114550"/>
            <a:ext cx="25717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Raw benchmark fields become one prompt field.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6650" y="1971675"/>
            <a:ext cx="10477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6650" y="2114550"/>
            <a:ext cx="2667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This is where the task becomes instructions the agent can follow.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0350" y="1971675"/>
            <a:ext cx="11430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What to look 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0350" y="2114550"/>
            <a:ext cx="31051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New field: prompt. Payload grows by +5,576.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01250" y="1971675"/>
            <a:ext cx="857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Component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0" y="2114550"/>
            <a:ext cx="1314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Aptos"/>
              </a:rPr>
              <a:t>Prompt Builder (local helper script)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2476500"/>
            <a:ext cx="2476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01820"/>
                </a:solidFill>
                <a:latin typeface="Aptos"/>
              </a:rPr>
              <a:t>Prompt Built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57550" y="2495550"/>
            <a:ext cx="12573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67085"/>
                </a:solidFill>
                <a:latin typeface="Aptos"/>
              </a:rPr>
              <a:t>Added in this step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33900" y="2457450"/>
            <a:ext cx="581025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9625" y="2505075"/>
            <a:ext cx="409575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prompt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58350" y="2381250"/>
            <a:ext cx="1924050" cy="400050"/>
          </a:xfrm>
          <a:prstGeom prst="rect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72650" y="2447925"/>
            <a:ext cx="1695450" cy="9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>
                <a:solidFill>
                  <a:srgbClr val="667085"/>
                </a:solidFill>
                <a:latin typeface="Aptos"/>
              </a:rPr>
              <a:t>Payload size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72650" y="2571750"/>
            <a:ext cx="16954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2563EB"/>
                </a:solidFill>
                <a:latin typeface="Aptos Mono"/>
              </a:rPr>
              <a:t>+5,576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600" y="2857500"/>
            <a:ext cx="5219700" cy="2914650"/>
          </a:xfrm>
          <a:prstGeom prst="rect">
            <a:avLst/>
          </a:prstGeom>
          <a:solidFill>
            <a:srgbClr val="FFFFFF"/>
          </a:solidFill>
          <a:ln w="25400">
            <a:solidFill>
              <a:srgbClr val="8D9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09600" y="2857500"/>
            <a:ext cx="5219700" cy="400050"/>
          </a:xfrm>
          <a:prstGeom prst="rect">
            <a:avLst/>
          </a:prstGeom>
          <a:solidFill>
            <a:srgbClr val="E9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1050" y="2962275"/>
            <a:ext cx="4876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>
                <a:solidFill>
                  <a:srgbClr val="101820"/>
                </a:solidFill>
                <a:latin typeface="Aptos"/>
              </a:rPr>
              <a:t>Before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050" y="3409950"/>
            <a:ext cx="4876800" cy="2247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"repo"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"NodeBB/NodeBB",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"base_commit"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"...",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"problem_statement"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"...",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"requirements"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"...",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"selected_test_files_to_run"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[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72033"/>
                </a:solidFill>
                <a:latin typeface="Aptos Mono"/>
              </a:rPr>
              <a:t>    "test/database.js",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72033"/>
                </a:solidFill>
                <a:latin typeface="Aptos Mono"/>
              </a:rPr>
              <a:t>    "test/database/keys.js",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72033"/>
                </a:solidFill>
                <a:latin typeface="Aptos Mono"/>
              </a:rPr>
              <a:t>    "test/user/emails.js"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],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"workspace_path"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"..."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62700" y="2857500"/>
            <a:ext cx="5219700" cy="291465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62700" y="2857500"/>
            <a:ext cx="5219700" cy="400050"/>
          </a:xfrm>
          <a:prstGeom prst="rect">
            <a:avLst/>
          </a:prstGeom>
          <a:solidFill>
            <a:srgbClr val="E9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34150" y="2962275"/>
            <a:ext cx="4876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>
                <a:solidFill>
                  <a:srgbClr val="101820"/>
                </a:solidFill>
                <a:latin typeface="Aptos"/>
              </a:rPr>
              <a:t>After - actual prompt field, lightly truncated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4150" y="3409950"/>
            <a:ext cx="4876800" cy="2247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  </a:t>
            </a:r>
            <a:r>
              <a:rPr sz="835" b="1">
                <a:solidFill>
                  <a:srgbClr val="1D4ED8"/>
                </a:solidFill>
                <a:latin typeface="Aptos Mono"/>
              </a:rPr>
              <a:t>"prompt"</a:t>
            </a:r>
            <a:r>
              <a:rPr sz="835" b="0">
                <a:solidFill>
                  <a:srgbClr val="667085"/>
                </a:solidFill>
                <a:latin typeface="Aptos Mono"/>
              </a:rPr>
              <a:t>: "</a:t>
            </a:r>
            <a:r>
              <a:rPr sz="835" b="0">
                <a:solidFill>
                  <a:srgbClr val="172033"/>
                </a:solidFill>
                <a:latin typeface="Aptos Mono"/>
              </a:rPr>
              <a:t>You are working on one SWE-bench Pro software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engineering task.\n\nTask metadata:\n-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instance_id: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instance_NodeBB__NodeBB-04998908ba6721d64eba79ae3b65a351dcfbc5b5-vnan\n-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repo: NodeBB/NodeBB\n\nProblem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statement:\n**Title: Email Validation Status Not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Handled Correctly in ACP and Confirmation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Logic**\n\n**Description:**\n...</a:t>
            </a:r>
            <a:r>
              <a:rPr sz="835" b="0">
                <a:solidFill>
                  <a:srgbClr val="667085"/>
                </a:solidFill>
                <a:latin typeface="Aptos Mono"/>
              </a:rPr>
              <a:t>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5810250"/>
            <a:ext cx="9906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334155"/>
                </a:solidFill>
                <a:latin typeface="Aptos"/>
              </a:rPr>
              <a:t>Prompt grew here | user_prompt_lines=114 | user_prompt_chars=6906 | next two slides show the actual prompt field contents.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31228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5334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PROMPT FIELD (1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" y="742950"/>
            <a:ext cx="10096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01820"/>
                </a:solidFill>
                <a:latin typeface="Aptos Display"/>
              </a:rPr>
              <a:t>Verbatim artifact view of the prompt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23950"/>
            <a:ext cx="11734800" cy="5143500"/>
          </a:xfrm>
          <a:prstGeom prst="rect">
            <a:avLst/>
          </a:prstGeom>
          <a:solidFill>
            <a:srgbClr val="F7FAFC"/>
          </a:solidFill>
          <a:ln w="2413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6250" y="1314450"/>
            <a:ext cx="2286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314450"/>
            <a:ext cx="36766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result.baseline_prompt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0550" y="1733550"/>
            <a:ext cx="107632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1905000"/>
            <a:ext cx="107632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40" b="1">
                <a:solidFill>
                  <a:srgbClr val="2563EB"/>
                </a:solidFill>
                <a:latin typeface="Aptos Mono"/>
              </a:rPr>
              <a:t>  "baseline_prompt": 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209550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You are working on one SWE-bench Pro software engineering task.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217265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2950" y="224980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Task metadata: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232695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instance_id: instance_NodeBB__NodeBB-04998908ba6721d64eba79ae3b65a351dcfbc5b5-vnan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2404109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repo: NodeBB/NodeBB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48126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2950" y="255841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Problem statement: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263556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**Title: Email Validation Status Not Handled Correctly in ACP and Confirmation Logic**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271272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2950" y="278987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**Description:**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286702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2950" y="294417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The Admin Control Panel (ACP) does not accurately reflect the email validation status of users. Also, validation and confirmation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" y="302133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processes rely on key expiration, which can prevent correct verification if the keys expire. There's no fallback to recover the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309848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email if it's not found under the expected keys. This leads to failures when trying to validate or re-send confirmation emails.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" y="317563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2950" y="325278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Steps to reproduce: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950" y="332994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2950" y="340709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1. Go to ACP → Manage Users.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348424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2950" y="356139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2. Create a user without confirming their email.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950" y="363855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2950" y="371570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3. Attempt to validate or resend confirmation via ACP after some time (allow keys to expire).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950" y="379285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2950" y="387000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4. Observe the UI display and backend behavior.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394716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2950" y="402431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**What is expected:**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950" y="410146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2950" y="417861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Accurate display of email status in ACP (validated, pending, expired, or missing).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950" y="425577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2950" y="433292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Email confirmation should remain valid until it explicitly expires.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441007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2950" y="448722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Validation actions should fallback to alternative sources to locate user emails.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2950" y="456438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2950" y="464153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**What happened instead:**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2950" y="471868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2950" y="479583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Expired confirmation keys prevented email validation.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950" y="487299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2950" y="495014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The email status was unclear or incorrect in ACP.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2950" y="502729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42950" y="510444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"Validate" and "Send validation email" actions failed when the expected data was missing.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2950" y="518160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42950" y="525875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**Labels:**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2950" y="533590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2950" y="541305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bug, back-end, authentication, ui/ux, email-confirmation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0550" y="577215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"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0550" y="592455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5334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PROMPT FIELD (2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" y="742950"/>
            <a:ext cx="10096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01820"/>
                </a:solidFill>
                <a:latin typeface="Aptos Display"/>
              </a:rPr>
              <a:t>Verbatim continuation of the same prompt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23950"/>
            <a:ext cx="11734800" cy="5143500"/>
          </a:xfrm>
          <a:prstGeom prst="rect">
            <a:avLst/>
          </a:prstGeom>
          <a:solidFill>
            <a:srgbClr val="FAF5FF"/>
          </a:solidFill>
          <a:ln w="2413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6250" y="1314450"/>
            <a:ext cx="2286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314450"/>
            <a:ext cx="36766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result.baseline_prompt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0550" y="1733550"/>
            <a:ext cx="107632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1905000"/>
            <a:ext cx="107632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40" b="1">
                <a:solidFill>
                  <a:srgbClr val="6D28D9"/>
                </a:solidFill>
                <a:latin typeface="Aptos Mono"/>
              </a:rPr>
              <a:t>  "baseline_prompt": 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209550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6D28D9"/>
                </a:solidFill>
                <a:latin typeface="Aptos Mono"/>
              </a:rPr>
              <a:t>Requirements: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217265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The loadUserInfo(callerUid, uids) function should include logic to retrieve and attach `email:pending` and `email:expired` flags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224980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to each user object. These flags must be derived by resolving `confirm:byUid:&lt;uid&gt;` keys via the new `getConfirmObjs()`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232695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and checking expires timestamps in corresponding `confirm:&lt;code&gt;` objects.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2404109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2950" y="248126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The `getConfirmObjs()` helper within `loadUserInfo()` should fetch confirmation codes using `db.mget()` on `confirm:byUid:&lt;uid&gt;`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255841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keys, then retrieve the corresponding `confirm:&lt;code&gt;` objects using `db.getObjects()`. The mapping must ensure each user’s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263556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confirmation object is accurately indexed by position.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271272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2950" y="278987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Each database adapter MongoDB, PostgreSQL, and Redis, must implement a `db.mget(keys: string[]): Promise&lt;string[]&gt;` method 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286702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their respective `main.js` files. This method takes an array of keys and returns an array of corresponding string values.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" y="294417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2950" y="302133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The `db.mget` implementation should ensure that for any keys not found in the database, the method returns null at the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309848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corresponding index in the output array. For Redis, this must be achieved using `client.mget`. For MongoDB, the objects collection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" y="317563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must be queried using a `$in` filter on `_key`. For PostgreSQL, the implementation must join `legacy_object_live` 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950" y="325278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`legacy_string` tables to retrieve values by key.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950" y="332994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2950" y="340709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The `mget` implementation in all database adapters should preserve the input order of keys and explicitly return null for any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348424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key that does not exist in the data store. This behavior should be enforced in the return mapping logic.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950" y="356139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2950" y="363855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The `User.validateEmail` handler should retrieve the user’s email using `user.email.getEmailForValidation(uid)` before calling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371570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`user.email.confirmByUid(uid)`. If a valid email is found, it must be saved to the user's profile using `user.setUserField(uid,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950" y="379285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'email', email)`.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950" y="387000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2950" y="394716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The `User.sendValidationEmail` handler must use `user.email.getEmailForValidation(uid)` to obtain the correct email 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950" y="402431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explicitly pass it as the email option to `user.email.sendValidationEmail.`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950" y="410146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2950" y="417861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6D28D9"/>
                </a:solidFill>
                <a:latin typeface="Aptos Mono"/>
              </a:rPr>
              <a:t>Selected tests to run: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950" y="425577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test/database.js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950" y="433292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test/database/keys.js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441007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test/user/emails.js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950" y="448722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42950" y="456438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6D28D9"/>
                </a:solidFill>
                <a:latin typeface="Aptos Mono"/>
              </a:rPr>
              <a:t>Workspace: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950" y="464153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You have a writable local workspace at: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2950" y="471868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/home/ec2-user/kv_cache_offloading/agentbench/repos/NodeBB__NodeBB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2950" y="479583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2950" y="487299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Use the available filesystem and shell tools to inspect the repo, edit files when needed, run focused validation, and leave the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2950" y="495014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workspace in a state where a git diff can be captured.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2950" y="502729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42950" y="510444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Solve the issue in the workspace if you can.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2950" y="518160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42950" y="525875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6D28D9"/>
                </a:solidFill>
                <a:latin typeface="Aptos Mono"/>
              </a:rPr>
              <a:t>Expectations: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2950" y="533590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Inspect the real repo before deciding on changes.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2950" y="541305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Use the available tools to read files, edit code, and run focused commands or tests when useful.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2950" y="549021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Do not stop at a plan if you can make progress on the fix.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2950" y="556736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Report only what you actually changed and actually validated.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2950" y="564451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If you are blocked, explain the specific blocker briefly.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0550" y="577215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"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0550" y="592455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0100" y="495300"/>
            <a:ext cx="5905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STEP 2 OF 5 | PROMPT -&gt; REQUEST | REQUEST WRAPPER (LOCAL HELPER SCRIPT)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581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15250" y="571500"/>
            <a:ext cx="628650" cy="9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Task</a:t>
            </a:r>
          </a:p>
        </p:txBody>
      </p:sp>
      <p:sp>
        <p:nvSpPr>
          <p:cNvPr id="7" name="Rectangle 6"/>
          <p:cNvSpPr/>
          <p:nvPr/>
        </p:nvSpPr>
        <p:spPr>
          <a:xfrm>
            <a:off x="8477250" y="514350"/>
            <a:ext cx="742950" cy="209550"/>
          </a:xfrm>
          <a:prstGeom prst="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34400" y="571500"/>
            <a:ext cx="628650" cy="9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Prompt</a:t>
            </a:r>
          </a:p>
        </p:txBody>
      </p:sp>
      <p:sp>
        <p:nvSpPr>
          <p:cNvPr id="9" name="Rectangle 8"/>
          <p:cNvSpPr/>
          <p:nvPr/>
        </p:nvSpPr>
        <p:spPr>
          <a:xfrm>
            <a:off x="92964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53550" y="571500"/>
            <a:ext cx="628650" cy="9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Request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1555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172700" y="571500"/>
            <a:ext cx="628650" cy="9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Runtime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347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91850" y="571500"/>
            <a:ext cx="628650" cy="9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Behavior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101820"/>
                </a:solidFill>
                <a:latin typeface="Aptos Display"/>
              </a:rPr>
              <a:t>Next, the prompt is wrapped for the model.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1866900"/>
            <a:ext cx="10972800" cy="1905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" y="245745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9600" y="1866900"/>
            <a:ext cx="76200" cy="59055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8200" y="1971675"/>
            <a:ext cx="10477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What changed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114550"/>
            <a:ext cx="25717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The prompt is wrapped in model request fields.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6650" y="1971675"/>
            <a:ext cx="10477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6650" y="2114550"/>
            <a:ext cx="2667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The system now knows the model, messages, request ID, and hints.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0350" y="1971675"/>
            <a:ext cx="11430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What to look 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0350" y="2114550"/>
            <a:ext cx="31051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New fields: model, messages, request_context, agent_hints.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01250" y="1971675"/>
            <a:ext cx="857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Component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0" y="2114550"/>
            <a:ext cx="1314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>
                <a:solidFill>
                  <a:srgbClr val="6D28D9"/>
                </a:solidFill>
                <a:latin typeface="Aptos"/>
              </a:rPr>
              <a:t>Request Wrapper (local helper script)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2476500"/>
            <a:ext cx="2476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01820"/>
                </a:solidFill>
                <a:latin typeface="Aptos"/>
              </a:rPr>
              <a:t>Request Packaged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57550" y="2495550"/>
            <a:ext cx="12573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67085"/>
                </a:solidFill>
                <a:latin typeface="Aptos"/>
              </a:rPr>
              <a:t>Added in this step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33900" y="2457450"/>
            <a:ext cx="552450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9625" y="2505075"/>
            <a:ext cx="38100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43500" y="2457450"/>
            <a:ext cx="704850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29225" y="2505075"/>
            <a:ext cx="53340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messages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05500" y="2457450"/>
            <a:ext cx="1162050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91225" y="2505075"/>
            <a:ext cx="99060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request_context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24700" y="2457450"/>
            <a:ext cx="904875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10425" y="2505075"/>
            <a:ext cx="733425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agent_hints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33900" y="2724150"/>
            <a:ext cx="904875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19625" y="2771775"/>
            <a:ext cx="733425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tool_choice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58350" y="2381250"/>
            <a:ext cx="1924050" cy="400050"/>
          </a:xfrm>
          <a:prstGeom prst="rect">
            <a:avLst/>
          </a:prstGeom>
          <a:solidFill>
            <a:srgbClr val="FFFFFF"/>
          </a:solidFill>
          <a:ln w="20320"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72650" y="2447925"/>
            <a:ext cx="1695450" cy="9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>
                <a:solidFill>
                  <a:srgbClr val="667085"/>
                </a:solidFill>
                <a:latin typeface="Aptos"/>
              </a:rPr>
              <a:t>Payload size change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72650" y="2571750"/>
            <a:ext cx="16954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667085"/>
                </a:solidFill>
                <a:latin typeface="Aptos Mono"/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600" y="2857500"/>
            <a:ext cx="5219700" cy="2914650"/>
          </a:xfrm>
          <a:prstGeom prst="rect">
            <a:avLst/>
          </a:prstGeom>
          <a:solidFill>
            <a:srgbClr val="FFFFFF"/>
          </a:solidFill>
          <a:ln w="25400">
            <a:solidFill>
              <a:srgbClr val="8D9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09600" y="2857500"/>
            <a:ext cx="5219700" cy="400050"/>
          </a:xfrm>
          <a:prstGeom prst="rect">
            <a:avLst/>
          </a:prstGeom>
          <a:solidFill>
            <a:srgbClr val="E9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1050" y="2962275"/>
            <a:ext cx="4876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>
                <a:solidFill>
                  <a:srgbClr val="101820"/>
                </a:solidFill>
                <a:latin typeface="Aptos"/>
              </a:rPr>
              <a:t>Before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050" y="3409950"/>
            <a:ext cx="4876800" cy="2247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  </a:t>
            </a:r>
            <a:r>
              <a:rPr sz="835" b="1">
                <a:solidFill>
                  <a:srgbClr val="1D4ED8"/>
                </a:solidFill>
                <a:latin typeface="Aptos Mono"/>
              </a:rPr>
              <a:t>"prompt"</a:t>
            </a:r>
            <a:r>
              <a:rPr sz="835" b="0">
                <a:solidFill>
                  <a:srgbClr val="667085"/>
                </a:solidFill>
                <a:latin typeface="Aptos Mono"/>
              </a:rPr>
              <a:t>: "</a:t>
            </a:r>
            <a:r>
              <a:rPr sz="835" b="0">
                <a:solidFill>
                  <a:srgbClr val="172033"/>
                </a:solidFill>
                <a:latin typeface="Aptos Mono"/>
              </a:rPr>
              <a:t>You are working on one SWE-bench Pro software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engineering task.\n\nTask metadata:\n-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instance_id: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instance_NodeBB__NodeBB-04998908ba6721d64eba79ae3b65a351dcfbc5b5-vnan\n-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repo: NodeBB/NodeBB\n\nProblem statement:\n...</a:t>
            </a:r>
            <a:r>
              <a:rPr sz="835" b="0">
                <a:solidFill>
                  <a:srgbClr val="667085"/>
                </a:solidFill>
                <a:latin typeface="Aptos Mono"/>
              </a:rPr>
              <a:t>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62700" y="2857500"/>
            <a:ext cx="5219700" cy="2914650"/>
          </a:xfrm>
          <a:prstGeom prst="rect">
            <a:avLst/>
          </a:prstGeom>
          <a:solidFill>
            <a:srgbClr val="FFFFFF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362700" y="2857500"/>
            <a:ext cx="5219700" cy="400050"/>
          </a:xfrm>
          <a:prstGeom prst="rect">
            <a:avLst/>
          </a:prstGeom>
          <a:solidFill>
            <a:srgbClr val="E9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34150" y="2962275"/>
            <a:ext cx="4876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>
                <a:solidFill>
                  <a:srgbClr val="101820"/>
                </a:solidFill>
                <a:latin typeface="Aptos"/>
              </a:rPr>
              <a:t>After - actual request object, lightly truncated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4150" y="3409950"/>
            <a:ext cx="4876800" cy="2247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"model"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"Qwen/Qwen2.5-7B-Instruct",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"messages"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[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"role"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"user",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"content"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"You are working on one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  SWE-bench Pro software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  engineering task.\\n\\nTask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  metadata:\\n- instance_id: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  instance_NodeBB__NodeBB-04998908ba6721d64eba79ae3b65a351dcfbc5b5-vnan\\n..."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}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],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"request_context"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"request_id"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172033"/>
                </a:solidFill>
                <a:latin typeface="Aptos Mono"/>
              </a:rPr>
              <a:t>      "...::baseline_execution",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"phase"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"baseline_execution",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"app_variant"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172033"/>
                </a:solidFill>
                <a:latin typeface="Aptos Mono"/>
              </a:rPr>
              <a:t>      "upstream_deploy_coding_agent"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},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"agent_hints"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"priority"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5,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"reuse_likelihood"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0.9,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"expected_output_tokens"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2048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},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"tool_choice"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"auto"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600" y="5810250"/>
            <a:ext cx="9906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334155"/>
                </a:solidFill>
                <a:latin typeface="Aptos"/>
              </a:rPr>
              <a:t>No payload growth | model=Qwen/Qwen2.5-7B-Instruct | tool_choice=auto | request_id=...::baseline_execution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96926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5334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REQUEST PAYLOAD (1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" y="742950"/>
            <a:ext cx="10096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01820"/>
                </a:solidFill>
                <a:latin typeface="Aptos Display"/>
              </a:rPr>
              <a:t>Verbatim prompt content inside the packaged message object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23950"/>
            <a:ext cx="11734800" cy="5143500"/>
          </a:xfrm>
          <a:prstGeom prst="rect">
            <a:avLst/>
          </a:prstGeom>
          <a:solidFill>
            <a:srgbClr val="F7FAFC"/>
          </a:solidFill>
          <a:ln w="2413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6250" y="1314450"/>
            <a:ext cx="2286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314450"/>
            <a:ext cx="36766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prompt_evolution_report.stages[2].initial_messages[0]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0550" y="1733550"/>
            <a:ext cx="107632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1905000"/>
            <a:ext cx="107632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40" b="1">
                <a:solidFill>
                  <a:srgbClr val="1D4ED8"/>
                </a:solidFill>
                <a:latin typeface="Aptos Mono"/>
              </a:rPr>
              <a:t>  "role": "user",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" y="2076449"/>
            <a:ext cx="107632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40" b="1">
                <a:solidFill>
                  <a:srgbClr val="1D4ED8"/>
                </a:solidFill>
                <a:latin typeface="Aptos Mono"/>
              </a:rPr>
              <a:t>  "content": 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226695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You are working on one SWE-bench Pro software engineering task.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234410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2950" y="242125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Task metadata: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249840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instance_id: instance_NodeBB__NodeBB-04998908ba6721d64eba79ae3b65a351dcfbc5b5-vnan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57556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repo: NodeBB/NodeBB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265271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2950" y="272986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Problem statement: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280701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**Title: Email Validation Status Not Handled Correctly in ACP and Confirmation Logic**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288417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2950" y="296132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**Description:**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" y="303847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2950" y="311562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The Admin Control Panel (ACP) does not accurately reflect the email validation status of users. Also, validation and confirmation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319278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processes rely on key expiration, which can prevent correct verification if the keys expire. There's no fallback to recover the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" y="326993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email if it's not found under the expected keys. This leads to failures when trying to validate or re-send confirmation emails.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950" y="334708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2950" y="342423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Steps to reproduce: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350139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2950" y="357854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1. Go to ACP → Manage Users.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950" y="365569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2950" y="373284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2. Create a user without confirming their email.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381000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2950" y="388715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3. Attempt to validate or resend confirmation via ACP after some time (allow keys to expire).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950" y="396430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2950" y="404145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4. Observe the UI display and backend behavior.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950" y="411861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2950" y="419576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**What is expected:**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427291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2950" y="435006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Accurate display of email status in ACP (validated, pending, expired, or missing).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950" y="442722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2950" y="450437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Email confirmation should remain valid until it explicitly expires.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950" y="458152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42950" y="465867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Validation actions should fallback to alternative sources to locate user emails.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950" y="473583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2950" y="481298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**What happened instead:**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2950" y="489013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2950" y="496728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Expired confirmation keys prevented email validation.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2950" y="504444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2950" y="512159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The email status was unclear or incorrect in ACP.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2950" y="519874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42950" y="527589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"Validate" and "Send validation email" actions failed when the expected data was missing.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2950" y="535305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2950" y="543020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**Labels:**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2950" y="550735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42950" y="558450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bug, back-end, authentication, ui/ux, email-confirmation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0550" y="577215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"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0550" y="592455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5334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REQUEST PAYLOAD (2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" y="742950"/>
            <a:ext cx="10096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01820"/>
                </a:solidFill>
                <a:latin typeface="Aptos Display"/>
              </a:rPr>
              <a:t>Verbatim metadata attached to the same packaged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23950"/>
            <a:ext cx="11734800" cy="5143500"/>
          </a:xfrm>
          <a:prstGeom prst="rect">
            <a:avLst/>
          </a:prstGeom>
          <a:solidFill>
            <a:srgbClr val="F7FAFC"/>
          </a:solidFill>
          <a:ln w="2413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6250" y="1314450"/>
            <a:ext cx="2286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3649" y="1314450"/>
            <a:ext cx="5334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prompt_evolution_report.stages[2].{tool_choice, request_context, agent_hints}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2950" y="173355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181070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"tool_choice": "auto",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188785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"request_context":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196500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"request_id": "instance_NodeBB__NodeBB-04998908ba6721d64eba79ae3b65a351dcfbc5b5-vnan_20260518_170604::baseline_execution",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2042159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"parent_run_id": "instance_NodeBB__NodeBB-04998908ba6721d64eba79ae3b65a351dcfbc5b5-vnan_20260518_170604",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211931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"task_instance_id": "instance_NodeBB__NodeBB-04998908ba6721d64eba79ae3b65a351dcfbc5b5-vnan",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2196464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"phase": "baseline_execution",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27361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"step_index": null,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2350769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"step_title": null,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242792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"app_variant": "upstream_deploy_coding_agent"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2505074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},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258222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"agent_hints":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265938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"priority": 5,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" y="273653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"reuse_likelihood": 0.9,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" y="281368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"agent_phase": "baseline_execution",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289083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"latency_sensitivity": 0.7,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" y="296799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"program_id": "agentbench.deepagents_app",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950" y="304514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"context_type": "software_engineering_long_horizon",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950" y="312229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"expected_output_tokens": 2048,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319944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"hint_probe_id": "instance_NodeBB__NodeBB-04998908ba6721d64eba79ae3b65a351dcfbc5b5-vnan_20260518_170604::hint_probe"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327660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950" y="335375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C11D4FC3-C9FD-4C82-91F9-9D370A9843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067793-9966-4524-9D2A-0BA12492E0D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8277FD-5D06-460D-BDC9-1E55E45C24B6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3 OF 5 | REQUEST -&gt; AGENT RULES | DEEP AGENTS LAYER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2832FD-A172-4A58-8E82-1883119433D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Then, agent rules are layered into the request.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C4E2FE-FDE2-40A1-AD5C-835A02EA2604}"/>
              </a:ext>
            </a:extLst>
          </p:cNvPr>
          <p:cNvSpPr>
            <a:spLocks noGrp="1"/>
          </p:cNvSpPr>
          <p:nvPr/>
        </p:nvSpPr>
        <p:spPr>
          <a:xfrm>
            <a:off x="7658100" y="5143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D8D0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F93E3F-3255-4940-B90A-CD44942F807C}"/>
              </a:ext>
            </a:extLst>
          </p:cNvPr>
          <p:cNvSpPr>
            <a:spLocks noGrp="1"/>
          </p:cNvSpPr>
          <p:nvPr/>
        </p:nvSpPr>
        <p:spPr>
          <a:xfrm>
            <a:off x="771525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A6D818-3017-4E40-9A62-E929A95C0B49}"/>
              </a:ext>
            </a:extLst>
          </p:cNvPr>
          <p:cNvSpPr>
            <a:spLocks noGrp="1"/>
          </p:cNvSpPr>
          <p:nvPr/>
        </p:nvSpPr>
        <p:spPr>
          <a:xfrm>
            <a:off x="8477250" y="5143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D8D0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0BA479-FA44-4765-ACE9-B1F9C2BE4463}"/>
              </a:ext>
            </a:extLst>
          </p:cNvPr>
          <p:cNvSpPr>
            <a:spLocks noGrp="1"/>
          </p:cNvSpPr>
          <p:nvPr/>
        </p:nvSpPr>
        <p:spPr>
          <a:xfrm>
            <a:off x="853440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30F078-9BB5-4E59-BFED-D0AE62FE31DE}"/>
              </a:ext>
            </a:extLst>
          </p:cNvPr>
          <p:cNvSpPr>
            <a:spLocks noGrp="1"/>
          </p:cNvSpPr>
          <p:nvPr/>
        </p:nvSpPr>
        <p:spPr>
          <a:xfrm>
            <a:off x="9296400" y="514350"/>
            <a:ext cx="742950" cy="209550"/>
          </a:xfrm>
          <a:prstGeom prst="rect">
            <a:avLst/>
          </a:prstGeom>
          <a:solidFill>
            <a:srgbClr val="1D4ED8"/>
          </a:solidFill>
          <a:ln w="1143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81F9A7-8CD9-4101-A2E3-C351E280A770}"/>
              </a:ext>
            </a:extLst>
          </p:cNvPr>
          <p:cNvSpPr>
            <a:spLocks noGrp="1"/>
          </p:cNvSpPr>
          <p:nvPr/>
        </p:nvSpPr>
        <p:spPr>
          <a:xfrm>
            <a:off x="935355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9896E1-3509-40EA-9FCB-F44146A3489B}"/>
              </a:ext>
            </a:extLst>
          </p:cNvPr>
          <p:cNvSpPr>
            <a:spLocks noGrp="1"/>
          </p:cNvSpPr>
          <p:nvPr/>
        </p:nvSpPr>
        <p:spPr>
          <a:xfrm>
            <a:off x="10115550" y="5143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D8D0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B02424-C4B6-4AE8-8F8B-439CFB9229A7}"/>
              </a:ext>
            </a:extLst>
          </p:cNvPr>
          <p:cNvSpPr>
            <a:spLocks noGrp="1"/>
          </p:cNvSpPr>
          <p:nvPr/>
        </p:nvSpPr>
        <p:spPr>
          <a:xfrm>
            <a:off x="1017270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789E81-02A6-4889-9577-7004DC87580F}"/>
              </a:ext>
            </a:extLst>
          </p:cNvPr>
          <p:cNvSpPr>
            <a:spLocks noGrp="1"/>
          </p:cNvSpPr>
          <p:nvPr/>
        </p:nvSpPr>
        <p:spPr>
          <a:xfrm>
            <a:off x="10934700" y="5143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D8D0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460361-4957-480D-8BDB-93F7A9B830AE}"/>
              </a:ext>
            </a:extLst>
          </p:cNvPr>
          <p:cNvSpPr>
            <a:spLocks noGrp="1"/>
          </p:cNvSpPr>
          <p:nvPr/>
        </p:nvSpPr>
        <p:spPr>
          <a:xfrm>
            <a:off x="1099185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F7DF24-5BC6-4B5C-B27B-3428707D48E6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10972800" cy="190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BDCDDE-F317-417A-B396-FD4FD68C0460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5052E7-1154-4066-BB85-D079301930D2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76200" cy="5905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635CCC-CBB7-42E4-8742-E001622599C7}"/>
              </a:ext>
            </a:extLst>
          </p:cNvPr>
          <p:cNvSpPr>
            <a:spLocks noGrp="1"/>
          </p:cNvSpPr>
          <p:nvPr/>
        </p:nvSpPr>
        <p:spPr>
          <a:xfrm>
            <a:off x="838200" y="1971675"/>
            <a:ext cx="1047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9E7502-C6D3-4A98-B1EC-FB04491F69BD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Coding-agent behavior rules are layered around the request.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D02F61-9EC7-4D58-AFED-5B189655940C}"/>
              </a:ext>
            </a:extLst>
          </p:cNvPr>
          <p:cNvSpPr>
            <a:spLocks noGrp="1"/>
          </p:cNvSpPr>
          <p:nvPr/>
        </p:nvSpPr>
        <p:spPr>
          <a:xfrm>
            <a:off x="3676650" y="1971675"/>
            <a:ext cx="1047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20401A-A59E-40D9-A781-42710609EA08}"/>
              </a:ext>
            </a:extLst>
          </p:cNvPr>
          <p:cNvSpPr>
            <a:spLocks noGrp="1"/>
          </p:cNvSpPr>
          <p:nvPr/>
        </p:nvSpPr>
        <p:spPr>
          <a:xfrm>
            <a:off x="3676650" y="211455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They tell the agent how to behave: inspect, use tools, and verify.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75F80C-BF55-4AFA-A052-5EA24C696946}"/>
              </a:ext>
            </a:extLst>
          </p:cNvPr>
          <p:cNvSpPr>
            <a:spLocks noGrp="1"/>
          </p:cNvSpPr>
          <p:nvPr/>
        </p:nvSpPr>
        <p:spPr>
          <a:xfrm>
            <a:off x="6610350" y="1971675"/>
            <a:ext cx="1143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to look at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AF236D-09D0-42F6-A424-7B35AB119368}"/>
              </a:ext>
            </a:extLst>
          </p:cNvPr>
          <p:cNvSpPr>
            <a:spLocks noGrp="1"/>
          </p:cNvSpPr>
          <p:nvPr/>
        </p:nvSpPr>
        <p:spPr>
          <a:xfrm>
            <a:off x="6610350" y="2114550"/>
            <a:ext cx="3105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New field: system_prompt.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C36F80-2ADB-4FF8-BFBE-FCF349401BF5}"/>
              </a:ext>
            </a:extLst>
          </p:cNvPr>
          <p:cNvSpPr>
            <a:spLocks noGrp="1"/>
          </p:cNvSpPr>
          <p:nvPr/>
        </p:nvSpPr>
        <p:spPr>
          <a:xfrm>
            <a:off x="10001250" y="1971675"/>
            <a:ext cx="8572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B33FDB-5F72-4167-AD49-E17B755D46C7}"/>
              </a:ext>
            </a:extLst>
          </p:cNvPr>
          <p:cNvSpPr>
            <a:spLocks noGrp="1"/>
          </p:cNvSpPr>
          <p:nvPr/>
        </p:nvSpPr>
        <p:spPr>
          <a:xfrm>
            <a:off x="10001250" y="2114550"/>
            <a:ext cx="1314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1D062C-0630-4209-B859-9FEDFF5FB7B2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 Rules Applied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5286A6-7502-4F9B-B794-E1C777588958}"/>
              </a:ext>
            </a:extLst>
          </p:cNvPr>
          <p:cNvSpPr>
            <a:spLocks noGrp="1"/>
          </p:cNvSpPr>
          <p:nvPr/>
        </p:nvSpPr>
        <p:spPr>
          <a:xfrm>
            <a:off x="3257550" y="2495550"/>
            <a:ext cx="1257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Added in this step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FC075E-6D74-414B-9FDF-20672074F6A5}"/>
              </a:ext>
            </a:extLst>
          </p:cNvPr>
          <p:cNvSpPr>
            <a:spLocks noGrp="1"/>
          </p:cNvSpPr>
          <p:nvPr/>
        </p:nvSpPr>
        <p:spPr>
          <a:xfrm>
            <a:off x="4533900" y="2457450"/>
            <a:ext cx="103251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83316E-28BD-46EA-A61D-585A74EB526C}"/>
              </a:ext>
            </a:extLst>
          </p:cNvPr>
          <p:cNvSpPr>
            <a:spLocks noGrp="1"/>
          </p:cNvSpPr>
          <p:nvPr/>
        </p:nvSpPr>
        <p:spPr>
          <a:xfrm>
            <a:off x="4619625" y="2505075"/>
            <a:ext cx="86106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C2FF6F7-EAE6-46F6-B609-7F9BD990FD1D}"/>
              </a:ext>
            </a:extLst>
          </p:cNvPr>
          <p:cNvSpPr>
            <a:spLocks noGrp="1"/>
          </p:cNvSpPr>
          <p:nvPr/>
        </p:nvSpPr>
        <p:spPr>
          <a:xfrm>
            <a:off x="9658350" y="2381250"/>
            <a:ext cx="1924050" cy="400050"/>
          </a:xfrm>
          <a:prstGeom prst="rect">
            <a:avLst/>
          </a:prstGeom>
          <a:solidFill>
            <a:srgbClr val="FFFFFF"/>
          </a:solidFill>
          <a:ln w="15240">
            <a:solidFill>
              <a:srgbClr val="6670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649EF0-BA93-4F8C-A6DA-084012D7C132}"/>
              </a:ext>
            </a:extLst>
          </p:cNvPr>
          <p:cNvSpPr>
            <a:spLocks noGrp="1"/>
          </p:cNvSpPr>
          <p:nvPr/>
        </p:nvSpPr>
        <p:spPr>
          <a:xfrm>
            <a:off x="9772650" y="2447925"/>
            <a:ext cx="16954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Payload size change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3A81F45-6752-4AE5-B3E6-4406EFDB67F4}"/>
              </a:ext>
            </a:extLst>
          </p:cNvPr>
          <p:cNvSpPr>
            <a:spLocks noGrp="1"/>
          </p:cNvSpPr>
          <p:nvPr/>
        </p:nvSpPr>
        <p:spPr>
          <a:xfrm>
            <a:off x="9772650" y="2571750"/>
            <a:ext cx="16954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238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8DCF01A-3BBB-4343-B1A5-530D02041C27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19700" cy="2914650"/>
          </a:xfrm>
          <a:prstGeom prst="rect">
            <a:avLst/>
          </a:prstGeom>
          <a:solidFill>
            <a:srgbClr val="FFFFFF"/>
          </a:solidFill>
          <a:ln w="19050">
            <a:solidFill>
              <a:srgbClr val="8D9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814BD6-9E41-4AA0-BE60-86AA061FA6F6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19700" cy="400050"/>
          </a:xfrm>
          <a:prstGeom prst="rect">
            <a:avLst/>
          </a:prstGeom>
          <a:solidFill>
            <a:srgbClr val="E9E1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9B3FB14-EB75-4CBA-AAA9-49C087F8E958}"/>
              </a:ext>
            </a:extLst>
          </p:cNvPr>
          <p:cNvSpPr>
            <a:spLocks noGrp="1"/>
          </p:cNvSpPr>
          <p:nvPr/>
        </p:nvSpPr>
        <p:spPr>
          <a:xfrm>
            <a:off x="781050" y="2962275"/>
            <a:ext cx="487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83F8DB3-4215-4D3C-8F5C-48EFC326A8D7}"/>
              </a:ext>
            </a:extLst>
          </p:cNvPr>
          <p:cNvSpPr>
            <a:spLocks noGrp="1"/>
          </p:cNvSpPr>
          <p:nvPr/>
        </p:nvSpPr>
        <p:spPr>
          <a:xfrm>
            <a:off x="781050" y="3409950"/>
            <a:ext cx="4876800" cy="2247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15C9A9E-BA5F-40AB-A057-8DBED4D240EE}"/>
              </a:ext>
            </a:extLst>
          </p:cNvPr>
          <p:cNvSpPr>
            <a:spLocks noGrp="1"/>
          </p:cNvSpPr>
          <p:nvPr/>
        </p:nvSpPr>
        <p:spPr>
          <a:xfrm>
            <a:off x="6362700" y="2857500"/>
            <a:ext cx="5219700" cy="29146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FAE9F64-4009-40F9-B3F3-2A84A8B4CC91}"/>
              </a:ext>
            </a:extLst>
          </p:cNvPr>
          <p:cNvSpPr>
            <a:spLocks noGrp="1"/>
          </p:cNvSpPr>
          <p:nvPr/>
        </p:nvSpPr>
        <p:spPr>
          <a:xfrm>
            <a:off x="6362700" y="2857500"/>
            <a:ext cx="5219700" cy="400050"/>
          </a:xfrm>
          <a:prstGeom prst="rect">
            <a:avLst/>
          </a:prstGeom>
          <a:solidFill>
            <a:srgbClr val="E9E1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A4658FB-28C7-4435-B8D7-97BB0909B55E}"/>
              </a:ext>
            </a:extLst>
          </p:cNvPr>
          <p:cNvSpPr>
            <a:spLocks noGrp="1"/>
          </p:cNvSpPr>
          <p:nvPr/>
        </p:nvSpPr>
        <p:spPr>
          <a:xfrm>
            <a:off x="6534150" y="2962275"/>
            <a:ext cx="487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After - added fields are called out above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000DAEF-7F8B-4C7C-B7D7-E8C0668D4643}"/>
              </a:ext>
            </a:extLst>
          </p:cNvPr>
          <p:cNvSpPr>
            <a:spLocks noGrp="1"/>
          </p:cNvSpPr>
          <p:nvPr/>
        </p:nvSpPr>
        <p:spPr>
          <a:xfrm>
            <a:off x="6534150" y="3409950"/>
            <a:ext cx="4876800" cy="2247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D93502F-E4E6-48E2-BCA0-FF454456AC34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990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No payload growth | system_prompt_chars=0 | runtime_source=python_environment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5DE6CAF-6071-49D0-BD1D-E3C357E3A8CA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7445FA0-92B7-41E5-A55E-1D7E1B44914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2E39FFD-163A-4781-9251-6D72815B63A9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48697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5334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" y="742950"/>
            <a:ext cx="10096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Exact persisted keys behind the agent-rules transition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23950"/>
            <a:ext cx="11734800" cy="5143500"/>
          </a:xfrm>
          <a:prstGeom prst="rect">
            <a:avLst/>
          </a:prstGeom>
          <a:solidFill>
            <a:srgbClr val="F7FAFC"/>
          </a:solidFill>
          <a:ln w="2413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6250" y="1314450"/>
            <a:ext cx="2286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399" y="1314450"/>
            <a:ext cx="46672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prompt_evolution_report.stages[3].{system_prompt, added_keys, keys_before, keys_after, result_summary}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2950" y="173355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181070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70" b="1">
                <a:solidFill>
                  <a:srgbClr val="D97706"/>
                </a:solidFill>
                <a:latin typeface="Aptos Mono"/>
              </a:rPr>
              <a:t>  "system_prompt": "",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188785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70" b="1">
                <a:solidFill>
                  <a:srgbClr val="D97706"/>
                </a:solidFill>
                <a:latin typeface="Aptos Mono"/>
              </a:rPr>
              <a:t>  "added_keys": "system_prompt",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196500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70" b="1">
                <a:solidFill>
                  <a:srgbClr val="D97706"/>
                </a:solidFill>
                <a:latin typeface="Aptos Mono"/>
              </a:rPr>
              <a:t>  "keys_before": "model, messages[].role, messages[].content, request_context.*, agent_hints.*, tool_choice",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2042159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70" b="1">
                <a:solidFill>
                  <a:srgbClr val="D97706"/>
                </a:solidFill>
                <a:latin typeface="Aptos Mono"/>
              </a:rPr>
              <a:t>  "keys_after": "model, system_prompt, messages[].role, messages[].content, request_context.*, agent_hints.*, tool_choice",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211931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70" b="1">
                <a:solidFill>
                  <a:srgbClr val="D97706"/>
                </a:solidFill>
                <a:latin typeface="Aptos Mono"/>
              </a:rPr>
              <a:t>  "result_summary": "system_prompt_chars=0 | runtime_source=python_environment"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2196464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27361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2950" y="2350769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2950" y="242792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2950" y="2505074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2950" y="258222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2950" y="265938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2950" y="273653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2950" y="281368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2950" y="289083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2950" y="296799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2950" y="304514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2950" y="312229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2950" y="319944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2950" y="327660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2950" y="335375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2950" y="343090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2950" y="350805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2950" y="358521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2950" y="366236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2950" y="373951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2950" y="381666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2950" y="389382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2950" y="397097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2950" y="404812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2950" y="412527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2950" y="420243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2950" y="427958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F950508A-E6B8-4008-857C-182A847F63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AA949A-3710-44DF-8E7C-687B15F0843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137E85-3CA4-4DD4-8F1C-82E41F2F76E7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4 OF 5 | TOOLS -&gt; RUNTIME PREPARED | DYNAMO RUNTIME LAYER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D4360D-D39D-4C0B-A7A2-E03CA5266A0E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Then, runtime adds tool and token context.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73F7A8-F305-4B4E-9B8C-CF2E2823EA76}"/>
              </a:ext>
            </a:extLst>
          </p:cNvPr>
          <p:cNvSpPr>
            <a:spLocks noGrp="1"/>
          </p:cNvSpPr>
          <p:nvPr/>
        </p:nvSpPr>
        <p:spPr>
          <a:xfrm>
            <a:off x="7658100" y="5143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D8D0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14D7A4-F1CB-4160-BC85-3D2A15C940DD}"/>
              </a:ext>
            </a:extLst>
          </p:cNvPr>
          <p:cNvSpPr>
            <a:spLocks noGrp="1"/>
          </p:cNvSpPr>
          <p:nvPr/>
        </p:nvSpPr>
        <p:spPr>
          <a:xfrm>
            <a:off x="771525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D2D129-A2A0-41D5-9B3A-6F2EE84ADBDE}"/>
              </a:ext>
            </a:extLst>
          </p:cNvPr>
          <p:cNvSpPr>
            <a:spLocks noGrp="1"/>
          </p:cNvSpPr>
          <p:nvPr/>
        </p:nvSpPr>
        <p:spPr>
          <a:xfrm>
            <a:off x="8477250" y="5143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D8D0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3E0297-A039-45E0-9F2D-0C1A443BFCC1}"/>
              </a:ext>
            </a:extLst>
          </p:cNvPr>
          <p:cNvSpPr>
            <a:spLocks noGrp="1"/>
          </p:cNvSpPr>
          <p:nvPr/>
        </p:nvSpPr>
        <p:spPr>
          <a:xfrm>
            <a:off x="853440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BFF782-9090-4F9C-8AD7-2FD148F306F0}"/>
              </a:ext>
            </a:extLst>
          </p:cNvPr>
          <p:cNvSpPr>
            <a:spLocks noGrp="1"/>
          </p:cNvSpPr>
          <p:nvPr/>
        </p:nvSpPr>
        <p:spPr>
          <a:xfrm>
            <a:off x="9296400" y="5143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D8D0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A3FF7A-A625-464E-8997-F0F97623CC43}"/>
              </a:ext>
            </a:extLst>
          </p:cNvPr>
          <p:cNvSpPr>
            <a:spLocks noGrp="1"/>
          </p:cNvSpPr>
          <p:nvPr/>
        </p:nvSpPr>
        <p:spPr>
          <a:xfrm>
            <a:off x="935355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EA9901-77C6-448B-B7D5-1762FEF85E7D}"/>
              </a:ext>
            </a:extLst>
          </p:cNvPr>
          <p:cNvSpPr>
            <a:spLocks noGrp="1"/>
          </p:cNvSpPr>
          <p:nvPr/>
        </p:nvSpPr>
        <p:spPr>
          <a:xfrm>
            <a:off x="10115550" y="514350"/>
            <a:ext cx="742950" cy="209550"/>
          </a:xfrm>
          <a:prstGeom prst="rect">
            <a:avLst/>
          </a:prstGeom>
          <a:solidFill>
            <a:srgbClr val="0F9F6E"/>
          </a:solidFill>
          <a:ln w="1143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92E20F-AC6E-4961-AF10-B601BB9F7993}"/>
              </a:ext>
            </a:extLst>
          </p:cNvPr>
          <p:cNvSpPr>
            <a:spLocks noGrp="1"/>
          </p:cNvSpPr>
          <p:nvPr/>
        </p:nvSpPr>
        <p:spPr>
          <a:xfrm>
            <a:off x="1017270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13EC79-5BA6-4DC0-8F6C-2FF148C5AF18}"/>
              </a:ext>
            </a:extLst>
          </p:cNvPr>
          <p:cNvSpPr>
            <a:spLocks noGrp="1"/>
          </p:cNvSpPr>
          <p:nvPr/>
        </p:nvSpPr>
        <p:spPr>
          <a:xfrm>
            <a:off x="10934700" y="5143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D8D0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CE48E1-1C8A-4472-8C92-C15D2545FE32}"/>
              </a:ext>
            </a:extLst>
          </p:cNvPr>
          <p:cNvSpPr>
            <a:spLocks noGrp="1"/>
          </p:cNvSpPr>
          <p:nvPr/>
        </p:nvSpPr>
        <p:spPr>
          <a:xfrm>
            <a:off x="1099185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137158-C0E9-405F-AEBF-98A251723073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10972800" cy="1905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FFD728-CFDB-4D14-A618-0E5214D82D53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C64FCD-3BAA-4095-AFFD-B9BEA1738C5B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76200" cy="59055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E43CF5-806F-415E-BBC6-A95183B7B122}"/>
              </a:ext>
            </a:extLst>
          </p:cNvPr>
          <p:cNvSpPr>
            <a:spLocks noGrp="1"/>
          </p:cNvSpPr>
          <p:nvPr/>
        </p:nvSpPr>
        <p:spPr>
          <a:xfrm>
            <a:off x="838200" y="1971675"/>
            <a:ext cx="1047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C640EF-BBB1-4EC3-80F2-1D88391C0B2E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 and runtime preparation evidence is attached.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A9FF1D-9C1A-4518-8CEA-DB5DF8966BA9}"/>
              </a:ext>
            </a:extLst>
          </p:cNvPr>
          <p:cNvSpPr>
            <a:spLocks noGrp="1"/>
          </p:cNvSpPr>
          <p:nvPr/>
        </p:nvSpPr>
        <p:spPr>
          <a:xfrm>
            <a:off x="3676650" y="1971675"/>
            <a:ext cx="1047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F45305-7DB4-46ED-B56F-6B219495DB42}"/>
              </a:ext>
            </a:extLst>
          </p:cNvPr>
          <p:cNvSpPr>
            <a:spLocks noGrp="1"/>
          </p:cNvSpPr>
          <p:nvPr/>
        </p:nvSpPr>
        <p:spPr>
          <a:xfrm>
            <a:off x="3676650" y="211455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We can see tools, parser, token counts, and cache signals.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DB175D-46DB-4CD3-8249-AAAC22AB60D7}"/>
              </a:ext>
            </a:extLst>
          </p:cNvPr>
          <p:cNvSpPr>
            <a:spLocks noGrp="1"/>
          </p:cNvSpPr>
          <p:nvPr/>
        </p:nvSpPr>
        <p:spPr>
          <a:xfrm>
            <a:off x="6610350" y="1971675"/>
            <a:ext cx="1143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to look at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8A7BAF-6DDD-4942-80EC-3D101DEDA8C1}"/>
              </a:ext>
            </a:extLst>
          </p:cNvPr>
          <p:cNvSpPr>
            <a:spLocks noGrp="1"/>
          </p:cNvSpPr>
          <p:nvPr/>
        </p:nvSpPr>
        <p:spPr>
          <a:xfrm>
            <a:off x="6610350" y="2114550"/>
            <a:ext cx="3105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 parser plus prompt/cache token fields.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5714BA-A0F9-4F0B-80C6-43E84C9A0860}"/>
              </a:ext>
            </a:extLst>
          </p:cNvPr>
          <p:cNvSpPr>
            <a:spLocks noGrp="1"/>
          </p:cNvSpPr>
          <p:nvPr/>
        </p:nvSpPr>
        <p:spPr>
          <a:xfrm>
            <a:off x="10001250" y="1971675"/>
            <a:ext cx="8572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EE022D-A25D-4D0F-AA24-C98DDC690CBC}"/>
              </a:ext>
            </a:extLst>
          </p:cNvPr>
          <p:cNvSpPr>
            <a:spLocks noGrp="1"/>
          </p:cNvSpPr>
          <p:nvPr/>
        </p:nvSpPr>
        <p:spPr>
          <a:xfrm>
            <a:off x="10001250" y="2114550"/>
            <a:ext cx="1314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37D28C-3033-47BE-96FF-4363B2EB134F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Tools Attached -&gt; Runtime Prepared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980599D-DE63-416B-8D14-D0C7C1C727CD}"/>
              </a:ext>
            </a:extLst>
          </p:cNvPr>
          <p:cNvSpPr>
            <a:spLocks noGrp="1"/>
          </p:cNvSpPr>
          <p:nvPr/>
        </p:nvSpPr>
        <p:spPr>
          <a:xfrm>
            <a:off x="3905250" y="2495550"/>
            <a:ext cx="1333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Added in these steps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A789A1-C487-45EE-9639-026597B304E2}"/>
              </a:ext>
            </a:extLst>
          </p:cNvPr>
          <p:cNvSpPr>
            <a:spLocks noGrp="1"/>
          </p:cNvSpPr>
          <p:nvPr/>
        </p:nvSpPr>
        <p:spPr>
          <a:xfrm>
            <a:off x="5314950" y="2457450"/>
            <a:ext cx="161544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27ACC4-766D-4CB3-943C-3138C2BF00C3}"/>
              </a:ext>
            </a:extLst>
          </p:cNvPr>
          <p:cNvSpPr>
            <a:spLocks noGrp="1"/>
          </p:cNvSpPr>
          <p:nvPr/>
        </p:nvSpPr>
        <p:spPr>
          <a:xfrm>
            <a:off x="5400675" y="2505075"/>
            <a:ext cx="144399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expected_builtin_tools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1D6AB2C-39DF-4E04-AE83-19B6A4AAF401}"/>
              </a:ext>
            </a:extLst>
          </p:cNvPr>
          <p:cNvSpPr>
            <a:spLocks noGrp="1"/>
          </p:cNvSpPr>
          <p:nvPr/>
        </p:nvSpPr>
        <p:spPr>
          <a:xfrm>
            <a:off x="6987540" y="2457450"/>
            <a:ext cx="103251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E15ADCF-5D60-45B4-8F16-7582E5555C1F}"/>
              </a:ext>
            </a:extLst>
          </p:cNvPr>
          <p:cNvSpPr>
            <a:spLocks noGrp="1"/>
          </p:cNvSpPr>
          <p:nvPr/>
        </p:nvSpPr>
        <p:spPr>
          <a:xfrm>
            <a:off x="7073265" y="2505075"/>
            <a:ext cx="86106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tool_parser_*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853AEE-F7B7-4312-B559-E9A00B20BE2D}"/>
              </a:ext>
            </a:extLst>
          </p:cNvPr>
          <p:cNvSpPr>
            <a:spLocks noGrp="1"/>
          </p:cNvSpPr>
          <p:nvPr/>
        </p:nvSpPr>
        <p:spPr>
          <a:xfrm>
            <a:off x="5314950" y="2724150"/>
            <a:ext cx="142113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11C7C6-EA0E-498F-9D65-D3B8ED53D8BB}"/>
              </a:ext>
            </a:extLst>
          </p:cNvPr>
          <p:cNvSpPr>
            <a:spLocks noGrp="1"/>
          </p:cNvSpPr>
          <p:nvPr/>
        </p:nvSpPr>
        <p:spPr>
          <a:xfrm>
            <a:off x="5400675" y="2771775"/>
            <a:ext cx="124968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prompt/cache tokens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027AE60-889B-4242-A7A1-22163D65F4BC}"/>
              </a:ext>
            </a:extLst>
          </p:cNvPr>
          <p:cNvSpPr>
            <a:spLocks noGrp="1"/>
          </p:cNvSpPr>
          <p:nvPr/>
        </p:nvSpPr>
        <p:spPr>
          <a:xfrm>
            <a:off x="9658350" y="2381250"/>
            <a:ext cx="1924050" cy="400050"/>
          </a:xfrm>
          <a:prstGeom prst="rect">
            <a:avLst/>
          </a:prstGeom>
          <a:solidFill>
            <a:srgbClr val="FFFFFF"/>
          </a:solidFill>
          <a:ln w="15240">
            <a:solidFill>
              <a:srgbClr val="6670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847F6B-DADC-47C1-89EA-CF944B9A1732}"/>
              </a:ext>
            </a:extLst>
          </p:cNvPr>
          <p:cNvSpPr>
            <a:spLocks noGrp="1"/>
          </p:cNvSpPr>
          <p:nvPr/>
        </p:nvSpPr>
        <p:spPr>
          <a:xfrm>
            <a:off x="9772650" y="2447925"/>
            <a:ext cx="16954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Payload size change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6D526F-7005-41E0-B6F3-8A87AC27F0CD}"/>
              </a:ext>
            </a:extLst>
          </p:cNvPr>
          <p:cNvSpPr>
            <a:spLocks noGrp="1"/>
          </p:cNvSpPr>
          <p:nvPr/>
        </p:nvSpPr>
        <p:spPr>
          <a:xfrm>
            <a:off x="9772650" y="2571750"/>
            <a:ext cx="16954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238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F3220A-A7E0-47C0-A535-B1DE53A62889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19700" cy="2914650"/>
          </a:xfrm>
          <a:prstGeom prst="rect">
            <a:avLst/>
          </a:prstGeom>
          <a:solidFill>
            <a:srgbClr val="FFFFFF"/>
          </a:solidFill>
          <a:ln w="1905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07B168-DD4E-4036-B7F2-453322921E64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19700" cy="400050"/>
          </a:xfrm>
          <a:prstGeom prst="rect">
            <a:avLst/>
          </a:prstGeom>
          <a:solidFill>
            <a:srgbClr val="E9E1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9237962-465B-47A4-BD24-F8DC9EA34EB1}"/>
              </a:ext>
            </a:extLst>
          </p:cNvPr>
          <p:cNvSpPr>
            <a:spLocks noGrp="1"/>
          </p:cNvSpPr>
          <p:nvPr/>
        </p:nvSpPr>
        <p:spPr>
          <a:xfrm>
            <a:off x="781050" y="2962275"/>
            <a:ext cx="487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After Tools Attached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60ACF34-F40C-4870-A6E5-8171C46D84C2}"/>
              </a:ext>
            </a:extLst>
          </p:cNvPr>
          <p:cNvSpPr>
            <a:spLocks noGrp="1"/>
          </p:cNvSpPr>
          <p:nvPr/>
        </p:nvSpPr>
        <p:spPr>
          <a:xfrm>
            <a:off x="781050" y="3409950"/>
            <a:ext cx="4876800" cy="2247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"tool_choice":"...",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"expected_builtin_tools":[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"tool_parser_names_seen":[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"tool_parser_observed":"..."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36B0546-C363-41AE-B093-A9B95A31622D}"/>
              </a:ext>
            </a:extLst>
          </p:cNvPr>
          <p:cNvSpPr>
            <a:spLocks noGrp="1"/>
          </p:cNvSpPr>
          <p:nvPr/>
        </p:nvSpPr>
        <p:spPr>
          <a:xfrm>
            <a:off x="6362700" y="2857500"/>
            <a:ext cx="5219700" cy="2914650"/>
          </a:xfrm>
          <a:prstGeom prst="rect">
            <a:avLst/>
          </a:prstGeom>
          <a:solidFill>
            <a:srgbClr val="FFFFFF"/>
          </a:solidFill>
          <a:ln w="1905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579B44B-0412-4604-AA0C-68231E0652CD}"/>
              </a:ext>
            </a:extLst>
          </p:cNvPr>
          <p:cNvSpPr>
            <a:spLocks noGrp="1"/>
          </p:cNvSpPr>
          <p:nvPr/>
        </p:nvSpPr>
        <p:spPr>
          <a:xfrm>
            <a:off x="6362700" y="2857500"/>
            <a:ext cx="5219700" cy="400050"/>
          </a:xfrm>
          <a:prstGeom prst="rect">
            <a:avLst/>
          </a:prstGeom>
          <a:solidFill>
            <a:srgbClr val="E9E1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8454FF0-B1ED-4948-BB4E-F8072C16A587}"/>
              </a:ext>
            </a:extLst>
          </p:cNvPr>
          <p:cNvSpPr>
            <a:spLocks noGrp="1"/>
          </p:cNvSpPr>
          <p:nvPr/>
        </p:nvSpPr>
        <p:spPr>
          <a:xfrm>
            <a:off x="6534150" y="2962275"/>
            <a:ext cx="487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After Runtime Prepared - added fields called out above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DE4CA68-389D-4704-96FD-BFF0B20EF859}"/>
              </a:ext>
            </a:extLst>
          </p:cNvPr>
          <p:cNvSpPr>
            <a:spLocks noGrp="1"/>
          </p:cNvSpPr>
          <p:nvPr/>
        </p:nvSpPr>
        <p:spPr>
          <a:xfrm>
            <a:off x="6534150" y="3409950"/>
            <a:ext cx="4876800" cy="2247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"expected_builtin_tools":[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"tool_parser_names_seen":[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"tool_parser_observed":"...",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"prompt_tokens":"...",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"cached_prompt_tokens":"...",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"cached_input_tokens":"..."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7F564AA-9589-4FB5-801E-0F2319741779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990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No payload growth | parser_observed=True | prompt_tokens=14083 | cached_input_tokens=12992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F859340-F1DF-4168-B22B-407E6AC06EF1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B539338-4DE8-44D8-BBD8-4DF85B328DEB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CBED890-2976-462F-BEAA-441DD8473924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90912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02336" y="475488"/>
            <a:ext cx="56692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TOOL RUNTIME CONTEXT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740664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1">
                <a:solidFill>
                  <a:srgbClr val="101820"/>
                </a:solidFill>
                <a:latin typeface="Aptos Display"/>
              </a:rPr>
              <a:t>Verbatim stage object showing the request once tool and parser context are attached</a:t>
            </a:r>
          </a:p>
        </p:txBody>
      </p:sp>
      <p:sp>
        <p:nvSpPr>
          <p:cNvPr id="4" name="jsonArtifactPanel"/>
          <p:cNvSpPr/>
          <p:nvPr/>
        </p:nvSpPr>
        <p:spPr>
          <a:xfrm>
            <a:off x="219456" y="1078992"/>
            <a:ext cx="11265408" cy="4937760"/>
          </a:xfrm>
          <a:prstGeom prst="rect">
            <a:avLst/>
          </a:prstGeom>
          <a:solidFill>
            <a:srgbClr val="F7FAFC"/>
          </a:solidFill>
          <a:ln w="2413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9456" y="1078992"/>
            <a:ext cx="11265408" cy="9144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1316736"/>
            <a:ext cx="237744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3448" y="1316736"/>
            <a:ext cx="466344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prompt_evolution_report.stages[4]</a:t>
            </a:r>
          </a:p>
        </p:txBody>
      </p:sp>
      <p:sp>
        <p:nvSpPr>
          <p:cNvPr id="8" name="jsonArtifactContent"/>
          <p:cNvSpPr/>
          <p:nvPr/>
        </p:nvSpPr>
        <p:spPr>
          <a:xfrm>
            <a:off x="365760" y="1463040"/>
            <a:ext cx="10972800" cy="4443984"/>
          </a:xfrm>
          <a:prstGeom prst="rect">
            <a:avLst/>
          </a:prstGeom>
          <a:solidFill>
            <a:srgbClr val="FFFFFF"/>
          </a:solidFill>
          <a:ln w="1524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664208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38274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"stage": "tool_runtime_context",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812340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"component": "frontend_dynamo",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886407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"question_answered": "what tools were available?",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960473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"changed_from": "system_context",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034540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"change_summary": "The runtime attached the tool-capable surface and frontend parsing behavior before inference.",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108606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"delta_summary": "Made the request tool-capable by exposing built-in tools and confirming which tool parser the 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182672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actually used.",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256739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"result_summary": "expected_tools=write_todos, ls, read_file, write_file, edit_file, glob, grep, execute, task |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330805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parser=hermes | prompt_tokens=14083 | cached_prompt_tokens=12992",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404872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"prompt_preview": "You are working on one SWE-bench Pro software engineering task. Task metadata: - instance_id: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2478938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instance_NodeBB__NodeBB-04998908ba6721d64eba79ae3b65a351dcfbc5b5-vnan - repo: NodeBB/NodeBB Problem statement: **Title: 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2553004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Validation Status...",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2627071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"prompt_chars": 6906,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2701137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"major_additions": "Built-in tool surface, tool parser selection, tokenizer work, and prompt-cache context.",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2775203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"added_elements": "built-in tool surface, tool parser, prompt tokenization, prompt caching context",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2849270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"removed_elements": "none",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2923336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"unchanged_core": "same user prompt content, now made tool-capable",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2997403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"key_facts": "expected_tools=write_todos, ls, read_file, write_file, edit_file, glob, grep, execute, task | parser=hermes |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3071469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prompt_tokens=14083 | cached_prompt_tokens=12992",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3145535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"structure_before": "request envelope plus system prompt",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3219602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"structure_after": "tool-capable request with expected tools and parser context",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3293668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"keys_before": "model, system_prompt, messages[].role, messages[].content, request_context.*, agent_hints.*, tool_choice",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367735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"keys_after": "model, system_prompt, messages[].role, messages[].content, request_context.*, agent_hints.*, tool_choice,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3441801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expected_builtin_tools[], tool_parser_names_seen[], tool_parser_observed",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3515867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"json_keys_before":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3589934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"{\"model\":\"...\",\"system_prompt\":\"...\",\"messages\":[{\"role\":\"...\",\"content\":\"...\"}],\"request_context\":{...},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3664000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\"agent_hints\":{...},\"tool_choice\":\"...\"}",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3738067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"json_keys_after":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3812133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"{\"model\":\"...\",\"system_prompt\":\"...\",\"messages\":[{\"role\":\"...\",\"content\":\"...\"}],\"request_context\":{...},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3886200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\"agent_hints\":{...},\"tool_choice\":\"...\",\"expected_builtin_tools\":[\"...\"],\"tool_parser_names_seen\":[\"...\"],\"tool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3960266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_parser_observed\":\"...\"}",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" y="6327648"/>
            <a:ext cx="10972800" cy="9144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2648" y="6473952"/>
            <a:ext cx="3236976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82528" y="6473952"/>
            <a:ext cx="493776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02336" y="475488"/>
            <a:ext cx="56692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TOOL RUNTIME CONTEXT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740664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1">
                <a:solidFill>
                  <a:srgbClr val="101820"/>
                </a:solidFill>
                <a:latin typeface="Aptos Display"/>
              </a:rPr>
              <a:t>Verbatim continuation of the same stage object from slide 15</a:t>
            </a:r>
          </a:p>
        </p:txBody>
      </p:sp>
      <p:sp>
        <p:nvSpPr>
          <p:cNvPr id="4" name="jsonArtifactPanel"/>
          <p:cNvSpPr/>
          <p:nvPr/>
        </p:nvSpPr>
        <p:spPr>
          <a:xfrm>
            <a:off x="219456" y="1078992"/>
            <a:ext cx="11265408" cy="4937760"/>
          </a:xfrm>
          <a:prstGeom prst="rect">
            <a:avLst/>
          </a:prstGeom>
          <a:solidFill>
            <a:srgbClr val="F7FAFC"/>
          </a:solidFill>
          <a:ln w="2413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9456" y="1078992"/>
            <a:ext cx="11265408" cy="9144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1316736"/>
            <a:ext cx="237744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3448" y="1316736"/>
            <a:ext cx="466344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prompt_evolution_report.stages[4] (continued)</a:t>
            </a:r>
          </a:p>
        </p:txBody>
      </p:sp>
      <p:sp>
        <p:nvSpPr>
          <p:cNvPr id="8" name="jsonArtifactContent"/>
          <p:cNvSpPr/>
          <p:nvPr/>
        </p:nvSpPr>
        <p:spPr>
          <a:xfrm>
            <a:off x="365760" y="1463040"/>
            <a:ext cx="10972800" cy="4443984"/>
          </a:xfrm>
          <a:prstGeom prst="rect">
            <a:avLst/>
          </a:prstGeom>
          <a:solidFill>
            <a:srgbClr val="FFFFFF"/>
          </a:solidFill>
          <a:ln w="1524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664208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"added_keys": "expected_builtin_tools, tool_parser_names_seen, tool_parser_observed",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38274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"removed_keys": "none",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812340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"changed_keys": "runtime view now includes tool surface and parser metadata",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886407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"chars_before": 6906,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960473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"chars_after": 6906,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034540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"char_delta": 0,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108606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"expected_builtin_tools": [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182672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"write_todos",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256739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"ls",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330805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"read_file",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404872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"write_file",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2478938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"edit_file",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2553004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"glob",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2627071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"grep",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2701137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"execute",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2775203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"task"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2849270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],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2923336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"tool_parser_names_seen": [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2997403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"hermes"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3071469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],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3145535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"tool_parser_observed": true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3219602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" y="6327648"/>
            <a:ext cx="10972800" cy="9144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" y="6473952"/>
            <a:ext cx="3236976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82528" y="6473952"/>
            <a:ext cx="493776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02336" y="475488"/>
            <a:ext cx="56692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RUNTIME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740664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1">
                <a:solidFill>
                  <a:srgbClr val="101820"/>
                </a:solidFill>
                <a:latin typeface="Aptos Display"/>
              </a:rPr>
              <a:t>Exact measurement record for the same prepared request</a:t>
            </a:r>
          </a:p>
        </p:txBody>
      </p:sp>
      <p:sp>
        <p:nvSpPr>
          <p:cNvPr id="4" name="jsonArtifactPanel"/>
          <p:cNvSpPr/>
          <p:nvPr/>
        </p:nvSpPr>
        <p:spPr>
          <a:xfrm>
            <a:off x="219456" y="1078992"/>
            <a:ext cx="11265408" cy="4937760"/>
          </a:xfrm>
          <a:prstGeom prst="rect">
            <a:avLst/>
          </a:prstGeom>
          <a:solidFill>
            <a:srgbClr val="F7FAFC"/>
          </a:solidFill>
          <a:ln w="2413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9456" y="1078992"/>
            <a:ext cx="11265408" cy="9144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1316736"/>
            <a:ext cx="237744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3448" y="1316736"/>
            <a:ext cx="466344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measurements[0]</a:t>
            </a:r>
          </a:p>
        </p:txBody>
      </p:sp>
      <p:sp>
        <p:nvSpPr>
          <p:cNvPr id="8" name="jsonArtifactContent"/>
          <p:cNvSpPr/>
          <p:nvPr/>
        </p:nvSpPr>
        <p:spPr>
          <a:xfrm>
            <a:off x="365760" y="1463040"/>
            <a:ext cx="10972800" cy="4443984"/>
          </a:xfrm>
          <a:prstGeom prst="rect">
            <a:avLst/>
          </a:prstGeom>
          <a:solidFill>
            <a:srgbClr val="FFFFFF"/>
          </a:solidFill>
          <a:ln w="1524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664208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38274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"task_index": 0,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812340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"task_source": "dataset:ScaleAI/SWE-bench_Pro:test",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886407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"task_metadata":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960473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  "instance_id": "instance_NodeBB__NodeBB-04998908ba6721d64eba79ae3b65a351dcfbc5b5-vnan",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034540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  "repo": "NodeBB/NodeBB",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108606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  "app_variant": "upstream_deploy_coding_agent"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182672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},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256739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"app_variant": "upstream_deploy_coding_agent",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330805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"request_context":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404872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  "request_id": "instance_NodeBB__NodeBB-04998908ba6721d64eba79ae3b65a351dcfbc5b5-vnan_20260518_170604::baseline_execution",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2478938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  "parent_run_id": "instance_NodeBB__NodeBB-04998908ba6721d64eba79ae3b65a351dcfbc5b5-vnan_20260518_170604",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2553004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  "task_instance_id": "instance_NodeBB__NodeBB-04998908ba6721d64eba79ae3b65a351dcfbc5b5-vnan",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2627071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  "phase": "baseline_execution",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2701137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  "step_index": null,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2775203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  "step_title": null,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2849270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  "app_variant": "upstream_deploy_coding_agent"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2923336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},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2997403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"phase": "baseline_execution",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3071469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"step_index": null,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3145535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"step_title": null,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3219602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"frontend_url": "http://127.0.0.1:8000/v1/chat/completions",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3293668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"model": "Qwen/Qwen2.5-7B-Instruct",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367735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"deepagents_runtime_source": "python_environment",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3441801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"hints": {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3515867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  "priority": 5,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3589934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  "reuse_likelihood": 0.9,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3664000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  "agent_phase": "baseline_execution",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3738067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  "latency_sensitivity": 0.7,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3812133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  "program_id": "agentbench.deepagents_app",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3886200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  "context_type": "software_engineering_long_horizon",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3960266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  "expected_output_tokens": 2048,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4034332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  "hint_probe_id": "instance_NodeBB__NodeBB-04998908ba6721d64eba79ae3b65a351dcfbc5b5-vnan_20260518_170604::hint_probe"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4108399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},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4182465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"latency_ms": 90853.992,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4256532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"prompt_chars": 6906,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4330598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"prompt_lines": 114,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" y="4404664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"prompt_preview": "You are working on one SWE-bench Pro software engineering task. Task metadata: - instance_id: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" y="4478731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instance_NodeBB__NodeBB-04998908ba6721d64eba79ae3b65a351dcfbc5b5-vnan",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4552797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"finish_reason": "stop",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4626864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"provider_response_id": "chatcmpl-81fdf711-5933-4583-91d1-c87ed3d2a4c4",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4700930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"model_name_reported": "Qwen/Qwen2.5-7B-Instruct",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4774996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"input_tokens": 14083,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4849063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"output_tokens": 612,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4923129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"total_tokens": 14695,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" y="4997196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"cached_input_tokens": 12992,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" y="5071262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"prompt_tokens": 14083,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" y="5145328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"completion_tokens": 612,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232" y="5219395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"total_tokens_reported": 14695,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" y="5293461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"cached_prompt_tokens": 12992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232" y="5367528"/>
            <a:ext cx="103327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}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8" y="6327648"/>
            <a:ext cx="10972800" cy="9144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12648" y="6473952"/>
            <a:ext cx="3236976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82528" y="6473952"/>
            <a:ext cx="493776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1E1BA132-8087-42AF-A38C-A2E20BB5C1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EAD595-CC07-473F-96AA-577A7564A77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346231-B0E7-47E4-8456-B428A2290A41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5 OF 5 | RUNTIME -&gt; BEHAVIOR | DEEP AGENTS LAYER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006395-D85A-4BBF-9EFD-2ADDAA880BA7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Finally, we observe what the model actually did.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094584-A3E8-4403-9415-0B7CD8D9ACF6}"/>
              </a:ext>
            </a:extLst>
          </p:cNvPr>
          <p:cNvSpPr>
            <a:spLocks noGrp="1"/>
          </p:cNvSpPr>
          <p:nvPr/>
        </p:nvSpPr>
        <p:spPr>
          <a:xfrm>
            <a:off x="7658100" y="5143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D8D0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BC6FCC-6B23-4390-A22F-F22E08BBF61C}"/>
              </a:ext>
            </a:extLst>
          </p:cNvPr>
          <p:cNvSpPr>
            <a:spLocks noGrp="1"/>
          </p:cNvSpPr>
          <p:nvPr/>
        </p:nvSpPr>
        <p:spPr>
          <a:xfrm>
            <a:off x="771525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6540E4-2AF1-49FA-B807-502444767F24}"/>
              </a:ext>
            </a:extLst>
          </p:cNvPr>
          <p:cNvSpPr>
            <a:spLocks noGrp="1"/>
          </p:cNvSpPr>
          <p:nvPr/>
        </p:nvSpPr>
        <p:spPr>
          <a:xfrm>
            <a:off x="8477250" y="5143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D8D0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F057A1-EC1B-467E-ABF5-F1AEE7FF6413}"/>
              </a:ext>
            </a:extLst>
          </p:cNvPr>
          <p:cNvSpPr>
            <a:spLocks noGrp="1"/>
          </p:cNvSpPr>
          <p:nvPr/>
        </p:nvSpPr>
        <p:spPr>
          <a:xfrm>
            <a:off x="853440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8B08F6-382A-4906-BCC8-3FBFAA1C8CD4}"/>
              </a:ext>
            </a:extLst>
          </p:cNvPr>
          <p:cNvSpPr>
            <a:spLocks noGrp="1"/>
          </p:cNvSpPr>
          <p:nvPr/>
        </p:nvSpPr>
        <p:spPr>
          <a:xfrm>
            <a:off x="9296400" y="5143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D8D0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38A144-BBB2-4E66-87D3-A3A9DCD10638}"/>
              </a:ext>
            </a:extLst>
          </p:cNvPr>
          <p:cNvSpPr>
            <a:spLocks noGrp="1"/>
          </p:cNvSpPr>
          <p:nvPr/>
        </p:nvSpPr>
        <p:spPr>
          <a:xfrm>
            <a:off x="935355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8ECE9D-86B4-470D-B744-352FD3610218}"/>
              </a:ext>
            </a:extLst>
          </p:cNvPr>
          <p:cNvSpPr>
            <a:spLocks noGrp="1"/>
          </p:cNvSpPr>
          <p:nvPr/>
        </p:nvSpPr>
        <p:spPr>
          <a:xfrm>
            <a:off x="10115550" y="5143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D8D0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AA09FE-46EB-43DC-A21A-7565405CECF4}"/>
              </a:ext>
            </a:extLst>
          </p:cNvPr>
          <p:cNvSpPr>
            <a:spLocks noGrp="1"/>
          </p:cNvSpPr>
          <p:nvPr/>
        </p:nvSpPr>
        <p:spPr>
          <a:xfrm>
            <a:off x="1017270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E75ABB-EE54-414D-A83A-FD39118A00EB}"/>
              </a:ext>
            </a:extLst>
          </p:cNvPr>
          <p:cNvSpPr>
            <a:spLocks noGrp="1"/>
          </p:cNvSpPr>
          <p:nvPr/>
        </p:nvSpPr>
        <p:spPr>
          <a:xfrm>
            <a:off x="10934700" y="514350"/>
            <a:ext cx="742950" cy="209550"/>
          </a:xfrm>
          <a:prstGeom prst="rect">
            <a:avLst/>
          </a:prstGeom>
          <a:solidFill>
            <a:srgbClr val="BE123C"/>
          </a:solidFill>
          <a:ln w="11430">
            <a:solidFill>
              <a:srgbClr val="BE1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4693C4-B5AB-4D97-BB5D-B9C10D18C78A}"/>
              </a:ext>
            </a:extLst>
          </p:cNvPr>
          <p:cNvSpPr>
            <a:spLocks noGrp="1"/>
          </p:cNvSpPr>
          <p:nvPr/>
        </p:nvSpPr>
        <p:spPr>
          <a:xfrm>
            <a:off x="1099185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6BB1C6-DADA-4ED0-A74E-449BA2DEEA81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10972800" cy="1905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8C67CF-1325-49D7-956E-A7D606DA630C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647D34-FC5A-4192-9D12-9B382B1BDA5C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76200" cy="59055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756147-0B88-41E6-B756-97C2C6810C24}"/>
              </a:ext>
            </a:extLst>
          </p:cNvPr>
          <p:cNvSpPr>
            <a:spLocks noGrp="1"/>
          </p:cNvSpPr>
          <p:nvPr/>
        </p:nvSpPr>
        <p:spPr>
          <a:xfrm>
            <a:off x="838200" y="1971675"/>
            <a:ext cx="1047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2E7C5D-242B-4D02-A7DE-524412B2B486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prepared request becomes an observed behavior record.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19FB67-EB7D-4864-A322-B1FF214E7EC4}"/>
              </a:ext>
            </a:extLst>
          </p:cNvPr>
          <p:cNvSpPr>
            <a:spLocks noGrp="1"/>
          </p:cNvSpPr>
          <p:nvPr/>
        </p:nvSpPr>
        <p:spPr>
          <a:xfrm>
            <a:off x="3676650" y="1971675"/>
            <a:ext cx="1047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341672-2ED9-44A3-8A00-3A7B41462518}"/>
              </a:ext>
            </a:extLst>
          </p:cNvPr>
          <p:cNvSpPr>
            <a:spLocks noGrp="1"/>
          </p:cNvSpPr>
          <p:nvPr/>
        </p:nvSpPr>
        <p:spPr>
          <a:xfrm>
            <a:off x="3676650" y="211455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We can see what the model actually did, not just what we expected.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C00439-C54C-4FDF-887A-7BB822BCDA90}"/>
              </a:ext>
            </a:extLst>
          </p:cNvPr>
          <p:cNvSpPr>
            <a:spLocks noGrp="1"/>
          </p:cNvSpPr>
          <p:nvPr/>
        </p:nvSpPr>
        <p:spPr>
          <a:xfrm>
            <a:off x="6610350" y="1971675"/>
            <a:ext cx="1143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to look at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3FAF63-E012-4464-837D-BFA800825CD9}"/>
              </a:ext>
            </a:extLst>
          </p:cNvPr>
          <p:cNvSpPr>
            <a:spLocks noGrp="1"/>
          </p:cNvSpPr>
          <p:nvPr/>
        </p:nvSpPr>
        <p:spPr>
          <a:xfrm>
            <a:off x="6610350" y="2114550"/>
            <a:ext cx="3105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 calls, finish_reason, response_text, workspace_changed.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D2F363-A01F-4D02-AF00-DFC121367E35}"/>
              </a:ext>
            </a:extLst>
          </p:cNvPr>
          <p:cNvSpPr>
            <a:spLocks noGrp="1"/>
          </p:cNvSpPr>
          <p:nvPr/>
        </p:nvSpPr>
        <p:spPr>
          <a:xfrm>
            <a:off x="10001250" y="1971675"/>
            <a:ext cx="8572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ED2F14-FA39-4F54-ACE0-8852A391368C}"/>
              </a:ext>
            </a:extLst>
          </p:cNvPr>
          <p:cNvSpPr>
            <a:spLocks noGrp="1"/>
          </p:cNvSpPr>
          <p:nvPr/>
        </p:nvSpPr>
        <p:spPr>
          <a:xfrm>
            <a:off x="10001250" y="2114550"/>
            <a:ext cx="1314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DA8411-63E2-49B1-9304-0DF98619E0D5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Recorded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C97614-BD14-499B-BEA5-164408DC0BE4}"/>
              </a:ext>
            </a:extLst>
          </p:cNvPr>
          <p:cNvSpPr>
            <a:spLocks noGrp="1"/>
          </p:cNvSpPr>
          <p:nvPr/>
        </p:nvSpPr>
        <p:spPr>
          <a:xfrm>
            <a:off x="3257550" y="2495550"/>
            <a:ext cx="1257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Added in this step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99186D-6269-429E-A0BA-F53D714EBEDD}"/>
              </a:ext>
            </a:extLst>
          </p:cNvPr>
          <p:cNvSpPr>
            <a:spLocks noGrp="1"/>
          </p:cNvSpPr>
          <p:nvPr/>
        </p:nvSpPr>
        <p:spPr>
          <a:xfrm>
            <a:off x="4533900" y="2457450"/>
            <a:ext cx="174498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1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1F5352-5269-4C3E-B04C-FFC4F7BF9EBA}"/>
              </a:ext>
            </a:extLst>
          </p:cNvPr>
          <p:cNvSpPr>
            <a:spLocks noGrp="1"/>
          </p:cNvSpPr>
          <p:nvPr/>
        </p:nvSpPr>
        <p:spPr>
          <a:xfrm>
            <a:off x="4619625" y="2505075"/>
            <a:ext cx="157353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observed_tool_call_names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BDF7E5-7074-4C51-8DDA-EED9CE0D8326}"/>
              </a:ext>
            </a:extLst>
          </p:cNvPr>
          <p:cNvSpPr>
            <a:spLocks noGrp="1"/>
          </p:cNvSpPr>
          <p:nvPr/>
        </p:nvSpPr>
        <p:spPr>
          <a:xfrm>
            <a:off x="6336030" y="2457450"/>
            <a:ext cx="186690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1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46100F-AE7F-4737-909A-B3F0CB21DF21}"/>
              </a:ext>
            </a:extLst>
          </p:cNvPr>
          <p:cNvSpPr>
            <a:spLocks noGrp="1"/>
          </p:cNvSpPr>
          <p:nvPr/>
        </p:nvSpPr>
        <p:spPr>
          <a:xfrm>
            <a:off x="6421755" y="2505075"/>
            <a:ext cx="169545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observed_tool_result_names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74DC7C-933E-4F3D-A5D4-1AABD4DA72A9}"/>
              </a:ext>
            </a:extLst>
          </p:cNvPr>
          <p:cNvSpPr>
            <a:spLocks noGrp="1"/>
          </p:cNvSpPr>
          <p:nvPr/>
        </p:nvSpPr>
        <p:spPr>
          <a:xfrm>
            <a:off x="4533900" y="2724150"/>
            <a:ext cx="103251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1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F2EA57A-6E0A-4084-A0A8-AB65694517C4}"/>
              </a:ext>
            </a:extLst>
          </p:cNvPr>
          <p:cNvSpPr>
            <a:spLocks noGrp="1"/>
          </p:cNvSpPr>
          <p:nvPr/>
        </p:nvSpPr>
        <p:spPr>
          <a:xfrm>
            <a:off x="4619625" y="2771775"/>
            <a:ext cx="86106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finish_reason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60D99DD-C904-4221-A8E2-E3FE5A2867B7}"/>
              </a:ext>
            </a:extLst>
          </p:cNvPr>
          <p:cNvSpPr>
            <a:spLocks noGrp="1"/>
          </p:cNvSpPr>
          <p:nvPr/>
        </p:nvSpPr>
        <p:spPr>
          <a:xfrm>
            <a:off x="5623560" y="2724150"/>
            <a:ext cx="103251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1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0FC5D40-6F60-4F46-B0C7-FD9F810085CF}"/>
              </a:ext>
            </a:extLst>
          </p:cNvPr>
          <p:cNvSpPr>
            <a:spLocks noGrp="1"/>
          </p:cNvSpPr>
          <p:nvPr/>
        </p:nvSpPr>
        <p:spPr>
          <a:xfrm>
            <a:off x="5709285" y="2771775"/>
            <a:ext cx="86106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response_text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EEC416-0629-4370-B161-1DFB4B9B8EFC}"/>
              </a:ext>
            </a:extLst>
          </p:cNvPr>
          <p:cNvSpPr>
            <a:spLocks noGrp="1"/>
          </p:cNvSpPr>
          <p:nvPr/>
        </p:nvSpPr>
        <p:spPr>
          <a:xfrm>
            <a:off x="6713220" y="2724150"/>
            <a:ext cx="129159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1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6C2E67-BA05-41D2-B358-894049FBCEF1}"/>
              </a:ext>
            </a:extLst>
          </p:cNvPr>
          <p:cNvSpPr>
            <a:spLocks noGrp="1"/>
          </p:cNvSpPr>
          <p:nvPr/>
        </p:nvSpPr>
        <p:spPr>
          <a:xfrm>
            <a:off x="6798945" y="2771775"/>
            <a:ext cx="112014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workspace_changed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ACBF267-20D3-48CF-A942-5927BD1E8CAB}"/>
              </a:ext>
            </a:extLst>
          </p:cNvPr>
          <p:cNvSpPr>
            <a:spLocks noGrp="1"/>
          </p:cNvSpPr>
          <p:nvPr/>
        </p:nvSpPr>
        <p:spPr>
          <a:xfrm>
            <a:off x="9658350" y="2381250"/>
            <a:ext cx="1924050" cy="400050"/>
          </a:xfrm>
          <a:prstGeom prst="rect">
            <a:avLst/>
          </a:prstGeom>
          <a:solidFill>
            <a:srgbClr val="FFFFFF"/>
          </a:solidFill>
          <a:ln w="15240">
            <a:solidFill>
              <a:srgbClr val="BE1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964B1CA-607B-4FB5-B417-975D80793BFB}"/>
              </a:ext>
            </a:extLst>
          </p:cNvPr>
          <p:cNvSpPr>
            <a:spLocks noGrp="1"/>
          </p:cNvSpPr>
          <p:nvPr/>
        </p:nvSpPr>
        <p:spPr>
          <a:xfrm>
            <a:off x="9772650" y="2447925"/>
            <a:ext cx="16954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Payload size change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83F2276-6266-417D-98C3-90B470729E30}"/>
              </a:ext>
            </a:extLst>
          </p:cNvPr>
          <p:cNvSpPr>
            <a:spLocks noGrp="1"/>
          </p:cNvSpPr>
          <p:nvPr/>
        </p:nvSpPr>
        <p:spPr>
          <a:xfrm>
            <a:off x="9772650" y="2571750"/>
            <a:ext cx="16954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1">
                <a:solidFill>
                  <a:srgbClr val="BE123C"/>
                </a:solidFill>
                <a:latin typeface="Aptos Mono"/>
                <a:ea typeface="Aptos Mono"/>
                <a:cs typeface="Aptos Mono"/>
              </a:defRPr>
            </a:pPr>
            <a:r>
              <a:rPr sz="1238" b="1">
                <a:solidFill>
                  <a:srgbClr val="BE123C"/>
                </a:solidFill>
                <a:latin typeface="Aptos Mono"/>
                <a:ea typeface="Aptos Mono"/>
                <a:cs typeface="Aptos Mono"/>
              </a:rPr>
              <a:t>+2,066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B25B5B0-E46A-4B7D-84A6-B713890F54DC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19700" cy="2914650"/>
          </a:xfrm>
          <a:prstGeom prst="rect">
            <a:avLst/>
          </a:prstGeom>
          <a:solidFill>
            <a:srgbClr val="FFFFFF"/>
          </a:solidFill>
          <a:ln w="19050">
            <a:solidFill>
              <a:srgbClr val="8D9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BDD38C3-C242-415C-A5E5-2E59C36BEB5D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19700" cy="400050"/>
          </a:xfrm>
          <a:prstGeom prst="rect">
            <a:avLst/>
          </a:prstGeom>
          <a:solidFill>
            <a:srgbClr val="E9E1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0EBF32-FD2A-41B2-B716-6C560E7C760C}"/>
              </a:ext>
            </a:extLst>
          </p:cNvPr>
          <p:cNvSpPr>
            <a:spLocks noGrp="1"/>
          </p:cNvSpPr>
          <p:nvPr/>
        </p:nvSpPr>
        <p:spPr>
          <a:xfrm>
            <a:off x="781050" y="2962275"/>
            <a:ext cx="487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9008921-B214-4EB0-BB8F-C01BDCCFE34A}"/>
              </a:ext>
            </a:extLst>
          </p:cNvPr>
          <p:cNvSpPr>
            <a:spLocks noGrp="1"/>
          </p:cNvSpPr>
          <p:nvPr/>
        </p:nvSpPr>
        <p:spPr>
          <a:xfrm>
            <a:off x="781050" y="3409950"/>
            <a:ext cx="4876800" cy="2247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"expected_builtin_tools":[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"tool_parser_names_seen":[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"tool_parser_observed":"...",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"prompt_tokens":"...",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"cached_prompt_tokens":"...",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"cached_input_tokens":"..."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C08C0A5-0096-42B9-96A9-C978DEC75213}"/>
              </a:ext>
            </a:extLst>
          </p:cNvPr>
          <p:cNvSpPr>
            <a:spLocks noGrp="1"/>
          </p:cNvSpPr>
          <p:nvPr/>
        </p:nvSpPr>
        <p:spPr>
          <a:xfrm>
            <a:off x="6362700" y="2857500"/>
            <a:ext cx="5219700" cy="2914650"/>
          </a:xfrm>
          <a:prstGeom prst="rect">
            <a:avLst/>
          </a:prstGeom>
          <a:solidFill>
            <a:srgbClr val="FFFFFF"/>
          </a:solidFill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F6BEC20-43D6-43CF-B063-C6BBF3ABD31E}"/>
              </a:ext>
            </a:extLst>
          </p:cNvPr>
          <p:cNvSpPr>
            <a:spLocks noGrp="1"/>
          </p:cNvSpPr>
          <p:nvPr/>
        </p:nvSpPr>
        <p:spPr>
          <a:xfrm>
            <a:off x="6362700" y="2857500"/>
            <a:ext cx="5219700" cy="400050"/>
          </a:xfrm>
          <a:prstGeom prst="rect">
            <a:avLst/>
          </a:prstGeom>
          <a:solidFill>
            <a:srgbClr val="E9E1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2CCB160-2527-40DE-9DC4-CBA6DA00FF03}"/>
              </a:ext>
            </a:extLst>
          </p:cNvPr>
          <p:cNvSpPr>
            <a:spLocks noGrp="1"/>
          </p:cNvSpPr>
          <p:nvPr/>
        </p:nvSpPr>
        <p:spPr>
          <a:xfrm>
            <a:off x="6534150" y="2962275"/>
            <a:ext cx="487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After - added fields are called out above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D94296C-3486-490E-A4BF-B1B0CD202AF0}"/>
              </a:ext>
            </a:extLst>
          </p:cNvPr>
          <p:cNvSpPr>
            <a:spLocks noGrp="1"/>
          </p:cNvSpPr>
          <p:nvPr/>
        </p:nvSpPr>
        <p:spPr>
          <a:xfrm>
            <a:off x="6534150" y="3409950"/>
            <a:ext cx="4876800" cy="2247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 [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"type": 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"name": 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"content": 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"tool_calls": [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  {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    "name": 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  }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],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"invalid_tool_calls": [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  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]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}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"observed_tool_call_names": [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"observed_tool_result_names": [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"observed_tool_call_count": 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"finish_reason": 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"response_text": 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"workspace_changed": 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88A4F27-7C9B-45D8-952C-7DE196368991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990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Output record grew | observed_tool_calls=2 | tools_used=ls, read_file | workspace_changed=False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D49C85F-FE69-48CB-A850-5C1556B0F315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F972D44-D454-4BCA-9AD9-0FEBACF9206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F3FA0F-4B32-47B2-AEFF-536F74702DA0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sz="1100">
                <a:solidFill>
                  <a:srgbClr val="667085"/>
                </a:solidFill>
                <a:latin typeface="Aptos Mon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31123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5334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MODEL BEHAVIOR (1 OF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" y="742950"/>
            <a:ext cx="10096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Exact stage-analysis fields recorded for the observed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23950"/>
            <a:ext cx="11734800" cy="5143500"/>
          </a:xfrm>
          <a:prstGeom prst="rect">
            <a:avLst/>
          </a:prstGeom>
          <a:solidFill>
            <a:srgbClr val="F7FAFC"/>
          </a:solidFill>
          <a:ln w="2413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6250" y="1314450"/>
            <a:ext cx="2286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others/result.json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399" y="1314450"/>
            <a:ext cx="46672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prompt_evolution_report.stages[6].{stage, component, question_answered, changed_from, change_summary, delta_summary, result_summary, prompt_preview, prompt_chars, major_additions, added_elements, removed_elements, unchanged_core, key_facts}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2950" y="1733550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2950" y="181070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2950" y="1887855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2950" y="196500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2950" y="2042159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2950" y="211931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2950" y="2196464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2950" y="2273617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2950" y="2350769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2950" y="2427922"/>
            <a:ext cx="10763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>
                <a:solidFill>
                  <a:srgbClr val="667085"/>
                </a:solidFill>
                <a:latin typeface="Aptos Mono"/>
              </a:rPr>
              <a:t>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" y="1733550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{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" y="1810702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"stage": "model_behavior",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1887854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"component": "deepagents_app",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" y="1965006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"question_answered": "what did the model actually do?",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950" y="2042158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"changed_from": "runtime_preprocessing",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950" y="2119310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"change_summary": "Captured the model transcript, observed tool calls, and recorded whether the run actually changed the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2196462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workspace.",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2273614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"delta_summary": "Observed the model\u2019s actual behavior after execution, including tool use, finish reason, and whether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950" y="2350766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any workspace edits were produced.",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950" y="2427918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"result_summary": "observed_tool_calls=3 | tools_used=execute, ls, read_file | workspace_changed=False",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2505070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"prompt_preview": "It seems that the `npm` command is not available in the current environment, which is preventing us from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950" y="2582222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running the tests directly. Instead, we can manually inspect the changes and ensure they are correct before proceeding. Let's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950" y="2659374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procee...",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2736526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"prompt_chars": 2703,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950" y="2813678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"major_additions": "Model transcript, tool-call outcomes, finish reason, and workspace-change status.",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950" y="2890830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"added_elements": "tool transcript, finish reason, response text, workspace change status",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2967982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"removed_elements": "none",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950" y="3045134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"unchanged_core": "the run still targets the same task, now with concrete behavior outcome attached",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950" y="3122286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"key_facts": "observed_tool_calls=3 | tools_used=execute, ls, read_file | finish_reason=stop | workspace_changed=False"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3199438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>
            <a:solidFill>
              <a:srgbClr val="F8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53340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67085"/>
                </a:solidFill>
                <a:latin typeface="Aptos"/>
              </a:rPr>
              <a:t>MODEL BEHAVIOR (2 OF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" y="742950"/>
            <a:ext cx="10096500" cy="3238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1820"/>
                </a:solidFill>
                <a:latin typeface="Aptos"/>
              </a:rPr>
              <a:t>Exact structure-evolution fields recorded for the observed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23950"/>
            <a:ext cx="11734800" cy="5143500"/>
          </a:xfrm>
          <a:prstGeom prst="rect">
            <a:avLst/>
          </a:prstGeom>
          <a:solidFill>
            <a:srgbClr val="F7FAFC"/>
          </a:solidFill>
          <a:ln w="2413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6250" y="1314450"/>
            <a:ext cx="2286000" cy="133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399" y="1314450"/>
            <a:ext cx="4667250" cy="133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prompt_evolution_report.stages[6].{structure_before, structure_after, keys_before, keys_after, json_keys_before, json_keys_after, added_keys, removed_keys, changed_keys, chars_before, chars_after, char_delta}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2950" y="1733550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1810702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"structure_before": "runtime-prepared request state",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1887854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"structure_after": "response/transcript with tool calls, tool results, finish reason, workspace outcome",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1965006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"keys_before": "model, system_prompt, messages[].role, messages[].content, request_context.*, agent_hints.*, tool_choice,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2042158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expected_builtin_tools[], tool_parser_names_seen[], tool_parser_observed, prompt_tokens, cached_prompt_tokens,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2119310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cached_input_tokens",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2196462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"keys_after": "messages[].type, messages[].name, messages[].content, messages[].tool_calls[].name,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273614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messages[].invalid_tool_calls[], observed_tool_call_names[], observed_tool_result_names[], observed_tool_call_count,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2350766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finish_reason, response_text, workspace_changed",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2427918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"json_keys_before":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2505070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"{\"model\":\"...\",\"system_prompt\":\"...\",\"messages\":[{\"role\":\"...\",\"content\":\"...\"}],\"request_context\":{...},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2582222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\"agent_hints\":{...},\"tool_choice\":\"...\",\"expected_builtin_tools\":[\"...\"],\"tool_parser_names_seen\":[\"...\"],\"tool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2659374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_parser_observed\":\"...\",\"prompt_tokens\":\"...\",\"cached_prompt_tokens\":\"...\",\"cached_input_tokens\":\"...\"}",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" y="2736526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"json_keys_after":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" y="2813678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"{\"messages\":[{\"type\":\"...\",\"name\":\"...\",\"content\":\"...\",\"tool_calls\":[{\"name\":\"...\"}],\"invalid_tool_call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2890830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s\":[\"...\"]}],\"observed_tool_call_names\":[\"...\"],\"observed_tool_result_names\":[\"...\"],\"observed_tool_call_count\":\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" y="2967982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"...\",\"finish_reason\":\"...\",\"response_text\":\"...\",\"workspace_changed\":\"...\"}",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950" y="3045134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"added_keys": "observed_tool_call_names, observed_tool_result_names, finish_reason, response_text, workspace_changed",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950" y="3122286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"removed_keys": "none",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3199438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"changed_keys": "request state -&gt; response and outcome state",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3276590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"chars_before": 6906,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950" y="3353742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"chars_after": 2703,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950" y="3430894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"char_delta": -4203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3508046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  <a:latin typeface="Aptos Mono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>
            <a:solidFill>
              <a:srgbClr val="F8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53340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67085"/>
                </a:solidFill>
                <a:latin typeface="Aptos"/>
              </a:rPr>
              <a:t>MODEL BEHAVIOR (3 OF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" y="742950"/>
            <a:ext cx="10096500" cy="3238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1820"/>
                </a:solidFill>
                <a:latin typeface="Aptos"/>
              </a:rPr>
              <a:t>Exact observed tool-use and response fields recorded for the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23950"/>
            <a:ext cx="11734800" cy="5143500"/>
          </a:xfrm>
          <a:prstGeom prst="rect">
            <a:avLst/>
          </a:prstGeom>
          <a:solidFill>
            <a:srgbClr val="F7FAFC"/>
          </a:solidFill>
          <a:ln w="2413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6250" y="1314450"/>
            <a:ext cx="2286000" cy="133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399" y="1314450"/>
            <a:ext cx="4667250" cy="133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prompt_evolution_report.stages[6].{observed_tool_call_names, observed_tool_result_names, observed_tool_call_count, finish_reason, response_text}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2950" y="1733550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1810702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"observed_tool_call_names": [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1887854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    "execute",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1965006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    "ls",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2042158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    "read_file"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2119310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  ],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2196462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"observed_tool_result_names": [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273614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    "execute",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2350766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    "ls",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2427918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    "read_file"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2505070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  ],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2582222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"observed_tool_call_count": 3,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2659374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"finish_reason": "stop",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" y="2736526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1">
                <a:solidFill>
                  <a:srgbClr val="C2410C"/>
                </a:solidFill>
                <a:latin typeface="Aptos Mono"/>
              </a:rPr>
              <a:t>  "response_text": "It seems that the `npm` command is not available in the current environment, which is preventing us from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" y="2813678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running the tests directly. Instead, we can manually inspect the changes and ensure they are correct before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2890830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proceeding.\n\nLet's proceed with the following steps:\n\n1. **Commit the Changes:**\n   - Commit the changes to the local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" y="2967982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repository to ensure we can revert if necessary.\n\n2. **Run the Tests Manually:**\n   - Since `npm` is not available, we will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950" y="3045134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need to manually verify the changes by running the tests in the NodeBB environment.\n\n3. **Test the Changes:**\n   - Manually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950" y="3122286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test the changes by creating a user, validating their email, and checking the ACP to ensure the email status is correctly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3199438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displayed and the validation process works as expected.\n\n### Step 7: Commit the Changes\n\nLet's commit the changes to the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3276590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local repository.\n\n```bash\ngit add src/user/email.js\ngit add src/database/mongo/main.js\ngit add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950" y="3353742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src/database/postgres/main.js\ngit add src/database/redis/main.js\ngit commit -m \"Implement email validation and fallback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950" y="3430894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logic\"\n```\n\n### Step 8: Run the Tests Manually\n\nSince we cannot run the tests using `npm`, we will need to manually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3508046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verify the changes. Here are the steps to manually test the changes:\n\n1. **Create a User:**\n   - Go to the ACP and create 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950" y="3585198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new user without confirming their email.\n\n2. **Validate the Email:**\n   - Attempt to validate or resend the confirmation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950" y="3662350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email via the ACP.\n\n3. **Check the Email Status:**\n   - Verify that the email status is correctly displayed in the ACP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3739502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(validated, pending, expired, or missing).\n\n4. **Check Backend Behavior:**\n   - Ensure that the backend processes the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950" y="3816654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validation and confirmation requests correctly.\n\n### Step 9: Report the Changes\n\nAfter manually testing the changes, we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950" y="3893806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can report the changes and the results.\n\n### Changes Made:\n\n1. **src/user/email.js:**\n   - Added the `getConfirmObjs`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3970958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helper function.\n   - Updated the `loadUserInfo` function to use the `getConfirmObjs` helper.\n   - Updated the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950" y="4048110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`User.validateEmail` and `User.sendValidationEmail` handlers to use the `email:pending` and `email:expired` flags derived from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950" y="4125262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the `getConfirmObjs` function.\n\n2. **src/database/mongo/main.js, src/database/postgres/main.js,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4202414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src/database/redis/main.js:**\n   - Updated the `db.mget` method to handle the retrieval of multiple keys and return `null`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950" y="4279566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for non-existent keys.\n\n### Next Steps:\n\n1. **Manually Test the Changes:**\n   - Create a user, validate their email, 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2950" y="4356718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check the ACP to ensure the email status is correctly displayed and the validation process works as expected.\n\n2. **Document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950" y="4433870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the Results:**\n   - Report the results of the manual tests and any issues encountered.\n\nLet's proceed with the manual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2950" y="4511022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testing."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2950" y="4588174"/>
            <a:ext cx="1076325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" b="0">
                <a:solidFill>
                  <a:srgbClr val="172033"/>
                </a:solidFill>
                <a:latin typeface="Aptos Mono"/>
              </a:rPr>
              <a:t>}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  <a:latin typeface="Aptos Mono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78CD5A75-FE81-486D-B954-94C81C5D9F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7C9AED-82C8-4DAC-A408-8A0895822C7D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CC1FE0-BC46-46CA-9B6A-0963F5EB76E7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ADDED FIELDS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8A4EEE-4E37-4ACA-81CA-4E5610EE88ED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Each stage adds specific fields that explain the handoff.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6A94A8-C73E-413D-8FE0-7699C998D70D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8858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easiest way to read this slide: the left column names the step, the middle shows the new fields created at that step, and the right side shows whether the payload grew.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AB2234-57DE-4E70-8F19-02EA9471171B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1943100" cy="323850"/>
          </a:xfrm>
          <a:prstGeom prst="rect">
            <a:avLst/>
          </a:prstGeom>
          <a:solidFill>
            <a:srgbClr val="E7E0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450454-3E28-47AF-B0E6-F822B79E7280}"/>
              </a:ext>
            </a:extLst>
          </p:cNvPr>
          <p:cNvSpPr>
            <a:spLocks noGrp="1"/>
          </p:cNvSpPr>
          <p:nvPr/>
        </p:nvSpPr>
        <p:spPr>
          <a:xfrm>
            <a:off x="704850" y="2343150"/>
            <a:ext cx="1752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0315AF-10E6-437D-A769-8DB9F1BF1C68}"/>
              </a:ext>
            </a:extLst>
          </p:cNvPr>
          <p:cNvSpPr>
            <a:spLocks noGrp="1"/>
          </p:cNvSpPr>
          <p:nvPr/>
        </p:nvSpPr>
        <p:spPr>
          <a:xfrm>
            <a:off x="2552700" y="2266950"/>
            <a:ext cx="4953000" cy="323850"/>
          </a:xfrm>
          <a:prstGeom prst="rect">
            <a:avLst/>
          </a:prstGeom>
          <a:solidFill>
            <a:srgbClr val="E7E0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04E1B8-3B68-47F9-8033-242627A51E3A}"/>
              </a:ext>
            </a:extLst>
          </p:cNvPr>
          <p:cNvSpPr>
            <a:spLocks noGrp="1"/>
          </p:cNvSpPr>
          <p:nvPr/>
        </p:nvSpPr>
        <p:spPr>
          <a:xfrm>
            <a:off x="2647950" y="2343150"/>
            <a:ext cx="476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Fields added here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D6D995-FECF-4C0E-8B13-CDF40635C8EF}"/>
              </a:ext>
            </a:extLst>
          </p:cNvPr>
          <p:cNvSpPr>
            <a:spLocks noGrp="1"/>
          </p:cNvSpPr>
          <p:nvPr/>
        </p:nvSpPr>
        <p:spPr>
          <a:xfrm>
            <a:off x="7505700" y="2266950"/>
            <a:ext cx="2819400" cy="323850"/>
          </a:xfrm>
          <a:prstGeom prst="rect">
            <a:avLst/>
          </a:prstGeom>
          <a:solidFill>
            <a:srgbClr val="E7E0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0F2834-662E-437D-88B6-AC548EE60A38}"/>
              </a:ext>
            </a:extLst>
          </p:cNvPr>
          <p:cNvSpPr>
            <a:spLocks noGrp="1"/>
          </p:cNvSpPr>
          <p:nvPr/>
        </p:nvSpPr>
        <p:spPr>
          <a:xfrm>
            <a:off x="7600950" y="2343150"/>
            <a:ext cx="2628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Meaning of the change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031F8F-206A-4C39-96E5-13FD9127F6B3}"/>
              </a:ext>
            </a:extLst>
          </p:cNvPr>
          <p:cNvSpPr>
            <a:spLocks noGrp="1"/>
          </p:cNvSpPr>
          <p:nvPr/>
        </p:nvSpPr>
        <p:spPr>
          <a:xfrm>
            <a:off x="10325100" y="2266950"/>
            <a:ext cx="1257300" cy="323850"/>
          </a:xfrm>
          <a:prstGeom prst="rect">
            <a:avLst/>
          </a:prstGeom>
          <a:solidFill>
            <a:srgbClr val="E7E0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8C1AC9-B97C-4372-9784-CD981C443A24}"/>
              </a:ext>
            </a:extLst>
          </p:cNvPr>
          <p:cNvSpPr>
            <a:spLocks noGrp="1"/>
          </p:cNvSpPr>
          <p:nvPr/>
        </p:nvSpPr>
        <p:spPr>
          <a:xfrm>
            <a:off x="10420350" y="2343150"/>
            <a:ext cx="1066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Size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B7EF71-A298-4524-B267-055ACB89EDE2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10972800" cy="51435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501E89-9B2B-414E-92F1-20D54521D458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76200" cy="51435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7774AB-6CA8-473D-98B2-3883D9D9295D}"/>
              </a:ext>
            </a:extLst>
          </p:cNvPr>
          <p:cNvSpPr>
            <a:spLocks noGrp="1"/>
          </p:cNvSpPr>
          <p:nvPr/>
        </p:nvSpPr>
        <p:spPr>
          <a:xfrm>
            <a:off x="781050" y="2657475"/>
            <a:ext cx="16573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Task Loaded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605270-EE0C-4E93-BB44-A2B4D2CA41F3}"/>
              </a:ext>
            </a:extLst>
          </p:cNvPr>
          <p:cNvSpPr>
            <a:spLocks noGrp="1"/>
          </p:cNvSpPr>
          <p:nvPr/>
        </p:nvSpPr>
        <p:spPr>
          <a:xfrm>
            <a:off x="781050" y="2867025"/>
            <a:ext cx="1657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Benchmark Loader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4D1C7B-EB59-4D1E-9489-34E3B31F30F0}"/>
              </a:ext>
            </a:extLst>
          </p:cNvPr>
          <p:cNvSpPr>
            <a:spLocks noGrp="1"/>
          </p:cNvSpPr>
          <p:nvPr/>
        </p:nvSpPr>
        <p:spPr>
          <a:xfrm>
            <a:off x="2667000" y="2686050"/>
            <a:ext cx="55245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AA385A-B5DC-45FD-8AD1-4BF7225C61FD}"/>
              </a:ext>
            </a:extLst>
          </p:cNvPr>
          <p:cNvSpPr>
            <a:spLocks noGrp="1"/>
          </p:cNvSpPr>
          <p:nvPr/>
        </p:nvSpPr>
        <p:spPr>
          <a:xfrm>
            <a:off x="2752725" y="2733675"/>
            <a:ext cx="38100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938528-939C-41F3-8CDD-F824C1300881}"/>
              </a:ext>
            </a:extLst>
          </p:cNvPr>
          <p:cNvSpPr>
            <a:spLocks noGrp="1"/>
          </p:cNvSpPr>
          <p:nvPr/>
        </p:nvSpPr>
        <p:spPr>
          <a:xfrm>
            <a:off x="3276600" y="2686050"/>
            <a:ext cx="90297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1F9C6F-AC5B-47B5-AE71-5C90D2A2BC5C}"/>
              </a:ext>
            </a:extLst>
          </p:cNvPr>
          <p:cNvSpPr>
            <a:spLocks noGrp="1"/>
          </p:cNvSpPr>
          <p:nvPr/>
        </p:nvSpPr>
        <p:spPr>
          <a:xfrm>
            <a:off x="3362325" y="2733675"/>
            <a:ext cx="73152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base_commit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27805B-4FE6-4B89-A629-625F6E885033}"/>
              </a:ext>
            </a:extLst>
          </p:cNvPr>
          <p:cNvSpPr>
            <a:spLocks noGrp="1"/>
          </p:cNvSpPr>
          <p:nvPr/>
        </p:nvSpPr>
        <p:spPr>
          <a:xfrm>
            <a:off x="4236720" y="2686050"/>
            <a:ext cx="64389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BCDC4C-7C12-4062-9DDB-462D9104E56E}"/>
              </a:ext>
            </a:extLst>
          </p:cNvPr>
          <p:cNvSpPr>
            <a:spLocks noGrp="1"/>
          </p:cNvSpPr>
          <p:nvPr/>
        </p:nvSpPr>
        <p:spPr>
          <a:xfrm>
            <a:off x="4322445" y="2733675"/>
            <a:ext cx="47244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+4 more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F33455-FB2E-4C0E-99E9-DC7BD8FE6E6C}"/>
              </a:ext>
            </a:extLst>
          </p:cNvPr>
          <p:cNvSpPr>
            <a:spLocks noGrp="1"/>
          </p:cNvSpPr>
          <p:nvPr/>
        </p:nvSpPr>
        <p:spPr>
          <a:xfrm>
            <a:off x="7620000" y="2686050"/>
            <a:ext cx="2590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Established the starting task description from dataset fields before any prompt assembly.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4FF3FC6-841F-4734-B5A8-D875E6A54743}"/>
              </a:ext>
            </a:extLst>
          </p:cNvPr>
          <p:cNvSpPr>
            <a:spLocks noGrp="1"/>
          </p:cNvSpPr>
          <p:nvPr/>
        </p:nvSpPr>
        <p:spPr>
          <a:xfrm>
            <a:off x="10420350" y="2686050"/>
            <a:ext cx="1066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05" b="1">
                <a:solidFill>
                  <a:srgbClr val="BE123C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BE123C"/>
                </a:solidFill>
                <a:latin typeface="Aptos Mono"/>
                <a:ea typeface="Aptos Mono"/>
                <a:cs typeface="Aptos Mono"/>
              </a:rPr>
              <a:t>+1,330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383B06-8B74-45E0-945A-2691456C1F2E}"/>
              </a:ext>
            </a:extLst>
          </p:cNvPr>
          <p:cNvSpPr>
            <a:spLocks noGrp="1"/>
          </p:cNvSpPr>
          <p:nvPr/>
        </p:nvSpPr>
        <p:spPr>
          <a:xfrm>
            <a:off x="10420350" y="2867025"/>
            <a:ext cx="10668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Output record grew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CA1EA0-14A0-45C8-A3A6-3C8608CFD6D7}"/>
              </a:ext>
            </a:extLst>
          </p:cNvPr>
          <p:cNvSpPr>
            <a:spLocks noGrp="1"/>
          </p:cNvSpPr>
          <p:nvPr/>
        </p:nvSpPr>
        <p:spPr>
          <a:xfrm>
            <a:off x="609600" y="3095625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C7B9E8-2628-44AE-889E-C6ECAF9F02F8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10972800" cy="514350"/>
          </a:xfrm>
          <a:prstGeom prst="rect">
            <a:avLst/>
          </a:prstGeom>
          <a:solidFill>
            <a:srgbClr val="F1EB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24F512-7DAC-4796-8CDA-AF241FDD949D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76200" cy="5143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C182BF-9078-4106-90B9-B0C9C62E6AE3}"/>
              </a:ext>
            </a:extLst>
          </p:cNvPr>
          <p:cNvSpPr>
            <a:spLocks noGrp="1"/>
          </p:cNvSpPr>
          <p:nvPr/>
        </p:nvSpPr>
        <p:spPr>
          <a:xfrm>
            <a:off x="781050" y="3171825"/>
            <a:ext cx="16573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Built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53280C4-BACD-429A-AD84-7FF86BF82E7C}"/>
              </a:ext>
            </a:extLst>
          </p:cNvPr>
          <p:cNvSpPr>
            <a:spLocks noGrp="1"/>
          </p:cNvSpPr>
          <p:nvPr/>
        </p:nvSpPr>
        <p:spPr>
          <a:xfrm>
            <a:off x="781050" y="3381375"/>
            <a:ext cx="1657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73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6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C5DA3D0-92D4-4B27-81AD-458CE32501FB}"/>
              </a:ext>
            </a:extLst>
          </p:cNvPr>
          <p:cNvSpPr>
            <a:spLocks noGrp="1"/>
          </p:cNvSpPr>
          <p:nvPr/>
        </p:nvSpPr>
        <p:spPr>
          <a:xfrm>
            <a:off x="2667000" y="3200400"/>
            <a:ext cx="57912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74C1A0-4976-49D1-A4D0-348A3CFC0013}"/>
              </a:ext>
            </a:extLst>
          </p:cNvPr>
          <p:cNvSpPr>
            <a:spLocks noGrp="1"/>
          </p:cNvSpPr>
          <p:nvPr/>
        </p:nvSpPr>
        <p:spPr>
          <a:xfrm>
            <a:off x="2752725" y="3248025"/>
            <a:ext cx="40767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8AC98C2-E4C4-47A8-AFA0-04572C2424BE}"/>
              </a:ext>
            </a:extLst>
          </p:cNvPr>
          <p:cNvSpPr>
            <a:spLocks noGrp="1"/>
          </p:cNvSpPr>
          <p:nvPr/>
        </p:nvSpPr>
        <p:spPr>
          <a:xfrm>
            <a:off x="7620000" y="3200400"/>
            <a:ext cx="2590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problem_statement, requirements, selected tests -&gt; prompt text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9CF3AF-F379-473C-A31B-CDE78C1044F3}"/>
              </a:ext>
            </a:extLst>
          </p:cNvPr>
          <p:cNvSpPr>
            <a:spLocks noGrp="1"/>
          </p:cNvSpPr>
          <p:nvPr/>
        </p:nvSpPr>
        <p:spPr>
          <a:xfrm>
            <a:off x="10420350" y="3200400"/>
            <a:ext cx="1066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05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+5,576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A7597FF-65E6-4F21-ACE5-65883A87C451}"/>
              </a:ext>
            </a:extLst>
          </p:cNvPr>
          <p:cNvSpPr>
            <a:spLocks noGrp="1"/>
          </p:cNvSpPr>
          <p:nvPr/>
        </p:nvSpPr>
        <p:spPr>
          <a:xfrm>
            <a:off x="10420350" y="3381375"/>
            <a:ext cx="10668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grew here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605773F-F9E0-4F29-ADA2-74210AB4C4A8}"/>
              </a:ext>
            </a:extLst>
          </p:cNvPr>
          <p:cNvSpPr>
            <a:spLocks noGrp="1"/>
          </p:cNvSpPr>
          <p:nvPr/>
        </p:nvSpPr>
        <p:spPr>
          <a:xfrm>
            <a:off x="609600" y="3609975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8B228DE-F70B-4171-96CA-099C7B58065B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10972800" cy="51435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03550AB-609A-4F9A-8DE0-C134C047FCDD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76200" cy="514350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F9AFE15-0686-416A-92DD-C27DCDDA3F91}"/>
              </a:ext>
            </a:extLst>
          </p:cNvPr>
          <p:cNvSpPr>
            <a:spLocks noGrp="1"/>
          </p:cNvSpPr>
          <p:nvPr/>
        </p:nvSpPr>
        <p:spPr>
          <a:xfrm>
            <a:off x="781050" y="3686175"/>
            <a:ext cx="16573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Request Packaged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DE63BDA-4BC0-49AE-B69D-08AA5391B165}"/>
              </a:ext>
            </a:extLst>
          </p:cNvPr>
          <p:cNvSpPr>
            <a:spLocks noGrp="1"/>
          </p:cNvSpPr>
          <p:nvPr/>
        </p:nvSpPr>
        <p:spPr>
          <a:xfrm>
            <a:off x="781050" y="3895725"/>
            <a:ext cx="1657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73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66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Request Wrapper (local helper script)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BE4276F-F3CD-42B5-8D6E-C490100327B3}"/>
              </a:ext>
            </a:extLst>
          </p:cNvPr>
          <p:cNvSpPr>
            <a:spLocks noGrp="1"/>
          </p:cNvSpPr>
          <p:nvPr/>
        </p:nvSpPr>
        <p:spPr>
          <a:xfrm>
            <a:off x="2667000" y="3714750"/>
            <a:ext cx="55245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5AD27FA-A45A-498C-86DD-71F2700DA746}"/>
              </a:ext>
            </a:extLst>
          </p:cNvPr>
          <p:cNvSpPr>
            <a:spLocks noGrp="1"/>
          </p:cNvSpPr>
          <p:nvPr/>
        </p:nvSpPr>
        <p:spPr>
          <a:xfrm>
            <a:off x="2752725" y="3762375"/>
            <a:ext cx="38100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E890A1A-0DA8-4028-8322-2BB776911B25}"/>
              </a:ext>
            </a:extLst>
          </p:cNvPr>
          <p:cNvSpPr>
            <a:spLocks noGrp="1"/>
          </p:cNvSpPr>
          <p:nvPr/>
        </p:nvSpPr>
        <p:spPr>
          <a:xfrm>
            <a:off x="3276600" y="3714750"/>
            <a:ext cx="70866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09E56B4-5FA3-4344-B179-2970C80417B1}"/>
              </a:ext>
            </a:extLst>
          </p:cNvPr>
          <p:cNvSpPr>
            <a:spLocks noGrp="1"/>
          </p:cNvSpPr>
          <p:nvPr/>
        </p:nvSpPr>
        <p:spPr>
          <a:xfrm>
            <a:off x="3362325" y="3762375"/>
            <a:ext cx="53721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DB0B49-30DB-4FD4-B831-DC5C27D248FA}"/>
              </a:ext>
            </a:extLst>
          </p:cNvPr>
          <p:cNvSpPr>
            <a:spLocks noGrp="1"/>
          </p:cNvSpPr>
          <p:nvPr/>
        </p:nvSpPr>
        <p:spPr>
          <a:xfrm>
            <a:off x="4042410" y="3714750"/>
            <a:ext cx="64389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47A7A84-D871-4B4D-9207-9963824D53A0}"/>
              </a:ext>
            </a:extLst>
          </p:cNvPr>
          <p:cNvSpPr>
            <a:spLocks noGrp="1"/>
          </p:cNvSpPr>
          <p:nvPr/>
        </p:nvSpPr>
        <p:spPr>
          <a:xfrm>
            <a:off x="4128135" y="3762375"/>
            <a:ext cx="47244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+3 more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029F8AC-1BBB-4864-8C9F-263D806AEB72}"/>
              </a:ext>
            </a:extLst>
          </p:cNvPr>
          <p:cNvSpPr>
            <a:spLocks noGrp="1"/>
          </p:cNvSpPr>
          <p:nvPr/>
        </p:nvSpPr>
        <p:spPr>
          <a:xfrm>
            <a:off x="7620000" y="3714750"/>
            <a:ext cx="2590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 -&gt; messages[0].content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206DFC7-99D4-4158-BCEE-A85A98FA689B}"/>
              </a:ext>
            </a:extLst>
          </p:cNvPr>
          <p:cNvSpPr>
            <a:spLocks noGrp="1"/>
          </p:cNvSpPr>
          <p:nvPr/>
        </p:nvSpPr>
        <p:spPr>
          <a:xfrm>
            <a:off x="10420350" y="3714750"/>
            <a:ext cx="1066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43B13B2-3567-4B41-87C7-C329C98E696F}"/>
              </a:ext>
            </a:extLst>
          </p:cNvPr>
          <p:cNvSpPr>
            <a:spLocks noGrp="1"/>
          </p:cNvSpPr>
          <p:nvPr/>
        </p:nvSpPr>
        <p:spPr>
          <a:xfrm>
            <a:off x="10420350" y="3895725"/>
            <a:ext cx="10668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 payload growth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66DCCC2-F79F-4EA9-98B8-F0292062E9ED}"/>
              </a:ext>
            </a:extLst>
          </p:cNvPr>
          <p:cNvSpPr>
            <a:spLocks noGrp="1"/>
          </p:cNvSpPr>
          <p:nvPr/>
        </p:nvSpPr>
        <p:spPr>
          <a:xfrm>
            <a:off x="609600" y="4124325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31F6E79-072F-4B86-8B85-E002FAFDE243}"/>
              </a:ext>
            </a:extLst>
          </p:cNvPr>
          <p:cNvSpPr>
            <a:spLocks noGrp="1"/>
          </p:cNvSpPr>
          <p:nvPr/>
        </p:nvSpPr>
        <p:spPr>
          <a:xfrm>
            <a:off x="609600" y="4133850"/>
            <a:ext cx="10972800" cy="514350"/>
          </a:xfrm>
          <a:prstGeom prst="rect">
            <a:avLst/>
          </a:prstGeom>
          <a:solidFill>
            <a:srgbClr val="F1EB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B5AA782-5027-4B0A-A828-ECD90A5B6E7C}"/>
              </a:ext>
            </a:extLst>
          </p:cNvPr>
          <p:cNvSpPr>
            <a:spLocks noGrp="1"/>
          </p:cNvSpPr>
          <p:nvPr/>
        </p:nvSpPr>
        <p:spPr>
          <a:xfrm>
            <a:off x="609600" y="4133850"/>
            <a:ext cx="76200" cy="5143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6434326-D31E-4EFE-8D27-5A865AA9DC73}"/>
              </a:ext>
            </a:extLst>
          </p:cNvPr>
          <p:cNvSpPr>
            <a:spLocks noGrp="1"/>
          </p:cNvSpPr>
          <p:nvPr/>
        </p:nvSpPr>
        <p:spPr>
          <a:xfrm>
            <a:off x="781050" y="4200525"/>
            <a:ext cx="16573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 Rules Applied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1A2B06B-4755-45B6-97A5-41547BD07617}"/>
              </a:ext>
            </a:extLst>
          </p:cNvPr>
          <p:cNvSpPr>
            <a:spLocks noGrp="1"/>
          </p:cNvSpPr>
          <p:nvPr/>
        </p:nvSpPr>
        <p:spPr>
          <a:xfrm>
            <a:off x="781050" y="4410075"/>
            <a:ext cx="1657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E5F7564-F912-4FED-90D4-12A9F0658FB1}"/>
              </a:ext>
            </a:extLst>
          </p:cNvPr>
          <p:cNvSpPr>
            <a:spLocks noGrp="1"/>
          </p:cNvSpPr>
          <p:nvPr/>
        </p:nvSpPr>
        <p:spPr>
          <a:xfrm>
            <a:off x="2667000" y="4229100"/>
            <a:ext cx="103251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FB5C98E-7CCA-4C07-AAC9-393924D85670}"/>
              </a:ext>
            </a:extLst>
          </p:cNvPr>
          <p:cNvSpPr>
            <a:spLocks noGrp="1"/>
          </p:cNvSpPr>
          <p:nvPr/>
        </p:nvSpPr>
        <p:spPr>
          <a:xfrm>
            <a:off x="2752725" y="4276725"/>
            <a:ext cx="86106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1B38DA0-1DAA-4FE7-BE56-67DF584CA56E}"/>
              </a:ext>
            </a:extLst>
          </p:cNvPr>
          <p:cNvSpPr>
            <a:spLocks noGrp="1"/>
          </p:cNvSpPr>
          <p:nvPr/>
        </p:nvSpPr>
        <p:spPr>
          <a:xfrm>
            <a:off x="7620000" y="4229100"/>
            <a:ext cx="2590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interpretation now includes system instructions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71B9FBB-30D4-4867-8242-C3C4C8B8BEE4}"/>
              </a:ext>
            </a:extLst>
          </p:cNvPr>
          <p:cNvSpPr>
            <a:spLocks noGrp="1"/>
          </p:cNvSpPr>
          <p:nvPr/>
        </p:nvSpPr>
        <p:spPr>
          <a:xfrm>
            <a:off x="10420350" y="4229100"/>
            <a:ext cx="1066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B827E48-7E5C-4305-A4A8-7D9C4CD9CDA1}"/>
              </a:ext>
            </a:extLst>
          </p:cNvPr>
          <p:cNvSpPr>
            <a:spLocks noGrp="1"/>
          </p:cNvSpPr>
          <p:nvPr/>
        </p:nvSpPr>
        <p:spPr>
          <a:xfrm>
            <a:off x="10420350" y="4410075"/>
            <a:ext cx="10668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 payload growth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1DA0F40-FE8D-4042-9EE2-F19734D8FE2C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18E4FB5-A784-414D-9292-4F484947DD87}"/>
              </a:ext>
            </a:extLst>
          </p:cNvPr>
          <p:cNvSpPr>
            <a:spLocks noGrp="1"/>
          </p:cNvSpPr>
          <p:nvPr/>
        </p:nvSpPr>
        <p:spPr>
          <a:xfrm>
            <a:off x="609600" y="4648200"/>
            <a:ext cx="10972800" cy="51435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D31FD42-4ACF-4157-ADD2-0501D146D404}"/>
              </a:ext>
            </a:extLst>
          </p:cNvPr>
          <p:cNvSpPr>
            <a:spLocks noGrp="1"/>
          </p:cNvSpPr>
          <p:nvPr/>
        </p:nvSpPr>
        <p:spPr>
          <a:xfrm>
            <a:off x="609600" y="4648200"/>
            <a:ext cx="76200" cy="51435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22F77D5-F1B1-4B5F-8CB9-08E54510F6E8}"/>
              </a:ext>
            </a:extLst>
          </p:cNvPr>
          <p:cNvSpPr>
            <a:spLocks noGrp="1"/>
          </p:cNvSpPr>
          <p:nvPr/>
        </p:nvSpPr>
        <p:spPr>
          <a:xfrm>
            <a:off x="781050" y="4714875"/>
            <a:ext cx="16573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Tools Attached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6F18995-7637-4E28-8C19-1B5B463E4DF5}"/>
              </a:ext>
            </a:extLst>
          </p:cNvPr>
          <p:cNvSpPr>
            <a:spLocks noGrp="1"/>
          </p:cNvSpPr>
          <p:nvPr/>
        </p:nvSpPr>
        <p:spPr>
          <a:xfrm>
            <a:off x="781050" y="4924425"/>
            <a:ext cx="1657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687480C-DFA9-4155-AD48-9749C4C985CE}"/>
              </a:ext>
            </a:extLst>
          </p:cNvPr>
          <p:cNvSpPr>
            <a:spLocks noGrp="1"/>
          </p:cNvSpPr>
          <p:nvPr/>
        </p:nvSpPr>
        <p:spPr>
          <a:xfrm>
            <a:off x="2667000" y="4743450"/>
            <a:ext cx="161544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5893884-FE60-45CD-8F96-72825B7DF876}"/>
              </a:ext>
            </a:extLst>
          </p:cNvPr>
          <p:cNvSpPr>
            <a:spLocks noGrp="1"/>
          </p:cNvSpPr>
          <p:nvPr/>
        </p:nvSpPr>
        <p:spPr>
          <a:xfrm>
            <a:off x="2752725" y="4791075"/>
            <a:ext cx="144399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expected_builtin_tools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ED7CD97-87EF-4138-84C7-38FB5369D86F}"/>
              </a:ext>
            </a:extLst>
          </p:cNvPr>
          <p:cNvSpPr>
            <a:spLocks noGrp="1"/>
          </p:cNvSpPr>
          <p:nvPr/>
        </p:nvSpPr>
        <p:spPr>
          <a:xfrm>
            <a:off x="4339590" y="4743450"/>
            <a:ext cx="161544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FF51E53-6463-463D-9BD8-7B1D7E860755}"/>
              </a:ext>
            </a:extLst>
          </p:cNvPr>
          <p:cNvSpPr>
            <a:spLocks noGrp="1"/>
          </p:cNvSpPr>
          <p:nvPr/>
        </p:nvSpPr>
        <p:spPr>
          <a:xfrm>
            <a:off x="4425315" y="4791075"/>
            <a:ext cx="144399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tool_parser_names_seen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19A0ABE-4D74-4E24-93C8-2F654F332F49}"/>
              </a:ext>
            </a:extLst>
          </p:cNvPr>
          <p:cNvSpPr>
            <a:spLocks noGrp="1"/>
          </p:cNvSpPr>
          <p:nvPr/>
        </p:nvSpPr>
        <p:spPr>
          <a:xfrm>
            <a:off x="6012180" y="4743450"/>
            <a:ext cx="64389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01D2C4E-CD2B-4C95-850D-2463DAA0F339}"/>
              </a:ext>
            </a:extLst>
          </p:cNvPr>
          <p:cNvSpPr>
            <a:spLocks noGrp="1"/>
          </p:cNvSpPr>
          <p:nvPr/>
        </p:nvSpPr>
        <p:spPr>
          <a:xfrm>
            <a:off x="6097905" y="4791075"/>
            <a:ext cx="47244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+1 more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53B49E4-8E2A-405D-8EBF-549E3AC183C5}"/>
              </a:ext>
            </a:extLst>
          </p:cNvPr>
          <p:cNvSpPr>
            <a:spLocks noGrp="1"/>
          </p:cNvSpPr>
          <p:nvPr/>
        </p:nvSpPr>
        <p:spPr>
          <a:xfrm>
            <a:off x="7620000" y="4743450"/>
            <a:ext cx="2590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 view now includes tool surface and parser metadata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1AC7527-D4A5-4930-B6E0-8111DDFF5367}"/>
              </a:ext>
            </a:extLst>
          </p:cNvPr>
          <p:cNvSpPr>
            <a:spLocks noGrp="1"/>
          </p:cNvSpPr>
          <p:nvPr/>
        </p:nvSpPr>
        <p:spPr>
          <a:xfrm>
            <a:off x="10420350" y="4743450"/>
            <a:ext cx="1066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1EBD797-988E-4E01-AF30-CBC13F6A8464}"/>
              </a:ext>
            </a:extLst>
          </p:cNvPr>
          <p:cNvSpPr>
            <a:spLocks noGrp="1"/>
          </p:cNvSpPr>
          <p:nvPr/>
        </p:nvSpPr>
        <p:spPr>
          <a:xfrm>
            <a:off x="10420350" y="4924425"/>
            <a:ext cx="10668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 payload growth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D74A570-2892-4745-8C67-3733B403BB24}"/>
              </a:ext>
            </a:extLst>
          </p:cNvPr>
          <p:cNvSpPr>
            <a:spLocks noGrp="1"/>
          </p:cNvSpPr>
          <p:nvPr/>
        </p:nvSpPr>
        <p:spPr>
          <a:xfrm>
            <a:off x="609600" y="5153025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B0D9C04-86E2-445F-A6AD-801551BC6E8B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72800" cy="514350"/>
          </a:xfrm>
          <a:prstGeom prst="rect">
            <a:avLst/>
          </a:prstGeom>
          <a:solidFill>
            <a:srgbClr val="F1EB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007C850-255B-44E7-B6A4-6582391E250A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76200" cy="51435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8184A89-1BDC-4B16-87E8-C1160D256C60}"/>
              </a:ext>
            </a:extLst>
          </p:cNvPr>
          <p:cNvSpPr>
            <a:spLocks noGrp="1"/>
          </p:cNvSpPr>
          <p:nvPr/>
        </p:nvSpPr>
        <p:spPr>
          <a:xfrm>
            <a:off x="781050" y="5229225"/>
            <a:ext cx="16573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Prepared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24E3372-3C2C-4DC9-8524-9A1248100DB4}"/>
              </a:ext>
            </a:extLst>
          </p:cNvPr>
          <p:cNvSpPr>
            <a:spLocks noGrp="1"/>
          </p:cNvSpPr>
          <p:nvPr/>
        </p:nvSpPr>
        <p:spPr>
          <a:xfrm>
            <a:off x="781050" y="5438775"/>
            <a:ext cx="1657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571C712-9EC0-4E28-A691-6A6DD7982893}"/>
              </a:ext>
            </a:extLst>
          </p:cNvPr>
          <p:cNvSpPr>
            <a:spLocks noGrp="1"/>
          </p:cNvSpPr>
          <p:nvPr/>
        </p:nvSpPr>
        <p:spPr>
          <a:xfrm>
            <a:off x="2667000" y="5257800"/>
            <a:ext cx="103251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6BCBC3-367A-4670-9013-DF51FF627526}"/>
              </a:ext>
            </a:extLst>
          </p:cNvPr>
          <p:cNvSpPr>
            <a:spLocks noGrp="1"/>
          </p:cNvSpPr>
          <p:nvPr/>
        </p:nvSpPr>
        <p:spPr>
          <a:xfrm>
            <a:off x="2752725" y="5305425"/>
            <a:ext cx="86106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prompt_tokens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7574E0E-D123-449B-BD6A-D0EA2C369FB0}"/>
              </a:ext>
            </a:extLst>
          </p:cNvPr>
          <p:cNvSpPr>
            <a:spLocks noGrp="1"/>
          </p:cNvSpPr>
          <p:nvPr/>
        </p:nvSpPr>
        <p:spPr>
          <a:xfrm>
            <a:off x="3756660" y="5257800"/>
            <a:ext cx="148590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5B00B10-06BE-4C47-B468-BFADFA32C405}"/>
              </a:ext>
            </a:extLst>
          </p:cNvPr>
          <p:cNvSpPr>
            <a:spLocks noGrp="1"/>
          </p:cNvSpPr>
          <p:nvPr/>
        </p:nvSpPr>
        <p:spPr>
          <a:xfrm>
            <a:off x="3842385" y="5305425"/>
            <a:ext cx="131445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cached_prompt_tokens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BEE8781-AD82-4B4C-BFD8-E4564245A3EF}"/>
              </a:ext>
            </a:extLst>
          </p:cNvPr>
          <p:cNvSpPr>
            <a:spLocks noGrp="1"/>
          </p:cNvSpPr>
          <p:nvPr/>
        </p:nvSpPr>
        <p:spPr>
          <a:xfrm>
            <a:off x="5299710" y="5257800"/>
            <a:ext cx="64389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8AC7D38-C66D-4D1C-A1AC-DEEDE50F18FE}"/>
              </a:ext>
            </a:extLst>
          </p:cNvPr>
          <p:cNvSpPr>
            <a:spLocks noGrp="1"/>
          </p:cNvSpPr>
          <p:nvPr/>
        </p:nvSpPr>
        <p:spPr>
          <a:xfrm>
            <a:off x="5385435" y="5305425"/>
            <a:ext cx="47244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+1 more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8B401A5-8F7C-43EC-AF53-A3C25F54B4C9}"/>
              </a:ext>
            </a:extLst>
          </p:cNvPr>
          <p:cNvSpPr>
            <a:spLocks noGrp="1"/>
          </p:cNvSpPr>
          <p:nvPr/>
        </p:nvSpPr>
        <p:spPr>
          <a:xfrm>
            <a:off x="7620000" y="5257800"/>
            <a:ext cx="2590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now carries observed runtime preprocessing metrics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7F14313-5F9B-4D5B-B33B-2871C1934B9A}"/>
              </a:ext>
            </a:extLst>
          </p:cNvPr>
          <p:cNvSpPr>
            <a:spLocks noGrp="1"/>
          </p:cNvSpPr>
          <p:nvPr/>
        </p:nvSpPr>
        <p:spPr>
          <a:xfrm>
            <a:off x="10420350" y="5257800"/>
            <a:ext cx="1066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DA57794-5F3A-4841-B18A-2BE3C6F4C669}"/>
              </a:ext>
            </a:extLst>
          </p:cNvPr>
          <p:cNvSpPr>
            <a:spLocks noGrp="1"/>
          </p:cNvSpPr>
          <p:nvPr/>
        </p:nvSpPr>
        <p:spPr>
          <a:xfrm>
            <a:off x="10420350" y="5438775"/>
            <a:ext cx="10668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 payload growth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AB5AC82-9C5A-4F17-BA4B-A66594493051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59B285D-2ECA-4555-A511-E415FC515C7B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10972800" cy="51435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106C792-58FE-4AA7-8C8A-F63118C114D5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76200" cy="51435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A185714-B282-4F09-AFA1-8A38023EB11F}"/>
              </a:ext>
            </a:extLst>
          </p:cNvPr>
          <p:cNvSpPr>
            <a:spLocks noGrp="1"/>
          </p:cNvSpPr>
          <p:nvPr/>
        </p:nvSpPr>
        <p:spPr>
          <a:xfrm>
            <a:off x="781050" y="5743575"/>
            <a:ext cx="16573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Recorded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1044BCA-CC2A-4F47-A607-04813337B2B3}"/>
              </a:ext>
            </a:extLst>
          </p:cNvPr>
          <p:cNvSpPr>
            <a:spLocks noGrp="1"/>
          </p:cNvSpPr>
          <p:nvPr/>
        </p:nvSpPr>
        <p:spPr>
          <a:xfrm>
            <a:off x="781050" y="5953125"/>
            <a:ext cx="1657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543A90E-6B52-49DD-A0AC-49385ED1441B}"/>
              </a:ext>
            </a:extLst>
          </p:cNvPr>
          <p:cNvSpPr>
            <a:spLocks noGrp="1"/>
          </p:cNvSpPr>
          <p:nvPr/>
        </p:nvSpPr>
        <p:spPr>
          <a:xfrm>
            <a:off x="2667000" y="5772150"/>
            <a:ext cx="174498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1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64EB2A7-0CB1-4DE1-83DA-ECFF070BFA08}"/>
              </a:ext>
            </a:extLst>
          </p:cNvPr>
          <p:cNvSpPr>
            <a:spLocks noGrp="1"/>
          </p:cNvSpPr>
          <p:nvPr/>
        </p:nvSpPr>
        <p:spPr>
          <a:xfrm>
            <a:off x="2752725" y="5819775"/>
            <a:ext cx="157353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observed_tool_call_names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014298E-688C-4353-BFF0-8E8A0A84EAA2}"/>
              </a:ext>
            </a:extLst>
          </p:cNvPr>
          <p:cNvSpPr>
            <a:spLocks noGrp="1"/>
          </p:cNvSpPr>
          <p:nvPr/>
        </p:nvSpPr>
        <p:spPr>
          <a:xfrm>
            <a:off x="4469130" y="5772150"/>
            <a:ext cx="186690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1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689E39A-681D-439A-B05C-4B48887ED9AB}"/>
              </a:ext>
            </a:extLst>
          </p:cNvPr>
          <p:cNvSpPr>
            <a:spLocks noGrp="1"/>
          </p:cNvSpPr>
          <p:nvPr/>
        </p:nvSpPr>
        <p:spPr>
          <a:xfrm>
            <a:off x="4554855" y="5819775"/>
            <a:ext cx="169545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observed_tool_result_names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7418A5A-1400-4952-9E4A-1E8443298091}"/>
              </a:ext>
            </a:extLst>
          </p:cNvPr>
          <p:cNvSpPr>
            <a:spLocks noGrp="1"/>
          </p:cNvSpPr>
          <p:nvPr/>
        </p:nvSpPr>
        <p:spPr>
          <a:xfrm>
            <a:off x="6393180" y="5772150"/>
            <a:ext cx="64389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1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28F581C-1DC0-48D3-9D55-6731F0D1FB99}"/>
              </a:ext>
            </a:extLst>
          </p:cNvPr>
          <p:cNvSpPr>
            <a:spLocks noGrp="1"/>
          </p:cNvSpPr>
          <p:nvPr/>
        </p:nvSpPr>
        <p:spPr>
          <a:xfrm>
            <a:off x="6478905" y="5819775"/>
            <a:ext cx="47244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+3 more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54C866D-2A35-4669-82DA-048103375DDC}"/>
              </a:ext>
            </a:extLst>
          </p:cNvPr>
          <p:cNvSpPr>
            <a:spLocks noGrp="1"/>
          </p:cNvSpPr>
          <p:nvPr/>
        </p:nvSpPr>
        <p:spPr>
          <a:xfrm>
            <a:off x="7620000" y="5772150"/>
            <a:ext cx="2590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state -&gt; response and outcome state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52635A6-CB89-4ABF-9A42-D1636C08163B}"/>
              </a:ext>
            </a:extLst>
          </p:cNvPr>
          <p:cNvSpPr>
            <a:spLocks noGrp="1"/>
          </p:cNvSpPr>
          <p:nvPr/>
        </p:nvSpPr>
        <p:spPr>
          <a:xfrm>
            <a:off x="10420350" y="5772150"/>
            <a:ext cx="1066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05" b="1">
                <a:solidFill>
                  <a:srgbClr val="BE123C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BE123C"/>
                </a:solidFill>
                <a:latin typeface="Aptos Mono"/>
                <a:ea typeface="Aptos Mono"/>
                <a:cs typeface="Aptos Mono"/>
              </a:rPr>
              <a:t>+2,066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D2E33EF-EC3C-48A3-9638-35659C29A6A3}"/>
              </a:ext>
            </a:extLst>
          </p:cNvPr>
          <p:cNvSpPr>
            <a:spLocks noGrp="1"/>
          </p:cNvSpPr>
          <p:nvPr/>
        </p:nvSpPr>
        <p:spPr>
          <a:xfrm>
            <a:off x="10420350" y="5953125"/>
            <a:ext cx="10668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Output record grew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7367036-6157-4F40-AFEF-750B6965C1FA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430CB38-238D-4C99-A58F-9192A9228330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76FF085-95E6-4756-9B61-551AD365B3E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0344681-D314-48AF-9C40-D584BAB81B55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sz="1100">
                <a:solidFill>
                  <a:srgbClr val="667085"/>
                </a:solidFill>
                <a:latin typeface="Aptos Mon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0915819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E8C25783-100F-4C9B-83B2-29E0744041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A3FDAE-209A-4DAC-A15A-75C6AFB916F1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04D302-6F31-4AE5-ADF6-F45953652656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EVIDENCE 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AA7791-03AB-4CEE-BEB3-1464F6DFB815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Each stage leaves a short proof trail executives can inspect.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04870B-E1E8-4EEB-8FC6-F44972F38B0A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32766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4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7BD66F-CCE0-48F7-B828-6EBAC0757365}"/>
              </a:ext>
            </a:extLst>
          </p:cNvPr>
          <p:cNvSpPr>
            <a:spLocks noGrp="1"/>
          </p:cNvSpPr>
          <p:nvPr/>
        </p:nvSpPr>
        <p:spPr>
          <a:xfrm>
            <a:off x="781050" y="1981200"/>
            <a:ext cx="2933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+5,576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8CDE57-B044-4A7A-9750-36EF21DBADA8}"/>
              </a:ext>
            </a:extLst>
          </p:cNvPr>
          <p:cNvSpPr>
            <a:spLocks noGrp="1"/>
          </p:cNvSpPr>
          <p:nvPr/>
        </p:nvSpPr>
        <p:spPr>
          <a:xfrm>
            <a:off x="781050" y="2362200"/>
            <a:ext cx="2933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9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113357-2B59-44BF-917C-5958F4325B48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2933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largest growth: raw task becomes prompt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CFC89E-BC5D-46F2-A11F-B4F2215AE6AC}"/>
              </a:ext>
            </a:extLst>
          </p:cNvPr>
          <p:cNvSpPr>
            <a:spLocks noGrp="1"/>
          </p:cNvSpPr>
          <p:nvPr/>
        </p:nvSpPr>
        <p:spPr>
          <a:xfrm>
            <a:off x="4457700" y="1847850"/>
            <a:ext cx="32766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4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F12E41-BDED-4526-8B36-4C56E0DB6FCE}"/>
              </a:ext>
            </a:extLst>
          </p:cNvPr>
          <p:cNvSpPr>
            <a:spLocks noGrp="1"/>
          </p:cNvSpPr>
          <p:nvPr/>
        </p:nvSpPr>
        <p:spPr>
          <a:xfrm>
            <a:off x="4629150" y="1981200"/>
            <a:ext cx="2933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6F6062-1404-4EF0-8BAB-006447B3E262}"/>
              </a:ext>
            </a:extLst>
          </p:cNvPr>
          <p:cNvSpPr>
            <a:spLocks noGrp="1"/>
          </p:cNvSpPr>
          <p:nvPr/>
        </p:nvSpPr>
        <p:spPr>
          <a:xfrm>
            <a:off x="4629150" y="2362200"/>
            <a:ext cx="2933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 Preparation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415100-7ECA-4F62-8B11-2FD6C57FF550}"/>
              </a:ext>
            </a:extLst>
          </p:cNvPr>
          <p:cNvSpPr>
            <a:spLocks noGrp="1"/>
          </p:cNvSpPr>
          <p:nvPr/>
        </p:nvSpPr>
        <p:spPr>
          <a:xfrm>
            <a:off x="4629150" y="2571750"/>
            <a:ext cx="2933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same request, more runtime 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8105C2-623B-410E-B361-D6B8BB36E7E6}"/>
              </a:ext>
            </a:extLst>
          </p:cNvPr>
          <p:cNvSpPr>
            <a:spLocks noGrp="1"/>
          </p:cNvSpPr>
          <p:nvPr/>
        </p:nvSpPr>
        <p:spPr>
          <a:xfrm>
            <a:off x="8305800" y="1847850"/>
            <a:ext cx="32766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4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1AC4E3-135B-471B-9A49-059914B8042E}"/>
              </a:ext>
            </a:extLst>
          </p:cNvPr>
          <p:cNvSpPr>
            <a:spLocks noGrp="1"/>
          </p:cNvSpPr>
          <p:nvPr/>
        </p:nvSpPr>
        <p:spPr>
          <a:xfrm>
            <a:off x="8477250" y="1981200"/>
            <a:ext cx="2933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rPr>
              <a:t>+2,066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59A322-321E-4566-BD5E-ACA32DBBE252}"/>
              </a:ext>
            </a:extLst>
          </p:cNvPr>
          <p:cNvSpPr>
            <a:spLocks noGrp="1"/>
          </p:cNvSpPr>
          <p:nvPr/>
        </p:nvSpPr>
        <p:spPr>
          <a:xfrm>
            <a:off x="8477250" y="2362200"/>
            <a:ext cx="2933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Behavior Record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F48A60-AB62-43D8-B065-B95958F78015}"/>
              </a:ext>
            </a:extLst>
          </p:cNvPr>
          <p:cNvSpPr>
            <a:spLocks noGrp="1"/>
          </p:cNvSpPr>
          <p:nvPr/>
        </p:nvSpPr>
        <p:spPr>
          <a:xfrm>
            <a:off x="8477250" y="2571750"/>
            <a:ext cx="2933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response and tool outcome are added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5CCE0A-EA8F-4AAD-A078-DC203876AD98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1752600" cy="304800"/>
          </a:xfrm>
          <a:prstGeom prst="rect">
            <a:avLst/>
          </a:prstGeom>
          <a:solidFill>
            <a:srgbClr val="E7E0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55A8CB-ABF9-4193-A1C8-87ECBE9E6057}"/>
              </a:ext>
            </a:extLst>
          </p:cNvPr>
          <p:cNvSpPr>
            <a:spLocks noGrp="1"/>
          </p:cNvSpPr>
          <p:nvPr/>
        </p:nvSpPr>
        <p:spPr>
          <a:xfrm>
            <a:off x="704850" y="3171825"/>
            <a:ext cx="1562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D6B5A8-7B56-4DBD-9B18-8250EB45DE23}"/>
              </a:ext>
            </a:extLst>
          </p:cNvPr>
          <p:cNvSpPr>
            <a:spLocks noGrp="1"/>
          </p:cNvSpPr>
          <p:nvPr/>
        </p:nvSpPr>
        <p:spPr>
          <a:xfrm>
            <a:off x="2362200" y="3105150"/>
            <a:ext cx="3638550" cy="304800"/>
          </a:xfrm>
          <a:prstGeom prst="rect">
            <a:avLst/>
          </a:prstGeom>
          <a:solidFill>
            <a:srgbClr val="E7E0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97FAAE-45FD-462E-8156-7024C6FEB893}"/>
              </a:ext>
            </a:extLst>
          </p:cNvPr>
          <p:cNvSpPr>
            <a:spLocks noGrp="1"/>
          </p:cNvSpPr>
          <p:nvPr/>
        </p:nvSpPr>
        <p:spPr>
          <a:xfrm>
            <a:off x="2457450" y="3171825"/>
            <a:ext cx="3448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Key facts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1F509F-49C5-4792-AF7E-05DC22728CA5}"/>
              </a:ext>
            </a:extLst>
          </p:cNvPr>
          <p:cNvSpPr>
            <a:spLocks noGrp="1"/>
          </p:cNvSpPr>
          <p:nvPr/>
        </p:nvSpPr>
        <p:spPr>
          <a:xfrm>
            <a:off x="6000750" y="3105150"/>
            <a:ext cx="4057650" cy="304800"/>
          </a:xfrm>
          <a:prstGeom prst="rect">
            <a:avLst/>
          </a:prstGeom>
          <a:solidFill>
            <a:srgbClr val="E7E0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1BED5E-6A0C-4855-BC9C-8413E07817B5}"/>
              </a:ext>
            </a:extLst>
          </p:cNvPr>
          <p:cNvSpPr>
            <a:spLocks noGrp="1"/>
          </p:cNvSpPr>
          <p:nvPr/>
        </p:nvSpPr>
        <p:spPr>
          <a:xfrm>
            <a:off x="6096000" y="3171825"/>
            <a:ext cx="3867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0CC4F3-EEEF-4876-8E32-B1D9C4797E83}"/>
              </a:ext>
            </a:extLst>
          </p:cNvPr>
          <p:cNvSpPr>
            <a:spLocks noGrp="1"/>
          </p:cNvSpPr>
          <p:nvPr/>
        </p:nvSpPr>
        <p:spPr>
          <a:xfrm>
            <a:off x="10058400" y="3105150"/>
            <a:ext cx="1524000" cy="304800"/>
          </a:xfrm>
          <a:prstGeom prst="rect">
            <a:avLst/>
          </a:prstGeom>
          <a:solidFill>
            <a:srgbClr val="E7E0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E9B5CC-1ED0-43A3-8A70-4481F15C6B39}"/>
              </a:ext>
            </a:extLst>
          </p:cNvPr>
          <p:cNvSpPr>
            <a:spLocks noGrp="1"/>
          </p:cNvSpPr>
          <p:nvPr/>
        </p:nvSpPr>
        <p:spPr>
          <a:xfrm>
            <a:off x="10153650" y="3171825"/>
            <a:ext cx="1333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Size signal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9D9E94-B965-4E5F-BBC4-7A8EED729E91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0972800" cy="409575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4943E0-0F6C-49BA-9EB0-75EF51836C7F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57150" cy="409575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FFEA51-69D9-46A3-BA82-0AFD9E36D746}"/>
              </a:ext>
            </a:extLst>
          </p:cNvPr>
          <p:cNvSpPr>
            <a:spLocks noGrp="1"/>
          </p:cNvSpPr>
          <p:nvPr/>
        </p:nvSpPr>
        <p:spPr>
          <a:xfrm>
            <a:off x="762000" y="3476625"/>
            <a:ext cx="14859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Task Loaded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8674397-8D85-43F7-8250-60672353C4A0}"/>
              </a:ext>
            </a:extLst>
          </p:cNvPr>
          <p:cNvSpPr>
            <a:spLocks noGrp="1"/>
          </p:cNvSpPr>
          <p:nvPr/>
        </p:nvSpPr>
        <p:spPr>
          <a:xfrm>
            <a:off x="2457450" y="3476625"/>
            <a:ext cx="3448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repo=NodeBB/NodeBB | base_commit=1e137b07052bc3ea0da44ed201702c94055b8ad2 | tests...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EE517C-CAF4-4FD2-BE0F-995C10C76A7C}"/>
              </a:ext>
            </a:extLst>
          </p:cNvPr>
          <p:cNvSpPr>
            <a:spLocks noGrp="1"/>
          </p:cNvSpPr>
          <p:nvPr/>
        </p:nvSpPr>
        <p:spPr>
          <a:xfrm>
            <a:off x="6096000" y="3476625"/>
            <a:ext cx="3867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repo=NodeBB/NodeBB | base_commit=1e137b07052bc3ea0da44ed201702c94055b8ad2 | tests=["test/...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2A132F-D534-4D32-B9C8-61C09C185592}"/>
              </a:ext>
            </a:extLst>
          </p:cNvPr>
          <p:cNvSpPr>
            <a:spLocks noGrp="1"/>
          </p:cNvSpPr>
          <p:nvPr/>
        </p:nvSpPr>
        <p:spPr>
          <a:xfrm>
            <a:off x="10153650" y="348615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+1,330 | Output record grew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6CDFFD-5758-4792-AE6A-5EE7BF37189D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E07EF7-958C-4E86-AA6F-D802C6BA69B5}"/>
              </a:ext>
            </a:extLst>
          </p:cNvPr>
          <p:cNvSpPr>
            <a:spLocks noGrp="1"/>
          </p:cNvSpPr>
          <p:nvPr/>
        </p:nvSpPr>
        <p:spPr>
          <a:xfrm>
            <a:off x="609600" y="3819525"/>
            <a:ext cx="10972800" cy="409575"/>
          </a:xfrm>
          <a:prstGeom prst="rect">
            <a:avLst/>
          </a:prstGeom>
          <a:solidFill>
            <a:srgbClr val="F1EB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94B985E-C481-4CA3-B4E0-232A809F2570}"/>
              </a:ext>
            </a:extLst>
          </p:cNvPr>
          <p:cNvSpPr>
            <a:spLocks noGrp="1"/>
          </p:cNvSpPr>
          <p:nvPr/>
        </p:nvSpPr>
        <p:spPr>
          <a:xfrm>
            <a:off x="609600" y="3819525"/>
            <a:ext cx="57150" cy="409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A376A86-6060-4338-8B7A-2BE4C6F85D93}"/>
              </a:ext>
            </a:extLst>
          </p:cNvPr>
          <p:cNvSpPr>
            <a:spLocks noGrp="1"/>
          </p:cNvSpPr>
          <p:nvPr/>
        </p:nvSpPr>
        <p:spPr>
          <a:xfrm>
            <a:off x="762000" y="3886200"/>
            <a:ext cx="14859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Built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A87392-5608-42E0-94BA-127752877519}"/>
              </a:ext>
            </a:extLst>
          </p:cNvPr>
          <p:cNvSpPr>
            <a:spLocks noGrp="1"/>
          </p:cNvSpPr>
          <p:nvPr/>
        </p:nvSpPr>
        <p:spPr>
          <a:xfrm>
            <a:off x="2457450" y="3886200"/>
            <a:ext cx="3448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prompt_lines=114 | prompt_chars=6906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E65BFF7-6372-4865-BFB7-C4196D525654}"/>
              </a:ext>
            </a:extLst>
          </p:cNvPr>
          <p:cNvSpPr>
            <a:spLocks noGrp="1"/>
          </p:cNvSpPr>
          <p:nvPr/>
        </p:nvSpPr>
        <p:spPr>
          <a:xfrm>
            <a:off x="6096000" y="3886200"/>
            <a:ext cx="3867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user_prompt_lines=114 | user_prompt_chars=6906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E27EDE1-B61F-4816-8EDC-DE767976C792}"/>
              </a:ext>
            </a:extLst>
          </p:cNvPr>
          <p:cNvSpPr>
            <a:spLocks noGrp="1"/>
          </p:cNvSpPr>
          <p:nvPr/>
        </p:nvSpPr>
        <p:spPr>
          <a:xfrm>
            <a:off x="10153650" y="3895725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+5,576 | Prompt grew here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141465E-C7F2-4E9E-AAF5-8FA51FD0F662}"/>
              </a:ext>
            </a:extLst>
          </p:cNvPr>
          <p:cNvSpPr>
            <a:spLocks noGrp="1"/>
          </p:cNvSpPr>
          <p:nvPr/>
        </p:nvSpPr>
        <p:spPr>
          <a:xfrm>
            <a:off x="609600" y="4219575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1AD12F0-4171-440E-89D3-EF10EAD35D68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10972800" cy="409575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8131C31-8E06-40C5-8F5E-FD8903EF0DB8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57150" cy="409575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60573B9-95A1-4447-9AE5-6E61318FA350}"/>
              </a:ext>
            </a:extLst>
          </p:cNvPr>
          <p:cNvSpPr>
            <a:spLocks noGrp="1"/>
          </p:cNvSpPr>
          <p:nvPr/>
        </p:nvSpPr>
        <p:spPr>
          <a:xfrm>
            <a:off x="762000" y="4295775"/>
            <a:ext cx="14859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Request Packaged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3A858CE-2D05-4F68-B5F9-D1F95FCB3222}"/>
              </a:ext>
            </a:extLst>
          </p:cNvPr>
          <p:cNvSpPr>
            <a:spLocks noGrp="1"/>
          </p:cNvSpPr>
          <p:nvPr/>
        </p:nvSpPr>
        <p:spPr>
          <a:xfrm>
            <a:off x="2457450" y="4295775"/>
            <a:ext cx="3448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model=Qwen/Qwen2.5-7B-Instruct | frontend=http://127.0.0.1:8000/v1/chat/completio...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D1AA652-2E29-4D63-81D3-1EA3F13EB31D}"/>
              </a:ext>
            </a:extLst>
          </p:cNvPr>
          <p:cNvSpPr>
            <a:spLocks noGrp="1"/>
          </p:cNvSpPr>
          <p:nvPr/>
        </p:nvSpPr>
        <p:spPr>
          <a:xfrm>
            <a:off x="6096000" y="4295775"/>
            <a:ext cx="3867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model=Qwen/Qwen2.5-7B-Instruct | frontend=http://127.0.0.1:8000/v1/chat/completions | too...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568912A-1266-4F80-BAA6-33E8B6E5B989}"/>
              </a:ext>
            </a:extLst>
          </p:cNvPr>
          <p:cNvSpPr>
            <a:spLocks noGrp="1"/>
          </p:cNvSpPr>
          <p:nvPr/>
        </p:nvSpPr>
        <p:spPr>
          <a:xfrm>
            <a:off x="10153650" y="430530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 | No payload growth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43D6A28-BAC5-4C28-929C-E63F02195010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612D056-23C2-40DD-A97C-90C824C42D24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10972800" cy="409575"/>
          </a:xfrm>
          <a:prstGeom prst="rect">
            <a:avLst/>
          </a:prstGeom>
          <a:solidFill>
            <a:srgbClr val="F1EB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82D96D6-8731-4FA0-9E95-49333CDD5156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57150" cy="40957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7F913DE-9273-420F-9B09-A91B21A45E3D}"/>
              </a:ext>
            </a:extLst>
          </p:cNvPr>
          <p:cNvSpPr>
            <a:spLocks noGrp="1"/>
          </p:cNvSpPr>
          <p:nvPr/>
        </p:nvSpPr>
        <p:spPr>
          <a:xfrm>
            <a:off x="762000" y="4705350"/>
            <a:ext cx="14859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 Rules Applied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8A05A91-0D28-465A-BDBE-CC8FA2D0B8C4}"/>
              </a:ext>
            </a:extLst>
          </p:cNvPr>
          <p:cNvSpPr>
            <a:spLocks noGrp="1"/>
          </p:cNvSpPr>
          <p:nvPr/>
        </p:nvSpPr>
        <p:spPr>
          <a:xfrm>
            <a:off x="2457450" y="4705350"/>
            <a:ext cx="3448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system_prompt_chars=0 | runtime_source=python_environment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AAC5F6F-C05F-4B9E-9850-002BE305AEC1}"/>
              </a:ext>
            </a:extLst>
          </p:cNvPr>
          <p:cNvSpPr>
            <a:spLocks noGrp="1"/>
          </p:cNvSpPr>
          <p:nvPr/>
        </p:nvSpPr>
        <p:spPr>
          <a:xfrm>
            <a:off x="6096000" y="4705350"/>
            <a:ext cx="3867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system_prompt_chars=0 | runtime_source=python_environment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CE4F68A-E77C-43AB-956F-04AE77F25A69}"/>
              </a:ext>
            </a:extLst>
          </p:cNvPr>
          <p:cNvSpPr>
            <a:spLocks noGrp="1"/>
          </p:cNvSpPr>
          <p:nvPr/>
        </p:nvSpPr>
        <p:spPr>
          <a:xfrm>
            <a:off x="10153650" y="4714875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 | No payload growth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738CD65-A965-4090-B56D-EFC2BDB49B2F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4919940-CCD2-4CE3-BB2B-0AC39B405CAD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10972800" cy="409575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195FBA7-231E-457B-8656-D6FFC15DFCEA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57150" cy="409575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2E42859-D924-4425-B239-43F4EB7DB1D0}"/>
              </a:ext>
            </a:extLst>
          </p:cNvPr>
          <p:cNvSpPr>
            <a:spLocks noGrp="1"/>
          </p:cNvSpPr>
          <p:nvPr/>
        </p:nvSpPr>
        <p:spPr>
          <a:xfrm>
            <a:off x="762000" y="5114925"/>
            <a:ext cx="14859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Tools Attached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25E8EEB-F2FC-4682-B769-F5943B09FA0E}"/>
              </a:ext>
            </a:extLst>
          </p:cNvPr>
          <p:cNvSpPr>
            <a:spLocks noGrp="1"/>
          </p:cNvSpPr>
          <p:nvPr/>
        </p:nvSpPr>
        <p:spPr>
          <a:xfrm>
            <a:off x="2457450" y="5114925"/>
            <a:ext cx="3448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expected_tools=write_todos, ls, read_file, write_file, edit_file, glob, grep, exe...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671947B-3333-4C64-A9EA-C0549E8B75E9}"/>
              </a:ext>
            </a:extLst>
          </p:cNvPr>
          <p:cNvSpPr>
            <a:spLocks noGrp="1"/>
          </p:cNvSpPr>
          <p:nvPr/>
        </p:nvSpPr>
        <p:spPr>
          <a:xfrm>
            <a:off x="6096000" y="5114925"/>
            <a:ext cx="3867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expected_tools=write_todos, ls, read_file, write_file, edit_file, glob, grep, execute, ta...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794262E-71AD-42DE-95D6-4C0DEAA61DEF}"/>
              </a:ext>
            </a:extLst>
          </p:cNvPr>
          <p:cNvSpPr>
            <a:spLocks noGrp="1"/>
          </p:cNvSpPr>
          <p:nvPr/>
        </p:nvSpPr>
        <p:spPr>
          <a:xfrm>
            <a:off x="10153650" y="512445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 | No payload growth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9528132-FBE6-4A02-8575-A69B1A3DED8F}"/>
              </a:ext>
            </a:extLst>
          </p:cNvPr>
          <p:cNvSpPr>
            <a:spLocks noGrp="1"/>
          </p:cNvSpPr>
          <p:nvPr/>
        </p:nvSpPr>
        <p:spPr>
          <a:xfrm>
            <a:off x="609600" y="5448300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3B5632C-F037-4C52-AE9F-B7DCF113DF16}"/>
              </a:ext>
            </a:extLst>
          </p:cNvPr>
          <p:cNvSpPr>
            <a:spLocks noGrp="1"/>
          </p:cNvSpPr>
          <p:nvPr/>
        </p:nvSpPr>
        <p:spPr>
          <a:xfrm>
            <a:off x="609600" y="5457825"/>
            <a:ext cx="10972800" cy="409575"/>
          </a:xfrm>
          <a:prstGeom prst="rect">
            <a:avLst/>
          </a:prstGeom>
          <a:solidFill>
            <a:srgbClr val="F1EB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77A9119-B9AA-4700-886C-607DDF5D0169}"/>
              </a:ext>
            </a:extLst>
          </p:cNvPr>
          <p:cNvSpPr>
            <a:spLocks noGrp="1"/>
          </p:cNvSpPr>
          <p:nvPr/>
        </p:nvSpPr>
        <p:spPr>
          <a:xfrm>
            <a:off x="609600" y="5457825"/>
            <a:ext cx="57150" cy="409575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B936ABF-D4E2-43E6-96EE-E244B288128D}"/>
              </a:ext>
            </a:extLst>
          </p:cNvPr>
          <p:cNvSpPr>
            <a:spLocks noGrp="1"/>
          </p:cNvSpPr>
          <p:nvPr/>
        </p:nvSpPr>
        <p:spPr>
          <a:xfrm>
            <a:off x="762000" y="5524500"/>
            <a:ext cx="14859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Prepared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1E5240E-6075-479E-A561-C2B146A08BEC}"/>
              </a:ext>
            </a:extLst>
          </p:cNvPr>
          <p:cNvSpPr>
            <a:spLocks noGrp="1"/>
          </p:cNvSpPr>
          <p:nvPr/>
        </p:nvSpPr>
        <p:spPr>
          <a:xfrm>
            <a:off x="2457450" y="5524500"/>
            <a:ext cx="3448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parser_observed=True | prompt_tokens=12553 | cached_input_tokens=12544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10C2EA3-BA25-46E0-A7BB-9F3B3FDCE0B5}"/>
              </a:ext>
            </a:extLst>
          </p:cNvPr>
          <p:cNvSpPr>
            <a:spLocks noGrp="1"/>
          </p:cNvSpPr>
          <p:nvPr/>
        </p:nvSpPr>
        <p:spPr>
          <a:xfrm>
            <a:off x="6096000" y="5524500"/>
            <a:ext cx="3867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parser_observed=True | prompt_tokens=12553 | cached_input_tokens=12544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7EEDDDD-AD28-447B-B3BB-3CBB16AF9E79}"/>
              </a:ext>
            </a:extLst>
          </p:cNvPr>
          <p:cNvSpPr>
            <a:spLocks noGrp="1"/>
          </p:cNvSpPr>
          <p:nvPr/>
        </p:nvSpPr>
        <p:spPr>
          <a:xfrm>
            <a:off x="10153650" y="5534025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 | No payload growth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1ABE275-F097-474F-BD56-EAF097549B9C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43EA0DE-E2C7-4443-97CB-055F619A59A9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409575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324B2E8-F55B-49D3-8C19-A22B4E69500E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57150" cy="409575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4E451E1-7728-463D-AE3E-2E798B000F5E}"/>
              </a:ext>
            </a:extLst>
          </p:cNvPr>
          <p:cNvSpPr>
            <a:spLocks noGrp="1"/>
          </p:cNvSpPr>
          <p:nvPr/>
        </p:nvSpPr>
        <p:spPr>
          <a:xfrm>
            <a:off x="762000" y="5934075"/>
            <a:ext cx="14859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Recorded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B8393F4-49B7-47EF-A669-1B0C1F8F331F}"/>
              </a:ext>
            </a:extLst>
          </p:cNvPr>
          <p:cNvSpPr>
            <a:spLocks noGrp="1"/>
          </p:cNvSpPr>
          <p:nvPr/>
        </p:nvSpPr>
        <p:spPr>
          <a:xfrm>
            <a:off x="2457450" y="5934075"/>
            <a:ext cx="3448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observed_tool_calls=2 | tools_used=ls, read_file | finish_reason=length | workspa...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03084B5-B494-41BA-807F-D710E634203B}"/>
              </a:ext>
            </a:extLst>
          </p:cNvPr>
          <p:cNvSpPr>
            <a:spLocks noGrp="1"/>
          </p:cNvSpPr>
          <p:nvPr/>
        </p:nvSpPr>
        <p:spPr>
          <a:xfrm>
            <a:off x="6096000" y="5934075"/>
            <a:ext cx="3867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observed_tool_calls=2 | tools_used=ls, read_file | workspace_changed=False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1AB28DC-3949-4DEB-8921-8A99FFBD6E5E}"/>
              </a:ext>
            </a:extLst>
          </p:cNvPr>
          <p:cNvSpPr>
            <a:spLocks noGrp="1"/>
          </p:cNvSpPr>
          <p:nvPr/>
        </p:nvSpPr>
        <p:spPr>
          <a:xfrm>
            <a:off x="10153650" y="594360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+2,066 | Output record grew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ED53AB2-97A2-4395-B4DB-F416D9E12BA0}"/>
              </a:ext>
            </a:extLst>
          </p:cNvPr>
          <p:cNvSpPr>
            <a:spLocks noGrp="1"/>
          </p:cNvSpPr>
          <p:nvPr/>
        </p:nvSpPr>
        <p:spPr>
          <a:xfrm>
            <a:off x="609600" y="6267450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4D0E517-839C-4FC9-B9C7-0488EE579EE1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7282040-9769-41DF-9EAC-C8A86BF238D4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03A68C9-45EE-483D-9357-28C0F389B9DD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sz="1100">
                <a:solidFill>
                  <a:srgbClr val="667085"/>
                </a:solidFill>
                <a:latin typeface="Aptos Mon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4876660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12C6526-A0DA-4873-8170-CD0B151E2F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987912-D235-470C-9332-DA53D84109D1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6DA9CE-C8AA-4028-B9A9-48173BA9B499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FINAL 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A5B18D-F3C4-4204-B0A4-83C0C3EA0744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We can now explain how one real engineering task becomes model behavior.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9EB452-0734-4C67-A19C-C877A8C1E661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933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9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9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This experiment followed a NodeBB SWE-bench Pro task through the prompt pipeline: task intake, prompt construction, model request packaging, runtime preparation, and observed behavior.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5FCF53-EFAE-4E7E-A5E3-8249545CA3AB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2400300" cy="17907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75818A-86A9-4612-B8F7-38D59A98C761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24003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0B1C79-BBD1-4816-A57A-6018623C2D71}"/>
              </a:ext>
            </a:extLst>
          </p:cNvPr>
          <p:cNvSpPr>
            <a:spLocks noGrp="1"/>
          </p:cNvSpPr>
          <p:nvPr/>
        </p:nvSpPr>
        <p:spPr>
          <a:xfrm>
            <a:off x="819150" y="2895600"/>
            <a:ext cx="16192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WENT 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38D140-B1A2-4B9E-A086-F29EA9154CEF}"/>
              </a:ext>
            </a:extLst>
          </p:cNvPr>
          <p:cNvSpPr>
            <a:spLocks noGrp="1"/>
          </p:cNvSpPr>
          <p:nvPr/>
        </p:nvSpPr>
        <p:spPr>
          <a:xfrm>
            <a:off x="819150" y="314325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Real NodeBB task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00E207-77D6-4E27-A06E-53A91B58A181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1924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concrete email-validation bug with repo context, requirements, selected tests, and a target workspace.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D7438-12C5-40FF-87BF-1CA82B8AEFF2}"/>
              </a:ext>
            </a:extLst>
          </p:cNvPr>
          <p:cNvSpPr>
            <a:spLocks noGrp="1"/>
          </p:cNvSpPr>
          <p:nvPr/>
        </p:nvSpPr>
        <p:spPr>
          <a:xfrm>
            <a:off x="3390900" y="2590800"/>
            <a:ext cx="2400300" cy="179070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12D6B9-1B54-4C8E-B824-F8C6DA0E811F}"/>
              </a:ext>
            </a:extLst>
          </p:cNvPr>
          <p:cNvSpPr>
            <a:spLocks noGrp="1"/>
          </p:cNvSpPr>
          <p:nvPr/>
        </p:nvSpPr>
        <p:spPr>
          <a:xfrm>
            <a:off x="3390900" y="2590800"/>
            <a:ext cx="2400300" cy="762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4C8AF7-BA80-4C80-A853-CFF85291FE9F}"/>
              </a:ext>
            </a:extLst>
          </p:cNvPr>
          <p:cNvSpPr>
            <a:spLocks noGrp="1"/>
          </p:cNvSpPr>
          <p:nvPr/>
        </p:nvSpPr>
        <p:spPr>
          <a:xfrm>
            <a:off x="3600450" y="2895600"/>
            <a:ext cx="16192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33ECF5-0AFF-4BFC-9899-FA70B46B72E1}"/>
              </a:ext>
            </a:extLst>
          </p:cNvPr>
          <p:cNvSpPr>
            <a:spLocks noGrp="1"/>
          </p:cNvSpPr>
          <p:nvPr/>
        </p:nvSpPr>
        <p:spPr>
          <a:xfrm>
            <a:off x="3600450" y="314325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rPr>
              <a:t>+5,576 chars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96BF31-2F06-4DAE-B9FD-8BCBA47D0344}"/>
              </a:ext>
            </a:extLst>
          </p:cNvPr>
          <p:cNvSpPr>
            <a:spLocks noGrp="1"/>
          </p:cNvSpPr>
          <p:nvPr/>
        </p:nvSpPr>
        <p:spPr>
          <a:xfrm>
            <a:off x="3600450" y="3638550"/>
            <a:ext cx="1924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largest transformation happened when raw task fields became one runnable agent prompt.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8D83AE-B1AF-47A2-8868-9DB42853FF41}"/>
              </a:ext>
            </a:extLst>
          </p:cNvPr>
          <p:cNvSpPr>
            <a:spLocks noGrp="1"/>
          </p:cNvSpPr>
          <p:nvPr/>
        </p:nvSpPr>
        <p:spPr>
          <a:xfrm>
            <a:off x="6172200" y="2590800"/>
            <a:ext cx="2400300" cy="1790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798D4A-CB3B-4403-B8FC-5CD8C6493DB1}"/>
              </a:ext>
            </a:extLst>
          </p:cNvPr>
          <p:cNvSpPr>
            <a:spLocks noGrp="1"/>
          </p:cNvSpPr>
          <p:nvPr/>
        </p:nvSpPr>
        <p:spPr>
          <a:xfrm>
            <a:off x="6172200" y="2590800"/>
            <a:ext cx="2400300" cy="7620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417BC3-F285-4A65-9699-93A9F7E32D8C}"/>
              </a:ext>
            </a:extLst>
          </p:cNvPr>
          <p:cNvSpPr>
            <a:spLocks noGrp="1"/>
          </p:cNvSpPr>
          <p:nvPr/>
        </p:nvSpPr>
        <p:spPr>
          <a:xfrm>
            <a:off x="6381750" y="2895600"/>
            <a:ext cx="16192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RAN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D2AD64-3599-48E4-B0E8-27CCE1416DB6}"/>
              </a:ext>
            </a:extLst>
          </p:cNvPr>
          <p:cNvSpPr>
            <a:spLocks noGrp="1"/>
          </p:cNvSpPr>
          <p:nvPr/>
        </p:nvSpPr>
        <p:spPr>
          <a:xfrm>
            <a:off x="6381750" y="314325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rPr>
              <a:t>Qwen 2.5 7B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7F0662-03D6-4DAD-B807-50BB1C8D1C89}"/>
              </a:ext>
            </a:extLst>
          </p:cNvPr>
          <p:cNvSpPr>
            <a:spLocks noGrp="1"/>
          </p:cNvSpPr>
          <p:nvPr/>
        </p:nvSpPr>
        <p:spPr>
          <a:xfrm>
            <a:off x="6381750" y="3638550"/>
            <a:ext cx="1924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prompt was packaged and sent through the stack using Qwen/Qwen2.5-7B-Instruct.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E9D39D-F933-44CE-A4D2-5D9E18B7D16E}"/>
              </a:ext>
            </a:extLst>
          </p:cNvPr>
          <p:cNvSpPr>
            <a:spLocks noGrp="1"/>
          </p:cNvSpPr>
          <p:nvPr/>
        </p:nvSpPr>
        <p:spPr>
          <a:xfrm>
            <a:off x="8953500" y="2590800"/>
            <a:ext cx="2400300" cy="1790700"/>
          </a:xfrm>
          <a:prstGeom prst="rect">
            <a:avLst/>
          </a:prstGeom>
          <a:solidFill>
            <a:srgbClr val="FFFFFF"/>
          </a:solidFill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EC4175-DB93-4FBD-9DAE-F9474CA63664}"/>
              </a:ext>
            </a:extLst>
          </p:cNvPr>
          <p:cNvSpPr>
            <a:spLocks noGrp="1"/>
          </p:cNvSpPr>
          <p:nvPr/>
        </p:nvSpPr>
        <p:spPr>
          <a:xfrm>
            <a:off x="8953500" y="2590800"/>
            <a:ext cx="2400300" cy="7620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214C2C-2F26-4980-A1FA-9D32D498418E}"/>
              </a:ext>
            </a:extLst>
          </p:cNvPr>
          <p:cNvSpPr>
            <a:spLocks noGrp="1"/>
          </p:cNvSpPr>
          <p:nvPr/>
        </p:nvSpPr>
        <p:spPr>
          <a:xfrm>
            <a:off x="9163050" y="2895600"/>
            <a:ext cx="16192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CAME OUT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D00490-1695-4C7E-BC49-87BD0B5475F7}"/>
              </a:ext>
            </a:extLst>
          </p:cNvPr>
          <p:cNvSpPr>
            <a:spLocks noGrp="1"/>
          </p:cNvSpPr>
          <p:nvPr/>
        </p:nvSpPr>
        <p:spPr>
          <a:xfrm>
            <a:off x="9163050" y="314325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rPr>
              <a:t>Behavior trace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CDD5A4-AF83-451F-A31C-248064DF3E82}"/>
              </a:ext>
            </a:extLst>
          </p:cNvPr>
          <p:cNvSpPr>
            <a:spLocks noGrp="1"/>
          </p:cNvSpPr>
          <p:nvPr/>
        </p:nvSpPr>
        <p:spPr>
          <a:xfrm>
            <a:off x="9163050" y="3638550"/>
            <a:ext cx="1924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final record shows tool calls, response status, and whether the workspace changed.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D537D3-7168-4190-8E9F-90B6BB623D2C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10972800" cy="800100"/>
          </a:xfrm>
          <a:prstGeom prst="rect">
            <a:avLst/>
          </a:prstGeom>
          <a:solidFill>
            <a:srgbClr val="FBF8F2"/>
          </a:solidFill>
          <a:ln w="17145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605D06-50D5-4E9F-B7D3-FEAE342B2D56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76200" cy="8001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6AC883-3564-4B77-9210-792EAA890847}"/>
              </a:ext>
            </a:extLst>
          </p:cNvPr>
          <p:cNvSpPr>
            <a:spLocks noGrp="1"/>
          </p:cNvSpPr>
          <p:nvPr/>
        </p:nvSpPr>
        <p:spPr>
          <a:xfrm>
            <a:off x="914400" y="504825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Simple takeaway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A24B0C-F116-467E-94D9-B37F1332982F}"/>
              </a:ext>
            </a:extLst>
          </p:cNvPr>
          <p:cNvSpPr>
            <a:spLocks noGrp="1"/>
          </p:cNvSpPr>
          <p:nvPr/>
        </p:nvSpPr>
        <p:spPr>
          <a:xfrm>
            <a:off x="914400" y="5219700"/>
            <a:ext cx="971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6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6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prompt pipeline is now explainable stage by stage: we can see the structure before and after each handoff, the fields each layer adds, and the evidence produced by the run.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8AE1CA9-9A70-4DAF-82D0-56337D03B3F0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424765-EF67-4039-87B6-04FBAC07562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0881258-F645-44D1-B076-4C4FFF20C0F3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sz="1100">
                <a:solidFill>
                  <a:srgbClr val="667085"/>
                </a:solidFill>
                <a:latin typeface="Aptos Mon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8306240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8067</Words>
  <Application>Microsoft Macintosh PowerPoint</Application>
  <DocSecurity>0</DocSecurity>
  <PresentationFormat>Widescreen</PresentationFormat>
  <Paragraphs>1025</Paragraphs>
  <Slides>24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Oluwole Jaiyeoba</cp:lastModifiedBy>
  <cp:revision>2</cp:revision>
  <dcterms:created xsi:type="dcterms:W3CDTF">2026-05-18T19:45:15Z</dcterms:created>
  <dcterms:modified xsi:type="dcterms:W3CDTF">2026-05-20T04:27:25Z</dcterms:modified>
</cp:coreProperties>
</file>