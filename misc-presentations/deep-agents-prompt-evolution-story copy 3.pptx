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2.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ae07cde66f4649c9" Type="http://schemas.openxmlformats.org/package/2006/relationships/metadata/core-properties" Target="docProps/core.xml"/><Relationship Id="Re86d14a93b4f4d19" Type="http://schemas.openxmlformats.org/officeDocument/2006/relationships/extended-properties" Target="docProps/app.xml"/><Relationship Id="Rec767afa649e464f"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5ef8ea95f23e42d8"/>
  </p:sldMasterIdLst>
  <p:notesMasterIdLst>
    <p:notesMasterId xmlns:r="http://schemas.openxmlformats.org/officeDocument/2006/relationships" r:id="R8e71ca30743a42bf"/>
  </p:notesMasterIdLst>
  <p:sldIdLst>
    <p:sldId xmlns:r="http://schemas.openxmlformats.org/officeDocument/2006/relationships" id="256" r:id="R793c8f992715436e"/>
    <p:sldId xmlns:r="http://schemas.openxmlformats.org/officeDocument/2006/relationships" id="257" r:id="Rf207b0a559ca45f2"/>
    <p:sldId xmlns:r="http://schemas.openxmlformats.org/officeDocument/2006/relationships" id="258" r:id="R3db2c5b5e7d14b00"/>
    <p:sldId xmlns:r="http://schemas.openxmlformats.org/officeDocument/2006/relationships" id="259" r:id="R517e4c89823d43f3"/>
    <p:sldId xmlns:r="http://schemas.openxmlformats.org/officeDocument/2006/relationships" id="260" r:id="R6e26323cfa4c4f3f"/>
    <p:sldId xmlns:r="http://schemas.openxmlformats.org/officeDocument/2006/relationships" id="262" r:id="Rcbbc69489ad748d2"/>
    <p:sldId xmlns:ns0="http://schemas.openxmlformats.org/officeDocument/2006/relationships" id="270" ns0:id="rId20"/>
    <p:sldId xmlns:ns0="http://schemas.openxmlformats.org/officeDocument/2006/relationships" id="271" ns0:id="rId21"/>
    <p:sldId xmlns:r="http://schemas.openxmlformats.org/officeDocument/2006/relationships" id="263" r:id="R46a4316e15ba49c1"/>
    <p:sldId xmlns:r="http://schemas.openxmlformats.org/officeDocument/2006/relationships" id="264" r:id="Rb58f983638004103"/>
    <p:sldId xmlns:r="http://schemas.openxmlformats.org/officeDocument/2006/relationships" id="265" r:id="R8714b87761c844b0"/>
    <p:sldId xmlns:r="http://schemas.openxmlformats.org/officeDocument/2006/relationships" id="266" r:id="Ra3831c2bcf62425b"/>
    <p:sldId xmlns:r="http://schemas.openxmlformats.org/officeDocument/2006/relationships" id="267" r:id="Ra4d62c5824da47bb"/>
    <p:sldId xmlns:r="http://schemas.openxmlformats.org/officeDocument/2006/relationships" id="268" r:id="R1a7058b07e694a19"/>
    <p:sldId xmlns:r="http://schemas.openxmlformats.org/officeDocument/2006/relationships" id="269" r:id="R7f71fabc93224096"/>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xml version='1.0' encoding='UTF-8' standalone='yes'?>
<Relationships xmlns="http://schemas.openxmlformats.org/package/2006/relationships"><Relationship Id="R1a7058b07e694a19" Type="http://schemas.openxmlformats.org/officeDocument/2006/relationships/slide" Target="slides/slide14.xml"/><Relationship Id="R28c5c7c3aa644b3b" Type="http://schemas.openxmlformats.org/officeDocument/2006/relationships/presProps" Target="presProps.xml"/><Relationship Id="R3db2c5b5e7d14b00" Type="http://schemas.openxmlformats.org/officeDocument/2006/relationships/slide" Target="slides/slide3.xml"/><Relationship Id="R46a4316e15ba49c1" Type="http://schemas.openxmlformats.org/officeDocument/2006/relationships/slide" Target="slides/slide9.xml"/><Relationship Id="R517220ff9ac74cf7" Type="http://schemas.openxmlformats.org/officeDocument/2006/relationships/tableStyles" Target="tableStyles.xml"/><Relationship Id="R517e4c89823d43f3" Type="http://schemas.openxmlformats.org/officeDocument/2006/relationships/slide" Target="slides/slide4.xml"/><Relationship Id="R547ba60eb7154629" Type="http://schemas.openxmlformats.org/officeDocument/2006/relationships/theme" Target="theme/theme1.xml"/><Relationship Id="R5ef8ea95f23e42d8" Type="http://schemas.openxmlformats.org/officeDocument/2006/relationships/slideMaster" Target="slideMasters/slideMaster1.xml"/><Relationship Id="R6e26323cfa4c4f3f" Type="http://schemas.openxmlformats.org/officeDocument/2006/relationships/slide" Target="slides/slide5.xml"/><Relationship Id="R793c8f992715436e" Type="http://schemas.openxmlformats.org/officeDocument/2006/relationships/slide" Target="slides/slide1.xml"/><Relationship Id="R7f71fabc93224096" Type="http://schemas.openxmlformats.org/officeDocument/2006/relationships/slide" Target="slides/slide15.xml"/><Relationship Id="R8714b87761c844b0" Type="http://schemas.openxmlformats.org/officeDocument/2006/relationships/slide" Target="slides/slide11.xml"/><Relationship Id="R898aa5ae461644fe" Type="http://schemas.openxmlformats.org/officeDocument/2006/relationships/viewProps" Target="viewProps.xml"/><Relationship Id="R8e71ca30743a42bf" Type="http://schemas.openxmlformats.org/officeDocument/2006/relationships/notesMaster" Target="notesMasters/notesMaster1.xml"/><Relationship Id="Ra3831c2bcf62425b" Type="http://schemas.openxmlformats.org/officeDocument/2006/relationships/slide" Target="slides/slide12.xml"/><Relationship Id="Ra4d62c5824da47bb" Type="http://schemas.openxmlformats.org/officeDocument/2006/relationships/slide" Target="slides/slide13.xml"/><Relationship Id="Rb58f983638004103" Type="http://schemas.openxmlformats.org/officeDocument/2006/relationships/slide" Target="slides/slide10.xml"/><Relationship Id="Rcbbc69489ad748d2" Type="http://schemas.openxmlformats.org/officeDocument/2006/relationships/slide" Target="slides/slide6.xml"/><Relationship Id="Rf207b0a559ca45f2" Type="http://schemas.openxmlformats.org/officeDocument/2006/relationships/slide" Target="slides/slide2.xml"/><Relationship Id="rId20" Type="http://schemas.openxmlformats.org/officeDocument/2006/relationships/slide" Target="slides/slide7.xml"/><Relationship Id="rId21"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5f41195b8b824f8f" Type="http://schemas.openxmlformats.org/officeDocument/2006/relationships/theme" Target="theme/theme2.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7f8adeccc92d48a3" Type="http://schemas.openxmlformats.org/officeDocument/2006/relationships/slide" Target="../slides/slide1.xml"/><Relationship Id="Ra2c56da2951043fb"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896a132b8ec941be" Type="http://schemas.openxmlformats.org/officeDocument/2006/relationships/notesMaster" Target="../notesMasters/notesMaster1.xml"/><Relationship Id="Rf6736db0d11741a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5b0a95021028424a" Type="http://schemas.openxmlformats.org/officeDocument/2006/relationships/notesMaster" Target="../notesMasters/notesMaster1.xml"/><Relationship Id="Rb05db4a2154b4d2b"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1173fef161b5487a" Type="http://schemas.openxmlformats.org/officeDocument/2006/relationships/slide" Target="../slides/slide4.xml"/><Relationship Id="R9911e2674a974e1a"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5ce4c15c38a24ffa" Type="http://schemas.openxmlformats.org/officeDocument/2006/relationships/notesMaster" Target="../notesMasters/notesMaster1.xml"/><Relationship Id="Rf39cc918e9b54ef9"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66f64d18af7a4247" Type="http://schemas.openxmlformats.org/officeDocument/2006/relationships/notesMaster" Target="../notesMasters/notesMaster1.xml"/><Relationship Id="R72785da2fd1543a3"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5473f06c5cef421e" Type="http://schemas.openxmlformats.org/officeDocument/2006/relationships/slide" Target="../slides/slide9.xml"/><Relationship Id="Re046695df14345ba"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1215c7658a134d07" Type="http://schemas.openxmlformats.org/officeDocument/2006/relationships/notesMaster" Target="../notesMasters/notesMaster1.xml"/><Relationship Id="R3b6999fc99844569"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8d4f8bc7f0bd42ed" Type="http://schemas.openxmlformats.org/officeDocument/2006/relationships/notesMaster" Target="../notesMasters/notesMaster1.xml"/><Relationship Id="Re6982f1093d84883"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252fd1d8770e464b" Type="http://schemas.openxmlformats.org/officeDocument/2006/relationships/slide" Target="../slides/slide12.xml"/><Relationship Id="R6188af24e3f54e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a6c554b604774ec4" Type="http://schemas.openxmlformats.org/officeDocument/2006/relationships/notesMaster" Target="../notesMasters/notesMaster1.xml"/><Relationship Id="Rceb10b2cb50e4814"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0accd8df757a4079" Type="http://schemas.openxmlformats.org/officeDocument/2006/relationships/slide" Target="../slides/slide14.xml"/><Relationship Id="R67367f1f60ad4296"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8a9e03d046ea48af" Type="http://schemas.openxmlformats.org/officeDocument/2006/relationships/slide" Target="../slides/slide15.xml"/><Relationship Id="Rb7562a0ba8194656"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xml version='1.0' encoding='UTF-8' standalone='yes'?>
<Relationships xmlns="http://schemas.openxmlformats.org/package/2006/relationships"><Relationship Id="R644b370554004ff5" Type="http://schemas.openxmlformats.org/officeDocument/2006/relationships/slideMaster" Target="../slideMasters/slideMaster1.xml"/></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c1080db32804514" Type="http://schemas.openxmlformats.org/officeDocument/2006/relationships/theme" Target="../theme/theme1.xml"/><Relationship Id="R46c749db1dbe41aa" Type="http://schemas.openxmlformats.org/officeDocument/2006/relationships/slideLayout" Target="../slideLayouts/slideLayout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c749db1dbe41a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4f53e8d3b4784718" Type="http://schemas.openxmlformats.org/officeDocument/2006/relationships/slideLayout" Target="../slideLayouts/slideLayout2.xml"/><Relationship Id="Rc1500be1a6b84e6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ae30f87a021242d1" Type="http://schemas.openxmlformats.org/officeDocument/2006/relationships/notesSlide" Target="../notesSlides/notesSlide2.xml"/><Relationship Id="Rcbf378cc27334853"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7f200eb1cfed494a" Type="http://schemas.openxmlformats.org/officeDocument/2006/relationships/slideLayout" Target="../slideLayouts/slideLayout2.xml"/><Relationship Id="Rcd2c48d53ada407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49b5e7b452e8447c" Type="http://schemas.openxmlformats.org/officeDocument/2006/relationships/slideLayout" Target="../slideLayouts/slideLayout2.xml"/><Relationship Id="R72cb0def8a5741e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24c32f3d76624be3" Type="http://schemas.openxmlformats.org/officeDocument/2006/relationships/slideLayout" Target="../slideLayouts/slideLayout2.xml"/><Relationship Id="R74c7d5f0049d449e"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2d69b09414634a9c" Type="http://schemas.openxmlformats.org/officeDocument/2006/relationships/notesSlide" Target="../notesSlides/notesSlide7.xml"/><Relationship Id="Ra28ba13ca79d447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b7243d39766a4677" Type="http://schemas.openxmlformats.org/officeDocument/2006/relationships/notesSlide" Target="../notesSlides/notesSlide8.xml"/><Relationship Id="Rf0b602b57cef4243"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068c3109878d4e55" Type="http://schemas.openxmlformats.org/officeDocument/2006/relationships/slideLayout" Target="../slideLayouts/slideLayout2.xml"/><Relationship Id="R0ebdf7d25c254fc8"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2e1f9692f8374a5b" Type="http://schemas.openxmlformats.org/officeDocument/2006/relationships/notesSlide" Target="../notesSlides/notesSlide10.xml"/><Relationship Id="R5bb4ae5a1a964242"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3266088cfc47470c" Type="http://schemas.openxmlformats.org/officeDocument/2006/relationships/notesSlide" Target="../notesSlides/notesSlide11.xml"/><Relationship Id="R77702c0a8238463b"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5ee56a9d5f61424a" Type="http://schemas.openxmlformats.org/officeDocument/2006/relationships/notesSlide" Target="../notesSlides/notesSlide12.xml"/><Relationship Id="R6cb7ddbb299f4b7b"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7045208368454abd" Type="http://schemas.openxmlformats.org/officeDocument/2006/relationships/slideLayout" Target="../slideLayouts/slideLayout2.xml"/><Relationship Id="Rf99a30465d4b4e0a"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1c9fcc6cbeba4f0b" Type="http://schemas.openxmlformats.org/officeDocument/2006/relationships/slideLayout" Target="../slideLayouts/slideLayout2.xml"/><Relationship Id="R4467874fce214fc6" Type="http://schemas.openxmlformats.org/officeDocument/2006/relationships/notesSlide" Target="../notesSlides/notesSlide14.xml"/></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3F499F0-7CD8-4D07-AB20-B8DD6A5883B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09D584C-1FB9-415F-B4DC-96ACC667259A}"/>
              </a:ext>
            </a:extLst>
          </p:cNvPr>
          <p:cNvSpPr>
            <a:spLocks xmlns:a="http://schemas.openxmlformats.org/drawingml/2006/main" noGrp="1"/>
          </p:cNvSpPr>
          <p:nvPr/>
        </p:nvSpPr>
        <p:spPr>
          <a:xfrm xmlns:a="http://schemas.openxmlformats.org/drawingml/2006/main">
            <a:off x="609600" y="495300"/>
            <a:ext cx="76200" cy="228600"/>
          </a:xfrm>
          <a:prstGeom xmlns:a="http://schemas.openxmlformats.org/drawingml/2006/main" prst="rect">
            <a:avLst/>
          </a:prstGeom>
          <a:solidFill xmlns:a="http://schemas.openxmlformats.org/drawingml/2006/main">
            <a:srgbClr val="6D28D9"/>
          </a:solidFill>
          <a:ln xmlns:a="http://schemas.openxmlformats.org/drawingml/2006/main" w="0">
            <a:solidFill>
              <a:srgbClr val="000000">
                <a:alpha val="0"/>
              </a:srgbClr>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D563992E-6D3E-47AB-8B8A-29EACE88B244}"/>
              </a:ext>
            </a:extLst>
          </p:cNvPr>
          <p:cNvSpPr>
            <a:spLocks xmlns:a="http://schemas.openxmlformats.org/drawingml/2006/main" noGrp="1"/>
          </p:cNvSpPr>
          <p:nvPr/>
        </p:nvSpPr>
        <p:spPr>
          <a:xfrm xmlns:a="http://schemas.openxmlformats.org/drawingml/2006/main">
            <a:off x="800100" y="4953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67085"/>
                </a:solidFill>
                <a:latin typeface="Aptos"/>
                <a:ea typeface="Aptos"/>
                <a:cs typeface="Aptos"/>
              </a:defRPr>
            </a:pPr>
            <a:r>
              <a:rPr sz="900" b="1">
                <a:solidFill>
                  <a:srgbClr val="667085"/>
                </a:solidFill>
                <a:latin typeface="Aptos"/>
                <a:ea typeface="Aptos"/>
                <a:cs typeface="Aptos"/>
              </a:rPr>
              <a:t>PLAIN-ENGLISH INTRODUCTION</a:t>
            </a:r>
          </a:p>
        </p:txBody>
      </p:sp>
      <p:sp>
        <p:nvSpPr>
          <p:cNvPr id="4" name="">
            <a:extLst xmlns:a="http://schemas.openxmlformats.org/drawingml/2006/main">
              <a:ext uri="{FF2B5EF4-FFF2-40B4-BE49-F238E27FC236}">
                <a16:creationId xmlns:a16="http://schemas.microsoft.com/office/drawing/2014/main" id="{4B23F055-F305-4FB2-90E4-6EB81EADEA2A}"/>
              </a:ext>
            </a:extLst>
          </p:cNvPr>
          <p:cNvSpPr>
            <a:spLocks xmlns:a="http://schemas.openxmlformats.org/drawingml/2006/main" noGrp="1"/>
          </p:cNvSpPr>
          <p:nvPr/>
        </p:nvSpPr>
        <p:spPr>
          <a:xfrm xmlns:a="http://schemas.openxmlformats.org/drawingml/2006/main">
            <a:off x="609600" y="819150"/>
            <a:ext cx="100965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01820"/>
                </a:solidFill>
                <a:latin typeface="Aptos Display"/>
                <a:ea typeface="Aptos Display"/>
                <a:cs typeface="Aptos Display"/>
              </a:defRPr>
            </a:pPr>
            <a:r>
              <a:rPr sz="2850" b="1">
                <a:solidFill>
                  <a:srgbClr val="101820"/>
                </a:solidFill>
                <a:latin typeface="Aptos Display"/>
                <a:ea typeface="Aptos Display"/>
                <a:cs typeface="Aptos Display"/>
              </a:rPr>
              <a:t>This setup traces how one task changes as it moves through the agent system.</a:t>
            </a:r>
          </a:p>
        </p:txBody>
      </p:sp>
      <p:sp>
        <p:nvSpPr>
          <p:cNvPr id="5" name="">
            <a:extLst xmlns:a="http://schemas.openxmlformats.org/drawingml/2006/main">
              <a:ext uri="{FF2B5EF4-FFF2-40B4-BE49-F238E27FC236}">
                <a16:creationId xmlns:a16="http://schemas.microsoft.com/office/drawing/2014/main" id="{BCC85824-5C85-48E8-892C-FD76CEDFB05F}"/>
              </a:ext>
            </a:extLst>
          </p:cNvPr>
          <p:cNvSpPr>
            <a:spLocks xmlns:a="http://schemas.openxmlformats.org/drawingml/2006/main" noGrp="1"/>
          </p:cNvSpPr>
          <p:nvPr/>
        </p:nvSpPr>
        <p:spPr>
          <a:xfrm xmlns:a="http://schemas.openxmlformats.org/drawingml/2006/main">
            <a:off x="609600" y="1885950"/>
            <a:ext cx="6477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334155"/>
                </a:solidFill>
                <a:latin typeface="Aptos"/>
                <a:ea typeface="Aptos"/>
                <a:cs typeface="Aptos"/>
              </a:defRPr>
            </a:pPr>
            <a:r>
              <a:rPr sz="1500" b="0">
                <a:solidFill>
                  <a:srgbClr val="334155"/>
                </a:solidFill>
                <a:latin typeface="Aptos"/>
                <a:ea typeface="Aptos"/>
                <a:cs typeface="Aptos"/>
              </a:rPr>
              <a:t>Think of it like tracking a package: we see what entered the system, how it was repackaged at each handoff, and what came out at the end.</a:t>
            </a:r>
          </a:p>
        </p:txBody>
      </p:sp>
      <p:sp>
        <p:nvSpPr>
          <p:cNvPr id="6" name="">
            <a:extLst xmlns:a="http://schemas.openxmlformats.org/drawingml/2006/main">
              <a:ext uri="{FF2B5EF4-FFF2-40B4-BE49-F238E27FC236}">
                <a16:creationId xmlns:a16="http://schemas.microsoft.com/office/drawing/2014/main" id="{4A02A2BA-850D-4A03-BD1F-A743B4AF38B1}"/>
              </a:ext>
            </a:extLst>
          </p:cNvPr>
          <p:cNvSpPr>
            <a:spLocks xmlns:a="http://schemas.openxmlformats.org/drawingml/2006/main" noGrp="1"/>
          </p:cNvSpPr>
          <p:nvPr/>
        </p:nvSpPr>
        <p:spPr>
          <a:xfrm xmlns:a="http://schemas.openxmlformats.org/drawingml/2006/main">
            <a:off x="609600" y="2686050"/>
            <a:ext cx="6477000" cy="457200"/>
          </a:xfrm>
          <a:prstGeom xmlns:a="http://schemas.openxmlformats.org/drawingml/2006/main" prst="rect">
            <a:avLst/>
          </a:prstGeom>
          <a:solidFill xmlns:a="http://schemas.openxmlformats.org/drawingml/2006/main">
            <a:srgbClr val="FBF8F2"/>
          </a:solidFill>
          <a:ln xmlns:a="http://schemas.openxmlformats.org/drawingml/2006/main" w="0">
            <a:solidFill>
              <a:srgbClr val="000000">
                <a:alpha val="0"/>
              </a:srgbClr>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19C66384-7771-4581-997D-CFC192AFFFF4}"/>
              </a:ext>
            </a:extLst>
          </p:cNvPr>
          <p:cNvSpPr>
            <a:spLocks xmlns:a="http://schemas.openxmlformats.org/drawingml/2006/main" noGrp="1"/>
          </p:cNvSpPr>
          <p:nvPr/>
        </p:nvSpPr>
        <p:spPr>
          <a:xfrm xmlns:a="http://schemas.openxmlformats.org/drawingml/2006/main">
            <a:off x="609600" y="2686050"/>
            <a:ext cx="323850" cy="323850"/>
          </a:xfrm>
          <a:prstGeom xmlns:a="http://schemas.openxmlformats.org/drawingml/2006/main" prst="rect">
            <a:avLst/>
          </a:prstGeom>
          <a:solidFill xmlns:a="http://schemas.openxmlformats.org/drawingml/2006/main">
            <a:srgbClr val="6D28D9"/>
          </a:solidFill>
          <a:ln xmlns:a="http://schemas.openxmlformats.org/drawingml/2006/main" w="0">
            <a:solidFill>
              <a:srgbClr val="000000">
                <a:alpha val="0"/>
              </a:srgbClr>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0D0A452C-8EB7-450C-AC59-51454DF71DCA}"/>
              </a:ext>
            </a:extLst>
          </p:cNvPr>
          <p:cNvSpPr>
            <a:spLocks xmlns:a="http://schemas.openxmlformats.org/drawingml/2006/main" noGrp="1"/>
          </p:cNvSpPr>
          <p:nvPr/>
        </p:nvSpPr>
        <p:spPr>
          <a:xfrm xmlns:a="http://schemas.openxmlformats.org/drawingml/2006/main">
            <a:off x="609600" y="276225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88" b="1">
                <a:solidFill>
                  <a:srgbClr val="FFFFFF"/>
                </a:solidFill>
                <a:latin typeface="Aptos Mono"/>
                <a:ea typeface="Aptos Mono"/>
                <a:cs typeface="Aptos Mono"/>
              </a:defRPr>
            </a:pPr>
            <a:r>
              <a:rPr sz="1088" b="1">
                <a:solidFill>
                  <a:srgbClr val="FFFFFF"/>
                </a:solidFill>
                <a:latin typeface="Aptos Mono"/>
                <a:ea typeface="Aptos Mono"/>
                <a:cs typeface="Aptos Mono"/>
              </a:rPr>
              <a:t>1</a:t>
            </a:r>
          </a:p>
        </p:txBody>
      </p:sp>
      <p:sp>
        <p:nvSpPr>
          <p:cNvPr id="9" name="">
            <a:extLst xmlns:a="http://schemas.openxmlformats.org/drawingml/2006/main">
              <a:ext uri="{FF2B5EF4-FFF2-40B4-BE49-F238E27FC236}">
                <a16:creationId xmlns:a16="http://schemas.microsoft.com/office/drawing/2014/main" id="{CA442F26-2FFC-4B6F-ABA7-02BD6C39898E}"/>
              </a:ext>
            </a:extLst>
          </p:cNvPr>
          <p:cNvSpPr>
            <a:spLocks xmlns:a="http://schemas.openxmlformats.org/drawingml/2006/main" noGrp="1"/>
          </p:cNvSpPr>
          <p:nvPr/>
        </p:nvSpPr>
        <p:spPr>
          <a:xfrm xmlns:a="http://schemas.openxmlformats.org/drawingml/2006/main">
            <a:off x="1104900" y="2752725"/>
            <a:ext cx="209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01820"/>
                </a:solidFill>
                <a:latin typeface="Aptos"/>
                <a:ea typeface="Aptos"/>
                <a:cs typeface="Aptos"/>
              </a:defRPr>
            </a:pPr>
            <a:r>
              <a:rPr sz="1125" b="1">
                <a:solidFill>
                  <a:srgbClr val="101820"/>
                </a:solidFill>
                <a:latin typeface="Aptos"/>
                <a:ea typeface="Aptos"/>
                <a:cs typeface="Aptos"/>
              </a:rPr>
              <a:t>Raw task enters</a:t>
            </a:r>
          </a:p>
        </p:txBody>
      </p:sp>
      <p:sp>
        <p:nvSpPr>
          <p:cNvPr id="10" name="">
            <a:extLst xmlns:a="http://schemas.openxmlformats.org/drawingml/2006/main">
              <a:ext uri="{FF2B5EF4-FFF2-40B4-BE49-F238E27FC236}">
                <a16:creationId xmlns:a16="http://schemas.microsoft.com/office/drawing/2014/main" id="{A7D63808-92FB-4888-BD3B-61707F0FF094}"/>
              </a:ext>
            </a:extLst>
          </p:cNvPr>
          <p:cNvSpPr>
            <a:spLocks xmlns:a="http://schemas.openxmlformats.org/drawingml/2006/main" noGrp="1"/>
          </p:cNvSpPr>
          <p:nvPr/>
        </p:nvSpPr>
        <p:spPr>
          <a:xfrm xmlns:a="http://schemas.openxmlformats.org/drawingml/2006/main">
            <a:off x="3219450" y="2752725"/>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53" b="0">
                <a:solidFill>
                  <a:srgbClr val="334155"/>
                </a:solidFill>
                <a:latin typeface="Aptos"/>
                <a:ea typeface="Aptos"/>
                <a:cs typeface="Aptos"/>
              </a:defRPr>
            </a:pPr>
            <a:r>
              <a:rPr sz="953" b="0">
                <a:solidFill>
                  <a:srgbClr val="334155"/>
                </a:solidFill>
                <a:latin typeface="Aptos"/>
                <a:ea typeface="Aptos"/>
                <a:cs typeface="Aptos"/>
              </a:rPr>
              <a:t>Repo, bug report, tests, and workspace are loaded.</a:t>
            </a:r>
          </a:p>
        </p:txBody>
      </p:sp>
      <p:sp>
        <p:nvSpPr>
          <p:cNvPr id="11" name="">
            <a:extLst xmlns:a="http://schemas.openxmlformats.org/drawingml/2006/main">
              <a:ext uri="{FF2B5EF4-FFF2-40B4-BE49-F238E27FC236}">
                <a16:creationId xmlns:a16="http://schemas.microsoft.com/office/drawing/2014/main" id="{ADA96A12-055F-492B-98DB-D5BDEB94584E}"/>
              </a:ext>
            </a:extLst>
          </p:cNvPr>
          <p:cNvSpPr>
            <a:spLocks xmlns:a="http://schemas.openxmlformats.org/drawingml/2006/main" noGrp="1"/>
          </p:cNvSpPr>
          <p:nvPr/>
        </p:nvSpPr>
        <p:spPr>
          <a:xfrm xmlns:a="http://schemas.openxmlformats.org/drawingml/2006/main">
            <a:off x="609600" y="3276600"/>
            <a:ext cx="6477000" cy="457200"/>
          </a:xfrm>
          <a:prstGeom xmlns:a="http://schemas.openxmlformats.org/drawingml/2006/main" prst="rect">
            <a:avLst/>
          </a:prstGeom>
          <a:solidFill xmlns:a="http://schemas.openxmlformats.org/drawingml/2006/main">
            <a:srgbClr val="F2EDE5"/>
          </a:solidFill>
          <a:ln xmlns:a="http://schemas.openxmlformats.org/drawingml/2006/main" w="0">
            <a:solidFill>
              <a:srgbClr val="000000">
                <a:alpha val="0"/>
              </a:srgbClr>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CBAF8F63-B324-4069-A7D9-59A54EA83FB0}"/>
              </a:ext>
            </a:extLst>
          </p:cNvPr>
          <p:cNvSpPr>
            <a:spLocks xmlns:a="http://schemas.openxmlformats.org/drawingml/2006/main" noGrp="1"/>
          </p:cNvSpPr>
          <p:nvPr/>
        </p:nvSpPr>
        <p:spPr>
          <a:xfrm xmlns:a="http://schemas.openxmlformats.org/drawingml/2006/main">
            <a:off x="609600" y="3276600"/>
            <a:ext cx="323850" cy="323850"/>
          </a:xfrm>
          <a:prstGeom xmlns:a="http://schemas.openxmlformats.org/drawingml/2006/main" prst="rect">
            <a:avLst/>
          </a:prstGeom>
          <a:solidFill xmlns:a="http://schemas.openxmlformats.org/drawingml/2006/main">
            <a:srgbClr val="2563EB"/>
          </a:solidFill>
          <a:ln xmlns:a="http://schemas.openxmlformats.org/drawingml/2006/main" w="0">
            <a:solidFill>
              <a:srgbClr val="000000">
                <a:alpha val="0"/>
              </a:srgbClr>
            </a:solid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4CD174DF-4A8E-48E4-9028-EA7CCFBA040F}"/>
              </a:ext>
            </a:extLst>
          </p:cNvPr>
          <p:cNvSpPr>
            <a:spLocks xmlns:a="http://schemas.openxmlformats.org/drawingml/2006/main" noGrp="1"/>
          </p:cNvSpPr>
          <p:nvPr/>
        </p:nvSpPr>
        <p:spPr>
          <a:xfrm xmlns:a="http://schemas.openxmlformats.org/drawingml/2006/main">
            <a:off x="609600" y="335280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88" b="1">
                <a:solidFill>
                  <a:srgbClr val="FFFFFF"/>
                </a:solidFill>
                <a:latin typeface="Aptos Mono"/>
                <a:ea typeface="Aptos Mono"/>
                <a:cs typeface="Aptos Mono"/>
              </a:defRPr>
            </a:pPr>
            <a:r>
              <a:rPr sz="1088" b="1">
                <a:solidFill>
                  <a:srgbClr val="FFFFFF"/>
                </a:solidFill>
                <a:latin typeface="Aptos Mono"/>
                <a:ea typeface="Aptos Mono"/>
                <a:cs typeface="Aptos Mono"/>
              </a:rPr>
              <a:t>2</a:t>
            </a:r>
          </a:p>
        </p:txBody>
      </p:sp>
      <p:sp>
        <p:nvSpPr>
          <p:cNvPr id="14" name="">
            <a:extLst xmlns:a="http://schemas.openxmlformats.org/drawingml/2006/main">
              <a:ext uri="{FF2B5EF4-FFF2-40B4-BE49-F238E27FC236}">
                <a16:creationId xmlns:a16="http://schemas.microsoft.com/office/drawing/2014/main" id="{4B6D7518-C0DD-4F0A-B2AC-B68B93DE753C}"/>
              </a:ext>
            </a:extLst>
          </p:cNvPr>
          <p:cNvSpPr>
            <a:spLocks xmlns:a="http://schemas.openxmlformats.org/drawingml/2006/main" noGrp="1"/>
          </p:cNvSpPr>
          <p:nvPr/>
        </p:nvSpPr>
        <p:spPr>
          <a:xfrm xmlns:a="http://schemas.openxmlformats.org/drawingml/2006/main">
            <a:off x="1104900" y="3343275"/>
            <a:ext cx="209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01820"/>
                </a:solidFill>
                <a:latin typeface="Aptos"/>
                <a:ea typeface="Aptos"/>
                <a:cs typeface="Aptos"/>
              </a:defRPr>
            </a:pPr>
            <a:r>
              <a:rPr sz="1125" b="1">
                <a:solidFill>
                  <a:srgbClr val="101820"/>
                </a:solidFill>
                <a:latin typeface="Aptos"/>
                <a:ea typeface="Aptos"/>
                <a:cs typeface="Aptos"/>
              </a:rPr>
              <a:t>Task becomes a prompt</a:t>
            </a:r>
          </a:p>
        </p:txBody>
      </p:sp>
      <p:sp>
        <p:nvSpPr>
          <p:cNvPr id="15" name="">
            <a:extLst xmlns:a="http://schemas.openxmlformats.org/drawingml/2006/main">
              <a:ext uri="{FF2B5EF4-FFF2-40B4-BE49-F238E27FC236}">
                <a16:creationId xmlns:a16="http://schemas.microsoft.com/office/drawing/2014/main" id="{16BDB818-B387-4947-9AFC-20724C3FA8DD}"/>
              </a:ext>
            </a:extLst>
          </p:cNvPr>
          <p:cNvSpPr>
            <a:spLocks xmlns:a="http://schemas.openxmlformats.org/drawingml/2006/main" noGrp="1"/>
          </p:cNvSpPr>
          <p:nvPr/>
        </p:nvSpPr>
        <p:spPr>
          <a:xfrm xmlns:a="http://schemas.openxmlformats.org/drawingml/2006/main">
            <a:off x="3219450" y="3343275"/>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53" b="0">
                <a:solidFill>
                  <a:srgbClr val="334155"/>
                </a:solidFill>
                <a:latin typeface="Aptos"/>
                <a:ea typeface="Aptos"/>
                <a:cs typeface="Aptos"/>
              </a:defRPr>
            </a:pPr>
            <a:r>
              <a:rPr sz="953" b="0">
                <a:solidFill>
                  <a:srgbClr val="334155"/>
                </a:solidFill>
                <a:latin typeface="Aptos"/>
                <a:ea typeface="Aptos"/>
                <a:cs typeface="Aptos"/>
              </a:rPr>
              <a:t>The scattered task details become one instruction message.</a:t>
            </a:r>
          </a:p>
        </p:txBody>
      </p:sp>
      <p:sp>
        <p:nvSpPr>
          <p:cNvPr id="16" name="">
            <a:extLst xmlns:a="http://schemas.openxmlformats.org/drawingml/2006/main">
              <a:ext uri="{FF2B5EF4-FFF2-40B4-BE49-F238E27FC236}">
                <a16:creationId xmlns:a16="http://schemas.microsoft.com/office/drawing/2014/main" id="{613B40FC-5465-4192-81A0-0E9EC4F39FCE}"/>
              </a:ext>
            </a:extLst>
          </p:cNvPr>
          <p:cNvSpPr>
            <a:spLocks xmlns:a="http://schemas.openxmlformats.org/drawingml/2006/main" noGrp="1"/>
          </p:cNvSpPr>
          <p:nvPr/>
        </p:nvSpPr>
        <p:spPr>
          <a:xfrm xmlns:a="http://schemas.openxmlformats.org/drawingml/2006/main">
            <a:off x="609600" y="3867150"/>
            <a:ext cx="6477000" cy="457200"/>
          </a:xfrm>
          <a:prstGeom xmlns:a="http://schemas.openxmlformats.org/drawingml/2006/main" prst="rect">
            <a:avLst/>
          </a:prstGeom>
          <a:solidFill xmlns:a="http://schemas.openxmlformats.org/drawingml/2006/main">
            <a:srgbClr val="FBF8F2"/>
          </a:solidFill>
          <a:ln xmlns:a="http://schemas.openxmlformats.org/drawingml/2006/main" w="0">
            <a:solidFill>
              <a:srgbClr val="000000">
                <a:alpha val="0"/>
              </a:srgbClr>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3C0C3C7F-A5F1-4DF7-A0B1-872D59C60F2A}"/>
              </a:ext>
            </a:extLst>
          </p:cNvPr>
          <p:cNvSpPr>
            <a:spLocks xmlns:a="http://schemas.openxmlformats.org/drawingml/2006/main" noGrp="1"/>
          </p:cNvSpPr>
          <p:nvPr/>
        </p:nvSpPr>
        <p:spPr>
          <a:xfrm xmlns:a="http://schemas.openxmlformats.org/drawingml/2006/main">
            <a:off x="609600" y="3867150"/>
            <a:ext cx="323850" cy="323850"/>
          </a:xfrm>
          <a:prstGeom xmlns:a="http://schemas.openxmlformats.org/drawingml/2006/main" prst="rect">
            <a:avLst/>
          </a:prstGeom>
          <a:solidFill xmlns:a="http://schemas.openxmlformats.org/drawingml/2006/main">
            <a:srgbClr val="1D4ED8"/>
          </a:solidFill>
          <a:ln xmlns:a="http://schemas.openxmlformats.org/drawingml/2006/main" w="0">
            <a:solidFill>
              <a:srgbClr val="000000">
                <a:alpha val="0"/>
              </a:srgbClr>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DAF8BACD-74D4-4525-90D9-6A12333693E3}"/>
              </a:ext>
            </a:extLst>
          </p:cNvPr>
          <p:cNvSpPr>
            <a:spLocks xmlns:a="http://schemas.openxmlformats.org/drawingml/2006/main" noGrp="1"/>
          </p:cNvSpPr>
          <p:nvPr/>
        </p:nvSpPr>
        <p:spPr>
          <a:xfrm xmlns:a="http://schemas.openxmlformats.org/drawingml/2006/main">
            <a:off x="609600" y="394335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88" b="1">
                <a:solidFill>
                  <a:srgbClr val="FFFFFF"/>
                </a:solidFill>
                <a:latin typeface="Aptos Mono"/>
                <a:ea typeface="Aptos Mono"/>
                <a:cs typeface="Aptos Mono"/>
              </a:defRPr>
            </a:pPr>
            <a:r>
              <a:rPr sz="1088" b="1">
                <a:solidFill>
                  <a:srgbClr val="FFFFFF"/>
                </a:solidFill>
                <a:latin typeface="Aptos Mono"/>
                <a:ea typeface="Aptos Mono"/>
                <a:cs typeface="Aptos Mono"/>
              </a:rPr>
              <a:t>3</a:t>
            </a:r>
          </a:p>
        </p:txBody>
      </p:sp>
      <p:sp>
        <p:nvSpPr>
          <p:cNvPr id="19" name="">
            <a:extLst xmlns:a="http://schemas.openxmlformats.org/drawingml/2006/main">
              <a:ext uri="{FF2B5EF4-FFF2-40B4-BE49-F238E27FC236}">
                <a16:creationId xmlns:a16="http://schemas.microsoft.com/office/drawing/2014/main" id="{E7996C06-0D40-4BCB-A706-849861FC126B}"/>
              </a:ext>
            </a:extLst>
          </p:cNvPr>
          <p:cNvSpPr>
            <a:spLocks xmlns:a="http://schemas.openxmlformats.org/drawingml/2006/main" noGrp="1"/>
          </p:cNvSpPr>
          <p:nvPr/>
        </p:nvSpPr>
        <p:spPr>
          <a:xfrm xmlns:a="http://schemas.openxmlformats.org/drawingml/2006/main">
            <a:off x="1104900" y="3933825"/>
            <a:ext cx="209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01820"/>
                </a:solidFill>
                <a:latin typeface="Aptos"/>
                <a:ea typeface="Aptos"/>
                <a:cs typeface="Aptos"/>
              </a:defRPr>
            </a:pPr>
            <a:r>
              <a:rPr sz="1125" b="1">
                <a:solidFill>
                  <a:srgbClr val="101820"/>
                </a:solidFill>
                <a:latin typeface="Aptos"/>
                <a:ea typeface="Aptos"/>
                <a:cs typeface="Aptos"/>
              </a:rPr>
              <a:t>Prompt becomes a request</a:t>
            </a:r>
          </a:p>
        </p:txBody>
      </p:sp>
      <p:sp>
        <p:nvSpPr>
          <p:cNvPr id="20" name="">
            <a:extLst xmlns:a="http://schemas.openxmlformats.org/drawingml/2006/main">
              <a:ext uri="{FF2B5EF4-FFF2-40B4-BE49-F238E27FC236}">
                <a16:creationId xmlns:a16="http://schemas.microsoft.com/office/drawing/2014/main" id="{4AD86A5C-3A8E-4A9C-A08C-4D5395325F1A}"/>
              </a:ext>
            </a:extLst>
          </p:cNvPr>
          <p:cNvSpPr>
            <a:spLocks xmlns:a="http://schemas.openxmlformats.org/drawingml/2006/main" noGrp="1"/>
          </p:cNvSpPr>
          <p:nvPr/>
        </p:nvSpPr>
        <p:spPr>
          <a:xfrm xmlns:a="http://schemas.openxmlformats.org/drawingml/2006/main">
            <a:off x="3219450" y="3933825"/>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53" b="0">
                <a:solidFill>
                  <a:srgbClr val="334155"/>
                </a:solidFill>
                <a:latin typeface="Aptos"/>
                <a:ea typeface="Aptos"/>
                <a:cs typeface="Aptos"/>
              </a:defRPr>
            </a:pPr>
            <a:r>
              <a:rPr sz="953" b="0">
                <a:solidFill>
                  <a:srgbClr val="334155"/>
                </a:solidFill>
                <a:latin typeface="Aptos"/>
                <a:ea typeface="Aptos"/>
                <a:cs typeface="Aptos"/>
              </a:rPr>
              <a:t>The message is wrapped with model, context, and tool settings.</a:t>
            </a:r>
          </a:p>
        </p:txBody>
      </p:sp>
      <p:sp>
        <p:nvSpPr>
          <p:cNvPr id="21" name="">
            <a:extLst xmlns:a="http://schemas.openxmlformats.org/drawingml/2006/main">
              <a:ext uri="{FF2B5EF4-FFF2-40B4-BE49-F238E27FC236}">
                <a16:creationId xmlns:a16="http://schemas.microsoft.com/office/drawing/2014/main" id="{48115F13-8E4C-43F8-89CE-70F465BBA79D}"/>
              </a:ext>
            </a:extLst>
          </p:cNvPr>
          <p:cNvSpPr>
            <a:spLocks xmlns:a="http://schemas.openxmlformats.org/drawingml/2006/main" noGrp="1"/>
          </p:cNvSpPr>
          <p:nvPr/>
        </p:nvSpPr>
        <p:spPr>
          <a:xfrm xmlns:a="http://schemas.openxmlformats.org/drawingml/2006/main">
            <a:off x="609600" y="4457700"/>
            <a:ext cx="6477000" cy="457200"/>
          </a:xfrm>
          <a:prstGeom xmlns:a="http://schemas.openxmlformats.org/drawingml/2006/main" prst="rect">
            <a:avLst/>
          </a:prstGeom>
          <a:solidFill xmlns:a="http://schemas.openxmlformats.org/drawingml/2006/main">
            <a:srgbClr val="F2EDE5"/>
          </a:solidFill>
          <a:ln xmlns:a="http://schemas.openxmlformats.org/drawingml/2006/main" w="0">
            <a:solidFill>
              <a:srgbClr val="000000">
                <a:alpha val="0"/>
              </a:srgbClr>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582A4874-5D47-4E98-B94A-04094B3CA60C}"/>
              </a:ext>
            </a:extLst>
          </p:cNvPr>
          <p:cNvSpPr>
            <a:spLocks xmlns:a="http://schemas.openxmlformats.org/drawingml/2006/main" noGrp="1"/>
          </p:cNvSpPr>
          <p:nvPr/>
        </p:nvSpPr>
        <p:spPr>
          <a:xfrm xmlns:a="http://schemas.openxmlformats.org/drawingml/2006/main">
            <a:off x="609600" y="4457700"/>
            <a:ext cx="323850" cy="32385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A43E6B35-A37D-4DE3-822A-83EDE0CD076B}"/>
              </a:ext>
            </a:extLst>
          </p:cNvPr>
          <p:cNvSpPr>
            <a:spLocks xmlns:a="http://schemas.openxmlformats.org/drawingml/2006/main" noGrp="1"/>
          </p:cNvSpPr>
          <p:nvPr/>
        </p:nvSpPr>
        <p:spPr>
          <a:xfrm xmlns:a="http://schemas.openxmlformats.org/drawingml/2006/main">
            <a:off x="609600" y="453390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88" b="1">
                <a:solidFill>
                  <a:srgbClr val="FFFFFF"/>
                </a:solidFill>
                <a:latin typeface="Aptos Mono"/>
                <a:ea typeface="Aptos Mono"/>
                <a:cs typeface="Aptos Mono"/>
              </a:defRPr>
            </a:pPr>
            <a:r>
              <a:rPr sz="1088" b="1">
                <a:solidFill>
                  <a:srgbClr val="FFFFFF"/>
                </a:solidFill>
                <a:latin typeface="Aptos Mono"/>
                <a:ea typeface="Aptos Mono"/>
                <a:cs typeface="Aptos Mono"/>
              </a:rPr>
              <a:t>4</a:t>
            </a:r>
          </a:p>
        </p:txBody>
      </p:sp>
      <p:sp>
        <p:nvSpPr>
          <p:cNvPr id="24" name="">
            <a:extLst xmlns:a="http://schemas.openxmlformats.org/drawingml/2006/main">
              <a:ext uri="{FF2B5EF4-FFF2-40B4-BE49-F238E27FC236}">
                <a16:creationId xmlns:a16="http://schemas.microsoft.com/office/drawing/2014/main" id="{CF6037AB-1253-4B50-89DB-341663978872}"/>
              </a:ext>
            </a:extLst>
          </p:cNvPr>
          <p:cNvSpPr>
            <a:spLocks xmlns:a="http://schemas.openxmlformats.org/drawingml/2006/main" noGrp="1"/>
          </p:cNvSpPr>
          <p:nvPr/>
        </p:nvSpPr>
        <p:spPr>
          <a:xfrm xmlns:a="http://schemas.openxmlformats.org/drawingml/2006/main">
            <a:off x="1104900" y="4524375"/>
            <a:ext cx="209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01820"/>
                </a:solidFill>
                <a:latin typeface="Aptos"/>
                <a:ea typeface="Aptos"/>
                <a:cs typeface="Aptos"/>
              </a:defRPr>
            </a:pPr>
            <a:r>
              <a:rPr sz="1125" b="1">
                <a:solidFill>
                  <a:srgbClr val="101820"/>
                </a:solidFill>
                <a:latin typeface="Aptos"/>
                <a:ea typeface="Aptos"/>
                <a:cs typeface="Aptos"/>
              </a:rPr>
              <a:t>Runtime context is attached</a:t>
            </a:r>
          </a:p>
        </p:txBody>
      </p:sp>
      <p:sp>
        <p:nvSpPr>
          <p:cNvPr id="25" name="">
            <a:extLst xmlns:a="http://schemas.openxmlformats.org/drawingml/2006/main">
              <a:ext uri="{FF2B5EF4-FFF2-40B4-BE49-F238E27FC236}">
                <a16:creationId xmlns:a16="http://schemas.microsoft.com/office/drawing/2014/main" id="{C65473E5-C93E-4469-97E9-8633D8045A79}"/>
              </a:ext>
            </a:extLst>
          </p:cNvPr>
          <p:cNvSpPr>
            <a:spLocks xmlns:a="http://schemas.openxmlformats.org/drawingml/2006/main" noGrp="1"/>
          </p:cNvSpPr>
          <p:nvPr/>
        </p:nvSpPr>
        <p:spPr>
          <a:xfrm xmlns:a="http://schemas.openxmlformats.org/drawingml/2006/main">
            <a:off x="3219450" y="4524375"/>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53" b="0">
                <a:solidFill>
                  <a:srgbClr val="334155"/>
                </a:solidFill>
                <a:latin typeface="Aptos"/>
                <a:ea typeface="Aptos"/>
                <a:cs typeface="Aptos"/>
              </a:defRPr>
            </a:pPr>
            <a:r>
              <a:rPr sz="953" b="0">
                <a:solidFill>
                  <a:srgbClr val="334155"/>
                </a:solidFill>
                <a:latin typeface="Aptos"/>
                <a:ea typeface="Aptos"/>
                <a:cs typeface="Aptos"/>
              </a:rPr>
              <a:t>Tools, parser, token counts, and cache signals are recorded.</a:t>
            </a:r>
          </a:p>
        </p:txBody>
      </p:sp>
      <p:sp>
        <p:nvSpPr>
          <p:cNvPr id="26" name="">
            <a:extLst xmlns:a="http://schemas.openxmlformats.org/drawingml/2006/main">
              <a:ext uri="{FF2B5EF4-FFF2-40B4-BE49-F238E27FC236}">
                <a16:creationId xmlns:a16="http://schemas.microsoft.com/office/drawing/2014/main" id="{56B6D225-8D7D-424D-B48A-01FAA73485FD}"/>
              </a:ext>
            </a:extLst>
          </p:cNvPr>
          <p:cNvSpPr>
            <a:spLocks xmlns:a="http://schemas.openxmlformats.org/drawingml/2006/main" noGrp="1"/>
          </p:cNvSpPr>
          <p:nvPr/>
        </p:nvSpPr>
        <p:spPr>
          <a:xfrm xmlns:a="http://schemas.openxmlformats.org/drawingml/2006/main">
            <a:off x="609600" y="5048250"/>
            <a:ext cx="6477000" cy="457200"/>
          </a:xfrm>
          <a:prstGeom xmlns:a="http://schemas.openxmlformats.org/drawingml/2006/main" prst="rect">
            <a:avLst/>
          </a:prstGeom>
          <a:solidFill xmlns:a="http://schemas.openxmlformats.org/drawingml/2006/main">
            <a:srgbClr val="FBF8F2"/>
          </a:solidFill>
          <a:ln xmlns:a="http://schemas.openxmlformats.org/drawingml/2006/main" w="0">
            <a:solidFill>
              <a:srgbClr val="000000">
                <a:alpha val="0"/>
              </a:srgbClr>
            </a:solidFill>
            <a:prstDash val="solid"/>
          </a:ln>
        </p:spPr>
        <p:txBody xmlns:a="http://schemas.openxmlformats.org/drawingml/2006/main">
          <a:bodyPr/>
          <a:p/>
        </p:txBody>
      </p:sp>
      <p:sp>
        <p:nvSpPr>
          <p:cNvPr id="27" name="">
            <a:extLst xmlns:a="http://schemas.openxmlformats.org/drawingml/2006/main">
              <a:ext uri="{FF2B5EF4-FFF2-40B4-BE49-F238E27FC236}">
                <a16:creationId xmlns:a16="http://schemas.microsoft.com/office/drawing/2014/main" id="{AA4BC3A1-FFE5-4C4C-85D3-C3BB923D14C2}"/>
              </a:ext>
            </a:extLst>
          </p:cNvPr>
          <p:cNvSpPr>
            <a:spLocks xmlns:a="http://schemas.openxmlformats.org/drawingml/2006/main" noGrp="1"/>
          </p:cNvSpPr>
          <p:nvPr/>
        </p:nvSpPr>
        <p:spPr>
          <a:xfrm xmlns:a="http://schemas.openxmlformats.org/drawingml/2006/main">
            <a:off x="609600" y="5048250"/>
            <a:ext cx="323850" cy="323850"/>
          </a:xfrm>
          <a:prstGeom xmlns:a="http://schemas.openxmlformats.org/drawingml/2006/main" prst="rect">
            <a:avLst/>
          </a:prstGeom>
          <a:solidFill xmlns:a="http://schemas.openxmlformats.org/drawingml/2006/main">
            <a:srgbClr val="0F9F6E"/>
          </a:solidFill>
          <a:ln xmlns:a="http://schemas.openxmlformats.org/drawingml/2006/main" w="0">
            <a:solidFill>
              <a:srgbClr val="000000">
                <a:alpha val="0"/>
              </a:srgbClr>
            </a:solidFill>
            <a:prstDash val="solid"/>
          </a:ln>
        </p:spPr>
        <p:txBody xmlns:a="http://schemas.openxmlformats.org/drawingml/2006/main">
          <a:bodyPr/>
          <a:p/>
        </p:txBody>
      </p:sp>
      <p:sp>
        <p:nvSpPr>
          <p:cNvPr id="28" name="">
            <a:extLst xmlns:a="http://schemas.openxmlformats.org/drawingml/2006/main">
              <a:ext uri="{FF2B5EF4-FFF2-40B4-BE49-F238E27FC236}">
                <a16:creationId xmlns:a16="http://schemas.microsoft.com/office/drawing/2014/main" id="{55F15658-5A7F-47E4-8BDE-D3DEDA0B4F7F}"/>
              </a:ext>
            </a:extLst>
          </p:cNvPr>
          <p:cNvSpPr>
            <a:spLocks xmlns:a="http://schemas.openxmlformats.org/drawingml/2006/main" noGrp="1"/>
          </p:cNvSpPr>
          <p:nvPr/>
        </p:nvSpPr>
        <p:spPr>
          <a:xfrm xmlns:a="http://schemas.openxmlformats.org/drawingml/2006/main">
            <a:off x="609600" y="5124450"/>
            <a:ext cx="323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88" b="1">
                <a:solidFill>
                  <a:srgbClr val="FFFFFF"/>
                </a:solidFill>
                <a:latin typeface="Aptos Mono"/>
                <a:ea typeface="Aptos Mono"/>
                <a:cs typeface="Aptos Mono"/>
              </a:defRPr>
            </a:pPr>
            <a:r>
              <a:rPr sz="1088" b="1">
                <a:solidFill>
                  <a:srgbClr val="FFFFFF"/>
                </a:solidFill>
                <a:latin typeface="Aptos Mono"/>
                <a:ea typeface="Aptos Mono"/>
                <a:cs typeface="Aptos Mono"/>
              </a:rPr>
              <a:t>5</a:t>
            </a:r>
          </a:p>
        </p:txBody>
      </p:sp>
      <p:sp>
        <p:nvSpPr>
          <p:cNvPr id="29" name="">
            <a:extLst xmlns:a="http://schemas.openxmlformats.org/drawingml/2006/main">
              <a:ext uri="{FF2B5EF4-FFF2-40B4-BE49-F238E27FC236}">
                <a16:creationId xmlns:a16="http://schemas.microsoft.com/office/drawing/2014/main" id="{A5BABE0E-8BA4-4A8D-8E5E-4F5A51B9F863}"/>
              </a:ext>
            </a:extLst>
          </p:cNvPr>
          <p:cNvSpPr>
            <a:spLocks xmlns:a="http://schemas.openxmlformats.org/drawingml/2006/main" noGrp="1"/>
          </p:cNvSpPr>
          <p:nvPr/>
        </p:nvSpPr>
        <p:spPr>
          <a:xfrm xmlns:a="http://schemas.openxmlformats.org/drawingml/2006/main">
            <a:off x="1104900" y="5114925"/>
            <a:ext cx="209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01820"/>
                </a:solidFill>
                <a:latin typeface="Aptos"/>
                <a:ea typeface="Aptos"/>
                <a:cs typeface="Aptos"/>
              </a:defRPr>
            </a:pPr>
            <a:r>
              <a:rPr sz="1125" b="1">
                <a:solidFill>
                  <a:srgbClr val="101820"/>
                </a:solidFill>
                <a:latin typeface="Aptos"/>
                <a:ea typeface="Aptos"/>
                <a:cs typeface="Aptos"/>
              </a:rPr>
              <a:t>Behavior is recorded</a:t>
            </a:r>
          </a:p>
        </p:txBody>
      </p:sp>
      <p:sp>
        <p:nvSpPr>
          <p:cNvPr id="30" name="">
            <a:extLst xmlns:a="http://schemas.openxmlformats.org/drawingml/2006/main">
              <a:ext uri="{FF2B5EF4-FFF2-40B4-BE49-F238E27FC236}">
                <a16:creationId xmlns:a16="http://schemas.microsoft.com/office/drawing/2014/main" id="{9BD53AA3-9847-43BC-9B7C-8FE2F543DF43}"/>
              </a:ext>
            </a:extLst>
          </p:cNvPr>
          <p:cNvSpPr>
            <a:spLocks xmlns:a="http://schemas.openxmlformats.org/drawingml/2006/main" noGrp="1"/>
          </p:cNvSpPr>
          <p:nvPr/>
        </p:nvSpPr>
        <p:spPr>
          <a:xfrm xmlns:a="http://schemas.openxmlformats.org/drawingml/2006/main">
            <a:off x="3219450" y="5114925"/>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53" b="0">
                <a:solidFill>
                  <a:srgbClr val="334155"/>
                </a:solidFill>
                <a:latin typeface="Aptos"/>
                <a:ea typeface="Aptos"/>
                <a:cs typeface="Aptos"/>
              </a:defRPr>
            </a:pPr>
            <a:r>
              <a:rPr sz="953" b="0">
                <a:solidFill>
                  <a:srgbClr val="334155"/>
                </a:solidFill>
                <a:latin typeface="Aptos"/>
                <a:ea typeface="Aptos"/>
                <a:cs typeface="Aptos"/>
              </a:rPr>
              <a:t>The final trace shows tool calls, response, and workspace outcome.</a:t>
            </a:r>
          </a:p>
        </p:txBody>
      </p:sp>
      <p:sp>
        <p:nvSpPr>
          <p:cNvPr id="31" name="">
            <a:extLst xmlns:a="http://schemas.openxmlformats.org/drawingml/2006/main">
              <a:ext uri="{FF2B5EF4-FFF2-40B4-BE49-F238E27FC236}">
                <a16:creationId xmlns:a16="http://schemas.microsoft.com/office/drawing/2014/main" id="{20DB9934-7D00-4348-A21E-C9723B9ECBA4}"/>
              </a:ext>
            </a:extLst>
          </p:cNvPr>
          <p:cNvSpPr>
            <a:spLocks xmlns:a="http://schemas.openxmlformats.org/drawingml/2006/main" noGrp="1"/>
          </p:cNvSpPr>
          <p:nvPr/>
        </p:nvSpPr>
        <p:spPr>
          <a:xfrm xmlns:a="http://schemas.openxmlformats.org/drawingml/2006/main">
            <a:off x="7562850" y="2038350"/>
            <a:ext cx="3905250" cy="3619500"/>
          </a:xfrm>
          <a:prstGeom xmlns:a="http://schemas.openxmlformats.org/drawingml/2006/main" prst="rect">
            <a:avLst/>
          </a:prstGeom>
          <a:solidFill xmlns:a="http://schemas.openxmlformats.org/drawingml/2006/main">
            <a:srgbClr val="FFFFFF"/>
          </a:solidFill>
          <a:ln xmlns:a="http://schemas.openxmlformats.org/drawingml/2006/main" w="19050">
            <a:solidFill>
              <a:srgbClr val="6D28D9"/>
            </a:solidFill>
            <a:prstDash val="solid"/>
          </a:ln>
        </p:spPr>
        <p:txBody xmlns:a="http://schemas.openxmlformats.org/drawingml/2006/main">
          <a:bodyPr/>
          <a:p/>
        </p:txBody>
      </p:sp>
      <p:sp>
        <p:nvSpPr>
          <p:cNvPr id="32" name="">
            <a:extLst xmlns:a="http://schemas.openxmlformats.org/drawingml/2006/main">
              <a:ext uri="{FF2B5EF4-FFF2-40B4-BE49-F238E27FC236}">
                <a16:creationId xmlns:a16="http://schemas.microsoft.com/office/drawing/2014/main" id="{66CA3EB8-7424-413F-9DB5-FE0DEBE3548C}"/>
              </a:ext>
            </a:extLst>
          </p:cNvPr>
          <p:cNvSpPr>
            <a:spLocks xmlns:a="http://schemas.openxmlformats.org/drawingml/2006/main" noGrp="1"/>
          </p:cNvSpPr>
          <p:nvPr/>
        </p:nvSpPr>
        <p:spPr>
          <a:xfrm xmlns:a="http://schemas.openxmlformats.org/drawingml/2006/main">
            <a:off x="7562850" y="2038350"/>
            <a:ext cx="3905250" cy="76200"/>
          </a:xfrm>
          <a:prstGeom xmlns:a="http://schemas.openxmlformats.org/drawingml/2006/main" prst="rect">
            <a:avLst/>
          </a:prstGeom>
          <a:solidFill xmlns:a="http://schemas.openxmlformats.org/drawingml/2006/main">
            <a:srgbClr val="6D28D9"/>
          </a:solidFill>
          <a:ln xmlns:a="http://schemas.openxmlformats.org/drawingml/2006/main" w="0">
            <a:solidFill>
              <a:srgbClr val="000000">
                <a:alpha val="0"/>
              </a:srgbClr>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C8AC7BAD-D809-4912-A748-09F38CE47C42}"/>
              </a:ext>
            </a:extLst>
          </p:cNvPr>
          <p:cNvSpPr>
            <a:spLocks xmlns:a="http://schemas.openxmlformats.org/drawingml/2006/main" noGrp="1"/>
          </p:cNvSpPr>
          <p:nvPr/>
        </p:nvSpPr>
        <p:spPr>
          <a:xfrm xmlns:a="http://schemas.openxmlformats.org/drawingml/2006/main">
            <a:off x="7829550" y="2324100"/>
            <a:ext cx="2857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01820"/>
                </a:solidFill>
                <a:latin typeface="Aptos Display"/>
                <a:ea typeface="Aptos Display"/>
                <a:cs typeface="Aptos Display"/>
              </a:defRPr>
            </a:pPr>
            <a:r>
              <a:rPr sz="1650" b="1">
                <a:solidFill>
                  <a:srgbClr val="101820"/>
                </a:solidFill>
                <a:latin typeface="Aptos Display"/>
                <a:ea typeface="Aptos Display"/>
                <a:cs typeface="Aptos Display"/>
              </a:rPr>
              <a:t>Who Is Involved</a:t>
            </a:r>
          </a:p>
        </p:txBody>
      </p:sp>
      <p:sp>
        <p:nvSpPr>
          <p:cNvPr id="34" name="">
            <a:extLst xmlns:a="http://schemas.openxmlformats.org/drawingml/2006/main">
              <a:ext uri="{FF2B5EF4-FFF2-40B4-BE49-F238E27FC236}">
                <a16:creationId xmlns:a16="http://schemas.microsoft.com/office/drawing/2014/main" id="{D58BE6B1-DBC7-4548-BDF7-15D72E517401}"/>
              </a:ext>
            </a:extLst>
          </p:cNvPr>
          <p:cNvSpPr>
            <a:spLocks xmlns:a="http://schemas.openxmlformats.org/drawingml/2006/main" noGrp="1"/>
          </p:cNvSpPr>
          <p:nvPr/>
        </p:nvSpPr>
        <p:spPr>
          <a:xfrm xmlns:a="http://schemas.openxmlformats.org/drawingml/2006/main">
            <a:off x="7829550" y="2857500"/>
            <a:ext cx="14859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53" b="1">
                <a:solidFill>
                  <a:srgbClr val="6D28D9"/>
                </a:solidFill>
                <a:latin typeface="Aptos"/>
                <a:ea typeface="Aptos"/>
                <a:cs typeface="Aptos"/>
              </a:defRPr>
            </a:pPr>
            <a:r>
              <a:rPr sz="953" b="1">
                <a:solidFill>
                  <a:srgbClr val="6D28D9"/>
                </a:solidFill>
                <a:latin typeface="Aptos"/>
                <a:ea typeface="Aptos"/>
                <a:cs typeface="Aptos"/>
              </a:rPr>
              <a:t>Benchmark Loader</a:t>
            </a:r>
          </a:p>
        </p:txBody>
      </p:sp>
      <p:sp>
        <p:nvSpPr>
          <p:cNvPr id="35" name="">
            <a:extLst xmlns:a="http://schemas.openxmlformats.org/drawingml/2006/main">
              <a:ext uri="{FF2B5EF4-FFF2-40B4-BE49-F238E27FC236}">
                <a16:creationId xmlns:a16="http://schemas.microsoft.com/office/drawing/2014/main" id="{B4A16534-8BB9-4AAF-8597-64CCDA7A7BC3}"/>
              </a:ext>
            </a:extLst>
          </p:cNvPr>
          <p:cNvSpPr>
            <a:spLocks xmlns:a="http://schemas.openxmlformats.org/drawingml/2006/main" noGrp="1"/>
          </p:cNvSpPr>
          <p:nvPr/>
        </p:nvSpPr>
        <p:spPr>
          <a:xfrm xmlns:a="http://schemas.openxmlformats.org/drawingml/2006/main">
            <a:off x="9467850" y="2857500"/>
            <a:ext cx="16764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334155"/>
                </a:solidFill>
                <a:latin typeface="Aptos"/>
                <a:ea typeface="Aptos"/>
                <a:cs typeface="Aptos"/>
              </a:defRPr>
            </a:pPr>
            <a:r>
              <a:rPr sz="900" b="0">
                <a:solidFill>
                  <a:srgbClr val="334155"/>
                </a:solidFill>
                <a:latin typeface="Aptos"/>
                <a:ea typeface="Aptos"/>
                <a:cs typeface="Aptos"/>
              </a:rPr>
              <a:t>loads the task and workspace.</a:t>
            </a:r>
          </a:p>
        </p:txBody>
      </p:sp>
      <p:sp>
        <p:nvSpPr>
          <p:cNvPr id="36" name="">
            <a:extLst xmlns:a="http://schemas.openxmlformats.org/drawingml/2006/main">
              <a:ext uri="{FF2B5EF4-FFF2-40B4-BE49-F238E27FC236}">
                <a16:creationId xmlns:a16="http://schemas.microsoft.com/office/drawing/2014/main" id="{D9331CDA-4754-4DA2-8599-E9B6F26299B0}"/>
              </a:ext>
            </a:extLst>
          </p:cNvPr>
          <p:cNvSpPr>
            <a:spLocks xmlns:a="http://schemas.openxmlformats.org/drawingml/2006/main" noGrp="1"/>
          </p:cNvSpPr>
          <p:nvPr/>
        </p:nvSpPr>
        <p:spPr>
          <a:xfrm xmlns:a="http://schemas.openxmlformats.org/drawingml/2006/main">
            <a:off x="7829550" y="3352800"/>
            <a:ext cx="14859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wrap="square"/>
          <a:lstStyle xmlns:a="http://schemas.openxmlformats.org/drawingml/2006/main"/>
          <a:p xmlns:a="http://schemas.openxmlformats.org/drawingml/2006/main">
            <a:pPr algn="l">
              <a:defRPr sz="953" b="1">
                <a:solidFill>
                  <a:srgbClr val="2563EB"/>
                </a:solidFill>
                <a:latin typeface="Aptos"/>
                <a:ea typeface="Aptos"/>
                <a:cs typeface="Aptos"/>
              </a:defRPr>
            </a:pPr>
            <a:r>
              <a:rPr sz="833" b="1">
                <a:solidFill>
                  <a:srgbClr val="2563EB"/>
                </a:solidFill>
                <a:latin typeface="Aptos"/>
                <a:ea typeface="Aptos"/>
                <a:cs typeface="Aptos"/>
              </a:rPr>
              <a:t>Prompt Builder (local helper script)</a:t>
            </a:r>
          </a:p>
        </p:txBody>
      </p:sp>
      <p:sp>
        <p:nvSpPr>
          <p:cNvPr id="37" name="">
            <a:extLst xmlns:a="http://schemas.openxmlformats.org/drawingml/2006/main">
              <a:ext uri="{FF2B5EF4-FFF2-40B4-BE49-F238E27FC236}">
                <a16:creationId xmlns:a16="http://schemas.microsoft.com/office/drawing/2014/main" id="{A826D2C8-FF38-448A-9C0D-49B55EAA9FB4}"/>
              </a:ext>
            </a:extLst>
          </p:cNvPr>
          <p:cNvSpPr>
            <a:spLocks xmlns:a="http://schemas.openxmlformats.org/drawingml/2006/main" noGrp="1"/>
          </p:cNvSpPr>
          <p:nvPr/>
        </p:nvSpPr>
        <p:spPr>
          <a:xfrm xmlns:a="http://schemas.openxmlformats.org/drawingml/2006/main">
            <a:off x="9467850" y="3352800"/>
            <a:ext cx="16764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334155"/>
                </a:solidFill>
                <a:latin typeface="Aptos"/>
                <a:ea typeface="Aptos"/>
                <a:cs typeface="Aptos"/>
              </a:defRPr>
            </a:pPr>
            <a:r>
              <a:rPr sz="900" b="0">
                <a:solidFill>
                  <a:srgbClr val="334155"/>
                </a:solidFill>
                <a:latin typeface="Aptos"/>
                <a:ea typeface="Aptos"/>
                <a:cs typeface="Aptos"/>
              </a:rPr>
              <a:t>writes the agent instructions.</a:t>
            </a:r>
          </a:p>
        </p:txBody>
      </p:sp>
      <p:sp>
        <p:nvSpPr>
          <p:cNvPr id="38" name="">
            <a:extLst xmlns:a="http://schemas.openxmlformats.org/drawingml/2006/main">
              <a:ext uri="{FF2B5EF4-FFF2-40B4-BE49-F238E27FC236}">
                <a16:creationId xmlns:a16="http://schemas.microsoft.com/office/drawing/2014/main" id="{ED29DFE8-4C98-4638-87B3-959C751A9C28}"/>
              </a:ext>
            </a:extLst>
          </p:cNvPr>
          <p:cNvSpPr>
            <a:spLocks xmlns:a="http://schemas.openxmlformats.org/drawingml/2006/main" noGrp="1"/>
          </p:cNvSpPr>
          <p:nvPr/>
        </p:nvSpPr>
        <p:spPr>
          <a:xfrm xmlns:a="http://schemas.openxmlformats.org/drawingml/2006/main">
            <a:off x="7829550" y="3848100"/>
            <a:ext cx="14859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wrap="square"/>
          <a:lstStyle xmlns:a="http://schemas.openxmlformats.org/drawingml/2006/main"/>
          <a:p xmlns:a="http://schemas.openxmlformats.org/drawingml/2006/main">
            <a:pPr algn="l">
              <a:defRPr sz="953" b="1">
                <a:solidFill>
                  <a:srgbClr val="1D4ED8"/>
                </a:solidFill>
                <a:latin typeface="Aptos"/>
                <a:ea typeface="Aptos"/>
                <a:cs typeface="Aptos"/>
              </a:defRPr>
            </a:pPr>
            <a:r>
              <a:rPr sz="833" b="1">
                <a:solidFill>
                  <a:srgbClr val="1D4ED8"/>
                </a:solidFill>
                <a:latin typeface="Aptos"/>
                <a:ea typeface="Aptos"/>
                <a:cs typeface="Aptos"/>
              </a:rPr>
              <a:t>Request Wrapper (local helper script)</a:t>
            </a:r>
          </a:p>
        </p:txBody>
      </p:sp>
      <p:sp>
        <p:nvSpPr>
          <p:cNvPr id="39" name="">
            <a:extLst xmlns:a="http://schemas.openxmlformats.org/drawingml/2006/main">
              <a:ext uri="{FF2B5EF4-FFF2-40B4-BE49-F238E27FC236}">
                <a16:creationId xmlns:a16="http://schemas.microsoft.com/office/drawing/2014/main" id="{602E726A-01A2-428F-B1D1-D001D676B7C7}"/>
              </a:ext>
            </a:extLst>
          </p:cNvPr>
          <p:cNvSpPr>
            <a:spLocks xmlns:a="http://schemas.openxmlformats.org/drawingml/2006/main" noGrp="1"/>
          </p:cNvSpPr>
          <p:nvPr/>
        </p:nvSpPr>
        <p:spPr>
          <a:xfrm xmlns:a="http://schemas.openxmlformats.org/drawingml/2006/main">
            <a:off x="9467850" y="3848100"/>
            <a:ext cx="16764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334155"/>
                </a:solidFill>
                <a:latin typeface="Aptos"/>
                <a:ea typeface="Aptos"/>
                <a:cs typeface="Aptos"/>
              </a:defRPr>
            </a:pPr>
            <a:r>
              <a:rPr sz="900" b="0">
                <a:solidFill>
                  <a:srgbClr val="334155"/>
                </a:solidFill>
                <a:latin typeface="Aptos"/>
                <a:ea typeface="Aptos"/>
                <a:cs typeface="Aptos"/>
              </a:rPr>
              <a:t>packages the model request.</a:t>
            </a:r>
          </a:p>
        </p:txBody>
      </p:sp>
      <p:sp>
        <p:nvSpPr>
          <p:cNvPr id="40" name="">
            <a:extLst xmlns:a="http://schemas.openxmlformats.org/drawingml/2006/main">
              <a:ext uri="{FF2B5EF4-FFF2-40B4-BE49-F238E27FC236}">
                <a16:creationId xmlns:a16="http://schemas.microsoft.com/office/drawing/2014/main" id="{C9829928-67D7-45E7-AB14-17EF397133E6}"/>
              </a:ext>
            </a:extLst>
          </p:cNvPr>
          <p:cNvSpPr>
            <a:spLocks xmlns:a="http://schemas.openxmlformats.org/drawingml/2006/main" noGrp="1"/>
          </p:cNvSpPr>
          <p:nvPr/>
        </p:nvSpPr>
        <p:spPr>
          <a:xfrm xmlns:a="http://schemas.openxmlformats.org/drawingml/2006/main">
            <a:off x="7829550" y="4343400"/>
            <a:ext cx="14859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53" b="1">
                <a:solidFill>
                  <a:srgbClr val="D97706"/>
                </a:solidFill>
                <a:latin typeface="Aptos"/>
                <a:ea typeface="Aptos"/>
                <a:cs typeface="Aptos"/>
              </a:defRPr>
            </a:pPr>
            <a:r>
              <a:rPr sz="953" b="1">
                <a:solidFill>
                  <a:srgbClr val="D97706"/>
                </a:solidFill>
                <a:latin typeface="Aptos"/>
                <a:ea typeface="Aptos"/>
                <a:cs typeface="Aptos"/>
              </a:rPr>
              <a:t>Deep Agents Layer</a:t>
            </a:r>
          </a:p>
        </p:txBody>
      </p:sp>
      <p:sp>
        <p:nvSpPr>
          <p:cNvPr id="41" name="">
            <a:extLst xmlns:a="http://schemas.openxmlformats.org/drawingml/2006/main">
              <a:ext uri="{FF2B5EF4-FFF2-40B4-BE49-F238E27FC236}">
                <a16:creationId xmlns:a16="http://schemas.microsoft.com/office/drawing/2014/main" id="{8E0B3A5D-B147-49E0-B7D8-DCCC09F56F4F}"/>
              </a:ext>
            </a:extLst>
          </p:cNvPr>
          <p:cNvSpPr>
            <a:spLocks xmlns:a="http://schemas.openxmlformats.org/drawingml/2006/main" noGrp="1"/>
          </p:cNvSpPr>
          <p:nvPr/>
        </p:nvSpPr>
        <p:spPr>
          <a:xfrm xmlns:a="http://schemas.openxmlformats.org/drawingml/2006/main">
            <a:off x="9467850" y="4343400"/>
            <a:ext cx="16764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334155"/>
                </a:solidFill>
                <a:latin typeface="Aptos"/>
                <a:ea typeface="Aptos"/>
                <a:cs typeface="Aptos"/>
              </a:defRPr>
            </a:pPr>
            <a:r>
              <a:rPr sz="900" b="0">
                <a:solidFill>
                  <a:srgbClr val="334155"/>
                </a:solidFill>
                <a:latin typeface="Aptos"/>
                <a:ea typeface="Aptos"/>
                <a:cs typeface="Aptos"/>
              </a:rPr>
              <a:t>adds behavior rules and records behavior.</a:t>
            </a:r>
          </a:p>
        </p:txBody>
      </p:sp>
      <p:sp>
        <p:nvSpPr>
          <p:cNvPr id="42" name="">
            <a:extLst xmlns:a="http://schemas.openxmlformats.org/drawingml/2006/main">
              <a:ext uri="{FF2B5EF4-FFF2-40B4-BE49-F238E27FC236}">
                <a16:creationId xmlns:a16="http://schemas.microsoft.com/office/drawing/2014/main" id="{78AEDB8B-0EF9-4F86-90CD-C6B346B784ED}"/>
              </a:ext>
            </a:extLst>
          </p:cNvPr>
          <p:cNvSpPr>
            <a:spLocks xmlns:a="http://schemas.openxmlformats.org/drawingml/2006/main" noGrp="1"/>
          </p:cNvSpPr>
          <p:nvPr/>
        </p:nvSpPr>
        <p:spPr>
          <a:xfrm xmlns:a="http://schemas.openxmlformats.org/drawingml/2006/main">
            <a:off x="7829550" y="4838700"/>
            <a:ext cx="14859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53" b="1">
                <a:solidFill>
                  <a:srgbClr val="0F9F6E"/>
                </a:solidFill>
                <a:latin typeface="Aptos"/>
                <a:ea typeface="Aptos"/>
                <a:cs typeface="Aptos"/>
              </a:defRPr>
            </a:pPr>
            <a:r>
              <a:rPr sz="953" b="1">
                <a:solidFill>
                  <a:srgbClr val="0F9F6E"/>
                </a:solidFill>
                <a:latin typeface="Aptos"/>
                <a:ea typeface="Aptos"/>
                <a:cs typeface="Aptos"/>
              </a:rPr>
              <a:t>Dynamo Runtime Layer</a:t>
            </a:r>
          </a:p>
        </p:txBody>
      </p:sp>
      <p:sp>
        <p:nvSpPr>
          <p:cNvPr id="43" name="">
            <a:extLst xmlns:a="http://schemas.openxmlformats.org/drawingml/2006/main">
              <a:ext uri="{FF2B5EF4-FFF2-40B4-BE49-F238E27FC236}">
                <a16:creationId xmlns:a16="http://schemas.microsoft.com/office/drawing/2014/main" id="{B742543A-D1C9-43ED-BFB1-85E62016DDF3}"/>
              </a:ext>
            </a:extLst>
          </p:cNvPr>
          <p:cNvSpPr>
            <a:spLocks xmlns:a="http://schemas.openxmlformats.org/drawingml/2006/main" noGrp="1"/>
          </p:cNvSpPr>
          <p:nvPr/>
        </p:nvSpPr>
        <p:spPr>
          <a:xfrm xmlns:a="http://schemas.openxmlformats.org/drawingml/2006/main">
            <a:off x="9467850" y="4838700"/>
            <a:ext cx="16764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334155"/>
                </a:solidFill>
                <a:latin typeface="Aptos"/>
                <a:ea typeface="Aptos"/>
                <a:cs typeface="Aptos"/>
              </a:defRPr>
            </a:pPr>
            <a:r>
              <a:rPr sz="900" b="0">
                <a:solidFill>
                  <a:srgbClr val="334155"/>
                </a:solidFill>
                <a:latin typeface="Aptos"/>
                <a:ea typeface="Aptos"/>
                <a:cs typeface="Aptos"/>
              </a:rPr>
              <a:t>prepares tools, parser, and runtime state.</a:t>
            </a:r>
          </a:p>
        </p:txBody>
      </p:sp>
      <p:sp>
        <p:nvSpPr>
          <p:cNvPr id="44" name="">
            <a:extLst xmlns:a="http://schemas.openxmlformats.org/drawingml/2006/main">
              <a:ext uri="{FF2B5EF4-FFF2-40B4-BE49-F238E27FC236}">
                <a16:creationId xmlns:a16="http://schemas.microsoft.com/office/drawing/2014/main" id="{4DC62120-1664-4E0C-A5CC-90A2BCF38ACF}"/>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D1C8"/>
          </a:solidFill>
          <a:ln xmlns:a="http://schemas.openxmlformats.org/drawingml/2006/main" w="0">
            <a:solidFill>
              <a:srgbClr val="000000">
                <a:alpha val="0"/>
              </a:srgbClr>
            </a:solidFill>
            <a:prstDash val="solid"/>
          </a:ln>
        </p:spPr>
        <p:txBody xmlns:a="http://schemas.openxmlformats.org/drawingml/2006/main">
          <a:bodyPr/>
          <a:p/>
        </p:txBody>
      </p:sp>
      <p:sp>
        <p:nvSpPr>
          <p:cNvPr id="45" name="">
            <a:extLst xmlns:a="http://schemas.openxmlformats.org/drawingml/2006/main">
              <a:ext uri="{FF2B5EF4-FFF2-40B4-BE49-F238E27FC236}">
                <a16:creationId xmlns:a16="http://schemas.microsoft.com/office/drawing/2014/main" id="{69DBB4FE-0472-4592-B306-F351F3E457CD}"/>
              </a:ext>
            </a:extLst>
          </p:cNvPr>
          <p:cNvSpPr>
            <a:spLocks xmlns:a="http://schemas.openxmlformats.org/drawingml/2006/main" noGrp="1"/>
          </p:cNvSpPr>
          <p:nvPr/>
        </p:nvSpPr>
        <p:spPr>
          <a:xfrm xmlns:a="http://schemas.openxmlformats.org/drawingml/2006/main">
            <a:off x="609600" y="6477000"/>
            <a:ext cx="3238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667085"/>
                </a:solidFill>
                <a:latin typeface="Aptos"/>
                <a:ea typeface="Aptos"/>
                <a:cs typeface="Aptos"/>
              </a:defRPr>
            </a:pPr>
            <a:r>
              <a:rPr sz="825" b="1">
                <a:solidFill>
                  <a:srgbClr val="667085"/>
                </a:solidFill>
                <a:latin typeface="Aptos"/>
                <a:ea typeface="Aptos"/>
                <a:cs typeface="Aptos"/>
              </a:rPr>
              <a:t>PROMPT EVOLUTION</a:t>
            </a:r>
          </a:p>
        </p:txBody>
      </p:sp>
      <p:sp>
        <p:nvSpPr>
          <p:cNvPr id="46" name="">
            <a:extLst xmlns:a="http://schemas.openxmlformats.org/drawingml/2006/main">
              <a:ext uri="{FF2B5EF4-FFF2-40B4-BE49-F238E27FC236}">
                <a16:creationId xmlns:a16="http://schemas.microsoft.com/office/drawing/2014/main" id="{163D3F3B-1FBB-417A-B5BA-505FBA38CFA9}"/>
              </a:ext>
            </a:extLst>
          </p:cNvPr>
          <p:cNvSpPr>
            <a:spLocks xmlns:a="http://schemas.openxmlformats.org/drawingml/2006/main" noGrp="1"/>
          </p:cNvSpPr>
          <p:nvPr/>
        </p:nvSpPr>
        <p:spPr>
          <a:xfrm xmlns:a="http://schemas.openxmlformats.org/drawingml/2006/main">
            <a:off x="11087100" y="6477000"/>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1">
                <a:solidFill>
                  <a:srgbClr val="334155"/>
                </a:solidFill>
              </a:rPr>
              <a:t>01</a:t>
            </a:r>
          </a:p>
        </p:txBody>
      </p:sp>
    </p:spTree>
    <p:extLst>
      <p:ext uri="{BB962C8B-B14F-4D97-AF65-F5344CB8AC3E}">
        <p14:creationId xmlns:p14="http://schemas.microsoft.com/office/powerpoint/2010/main" val="132542518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3AE63CA-FB1C-4F8F-8CB7-7A808E59D0A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6D868ED-8959-4E5F-8126-37515146550F}"/>
              </a:ext>
            </a:extLst>
          </p:cNvPr>
          <p:cNvSpPr>
            <a:spLocks xmlns:a="http://schemas.openxmlformats.org/drawingml/2006/main" noGrp="1"/>
          </p:cNvSpPr>
          <p:nvPr/>
        </p:nvSpPr>
        <p:spPr>
          <a:xfrm xmlns:a="http://schemas.openxmlformats.org/drawingml/2006/main">
            <a:off x="609600" y="495300"/>
            <a:ext cx="76200" cy="228600"/>
          </a:xfrm>
          <a:prstGeom xmlns:a="http://schemas.openxmlformats.org/drawingml/2006/main" prst="rect">
            <a:avLst/>
          </a:prstGeom>
          <a:solidFill xmlns:a="http://schemas.openxmlformats.org/drawingml/2006/main">
            <a:srgbClr val="6D28D9"/>
          </a:solidFill>
          <a:ln xmlns:a="http://schemas.openxmlformats.org/drawingml/2006/main" w="0">
            <a:solidFill>
              <a:srgbClr val="000000">
                <a:alpha val="0"/>
              </a:srgbClr>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38C24611-9AFA-4542-B682-0FD5C868974D}"/>
              </a:ext>
            </a:extLst>
          </p:cNvPr>
          <p:cNvSpPr>
            <a:spLocks xmlns:a="http://schemas.openxmlformats.org/drawingml/2006/main" noGrp="1"/>
          </p:cNvSpPr>
          <p:nvPr/>
        </p:nvSpPr>
        <p:spPr>
          <a:xfrm xmlns:a="http://schemas.openxmlformats.org/drawingml/2006/main">
            <a:off x="800100" y="4953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67085"/>
                </a:solidFill>
                <a:latin typeface="Aptos"/>
                <a:ea typeface="Aptos"/>
                <a:cs typeface="Aptos"/>
              </a:defRPr>
            </a:pPr>
            <a:r>
              <a:rPr sz="900" b="1">
                <a:solidFill>
                  <a:srgbClr val="667085"/>
                </a:solidFill>
                <a:latin typeface="Aptos"/>
                <a:ea typeface="Aptos"/>
                <a:cs typeface="Aptos"/>
              </a:rPr>
              <a:t>COMPONENT FLOW</a:t>
            </a:r>
          </a:p>
        </p:txBody>
      </p:sp>
      <p:sp>
        <p:nvSpPr>
          <p:cNvPr id="4" name="">
            <a:extLst xmlns:a="http://schemas.openxmlformats.org/drawingml/2006/main">
              <a:ext uri="{FF2B5EF4-FFF2-40B4-BE49-F238E27FC236}">
                <a16:creationId xmlns:a16="http://schemas.microsoft.com/office/drawing/2014/main" id="{8C5785F1-14E4-4944-A576-7ED4AA8BFA24}"/>
              </a:ext>
            </a:extLst>
          </p:cNvPr>
          <p:cNvSpPr>
            <a:spLocks xmlns:a="http://schemas.openxmlformats.org/drawingml/2006/main" noGrp="1"/>
          </p:cNvSpPr>
          <p:nvPr/>
        </p:nvSpPr>
        <p:spPr>
          <a:xfrm xmlns:a="http://schemas.openxmlformats.org/drawingml/2006/main">
            <a:off x="609600" y="819150"/>
            <a:ext cx="100965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01820"/>
                </a:solidFill>
                <a:latin typeface="Aptos Display"/>
                <a:ea typeface="Aptos Display"/>
                <a:cs typeface="Aptos Display"/>
              </a:defRPr>
            </a:pPr>
            <a:r>
              <a:rPr sz="2850" b="1">
                <a:solidFill>
                  <a:srgbClr val="101820"/>
                </a:solidFill>
                <a:latin typeface="Aptos Display"/>
                <a:ea typeface="Aptos Display"/>
                <a:cs typeface="Aptos Display"/>
              </a:rPr>
              <a:t>Each layer has a clear job in the prompt pipeline.</a:t>
            </a:r>
          </a:p>
        </p:txBody>
      </p:sp>
      <p:sp>
        <p:nvSpPr>
          <p:cNvPr id="5" name="">
            <a:extLst xmlns:a="http://schemas.openxmlformats.org/drawingml/2006/main">
              <a:ext uri="{FF2B5EF4-FFF2-40B4-BE49-F238E27FC236}">
                <a16:creationId xmlns:a16="http://schemas.microsoft.com/office/drawing/2014/main" id="{E72BAB7F-0E43-4997-BE0A-DD4B2A1B5E49}"/>
              </a:ext>
            </a:extLst>
          </p:cNvPr>
          <p:cNvSpPr>
            <a:spLocks xmlns:a="http://schemas.openxmlformats.org/drawingml/2006/main" noGrp="1"/>
          </p:cNvSpPr>
          <p:nvPr/>
        </p:nvSpPr>
        <p:spPr>
          <a:xfrm xmlns:a="http://schemas.openxmlformats.org/drawingml/2006/main">
            <a:off x="609600" y="1962150"/>
            <a:ext cx="1028700" cy="704850"/>
          </a:xfrm>
          <a:prstGeom xmlns:a="http://schemas.openxmlformats.org/drawingml/2006/main" prst="rect">
            <a:avLst/>
          </a:prstGeom>
          <a:solidFill xmlns:a="http://schemas.openxmlformats.org/drawingml/2006/main">
            <a:srgbClr val="FFFFFF"/>
          </a:solidFill>
          <a:ln xmlns:a="http://schemas.openxmlformats.org/drawingml/2006/main" w="15240">
            <a:solidFill>
              <a:srgbClr val="6D28D9"/>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EFDDA63-E40F-4BCF-87A9-8190B08D56D4}"/>
              </a:ext>
            </a:extLst>
          </p:cNvPr>
          <p:cNvSpPr>
            <a:spLocks xmlns:a="http://schemas.openxmlformats.org/drawingml/2006/main" noGrp="1"/>
          </p:cNvSpPr>
          <p:nvPr/>
        </p:nvSpPr>
        <p:spPr>
          <a:xfrm xmlns:a="http://schemas.openxmlformats.org/drawingml/2006/main">
            <a:off x="609600" y="1962150"/>
            <a:ext cx="1028700" cy="66675"/>
          </a:xfrm>
          <a:prstGeom xmlns:a="http://schemas.openxmlformats.org/drawingml/2006/main" prst="rect">
            <a:avLst/>
          </a:prstGeom>
          <a:solidFill xmlns:a="http://schemas.openxmlformats.org/drawingml/2006/main">
            <a:srgbClr val="6D28D9"/>
          </a:solidFill>
          <a:ln xmlns:a="http://schemas.openxmlformats.org/drawingml/2006/main" w="0">
            <a:solidFill>
              <a:srgbClr val="000000">
                <a:alpha val="0"/>
              </a:srgbClr>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ABA8C366-B84B-43B3-8C57-29BFDF5E1574}"/>
              </a:ext>
            </a:extLst>
          </p:cNvPr>
          <p:cNvSpPr>
            <a:spLocks xmlns:a="http://schemas.openxmlformats.org/drawingml/2006/main" noGrp="1"/>
          </p:cNvSpPr>
          <p:nvPr/>
        </p:nvSpPr>
        <p:spPr>
          <a:xfrm xmlns:a="http://schemas.openxmlformats.org/drawingml/2006/main">
            <a:off x="704850" y="2133600"/>
            <a:ext cx="838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55" b="1">
                <a:solidFill>
                  <a:srgbClr val="101820"/>
                </a:solidFill>
                <a:latin typeface="Aptos"/>
                <a:ea typeface="Aptos"/>
                <a:cs typeface="Aptos"/>
              </a:defRPr>
            </a:pPr>
            <a:r>
              <a:rPr sz="855" b="1">
                <a:solidFill>
                  <a:srgbClr val="101820"/>
                </a:solidFill>
                <a:latin typeface="Aptos"/>
                <a:ea typeface="Aptos"/>
                <a:cs typeface="Aptos"/>
              </a:rPr>
              <a:t>SWE-bench Pro</a:t>
            </a:r>
          </a:p>
        </p:txBody>
      </p:sp>
      <p:sp>
        <p:nvSpPr>
          <p:cNvPr id="8" name="">
            <a:extLst xmlns:a="http://schemas.openxmlformats.org/drawingml/2006/main">
              <a:ext uri="{FF2B5EF4-FFF2-40B4-BE49-F238E27FC236}">
                <a16:creationId xmlns:a16="http://schemas.microsoft.com/office/drawing/2014/main" id="{FE289630-A11B-44D1-BA8E-279ECC3F561B}"/>
              </a:ext>
            </a:extLst>
          </p:cNvPr>
          <p:cNvSpPr>
            <a:spLocks xmlns:a="http://schemas.openxmlformats.org/drawingml/2006/main" noGrp="1"/>
          </p:cNvSpPr>
          <p:nvPr/>
        </p:nvSpPr>
        <p:spPr>
          <a:xfrm xmlns:a="http://schemas.openxmlformats.org/drawingml/2006/main">
            <a:off x="704850" y="2371725"/>
            <a:ext cx="838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8" b="0">
                <a:solidFill>
                  <a:srgbClr val="334155"/>
                </a:solidFill>
                <a:latin typeface="Aptos"/>
                <a:ea typeface="Aptos"/>
                <a:cs typeface="Aptos"/>
              </a:defRPr>
            </a:pPr>
            <a:r>
              <a:rPr sz="698" b="0">
                <a:solidFill>
                  <a:srgbClr val="334155"/>
                </a:solidFill>
                <a:latin typeface="Aptos"/>
                <a:ea typeface="Aptos"/>
                <a:cs typeface="Aptos"/>
              </a:rPr>
              <a:t>real coding task</a:t>
            </a:r>
          </a:p>
        </p:txBody>
      </p:sp>
      <p:sp>
        <p:nvSpPr>
          <p:cNvPr id="9" name="">
            <a:extLst xmlns:a="http://schemas.openxmlformats.org/drawingml/2006/main">
              <a:ext uri="{FF2B5EF4-FFF2-40B4-BE49-F238E27FC236}">
                <a16:creationId xmlns:a16="http://schemas.microsoft.com/office/drawing/2014/main" id="{24B445FA-6BFE-4322-8CBB-EDB023ACE34C}"/>
              </a:ext>
            </a:extLst>
          </p:cNvPr>
          <p:cNvSpPr>
            <a:spLocks xmlns:a="http://schemas.openxmlformats.org/drawingml/2006/main" noGrp="1"/>
          </p:cNvSpPr>
          <p:nvPr/>
        </p:nvSpPr>
        <p:spPr>
          <a:xfrm xmlns:a="http://schemas.openxmlformats.org/drawingml/2006/main">
            <a:off x="1628775" y="2238375"/>
            <a:ext cx="1143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6D28D9"/>
                </a:solidFill>
                <a:latin typeface="Aptos Mono"/>
                <a:ea typeface="Aptos Mono"/>
                <a:cs typeface="Aptos Mono"/>
              </a:defRPr>
            </a:pPr>
            <a:r>
              <a:rPr sz="863" b="1">
                <a:solidFill>
                  <a:srgbClr val="6D28D9"/>
                </a:solidFill>
                <a:latin typeface="Aptos Mono"/>
                <a:ea typeface="Aptos Mono"/>
                <a:cs typeface="Aptos Mono"/>
              </a:rPr>
              <a:t>-&gt;</a:t>
            </a:r>
          </a:p>
        </p:txBody>
      </p:sp>
      <p:sp>
        <p:nvSpPr>
          <p:cNvPr id="10" name="">
            <a:extLst xmlns:a="http://schemas.openxmlformats.org/drawingml/2006/main">
              <a:ext uri="{FF2B5EF4-FFF2-40B4-BE49-F238E27FC236}">
                <a16:creationId xmlns:a16="http://schemas.microsoft.com/office/drawing/2014/main" id="{1759BF2F-268B-4911-B387-E743E41C892D}"/>
              </a:ext>
            </a:extLst>
          </p:cNvPr>
          <p:cNvSpPr>
            <a:spLocks xmlns:a="http://schemas.openxmlformats.org/drawingml/2006/main" noGrp="1"/>
          </p:cNvSpPr>
          <p:nvPr/>
        </p:nvSpPr>
        <p:spPr>
          <a:xfrm xmlns:a="http://schemas.openxmlformats.org/drawingml/2006/main">
            <a:off x="1733550" y="1962150"/>
            <a:ext cx="1028700" cy="704850"/>
          </a:xfrm>
          <a:prstGeom xmlns:a="http://schemas.openxmlformats.org/drawingml/2006/main" prst="rect">
            <a:avLst/>
          </a:prstGeom>
          <a:solidFill xmlns:a="http://schemas.openxmlformats.org/drawingml/2006/main">
            <a:srgbClr val="FFFFFF"/>
          </a:solidFill>
          <a:ln xmlns:a="http://schemas.openxmlformats.org/drawingml/2006/main" w="15240">
            <a:solidFill>
              <a:srgbClr val="2563EB"/>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F4969148-F1F0-4D86-9414-16B5E240899B}"/>
              </a:ext>
            </a:extLst>
          </p:cNvPr>
          <p:cNvSpPr>
            <a:spLocks xmlns:a="http://schemas.openxmlformats.org/drawingml/2006/main" noGrp="1"/>
          </p:cNvSpPr>
          <p:nvPr/>
        </p:nvSpPr>
        <p:spPr>
          <a:xfrm xmlns:a="http://schemas.openxmlformats.org/drawingml/2006/main">
            <a:off x="1733550" y="1962150"/>
            <a:ext cx="1028700" cy="66675"/>
          </a:xfrm>
          <a:prstGeom xmlns:a="http://schemas.openxmlformats.org/drawingml/2006/main" prst="rect">
            <a:avLst/>
          </a:prstGeom>
          <a:solidFill xmlns:a="http://schemas.openxmlformats.org/drawingml/2006/main">
            <a:srgbClr val="2563EB"/>
          </a:solidFill>
          <a:ln xmlns:a="http://schemas.openxmlformats.org/drawingml/2006/main" w="0">
            <a:solidFill>
              <a:srgbClr val="000000">
                <a:alpha val="0"/>
              </a:srgbClr>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ACE051AF-AB48-489E-B6B4-695ACCEB52BA}"/>
              </a:ext>
            </a:extLst>
          </p:cNvPr>
          <p:cNvSpPr>
            <a:spLocks xmlns:a="http://schemas.openxmlformats.org/drawingml/2006/main" noGrp="1"/>
          </p:cNvSpPr>
          <p:nvPr/>
        </p:nvSpPr>
        <p:spPr>
          <a:xfrm xmlns:a="http://schemas.openxmlformats.org/drawingml/2006/main">
            <a:off x="1828800" y="2133600"/>
            <a:ext cx="838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55" b="1">
                <a:solidFill>
                  <a:srgbClr val="101820"/>
                </a:solidFill>
                <a:latin typeface="Aptos"/>
                <a:ea typeface="Aptos"/>
                <a:cs typeface="Aptos"/>
              </a:defRPr>
            </a:pPr>
            <a:r>
              <a:rPr sz="855" b="1">
                <a:solidFill>
                  <a:srgbClr val="101820"/>
                </a:solidFill>
                <a:latin typeface="Aptos"/>
                <a:ea typeface="Aptos"/>
                <a:cs typeface="Aptos"/>
              </a:rPr>
              <a:t>AgentBench</a:t>
            </a:r>
          </a:p>
        </p:txBody>
      </p:sp>
      <p:sp>
        <p:nvSpPr>
          <p:cNvPr id="13" name="">
            <a:extLst xmlns:a="http://schemas.openxmlformats.org/drawingml/2006/main">
              <a:ext uri="{FF2B5EF4-FFF2-40B4-BE49-F238E27FC236}">
                <a16:creationId xmlns:a16="http://schemas.microsoft.com/office/drawing/2014/main" id="{5A5FC35D-B2CB-4C4C-9867-B3597BF5834D}"/>
              </a:ext>
            </a:extLst>
          </p:cNvPr>
          <p:cNvSpPr>
            <a:spLocks xmlns:a="http://schemas.openxmlformats.org/drawingml/2006/main" noGrp="1"/>
          </p:cNvSpPr>
          <p:nvPr/>
        </p:nvSpPr>
        <p:spPr>
          <a:xfrm xmlns:a="http://schemas.openxmlformats.org/drawingml/2006/main">
            <a:off x="1828800" y="2371725"/>
            <a:ext cx="838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8" b="0">
                <a:solidFill>
                  <a:srgbClr val="334155"/>
                </a:solidFill>
                <a:latin typeface="Aptos"/>
                <a:ea typeface="Aptos"/>
                <a:cs typeface="Aptos"/>
              </a:defRPr>
            </a:pPr>
            <a:r>
              <a:rPr sz="698" b="0">
                <a:solidFill>
                  <a:srgbClr val="334155"/>
                </a:solidFill>
                <a:latin typeface="Aptos"/>
                <a:ea typeface="Aptos"/>
                <a:cs typeface="Aptos"/>
              </a:rPr>
              <a:t>loads task</a:t>
            </a:r>
          </a:p>
        </p:txBody>
      </p:sp>
      <p:sp>
        <p:nvSpPr>
          <p:cNvPr id="14" name="">
            <a:extLst xmlns:a="http://schemas.openxmlformats.org/drawingml/2006/main">
              <a:ext uri="{FF2B5EF4-FFF2-40B4-BE49-F238E27FC236}">
                <a16:creationId xmlns:a16="http://schemas.microsoft.com/office/drawing/2014/main" id="{A6B95218-A0A2-41BA-A75B-DBB9AABCC634}"/>
              </a:ext>
            </a:extLst>
          </p:cNvPr>
          <p:cNvSpPr>
            <a:spLocks xmlns:a="http://schemas.openxmlformats.org/drawingml/2006/main" noGrp="1"/>
          </p:cNvSpPr>
          <p:nvPr/>
        </p:nvSpPr>
        <p:spPr>
          <a:xfrm xmlns:a="http://schemas.openxmlformats.org/drawingml/2006/main">
            <a:off x="2752725" y="2238375"/>
            <a:ext cx="1143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2563EB"/>
                </a:solidFill>
                <a:latin typeface="Aptos Mono"/>
                <a:ea typeface="Aptos Mono"/>
                <a:cs typeface="Aptos Mono"/>
              </a:defRPr>
            </a:pPr>
            <a:r>
              <a:rPr sz="863" b="1">
                <a:solidFill>
                  <a:srgbClr val="2563EB"/>
                </a:solidFill>
                <a:latin typeface="Aptos Mono"/>
                <a:ea typeface="Aptos Mono"/>
                <a:cs typeface="Aptos Mono"/>
              </a:rPr>
              <a:t>-&gt;</a:t>
            </a:r>
          </a:p>
        </p:txBody>
      </p:sp>
      <p:sp>
        <p:nvSpPr>
          <p:cNvPr id="15" name="">
            <a:extLst xmlns:a="http://schemas.openxmlformats.org/drawingml/2006/main">
              <a:ext uri="{FF2B5EF4-FFF2-40B4-BE49-F238E27FC236}">
                <a16:creationId xmlns:a16="http://schemas.microsoft.com/office/drawing/2014/main" id="{C5CDC57A-40FB-4848-AB2D-C34DFE066361}"/>
              </a:ext>
            </a:extLst>
          </p:cNvPr>
          <p:cNvSpPr>
            <a:spLocks xmlns:a="http://schemas.openxmlformats.org/drawingml/2006/main" noGrp="1"/>
          </p:cNvSpPr>
          <p:nvPr/>
        </p:nvSpPr>
        <p:spPr>
          <a:xfrm xmlns:a="http://schemas.openxmlformats.org/drawingml/2006/main">
            <a:off x="2857500" y="1962150"/>
            <a:ext cx="1028700" cy="704850"/>
          </a:xfrm>
          <a:prstGeom xmlns:a="http://schemas.openxmlformats.org/drawingml/2006/main" prst="rect">
            <a:avLst/>
          </a:prstGeom>
          <a:solidFill xmlns:a="http://schemas.openxmlformats.org/drawingml/2006/main">
            <a:srgbClr val="FFFFFF"/>
          </a:solidFill>
          <a:ln xmlns:a="http://schemas.openxmlformats.org/drawingml/2006/main" w="15240">
            <a:solidFill>
              <a:srgbClr val="1D4ED8"/>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E08B8B13-B880-48B9-B131-87459F594A78}"/>
              </a:ext>
            </a:extLst>
          </p:cNvPr>
          <p:cNvSpPr>
            <a:spLocks xmlns:a="http://schemas.openxmlformats.org/drawingml/2006/main" noGrp="1"/>
          </p:cNvSpPr>
          <p:nvPr/>
        </p:nvSpPr>
        <p:spPr>
          <a:xfrm xmlns:a="http://schemas.openxmlformats.org/drawingml/2006/main">
            <a:off x="2857500" y="1962150"/>
            <a:ext cx="1028700" cy="66675"/>
          </a:xfrm>
          <a:prstGeom xmlns:a="http://schemas.openxmlformats.org/drawingml/2006/main" prst="rect">
            <a:avLst/>
          </a:prstGeom>
          <a:solidFill xmlns:a="http://schemas.openxmlformats.org/drawingml/2006/main">
            <a:srgbClr val="1D4ED8"/>
          </a:solidFill>
          <a:ln xmlns:a="http://schemas.openxmlformats.org/drawingml/2006/main" w="0">
            <a:solidFill>
              <a:srgbClr val="000000">
                <a:alpha val="0"/>
              </a:srgbClr>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9BB7CE75-5EE1-49B8-B0DD-BD3E585A77C5}"/>
              </a:ext>
            </a:extLst>
          </p:cNvPr>
          <p:cNvSpPr>
            <a:spLocks xmlns:a="http://schemas.openxmlformats.org/drawingml/2006/main" noGrp="1"/>
          </p:cNvSpPr>
          <p:nvPr/>
        </p:nvSpPr>
        <p:spPr>
          <a:xfrm xmlns:a="http://schemas.openxmlformats.org/drawingml/2006/main">
            <a:off x="2952750" y="2133600"/>
            <a:ext cx="838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wrap="square"/>
          <a:lstStyle xmlns:a="http://schemas.openxmlformats.org/drawingml/2006/main"/>
          <a:p xmlns:a="http://schemas.openxmlformats.org/drawingml/2006/main">
            <a:pPr algn="l">
              <a:defRPr sz="773" b="1">
                <a:solidFill>
                  <a:srgbClr val="101820"/>
                </a:solidFill>
                <a:latin typeface="Aptos"/>
                <a:ea typeface="Aptos"/>
                <a:cs typeface="Aptos"/>
              </a:defRPr>
            </a:pPr>
            <a:r>
              <a:rPr sz="703" b="1">
                <a:solidFill>
                  <a:srgbClr val="101820"/>
                </a:solidFill>
                <a:latin typeface="Aptos"/>
                <a:ea typeface="Aptos"/>
                <a:cs typeface="Aptos"/>
              </a:rPr>
              <a:t>Prompt Builder (local helper script)</a:t>
            </a:r>
          </a:p>
        </p:txBody>
      </p:sp>
      <p:sp>
        <p:nvSpPr>
          <p:cNvPr id="18" name="">
            <a:extLst xmlns:a="http://schemas.openxmlformats.org/drawingml/2006/main">
              <a:ext uri="{FF2B5EF4-FFF2-40B4-BE49-F238E27FC236}">
                <a16:creationId xmlns:a16="http://schemas.microsoft.com/office/drawing/2014/main" id="{19E92004-A49B-491B-BF9D-D5074543E8E9}"/>
              </a:ext>
            </a:extLst>
          </p:cNvPr>
          <p:cNvSpPr>
            <a:spLocks xmlns:a="http://schemas.openxmlformats.org/drawingml/2006/main" noGrp="1"/>
          </p:cNvSpPr>
          <p:nvPr/>
        </p:nvSpPr>
        <p:spPr>
          <a:xfrm xmlns:a="http://schemas.openxmlformats.org/drawingml/2006/main">
            <a:off x="2952750" y="2371725"/>
            <a:ext cx="838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8" b="0">
                <a:solidFill>
                  <a:srgbClr val="334155"/>
                </a:solidFill>
                <a:latin typeface="Aptos"/>
                <a:ea typeface="Aptos"/>
                <a:cs typeface="Aptos"/>
              </a:defRPr>
            </a:pPr>
            <a:r>
              <a:rPr sz="698" b="0">
                <a:solidFill>
                  <a:srgbClr val="334155"/>
                </a:solidFill>
                <a:latin typeface="Aptos"/>
                <a:ea typeface="Aptos"/>
                <a:cs typeface="Aptos"/>
              </a:rPr>
              <a:t>writes prompt</a:t>
            </a:r>
          </a:p>
        </p:txBody>
      </p:sp>
      <p:sp>
        <p:nvSpPr>
          <p:cNvPr id="19" name="">
            <a:extLst xmlns:a="http://schemas.openxmlformats.org/drawingml/2006/main">
              <a:ext uri="{FF2B5EF4-FFF2-40B4-BE49-F238E27FC236}">
                <a16:creationId xmlns:a16="http://schemas.microsoft.com/office/drawing/2014/main" id="{2FF9094C-69D3-47C2-B013-D4BA103D63BF}"/>
              </a:ext>
            </a:extLst>
          </p:cNvPr>
          <p:cNvSpPr>
            <a:spLocks xmlns:a="http://schemas.openxmlformats.org/drawingml/2006/main" noGrp="1"/>
          </p:cNvSpPr>
          <p:nvPr/>
        </p:nvSpPr>
        <p:spPr>
          <a:xfrm xmlns:a="http://schemas.openxmlformats.org/drawingml/2006/main">
            <a:off x="3876675" y="2238375"/>
            <a:ext cx="1143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1D4ED8"/>
                </a:solidFill>
                <a:latin typeface="Aptos Mono"/>
                <a:ea typeface="Aptos Mono"/>
                <a:cs typeface="Aptos Mono"/>
              </a:defRPr>
            </a:pPr>
            <a:r>
              <a:rPr sz="863" b="1">
                <a:solidFill>
                  <a:srgbClr val="1D4ED8"/>
                </a:solidFill>
                <a:latin typeface="Aptos Mono"/>
                <a:ea typeface="Aptos Mono"/>
                <a:cs typeface="Aptos Mono"/>
              </a:rPr>
              <a:t>-&gt;</a:t>
            </a:r>
          </a:p>
        </p:txBody>
      </p:sp>
      <p:sp>
        <p:nvSpPr>
          <p:cNvPr id="20" name="">
            <a:extLst xmlns:a="http://schemas.openxmlformats.org/drawingml/2006/main">
              <a:ext uri="{FF2B5EF4-FFF2-40B4-BE49-F238E27FC236}">
                <a16:creationId xmlns:a16="http://schemas.microsoft.com/office/drawing/2014/main" id="{48CAC7D7-24B9-4ACC-B373-2D6AEB7A615E}"/>
              </a:ext>
            </a:extLst>
          </p:cNvPr>
          <p:cNvSpPr>
            <a:spLocks xmlns:a="http://schemas.openxmlformats.org/drawingml/2006/main" noGrp="1"/>
          </p:cNvSpPr>
          <p:nvPr/>
        </p:nvSpPr>
        <p:spPr>
          <a:xfrm xmlns:a="http://schemas.openxmlformats.org/drawingml/2006/main">
            <a:off x="3981450" y="1962150"/>
            <a:ext cx="1028700" cy="704850"/>
          </a:xfrm>
          <a:prstGeom xmlns:a="http://schemas.openxmlformats.org/drawingml/2006/main" prst="rect">
            <a:avLst/>
          </a:prstGeom>
          <a:solidFill xmlns:a="http://schemas.openxmlformats.org/drawingml/2006/main">
            <a:srgbClr val="FFFFFF"/>
          </a:solidFill>
          <a:ln xmlns:a="http://schemas.openxmlformats.org/drawingml/2006/main" w="15240">
            <a:solidFill>
              <a:srgbClr val="D97706"/>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DDEBF90C-C4BF-4E16-BE1A-92FD3ED4617E}"/>
              </a:ext>
            </a:extLst>
          </p:cNvPr>
          <p:cNvSpPr>
            <a:spLocks xmlns:a="http://schemas.openxmlformats.org/drawingml/2006/main" noGrp="1"/>
          </p:cNvSpPr>
          <p:nvPr/>
        </p:nvSpPr>
        <p:spPr>
          <a:xfrm xmlns:a="http://schemas.openxmlformats.org/drawingml/2006/main">
            <a:off x="3981450" y="1962150"/>
            <a:ext cx="1028700" cy="66675"/>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AFAD2146-D969-41B0-9F46-137F6EAC6816}"/>
              </a:ext>
            </a:extLst>
          </p:cNvPr>
          <p:cNvSpPr>
            <a:spLocks xmlns:a="http://schemas.openxmlformats.org/drawingml/2006/main" noGrp="1"/>
          </p:cNvSpPr>
          <p:nvPr/>
        </p:nvSpPr>
        <p:spPr>
          <a:xfrm xmlns:a="http://schemas.openxmlformats.org/drawingml/2006/main">
            <a:off x="4076700" y="2133600"/>
            <a:ext cx="838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55" b="1">
                <a:solidFill>
                  <a:srgbClr val="101820"/>
                </a:solidFill>
                <a:latin typeface="Aptos"/>
                <a:ea typeface="Aptos"/>
                <a:cs typeface="Aptos"/>
              </a:defRPr>
            </a:pPr>
            <a:r>
              <a:rPr sz="855" b="1">
                <a:solidFill>
                  <a:srgbClr val="101820"/>
                </a:solidFill>
                <a:latin typeface="Aptos"/>
                <a:ea typeface="Aptos"/>
                <a:cs typeface="Aptos"/>
              </a:rPr>
              <a:t>Deep Agents</a:t>
            </a:r>
          </a:p>
        </p:txBody>
      </p:sp>
      <p:sp>
        <p:nvSpPr>
          <p:cNvPr id="23" name="">
            <a:extLst xmlns:a="http://schemas.openxmlformats.org/drawingml/2006/main">
              <a:ext uri="{FF2B5EF4-FFF2-40B4-BE49-F238E27FC236}">
                <a16:creationId xmlns:a16="http://schemas.microsoft.com/office/drawing/2014/main" id="{650A0AE9-28E7-4024-B3D4-6C366F8087E8}"/>
              </a:ext>
            </a:extLst>
          </p:cNvPr>
          <p:cNvSpPr>
            <a:spLocks xmlns:a="http://schemas.openxmlformats.org/drawingml/2006/main" noGrp="1"/>
          </p:cNvSpPr>
          <p:nvPr/>
        </p:nvSpPr>
        <p:spPr>
          <a:xfrm xmlns:a="http://schemas.openxmlformats.org/drawingml/2006/main">
            <a:off x="4076700" y="2371725"/>
            <a:ext cx="838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8" b="0">
                <a:solidFill>
                  <a:srgbClr val="334155"/>
                </a:solidFill>
                <a:latin typeface="Aptos"/>
                <a:ea typeface="Aptos"/>
                <a:cs typeface="Aptos"/>
              </a:defRPr>
            </a:pPr>
            <a:r>
              <a:rPr sz="698" b="0">
                <a:solidFill>
                  <a:srgbClr val="334155"/>
                </a:solidFill>
                <a:latin typeface="Aptos"/>
                <a:ea typeface="Aptos"/>
                <a:cs typeface="Aptos"/>
              </a:rPr>
              <a:t>agent behavior</a:t>
            </a:r>
          </a:p>
        </p:txBody>
      </p:sp>
      <p:sp>
        <p:nvSpPr>
          <p:cNvPr id="24" name="">
            <a:extLst xmlns:a="http://schemas.openxmlformats.org/drawingml/2006/main">
              <a:ext uri="{FF2B5EF4-FFF2-40B4-BE49-F238E27FC236}">
                <a16:creationId xmlns:a16="http://schemas.microsoft.com/office/drawing/2014/main" id="{D0940536-4854-414F-98AC-B1E5D2FDC8D8}"/>
              </a:ext>
            </a:extLst>
          </p:cNvPr>
          <p:cNvSpPr>
            <a:spLocks xmlns:a="http://schemas.openxmlformats.org/drawingml/2006/main" noGrp="1"/>
          </p:cNvSpPr>
          <p:nvPr/>
        </p:nvSpPr>
        <p:spPr>
          <a:xfrm xmlns:a="http://schemas.openxmlformats.org/drawingml/2006/main">
            <a:off x="5000625" y="2238375"/>
            <a:ext cx="1143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D97706"/>
                </a:solidFill>
                <a:latin typeface="Aptos Mono"/>
                <a:ea typeface="Aptos Mono"/>
                <a:cs typeface="Aptos Mono"/>
              </a:defRPr>
            </a:pPr>
            <a:r>
              <a:rPr sz="863" b="1">
                <a:solidFill>
                  <a:srgbClr val="D97706"/>
                </a:solidFill>
                <a:latin typeface="Aptos Mono"/>
                <a:ea typeface="Aptos Mono"/>
                <a:cs typeface="Aptos Mono"/>
              </a:rPr>
              <a:t>-&gt;</a:t>
            </a:r>
          </a:p>
        </p:txBody>
      </p:sp>
      <p:sp>
        <p:nvSpPr>
          <p:cNvPr id="25" name="">
            <a:extLst xmlns:a="http://schemas.openxmlformats.org/drawingml/2006/main">
              <a:ext uri="{FF2B5EF4-FFF2-40B4-BE49-F238E27FC236}">
                <a16:creationId xmlns:a16="http://schemas.microsoft.com/office/drawing/2014/main" id="{965E0773-2D44-431F-9003-382F0B45FC48}"/>
              </a:ext>
            </a:extLst>
          </p:cNvPr>
          <p:cNvSpPr>
            <a:spLocks xmlns:a="http://schemas.openxmlformats.org/drawingml/2006/main" noGrp="1"/>
          </p:cNvSpPr>
          <p:nvPr/>
        </p:nvSpPr>
        <p:spPr>
          <a:xfrm xmlns:a="http://schemas.openxmlformats.org/drawingml/2006/main">
            <a:off x="5105400" y="1962150"/>
            <a:ext cx="1028700" cy="704850"/>
          </a:xfrm>
          <a:prstGeom xmlns:a="http://schemas.openxmlformats.org/drawingml/2006/main" prst="rect">
            <a:avLst/>
          </a:prstGeom>
          <a:solidFill xmlns:a="http://schemas.openxmlformats.org/drawingml/2006/main">
            <a:srgbClr val="FFFFFF"/>
          </a:solidFill>
          <a:ln xmlns:a="http://schemas.openxmlformats.org/drawingml/2006/main" w="15240">
            <a:solidFill>
              <a:srgbClr val="0F9F6E"/>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0822E934-9E79-42D7-A224-385484AEFE24}"/>
              </a:ext>
            </a:extLst>
          </p:cNvPr>
          <p:cNvSpPr>
            <a:spLocks xmlns:a="http://schemas.openxmlformats.org/drawingml/2006/main" noGrp="1"/>
          </p:cNvSpPr>
          <p:nvPr/>
        </p:nvSpPr>
        <p:spPr>
          <a:xfrm xmlns:a="http://schemas.openxmlformats.org/drawingml/2006/main">
            <a:off x="5105400" y="1962150"/>
            <a:ext cx="1028700" cy="66675"/>
          </a:xfrm>
          <a:prstGeom xmlns:a="http://schemas.openxmlformats.org/drawingml/2006/main" prst="rect">
            <a:avLst/>
          </a:prstGeom>
          <a:solidFill xmlns:a="http://schemas.openxmlformats.org/drawingml/2006/main">
            <a:srgbClr val="0F9F6E"/>
          </a:solidFill>
          <a:ln xmlns:a="http://schemas.openxmlformats.org/drawingml/2006/main" w="0">
            <a:solidFill>
              <a:srgbClr val="000000">
                <a:alpha val="0"/>
              </a:srgbClr>
            </a:solidFill>
            <a:prstDash val="solid"/>
          </a:ln>
        </p:spPr>
        <p:txBody xmlns:a="http://schemas.openxmlformats.org/drawingml/2006/main">
          <a:bodyPr/>
          <a:p/>
        </p:txBody>
      </p:sp>
      <p:sp>
        <p:nvSpPr>
          <p:cNvPr id="27" name="">
            <a:extLst xmlns:a="http://schemas.openxmlformats.org/drawingml/2006/main">
              <a:ext uri="{FF2B5EF4-FFF2-40B4-BE49-F238E27FC236}">
                <a16:creationId xmlns:a16="http://schemas.microsoft.com/office/drawing/2014/main" id="{28FDB612-75BB-406A-B6A1-1B6DD73D77E6}"/>
              </a:ext>
            </a:extLst>
          </p:cNvPr>
          <p:cNvSpPr>
            <a:spLocks xmlns:a="http://schemas.openxmlformats.org/drawingml/2006/main" noGrp="1"/>
          </p:cNvSpPr>
          <p:nvPr/>
        </p:nvSpPr>
        <p:spPr>
          <a:xfrm xmlns:a="http://schemas.openxmlformats.org/drawingml/2006/main">
            <a:off x="5200650" y="2133600"/>
            <a:ext cx="838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73" b="1">
                <a:solidFill>
                  <a:srgbClr val="101820"/>
                </a:solidFill>
                <a:latin typeface="Aptos"/>
                <a:ea typeface="Aptos"/>
                <a:cs typeface="Aptos"/>
              </a:defRPr>
            </a:pPr>
            <a:r>
              <a:rPr sz="773" b="1">
                <a:solidFill>
                  <a:srgbClr val="101820"/>
                </a:solidFill>
                <a:latin typeface="Aptos"/>
                <a:ea typeface="Aptos"/>
                <a:cs typeface="Aptos"/>
              </a:rPr>
              <a:t>Dynamo Frontend</a:t>
            </a:r>
          </a:p>
        </p:txBody>
      </p:sp>
      <p:sp>
        <p:nvSpPr>
          <p:cNvPr id="28" name="">
            <a:extLst xmlns:a="http://schemas.openxmlformats.org/drawingml/2006/main">
              <a:ext uri="{FF2B5EF4-FFF2-40B4-BE49-F238E27FC236}">
                <a16:creationId xmlns:a16="http://schemas.microsoft.com/office/drawing/2014/main" id="{8A83EF6E-87AF-4ED4-B422-F4CAFFBF92C9}"/>
              </a:ext>
            </a:extLst>
          </p:cNvPr>
          <p:cNvSpPr>
            <a:spLocks xmlns:a="http://schemas.openxmlformats.org/drawingml/2006/main" noGrp="1"/>
          </p:cNvSpPr>
          <p:nvPr/>
        </p:nvSpPr>
        <p:spPr>
          <a:xfrm xmlns:a="http://schemas.openxmlformats.org/drawingml/2006/main">
            <a:off x="5200650" y="2371725"/>
            <a:ext cx="838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8" b="0">
                <a:solidFill>
                  <a:srgbClr val="334155"/>
                </a:solidFill>
                <a:latin typeface="Aptos"/>
                <a:ea typeface="Aptos"/>
                <a:cs typeface="Aptos"/>
              </a:defRPr>
            </a:pPr>
            <a:r>
              <a:rPr sz="698" b="0">
                <a:solidFill>
                  <a:srgbClr val="334155"/>
                </a:solidFill>
                <a:latin typeface="Aptos"/>
                <a:ea typeface="Aptos"/>
                <a:cs typeface="Aptos"/>
              </a:rPr>
              <a:t>prepares request</a:t>
            </a:r>
          </a:p>
        </p:txBody>
      </p:sp>
      <p:sp>
        <p:nvSpPr>
          <p:cNvPr id="29" name="">
            <a:extLst xmlns:a="http://schemas.openxmlformats.org/drawingml/2006/main">
              <a:ext uri="{FF2B5EF4-FFF2-40B4-BE49-F238E27FC236}">
                <a16:creationId xmlns:a16="http://schemas.microsoft.com/office/drawing/2014/main" id="{11B2345D-0E00-4154-8FE7-FB186445DC4D}"/>
              </a:ext>
            </a:extLst>
          </p:cNvPr>
          <p:cNvSpPr>
            <a:spLocks xmlns:a="http://schemas.openxmlformats.org/drawingml/2006/main" noGrp="1"/>
          </p:cNvSpPr>
          <p:nvPr/>
        </p:nvSpPr>
        <p:spPr>
          <a:xfrm xmlns:a="http://schemas.openxmlformats.org/drawingml/2006/main">
            <a:off x="6124575" y="2238375"/>
            <a:ext cx="1143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0F9F6E"/>
                </a:solidFill>
                <a:latin typeface="Aptos Mono"/>
                <a:ea typeface="Aptos Mono"/>
                <a:cs typeface="Aptos Mono"/>
              </a:defRPr>
            </a:pPr>
            <a:r>
              <a:rPr sz="863" b="1">
                <a:solidFill>
                  <a:srgbClr val="0F9F6E"/>
                </a:solidFill>
                <a:latin typeface="Aptos Mono"/>
                <a:ea typeface="Aptos Mono"/>
                <a:cs typeface="Aptos Mono"/>
              </a:rPr>
              <a:t>-&gt;</a:t>
            </a:r>
          </a:p>
        </p:txBody>
      </p:sp>
      <p:sp>
        <p:nvSpPr>
          <p:cNvPr id="30" name="">
            <a:extLst xmlns:a="http://schemas.openxmlformats.org/drawingml/2006/main">
              <a:ext uri="{FF2B5EF4-FFF2-40B4-BE49-F238E27FC236}">
                <a16:creationId xmlns:a16="http://schemas.microsoft.com/office/drawing/2014/main" id="{ACA9DE1F-2A4A-47DB-85BE-B229A3396A9D}"/>
              </a:ext>
            </a:extLst>
          </p:cNvPr>
          <p:cNvSpPr>
            <a:spLocks xmlns:a="http://schemas.openxmlformats.org/drawingml/2006/main" noGrp="1"/>
          </p:cNvSpPr>
          <p:nvPr/>
        </p:nvSpPr>
        <p:spPr>
          <a:xfrm xmlns:a="http://schemas.openxmlformats.org/drawingml/2006/main">
            <a:off x="6229350" y="1962150"/>
            <a:ext cx="1028700" cy="704850"/>
          </a:xfrm>
          <a:prstGeom xmlns:a="http://schemas.openxmlformats.org/drawingml/2006/main" prst="rect">
            <a:avLst/>
          </a:prstGeom>
          <a:solidFill xmlns:a="http://schemas.openxmlformats.org/drawingml/2006/main">
            <a:srgbClr val="FFFFFF"/>
          </a:solidFill>
          <a:ln xmlns:a="http://schemas.openxmlformats.org/drawingml/2006/main" w="15240">
            <a:solidFill>
              <a:srgbClr val="0F9F6E"/>
            </a:solidFill>
            <a:prstDash val="solid"/>
          </a:ln>
        </p:spPr>
        <p:txBody xmlns:a="http://schemas.openxmlformats.org/drawingml/2006/main">
          <a:bodyPr/>
          <a:p/>
        </p:txBody>
      </p:sp>
      <p:sp>
        <p:nvSpPr>
          <p:cNvPr id="31" name="">
            <a:extLst xmlns:a="http://schemas.openxmlformats.org/drawingml/2006/main">
              <a:ext uri="{FF2B5EF4-FFF2-40B4-BE49-F238E27FC236}">
                <a16:creationId xmlns:a16="http://schemas.microsoft.com/office/drawing/2014/main" id="{CD062C51-AFF4-4492-95A3-58D1668A4637}"/>
              </a:ext>
            </a:extLst>
          </p:cNvPr>
          <p:cNvSpPr>
            <a:spLocks xmlns:a="http://schemas.openxmlformats.org/drawingml/2006/main" noGrp="1"/>
          </p:cNvSpPr>
          <p:nvPr/>
        </p:nvSpPr>
        <p:spPr>
          <a:xfrm xmlns:a="http://schemas.openxmlformats.org/drawingml/2006/main">
            <a:off x="6229350" y="1962150"/>
            <a:ext cx="1028700" cy="66675"/>
          </a:xfrm>
          <a:prstGeom xmlns:a="http://schemas.openxmlformats.org/drawingml/2006/main" prst="rect">
            <a:avLst/>
          </a:prstGeom>
          <a:solidFill xmlns:a="http://schemas.openxmlformats.org/drawingml/2006/main">
            <a:srgbClr val="0F9F6E"/>
          </a:solidFill>
          <a:ln xmlns:a="http://schemas.openxmlformats.org/drawingml/2006/main" w="0">
            <a:solidFill>
              <a:srgbClr val="000000">
                <a:alpha val="0"/>
              </a:srgbClr>
            </a:solidFill>
            <a:prstDash val="solid"/>
          </a:ln>
        </p:spPr>
        <p:txBody xmlns:a="http://schemas.openxmlformats.org/drawingml/2006/main">
          <a:bodyPr/>
          <a:p/>
        </p:txBody>
      </p:sp>
      <p:sp>
        <p:nvSpPr>
          <p:cNvPr id="32" name="">
            <a:extLst xmlns:a="http://schemas.openxmlformats.org/drawingml/2006/main">
              <a:ext uri="{FF2B5EF4-FFF2-40B4-BE49-F238E27FC236}">
                <a16:creationId xmlns:a16="http://schemas.microsoft.com/office/drawing/2014/main" id="{4B506B86-11DC-4053-AB0F-5E9C30955870}"/>
              </a:ext>
            </a:extLst>
          </p:cNvPr>
          <p:cNvSpPr>
            <a:spLocks xmlns:a="http://schemas.openxmlformats.org/drawingml/2006/main" noGrp="1"/>
          </p:cNvSpPr>
          <p:nvPr/>
        </p:nvSpPr>
        <p:spPr>
          <a:xfrm xmlns:a="http://schemas.openxmlformats.org/drawingml/2006/main">
            <a:off x="6324600" y="2133600"/>
            <a:ext cx="838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55" b="1">
                <a:solidFill>
                  <a:srgbClr val="101820"/>
                </a:solidFill>
                <a:latin typeface="Aptos"/>
                <a:ea typeface="Aptos"/>
                <a:cs typeface="Aptos"/>
              </a:defRPr>
            </a:pPr>
            <a:r>
              <a:rPr sz="855" b="1">
                <a:solidFill>
                  <a:srgbClr val="101820"/>
                </a:solidFill>
                <a:latin typeface="Aptos"/>
                <a:ea typeface="Aptos"/>
                <a:cs typeface="Aptos"/>
              </a:rPr>
              <a:t>SGLang Worker</a:t>
            </a:r>
          </a:p>
        </p:txBody>
      </p:sp>
      <p:sp>
        <p:nvSpPr>
          <p:cNvPr id="33" name="">
            <a:extLst xmlns:a="http://schemas.openxmlformats.org/drawingml/2006/main">
              <a:ext uri="{FF2B5EF4-FFF2-40B4-BE49-F238E27FC236}">
                <a16:creationId xmlns:a16="http://schemas.microsoft.com/office/drawing/2014/main" id="{D94ADDE5-3D05-4AAC-9438-AB12BF4905CC}"/>
              </a:ext>
            </a:extLst>
          </p:cNvPr>
          <p:cNvSpPr>
            <a:spLocks xmlns:a="http://schemas.openxmlformats.org/drawingml/2006/main" noGrp="1"/>
          </p:cNvSpPr>
          <p:nvPr/>
        </p:nvSpPr>
        <p:spPr>
          <a:xfrm xmlns:a="http://schemas.openxmlformats.org/drawingml/2006/main">
            <a:off x="6324600" y="2371725"/>
            <a:ext cx="838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8" b="0">
                <a:solidFill>
                  <a:srgbClr val="334155"/>
                </a:solidFill>
                <a:latin typeface="Aptos"/>
                <a:ea typeface="Aptos"/>
                <a:cs typeface="Aptos"/>
              </a:defRPr>
            </a:pPr>
            <a:r>
              <a:rPr sz="698" b="0">
                <a:solidFill>
                  <a:srgbClr val="334155"/>
                </a:solidFill>
                <a:latin typeface="Aptos"/>
                <a:ea typeface="Aptos"/>
                <a:cs typeface="Aptos"/>
              </a:rPr>
              <a:t>runs model</a:t>
            </a:r>
          </a:p>
        </p:txBody>
      </p:sp>
      <p:sp>
        <p:nvSpPr>
          <p:cNvPr id="34" name="">
            <a:extLst xmlns:a="http://schemas.openxmlformats.org/drawingml/2006/main">
              <a:ext uri="{FF2B5EF4-FFF2-40B4-BE49-F238E27FC236}">
                <a16:creationId xmlns:a16="http://schemas.microsoft.com/office/drawing/2014/main" id="{7D7DA045-7D33-418E-9AFC-732E15AEEB80}"/>
              </a:ext>
            </a:extLst>
          </p:cNvPr>
          <p:cNvSpPr>
            <a:spLocks xmlns:a="http://schemas.openxmlformats.org/drawingml/2006/main" noGrp="1"/>
          </p:cNvSpPr>
          <p:nvPr/>
        </p:nvSpPr>
        <p:spPr>
          <a:xfrm xmlns:a="http://schemas.openxmlformats.org/drawingml/2006/main">
            <a:off x="7248525" y="2238375"/>
            <a:ext cx="1143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0F9F6E"/>
                </a:solidFill>
                <a:latin typeface="Aptos Mono"/>
                <a:ea typeface="Aptos Mono"/>
                <a:cs typeface="Aptos Mono"/>
              </a:defRPr>
            </a:pPr>
            <a:r>
              <a:rPr sz="863" b="1">
                <a:solidFill>
                  <a:srgbClr val="0F9F6E"/>
                </a:solidFill>
                <a:latin typeface="Aptos Mono"/>
                <a:ea typeface="Aptos Mono"/>
                <a:cs typeface="Aptos Mono"/>
              </a:rPr>
              <a:t>-&gt;</a:t>
            </a:r>
          </a:p>
        </p:txBody>
      </p:sp>
      <p:sp>
        <p:nvSpPr>
          <p:cNvPr id="35" name="">
            <a:extLst xmlns:a="http://schemas.openxmlformats.org/drawingml/2006/main">
              <a:ext uri="{FF2B5EF4-FFF2-40B4-BE49-F238E27FC236}">
                <a16:creationId xmlns:a16="http://schemas.microsoft.com/office/drawing/2014/main" id="{E35C46FE-5947-47AA-8478-18E39D23417D}"/>
              </a:ext>
            </a:extLst>
          </p:cNvPr>
          <p:cNvSpPr>
            <a:spLocks xmlns:a="http://schemas.openxmlformats.org/drawingml/2006/main" noGrp="1"/>
          </p:cNvSpPr>
          <p:nvPr/>
        </p:nvSpPr>
        <p:spPr>
          <a:xfrm xmlns:a="http://schemas.openxmlformats.org/drawingml/2006/main">
            <a:off x="7353300" y="1962150"/>
            <a:ext cx="1028700" cy="704850"/>
          </a:xfrm>
          <a:prstGeom xmlns:a="http://schemas.openxmlformats.org/drawingml/2006/main" prst="rect">
            <a:avLst/>
          </a:prstGeom>
          <a:solidFill xmlns:a="http://schemas.openxmlformats.org/drawingml/2006/main">
            <a:srgbClr val="FFFFFF"/>
          </a:solidFill>
          <a:ln xmlns:a="http://schemas.openxmlformats.org/drawingml/2006/main" w="15240">
            <a:solidFill>
              <a:srgbClr val="BE123C"/>
            </a:solidFill>
            <a:prstDash val="solid"/>
          </a:ln>
        </p:spPr>
        <p:txBody xmlns:a="http://schemas.openxmlformats.org/drawingml/2006/main">
          <a:bodyPr/>
          <a:p/>
        </p:txBody>
      </p:sp>
      <p:sp>
        <p:nvSpPr>
          <p:cNvPr id="36" name="">
            <a:extLst xmlns:a="http://schemas.openxmlformats.org/drawingml/2006/main">
              <a:ext uri="{FF2B5EF4-FFF2-40B4-BE49-F238E27FC236}">
                <a16:creationId xmlns:a16="http://schemas.microsoft.com/office/drawing/2014/main" id="{4C04F5C5-9DAF-40EA-8D6A-3F50E71FAD41}"/>
              </a:ext>
            </a:extLst>
          </p:cNvPr>
          <p:cNvSpPr>
            <a:spLocks xmlns:a="http://schemas.openxmlformats.org/drawingml/2006/main" noGrp="1"/>
          </p:cNvSpPr>
          <p:nvPr/>
        </p:nvSpPr>
        <p:spPr>
          <a:xfrm xmlns:a="http://schemas.openxmlformats.org/drawingml/2006/main">
            <a:off x="7353300" y="1962150"/>
            <a:ext cx="1028700" cy="66675"/>
          </a:xfrm>
          <a:prstGeom xmlns:a="http://schemas.openxmlformats.org/drawingml/2006/main" prst="rect">
            <a:avLst/>
          </a:prstGeom>
          <a:solidFill xmlns:a="http://schemas.openxmlformats.org/drawingml/2006/main">
            <a:srgbClr val="BE123C"/>
          </a:solidFill>
          <a:ln xmlns:a="http://schemas.openxmlformats.org/drawingml/2006/main" w="0">
            <a:solidFill>
              <a:srgbClr val="000000">
                <a:alpha val="0"/>
              </a:srgbClr>
            </a:solidFill>
            <a:prstDash val="solid"/>
          </a:ln>
        </p:spPr>
        <p:txBody xmlns:a="http://schemas.openxmlformats.org/drawingml/2006/main">
          <a:bodyPr/>
          <a:p/>
        </p:txBody>
      </p:sp>
      <p:sp>
        <p:nvSpPr>
          <p:cNvPr id="37" name="">
            <a:extLst xmlns:a="http://schemas.openxmlformats.org/drawingml/2006/main">
              <a:ext uri="{FF2B5EF4-FFF2-40B4-BE49-F238E27FC236}">
                <a16:creationId xmlns:a16="http://schemas.microsoft.com/office/drawing/2014/main" id="{F8C58E9A-3090-4FA4-B9F1-25C3E7C9A2AB}"/>
              </a:ext>
            </a:extLst>
          </p:cNvPr>
          <p:cNvSpPr>
            <a:spLocks xmlns:a="http://schemas.openxmlformats.org/drawingml/2006/main" noGrp="1"/>
          </p:cNvSpPr>
          <p:nvPr/>
        </p:nvSpPr>
        <p:spPr>
          <a:xfrm xmlns:a="http://schemas.openxmlformats.org/drawingml/2006/main">
            <a:off x="7448550" y="2133600"/>
            <a:ext cx="838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55" b="1">
                <a:solidFill>
                  <a:srgbClr val="101820"/>
                </a:solidFill>
                <a:latin typeface="Aptos"/>
                <a:ea typeface="Aptos"/>
                <a:cs typeface="Aptos"/>
              </a:defRPr>
            </a:pPr>
            <a:r>
              <a:rPr sz="855" b="1">
                <a:solidFill>
                  <a:srgbClr val="101820"/>
                </a:solidFill>
                <a:latin typeface="Aptos"/>
                <a:ea typeface="Aptos"/>
                <a:cs typeface="Aptos"/>
              </a:rPr>
              <a:t>Evidence</a:t>
            </a:r>
          </a:p>
        </p:txBody>
      </p:sp>
      <p:sp>
        <p:nvSpPr>
          <p:cNvPr id="38" name="">
            <a:extLst xmlns:a="http://schemas.openxmlformats.org/drawingml/2006/main">
              <a:ext uri="{FF2B5EF4-FFF2-40B4-BE49-F238E27FC236}">
                <a16:creationId xmlns:a16="http://schemas.microsoft.com/office/drawing/2014/main" id="{D8647F9E-945A-4027-BE4D-E7704E8205BD}"/>
              </a:ext>
            </a:extLst>
          </p:cNvPr>
          <p:cNvSpPr>
            <a:spLocks xmlns:a="http://schemas.openxmlformats.org/drawingml/2006/main" noGrp="1"/>
          </p:cNvSpPr>
          <p:nvPr/>
        </p:nvSpPr>
        <p:spPr>
          <a:xfrm xmlns:a="http://schemas.openxmlformats.org/drawingml/2006/main">
            <a:off x="7448550" y="2371725"/>
            <a:ext cx="838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8" b="0">
                <a:solidFill>
                  <a:srgbClr val="334155"/>
                </a:solidFill>
                <a:latin typeface="Aptos"/>
                <a:ea typeface="Aptos"/>
                <a:cs typeface="Aptos"/>
              </a:defRPr>
            </a:pPr>
            <a:r>
              <a:rPr sz="698" b="0">
                <a:solidFill>
                  <a:srgbClr val="334155"/>
                </a:solidFill>
                <a:latin typeface="Aptos"/>
                <a:ea typeface="Aptos"/>
                <a:cs typeface="Aptos"/>
              </a:rPr>
              <a:t>captures shape</a:t>
            </a:r>
          </a:p>
        </p:txBody>
      </p:sp>
      <p:sp>
        <p:nvSpPr>
          <p:cNvPr id="39" name="">
            <a:extLst xmlns:a="http://schemas.openxmlformats.org/drawingml/2006/main">
              <a:ext uri="{FF2B5EF4-FFF2-40B4-BE49-F238E27FC236}">
                <a16:creationId xmlns:a16="http://schemas.microsoft.com/office/drawing/2014/main" id="{1B724321-AEF7-4139-8F9E-9A4975FA866E}"/>
              </a:ext>
            </a:extLst>
          </p:cNvPr>
          <p:cNvSpPr>
            <a:spLocks xmlns:a="http://schemas.openxmlformats.org/drawingml/2006/main" noGrp="1"/>
          </p:cNvSpPr>
          <p:nvPr/>
        </p:nvSpPr>
        <p:spPr>
          <a:xfrm xmlns:a="http://schemas.openxmlformats.org/drawingml/2006/main">
            <a:off x="609600" y="3048000"/>
            <a:ext cx="7772400" cy="323850"/>
          </a:xfrm>
          <a:prstGeom xmlns:a="http://schemas.openxmlformats.org/drawingml/2006/main" prst="rect">
            <a:avLst/>
          </a:prstGeom>
          <a:solidFill xmlns:a="http://schemas.openxmlformats.org/drawingml/2006/main">
            <a:srgbClr val="FBF8F2"/>
          </a:solidFill>
          <a:ln xmlns:a="http://schemas.openxmlformats.org/drawingml/2006/main" w="0">
            <a:solidFill>
              <a:srgbClr val="000000">
                <a:alpha val="0"/>
              </a:srgbClr>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5BD4C947-1CA5-4CC5-AD56-A92DC771025A}"/>
              </a:ext>
            </a:extLst>
          </p:cNvPr>
          <p:cNvSpPr>
            <a:spLocks xmlns:a="http://schemas.openxmlformats.org/drawingml/2006/main" noGrp="1"/>
          </p:cNvSpPr>
          <p:nvPr/>
        </p:nvSpPr>
        <p:spPr>
          <a:xfrm xmlns:a="http://schemas.openxmlformats.org/drawingml/2006/main">
            <a:off x="609600" y="3048000"/>
            <a:ext cx="66675" cy="323850"/>
          </a:xfrm>
          <a:prstGeom xmlns:a="http://schemas.openxmlformats.org/drawingml/2006/main" prst="rect">
            <a:avLst/>
          </a:prstGeom>
          <a:solidFill xmlns:a="http://schemas.openxmlformats.org/drawingml/2006/main">
            <a:srgbClr val="6D28D9"/>
          </a:solidFill>
          <a:ln xmlns:a="http://schemas.openxmlformats.org/drawingml/2006/main" w="0">
            <a:solidFill>
              <a:srgbClr val="000000">
                <a:alpha val="0"/>
              </a:srgbClr>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88BF5821-167F-4A43-AB98-E2F143C33B66}"/>
              </a:ext>
            </a:extLst>
          </p:cNvPr>
          <p:cNvSpPr>
            <a:spLocks xmlns:a="http://schemas.openxmlformats.org/drawingml/2006/main" noGrp="1"/>
          </p:cNvSpPr>
          <p:nvPr/>
        </p:nvSpPr>
        <p:spPr>
          <a:xfrm xmlns:a="http://schemas.openxmlformats.org/drawingml/2006/main">
            <a:off x="781050" y="3114675"/>
            <a:ext cx="19240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48" b="1">
                <a:solidFill>
                  <a:srgbClr val="6D28D9"/>
                </a:solidFill>
                <a:latin typeface="Aptos"/>
                <a:ea typeface="Aptos"/>
                <a:cs typeface="Aptos"/>
              </a:defRPr>
            </a:pPr>
            <a:r>
              <a:rPr sz="848" b="1">
                <a:solidFill>
                  <a:srgbClr val="6D28D9"/>
                </a:solidFill>
                <a:latin typeface="Aptos"/>
                <a:ea typeface="Aptos"/>
                <a:cs typeface="Aptos"/>
              </a:rPr>
              <a:t>SWE-bench Pro Task</a:t>
            </a:r>
          </a:p>
        </p:txBody>
      </p:sp>
      <p:sp>
        <p:nvSpPr>
          <p:cNvPr id="42" name="">
            <a:extLst xmlns:a="http://schemas.openxmlformats.org/drawingml/2006/main">
              <a:ext uri="{FF2B5EF4-FFF2-40B4-BE49-F238E27FC236}">
                <a16:creationId xmlns:a16="http://schemas.microsoft.com/office/drawing/2014/main" id="{89EC1554-A5A9-4B7A-8439-915FA87E8866}"/>
              </a:ext>
            </a:extLst>
          </p:cNvPr>
          <p:cNvSpPr>
            <a:spLocks xmlns:a="http://schemas.openxmlformats.org/drawingml/2006/main" noGrp="1"/>
          </p:cNvSpPr>
          <p:nvPr/>
        </p:nvSpPr>
        <p:spPr>
          <a:xfrm xmlns:a="http://schemas.openxmlformats.org/drawingml/2006/main">
            <a:off x="2876550" y="3114675"/>
            <a:ext cx="52578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95" b="0">
                <a:solidFill>
                  <a:srgbClr val="334155"/>
                </a:solidFill>
                <a:latin typeface="Aptos"/>
                <a:ea typeface="Aptos"/>
                <a:cs typeface="Aptos"/>
              </a:defRPr>
            </a:pPr>
            <a:r>
              <a:rPr sz="795" b="0">
                <a:solidFill>
                  <a:srgbClr val="334155"/>
                </a:solidFill>
                <a:latin typeface="Aptos"/>
                <a:ea typeface="Aptos"/>
                <a:cs typeface="Aptos"/>
              </a:rPr>
              <a:t>Real software-engineering bug task with repo, tests, and expected behavior.</a:t>
            </a:r>
          </a:p>
        </p:txBody>
      </p:sp>
      <p:sp>
        <p:nvSpPr>
          <p:cNvPr id="43" name="">
            <a:extLst xmlns:a="http://schemas.openxmlformats.org/drawingml/2006/main">
              <a:ext uri="{FF2B5EF4-FFF2-40B4-BE49-F238E27FC236}">
                <a16:creationId xmlns:a16="http://schemas.microsoft.com/office/drawing/2014/main" id="{2D462F85-5D1A-42FD-AF02-F2279DCC3403}"/>
              </a:ext>
            </a:extLst>
          </p:cNvPr>
          <p:cNvSpPr>
            <a:spLocks xmlns:a="http://schemas.openxmlformats.org/drawingml/2006/main" noGrp="1"/>
          </p:cNvSpPr>
          <p:nvPr/>
        </p:nvSpPr>
        <p:spPr>
          <a:xfrm xmlns:a="http://schemas.openxmlformats.org/drawingml/2006/main">
            <a:off x="609600" y="3429000"/>
            <a:ext cx="7772400" cy="323850"/>
          </a:xfrm>
          <a:prstGeom xmlns:a="http://schemas.openxmlformats.org/drawingml/2006/main" prst="rect">
            <a:avLst/>
          </a:prstGeom>
          <a:solidFill xmlns:a="http://schemas.openxmlformats.org/drawingml/2006/main">
            <a:srgbClr val="F1EBE2"/>
          </a:solidFill>
          <a:ln xmlns:a="http://schemas.openxmlformats.org/drawingml/2006/main" w="0">
            <a:solidFill>
              <a:srgbClr val="000000">
                <a:alpha val="0"/>
              </a:srgbClr>
            </a:solidFill>
            <a:prstDash val="solid"/>
          </a:ln>
        </p:spPr>
        <p:txBody xmlns:a="http://schemas.openxmlformats.org/drawingml/2006/main">
          <a:bodyPr/>
          <a:p/>
        </p:txBody>
      </p:sp>
      <p:sp>
        <p:nvSpPr>
          <p:cNvPr id="44" name="">
            <a:extLst xmlns:a="http://schemas.openxmlformats.org/drawingml/2006/main">
              <a:ext uri="{FF2B5EF4-FFF2-40B4-BE49-F238E27FC236}">
                <a16:creationId xmlns:a16="http://schemas.microsoft.com/office/drawing/2014/main" id="{D38FDAAC-400D-4DD7-A196-A17CA3A5A086}"/>
              </a:ext>
            </a:extLst>
          </p:cNvPr>
          <p:cNvSpPr>
            <a:spLocks xmlns:a="http://schemas.openxmlformats.org/drawingml/2006/main" noGrp="1"/>
          </p:cNvSpPr>
          <p:nvPr/>
        </p:nvSpPr>
        <p:spPr>
          <a:xfrm xmlns:a="http://schemas.openxmlformats.org/drawingml/2006/main">
            <a:off x="609600" y="3429000"/>
            <a:ext cx="66675" cy="323850"/>
          </a:xfrm>
          <a:prstGeom xmlns:a="http://schemas.openxmlformats.org/drawingml/2006/main" prst="rect">
            <a:avLst/>
          </a:prstGeom>
          <a:solidFill xmlns:a="http://schemas.openxmlformats.org/drawingml/2006/main">
            <a:srgbClr val="2563EB"/>
          </a:solidFill>
          <a:ln xmlns:a="http://schemas.openxmlformats.org/drawingml/2006/main" w="0">
            <a:solidFill>
              <a:srgbClr val="000000">
                <a:alpha val="0"/>
              </a:srgbClr>
            </a:solidFill>
            <a:prstDash val="solid"/>
          </a:ln>
        </p:spPr>
        <p:txBody xmlns:a="http://schemas.openxmlformats.org/drawingml/2006/main">
          <a:bodyPr/>
          <a:p/>
        </p:txBody>
      </p:sp>
      <p:sp>
        <p:nvSpPr>
          <p:cNvPr id="45" name="">
            <a:extLst xmlns:a="http://schemas.openxmlformats.org/drawingml/2006/main">
              <a:ext uri="{FF2B5EF4-FFF2-40B4-BE49-F238E27FC236}">
                <a16:creationId xmlns:a16="http://schemas.microsoft.com/office/drawing/2014/main" id="{88EA730D-B7F3-45F0-8E2E-DB2DCCECFA9E}"/>
              </a:ext>
            </a:extLst>
          </p:cNvPr>
          <p:cNvSpPr>
            <a:spLocks xmlns:a="http://schemas.openxmlformats.org/drawingml/2006/main" noGrp="1"/>
          </p:cNvSpPr>
          <p:nvPr/>
        </p:nvSpPr>
        <p:spPr>
          <a:xfrm xmlns:a="http://schemas.openxmlformats.org/drawingml/2006/main">
            <a:off x="781050" y="3495675"/>
            <a:ext cx="19240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48" b="1">
                <a:solidFill>
                  <a:srgbClr val="2563EB"/>
                </a:solidFill>
                <a:latin typeface="Aptos"/>
                <a:ea typeface="Aptos"/>
                <a:cs typeface="Aptos"/>
              </a:defRPr>
            </a:pPr>
            <a:r>
              <a:rPr sz="848" b="1">
                <a:solidFill>
                  <a:srgbClr val="2563EB"/>
                </a:solidFill>
                <a:latin typeface="Aptos"/>
                <a:ea typeface="Aptos"/>
                <a:cs typeface="Aptos"/>
              </a:rPr>
              <a:t>AgentBench Bootstrap</a:t>
            </a:r>
          </a:p>
        </p:txBody>
      </p:sp>
      <p:sp>
        <p:nvSpPr>
          <p:cNvPr id="46" name="">
            <a:extLst xmlns:a="http://schemas.openxmlformats.org/drawingml/2006/main">
              <a:ext uri="{FF2B5EF4-FFF2-40B4-BE49-F238E27FC236}">
                <a16:creationId xmlns:a16="http://schemas.microsoft.com/office/drawing/2014/main" id="{8D273990-16D8-492C-B8BC-7F61CBD05D54}"/>
              </a:ext>
            </a:extLst>
          </p:cNvPr>
          <p:cNvSpPr>
            <a:spLocks xmlns:a="http://schemas.openxmlformats.org/drawingml/2006/main" noGrp="1"/>
          </p:cNvSpPr>
          <p:nvPr/>
        </p:nvSpPr>
        <p:spPr>
          <a:xfrm xmlns:a="http://schemas.openxmlformats.org/drawingml/2006/main">
            <a:off x="2876550" y="3495675"/>
            <a:ext cx="52578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95" b="0">
                <a:solidFill>
                  <a:srgbClr val="334155"/>
                </a:solidFill>
                <a:latin typeface="Aptos"/>
                <a:ea typeface="Aptos"/>
                <a:cs typeface="Aptos"/>
              </a:defRPr>
            </a:pPr>
            <a:r>
              <a:rPr sz="795" b="0">
                <a:solidFill>
                  <a:srgbClr val="334155"/>
                </a:solidFill>
                <a:latin typeface="Aptos"/>
                <a:ea typeface="Aptos"/>
                <a:cs typeface="Aptos"/>
              </a:rPr>
              <a:t>Our simple local harness that loads the benchmark task and prepares the workspace.</a:t>
            </a:r>
          </a:p>
        </p:txBody>
      </p:sp>
      <p:sp>
        <p:nvSpPr>
          <p:cNvPr id="47" name="">
            <a:extLst xmlns:a="http://schemas.openxmlformats.org/drawingml/2006/main">
              <a:ext uri="{FF2B5EF4-FFF2-40B4-BE49-F238E27FC236}">
                <a16:creationId xmlns:a16="http://schemas.microsoft.com/office/drawing/2014/main" id="{C782EA18-7213-4DC3-99C4-CF42D94AA606}"/>
              </a:ext>
            </a:extLst>
          </p:cNvPr>
          <p:cNvSpPr>
            <a:spLocks xmlns:a="http://schemas.openxmlformats.org/drawingml/2006/main" noGrp="1"/>
          </p:cNvSpPr>
          <p:nvPr/>
        </p:nvSpPr>
        <p:spPr>
          <a:xfrm xmlns:a="http://schemas.openxmlformats.org/drawingml/2006/main">
            <a:off x="609600" y="3810000"/>
            <a:ext cx="7772400" cy="323850"/>
          </a:xfrm>
          <a:prstGeom xmlns:a="http://schemas.openxmlformats.org/drawingml/2006/main" prst="rect">
            <a:avLst/>
          </a:prstGeom>
          <a:solidFill xmlns:a="http://schemas.openxmlformats.org/drawingml/2006/main">
            <a:srgbClr val="FBF8F2"/>
          </a:solidFill>
          <a:ln xmlns:a="http://schemas.openxmlformats.org/drawingml/2006/main" w="0">
            <a:solidFill>
              <a:srgbClr val="000000">
                <a:alpha val="0"/>
              </a:srgbClr>
            </a:solidFill>
            <a:prstDash val="solid"/>
          </a:ln>
        </p:spPr>
        <p:txBody xmlns:a="http://schemas.openxmlformats.org/drawingml/2006/main">
          <a:bodyPr/>
          <a:p/>
        </p:txBody>
      </p:sp>
      <p:sp>
        <p:nvSpPr>
          <p:cNvPr id="48" name="">
            <a:extLst xmlns:a="http://schemas.openxmlformats.org/drawingml/2006/main">
              <a:ext uri="{FF2B5EF4-FFF2-40B4-BE49-F238E27FC236}">
                <a16:creationId xmlns:a16="http://schemas.microsoft.com/office/drawing/2014/main" id="{28899718-3FA5-4FE0-AD0C-EDE9C5AFF027}"/>
              </a:ext>
            </a:extLst>
          </p:cNvPr>
          <p:cNvSpPr>
            <a:spLocks xmlns:a="http://schemas.openxmlformats.org/drawingml/2006/main" noGrp="1"/>
          </p:cNvSpPr>
          <p:nvPr/>
        </p:nvSpPr>
        <p:spPr>
          <a:xfrm xmlns:a="http://schemas.openxmlformats.org/drawingml/2006/main">
            <a:off x="609600" y="3810000"/>
            <a:ext cx="66675" cy="323850"/>
          </a:xfrm>
          <a:prstGeom xmlns:a="http://schemas.openxmlformats.org/drawingml/2006/main" prst="rect">
            <a:avLst/>
          </a:prstGeom>
          <a:solidFill xmlns:a="http://schemas.openxmlformats.org/drawingml/2006/main">
            <a:srgbClr val="1D4ED8"/>
          </a:solidFill>
          <a:ln xmlns:a="http://schemas.openxmlformats.org/drawingml/2006/main" w="0">
            <a:solidFill>
              <a:srgbClr val="000000">
                <a:alpha val="0"/>
              </a:srgbClr>
            </a:solidFill>
            <a:prstDash val="solid"/>
          </a:ln>
        </p:spPr>
        <p:txBody xmlns:a="http://schemas.openxmlformats.org/drawingml/2006/main">
          <a:bodyPr/>
          <a:p/>
        </p:txBody>
      </p:sp>
      <p:sp>
        <p:nvSpPr>
          <p:cNvPr id="49" name="">
            <a:extLst xmlns:a="http://schemas.openxmlformats.org/drawingml/2006/main">
              <a:ext uri="{FF2B5EF4-FFF2-40B4-BE49-F238E27FC236}">
                <a16:creationId xmlns:a16="http://schemas.microsoft.com/office/drawing/2014/main" id="{E93C4AF3-FCC5-4E11-9679-A2EF4AFBE0A8}"/>
              </a:ext>
            </a:extLst>
          </p:cNvPr>
          <p:cNvSpPr>
            <a:spLocks xmlns:a="http://schemas.openxmlformats.org/drawingml/2006/main" noGrp="1"/>
          </p:cNvSpPr>
          <p:nvPr/>
        </p:nvSpPr>
        <p:spPr>
          <a:xfrm xmlns:a="http://schemas.openxmlformats.org/drawingml/2006/main">
            <a:off x="781050" y="3876675"/>
            <a:ext cx="19240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wrap="square"/>
          <a:lstStyle xmlns:a="http://schemas.openxmlformats.org/drawingml/2006/main"/>
          <a:p xmlns:a="http://schemas.openxmlformats.org/drawingml/2006/main">
            <a:pPr algn="l">
              <a:defRPr sz="848" b="1">
                <a:solidFill>
                  <a:srgbClr val="1D4ED8"/>
                </a:solidFill>
                <a:latin typeface="Aptos"/>
                <a:ea typeface="Aptos"/>
                <a:cs typeface="Aptos"/>
              </a:defRPr>
            </a:pPr>
            <a:r>
              <a:rPr sz="758" b="1">
                <a:solidFill>
                  <a:srgbClr val="1D4ED8"/>
                </a:solidFill>
                <a:latin typeface="Aptos"/>
                <a:ea typeface="Aptos"/>
                <a:cs typeface="Aptos"/>
              </a:rPr>
              <a:t>Prompt Builder (local helper script)</a:t>
            </a:r>
          </a:p>
        </p:txBody>
      </p:sp>
      <p:sp>
        <p:nvSpPr>
          <p:cNvPr id="50" name="">
            <a:extLst xmlns:a="http://schemas.openxmlformats.org/drawingml/2006/main">
              <a:ext uri="{FF2B5EF4-FFF2-40B4-BE49-F238E27FC236}">
                <a16:creationId xmlns:a16="http://schemas.microsoft.com/office/drawing/2014/main" id="{A4EE2992-14EC-403E-95A7-1B03889E661C}"/>
              </a:ext>
            </a:extLst>
          </p:cNvPr>
          <p:cNvSpPr>
            <a:spLocks xmlns:a="http://schemas.openxmlformats.org/drawingml/2006/main" noGrp="1"/>
          </p:cNvSpPr>
          <p:nvPr/>
        </p:nvSpPr>
        <p:spPr>
          <a:xfrm xmlns:a="http://schemas.openxmlformats.org/drawingml/2006/main">
            <a:off x="2876550" y="3876675"/>
            <a:ext cx="52578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95" b="0">
                <a:solidFill>
                  <a:srgbClr val="334155"/>
                </a:solidFill>
                <a:latin typeface="Aptos"/>
                <a:ea typeface="Aptos"/>
                <a:cs typeface="Aptos"/>
              </a:defRPr>
            </a:pPr>
            <a:r>
              <a:rPr sz="795" b="0">
                <a:solidFill>
                  <a:srgbClr val="334155"/>
                </a:solidFill>
                <a:latin typeface="Aptos"/>
                <a:ea typeface="Aptos"/>
                <a:cs typeface="Aptos"/>
              </a:rPr>
              <a:t>Our local helper that turns task fields into one agent prompt.</a:t>
            </a:r>
          </a:p>
        </p:txBody>
      </p:sp>
      <p:sp>
        <p:nvSpPr>
          <p:cNvPr id="51" name="">
            <a:extLst xmlns:a="http://schemas.openxmlformats.org/drawingml/2006/main">
              <a:ext uri="{FF2B5EF4-FFF2-40B4-BE49-F238E27FC236}">
                <a16:creationId xmlns:a16="http://schemas.microsoft.com/office/drawing/2014/main" id="{3DAB7041-DE36-4780-B4BC-826E83302B6D}"/>
              </a:ext>
            </a:extLst>
          </p:cNvPr>
          <p:cNvSpPr>
            <a:spLocks xmlns:a="http://schemas.openxmlformats.org/drawingml/2006/main" noGrp="1"/>
          </p:cNvSpPr>
          <p:nvPr/>
        </p:nvSpPr>
        <p:spPr>
          <a:xfrm xmlns:a="http://schemas.openxmlformats.org/drawingml/2006/main">
            <a:off x="609600" y="4191000"/>
            <a:ext cx="7772400" cy="323850"/>
          </a:xfrm>
          <a:prstGeom xmlns:a="http://schemas.openxmlformats.org/drawingml/2006/main" prst="rect">
            <a:avLst/>
          </a:prstGeom>
          <a:solidFill xmlns:a="http://schemas.openxmlformats.org/drawingml/2006/main">
            <a:srgbClr val="F1EBE2"/>
          </a:solidFill>
          <a:ln xmlns:a="http://schemas.openxmlformats.org/drawingml/2006/main" w="0">
            <a:solidFill>
              <a:srgbClr val="000000">
                <a:alpha val="0"/>
              </a:srgbClr>
            </a:solidFill>
            <a:prstDash val="solid"/>
          </a:ln>
        </p:spPr>
        <p:txBody xmlns:a="http://schemas.openxmlformats.org/drawingml/2006/main">
          <a:bodyPr/>
          <a:p/>
        </p:txBody>
      </p:sp>
      <p:sp>
        <p:nvSpPr>
          <p:cNvPr id="52" name="">
            <a:extLst xmlns:a="http://schemas.openxmlformats.org/drawingml/2006/main">
              <a:ext uri="{FF2B5EF4-FFF2-40B4-BE49-F238E27FC236}">
                <a16:creationId xmlns:a16="http://schemas.microsoft.com/office/drawing/2014/main" id="{DC5CBB77-15E2-4CAF-96D9-195DCAFF7B72}"/>
              </a:ext>
            </a:extLst>
          </p:cNvPr>
          <p:cNvSpPr>
            <a:spLocks xmlns:a="http://schemas.openxmlformats.org/drawingml/2006/main" noGrp="1"/>
          </p:cNvSpPr>
          <p:nvPr/>
        </p:nvSpPr>
        <p:spPr>
          <a:xfrm xmlns:a="http://schemas.openxmlformats.org/drawingml/2006/main">
            <a:off x="609600" y="4191000"/>
            <a:ext cx="66675" cy="32385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FE1A218B-9929-42A9-A297-1FD864536B97}"/>
              </a:ext>
            </a:extLst>
          </p:cNvPr>
          <p:cNvSpPr>
            <a:spLocks xmlns:a="http://schemas.openxmlformats.org/drawingml/2006/main" noGrp="1"/>
          </p:cNvSpPr>
          <p:nvPr/>
        </p:nvSpPr>
        <p:spPr>
          <a:xfrm xmlns:a="http://schemas.openxmlformats.org/drawingml/2006/main">
            <a:off x="781050" y="4257675"/>
            <a:ext cx="19240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48" b="1">
                <a:solidFill>
                  <a:srgbClr val="D97706"/>
                </a:solidFill>
                <a:latin typeface="Aptos"/>
                <a:ea typeface="Aptos"/>
                <a:cs typeface="Aptos"/>
              </a:defRPr>
            </a:pPr>
            <a:r>
              <a:rPr sz="848" b="1">
                <a:solidFill>
                  <a:srgbClr val="D97706"/>
                </a:solidFill>
                <a:latin typeface="Aptos"/>
                <a:ea typeface="Aptos"/>
                <a:cs typeface="Aptos"/>
              </a:rPr>
              <a:t>Deep Agents App</a:t>
            </a:r>
          </a:p>
        </p:txBody>
      </p:sp>
      <p:sp>
        <p:nvSpPr>
          <p:cNvPr id="54" name="">
            <a:extLst xmlns:a="http://schemas.openxmlformats.org/drawingml/2006/main">
              <a:ext uri="{FF2B5EF4-FFF2-40B4-BE49-F238E27FC236}">
                <a16:creationId xmlns:a16="http://schemas.microsoft.com/office/drawing/2014/main" id="{31B9C76E-6227-4706-88D6-139A7CA4013B}"/>
              </a:ext>
            </a:extLst>
          </p:cNvPr>
          <p:cNvSpPr>
            <a:spLocks xmlns:a="http://schemas.openxmlformats.org/drawingml/2006/main" noGrp="1"/>
          </p:cNvSpPr>
          <p:nvPr/>
        </p:nvSpPr>
        <p:spPr>
          <a:xfrm xmlns:a="http://schemas.openxmlformats.org/drawingml/2006/main">
            <a:off x="2876550" y="4257675"/>
            <a:ext cx="52578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95" b="0">
                <a:solidFill>
                  <a:srgbClr val="334155"/>
                </a:solidFill>
                <a:latin typeface="Aptos"/>
                <a:ea typeface="Aptos"/>
                <a:cs typeface="Aptos"/>
              </a:defRPr>
            </a:pPr>
            <a:r>
              <a:rPr sz="795" b="0">
                <a:solidFill>
                  <a:srgbClr val="334155"/>
                </a:solidFill>
                <a:latin typeface="Aptos"/>
                <a:ea typeface="Aptos"/>
                <a:cs typeface="Aptos"/>
              </a:rPr>
              <a:t>Uses Deep Agents from LangChain to apply coding-agent behavior and tool workflow.</a:t>
            </a:r>
          </a:p>
        </p:txBody>
      </p:sp>
      <p:sp>
        <p:nvSpPr>
          <p:cNvPr id="55" name="">
            <a:extLst xmlns:a="http://schemas.openxmlformats.org/drawingml/2006/main">
              <a:ext uri="{FF2B5EF4-FFF2-40B4-BE49-F238E27FC236}">
                <a16:creationId xmlns:a16="http://schemas.microsoft.com/office/drawing/2014/main" id="{B3D64556-E103-406B-98EF-0B991C11D5A5}"/>
              </a:ext>
            </a:extLst>
          </p:cNvPr>
          <p:cNvSpPr>
            <a:spLocks xmlns:a="http://schemas.openxmlformats.org/drawingml/2006/main" noGrp="1"/>
          </p:cNvSpPr>
          <p:nvPr/>
        </p:nvSpPr>
        <p:spPr>
          <a:xfrm xmlns:a="http://schemas.openxmlformats.org/drawingml/2006/main">
            <a:off x="609600" y="4572000"/>
            <a:ext cx="7772400" cy="323850"/>
          </a:xfrm>
          <a:prstGeom xmlns:a="http://schemas.openxmlformats.org/drawingml/2006/main" prst="rect">
            <a:avLst/>
          </a:prstGeom>
          <a:solidFill xmlns:a="http://schemas.openxmlformats.org/drawingml/2006/main">
            <a:srgbClr val="FBF8F2"/>
          </a:solidFill>
          <a:ln xmlns:a="http://schemas.openxmlformats.org/drawingml/2006/main" w="0">
            <a:solidFill>
              <a:srgbClr val="000000">
                <a:alpha val="0"/>
              </a:srgbClr>
            </a:solidFill>
            <a:prstDash val="solid"/>
          </a:ln>
        </p:spPr>
        <p:txBody xmlns:a="http://schemas.openxmlformats.org/drawingml/2006/main">
          <a:bodyPr/>
          <a:p/>
        </p:txBody>
      </p:sp>
      <p:sp>
        <p:nvSpPr>
          <p:cNvPr id="56" name="">
            <a:extLst xmlns:a="http://schemas.openxmlformats.org/drawingml/2006/main">
              <a:ext uri="{FF2B5EF4-FFF2-40B4-BE49-F238E27FC236}">
                <a16:creationId xmlns:a16="http://schemas.microsoft.com/office/drawing/2014/main" id="{02819983-B7DD-436A-A11D-03EFD90D5707}"/>
              </a:ext>
            </a:extLst>
          </p:cNvPr>
          <p:cNvSpPr>
            <a:spLocks xmlns:a="http://schemas.openxmlformats.org/drawingml/2006/main" noGrp="1"/>
          </p:cNvSpPr>
          <p:nvPr/>
        </p:nvSpPr>
        <p:spPr>
          <a:xfrm xmlns:a="http://schemas.openxmlformats.org/drawingml/2006/main">
            <a:off x="609600" y="4572000"/>
            <a:ext cx="66675" cy="323850"/>
          </a:xfrm>
          <a:prstGeom xmlns:a="http://schemas.openxmlformats.org/drawingml/2006/main" prst="rect">
            <a:avLst/>
          </a:prstGeom>
          <a:solidFill xmlns:a="http://schemas.openxmlformats.org/drawingml/2006/main">
            <a:srgbClr val="0F9F6E"/>
          </a:solidFill>
          <a:ln xmlns:a="http://schemas.openxmlformats.org/drawingml/2006/main" w="0">
            <a:solidFill>
              <a:srgbClr val="000000">
                <a:alpha val="0"/>
              </a:srgbClr>
            </a:solidFill>
            <a:prstDash val="solid"/>
          </a:ln>
        </p:spPr>
        <p:txBody xmlns:a="http://schemas.openxmlformats.org/drawingml/2006/main">
          <a:bodyPr/>
          <a:p/>
        </p:txBody>
      </p:sp>
      <p:sp>
        <p:nvSpPr>
          <p:cNvPr id="57" name="">
            <a:extLst xmlns:a="http://schemas.openxmlformats.org/drawingml/2006/main">
              <a:ext uri="{FF2B5EF4-FFF2-40B4-BE49-F238E27FC236}">
                <a16:creationId xmlns:a16="http://schemas.microsoft.com/office/drawing/2014/main" id="{A6FBE408-49BA-4867-8005-4ECD0360F665}"/>
              </a:ext>
            </a:extLst>
          </p:cNvPr>
          <p:cNvSpPr>
            <a:spLocks xmlns:a="http://schemas.openxmlformats.org/drawingml/2006/main" noGrp="1"/>
          </p:cNvSpPr>
          <p:nvPr/>
        </p:nvSpPr>
        <p:spPr>
          <a:xfrm xmlns:a="http://schemas.openxmlformats.org/drawingml/2006/main">
            <a:off x="781050" y="4638675"/>
            <a:ext cx="19240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48" b="1">
                <a:solidFill>
                  <a:srgbClr val="0F9F6E"/>
                </a:solidFill>
                <a:latin typeface="Aptos"/>
                <a:ea typeface="Aptos"/>
                <a:cs typeface="Aptos"/>
              </a:defRPr>
            </a:pPr>
            <a:r>
              <a:rPr sz="848" b="1">
                <a:solidFill>
                  <a:srgbClr val="0F9F6E"/>
                </a:solidFill>
                <a:latin typeface="Aptos"/>
                <a:ea typeface="Aptos"/>
                <a:cs typeface="Aptos"/>
              </a:rPr>
              <a:t>Dynamo Frontend</a:t>
            </a:r>
          </a:p>
        </p:txBody>
      </p:sp>
      <p:sp>
        <p:nvSpPr>
          <p:cNvPr id="58" name="">
            <a:extLst xmlns:a="http://schemas.openxmlformats.org/drawingml/2006/main">
              <a:ext uri="{FF2B5EF4-FFF2-40B4-BE49-F238E27FC236}">
                <a16:creationId xmlns:a16="http://schemas.microsoft.com/office/drawing/2014/main" id="{914EE2C9-25D4-4739-9EE6-378406FA2C8E}"/>
              </a:ext>
            </a:extLst>
          </p:cNvPr>
          <p:cNvSpPr>
            <a:spLocks xmlns:a="http://schemas.openxmlformats.org/drawingml/2006/main" noGrp="1"/>
          </p:cNvSpPr>
          <p:nvPr/>
        </p:nvSpPr>
        <p:spPr>
          <a:xfrm xmlns:a="http://schemas.openxmlformats.org/drawingml/2006/main">
            <a:off x="2876550" y="4638675"/>
            <a:ext cx="52578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95" b="0">
                <a:solidFill>
                  <a:srgbClr val="334155"/>
                </a:solidFill>
                <a:latin typeface="Aptos"/>
                <a:ea typeface="Aptos"/>
                <a:cs typeface="Aptos"/>
              </a:defRPr>
            </a:pPr>
            <a:r>
              <a:rPr sz="795" b="0">
                <a:solidFill>
                  <a:srgbClr val="334155"/>
                </a:solidFill>
                <a:latin typeface="Aptos"/>
                <a:ea typeface="Aptos"/>
                <a:cs typeface="Aptos"/>
              </a:rPr>
              <a:t>Receives the model request and prepares it for runtime execution.</a:t>
            </a:r>
          </a:p>
        </p:txBody>
      </p:sp>
      <p:sp>
        <p:nvSpPr>
          <p:cNvPr id="59" name="">
            <a:extLst xmlns:a="http://schemas.openxmlformats.org/drawingml/2006/main">
              <a:ext uri="{FF2B5EF4-FFF2-40B4-BE49-F238E27FC236}">
                <a16:creationId xmlns:a16="http://schemas.microsoft.com/office/drawing/2014/main" id="{FB7DCC8B-DA47-4066-B072-53D3030A87AC}"/>
              </a:ext>
            </a:extLst>
          </p:cNvPr>
          <p:cNvSpPr>
            <a:spLocks xmlns:a="http://schemas.openxmlformats.org/drawingml/2006/main" noGrp="1"/>
          </p:cNvSpPr>
          <p:nvPr/>
        </p:nvSpPr>
        <p:spPr>
          <a:xfrm xmlns:a="http://schemas.openxmlformats.org/drawingml/2006/main">
            <a:off x="609600" y="4953000"/>
            <a:ext cx="7772400" cy="323850"/>
          </a:xfrm>
          <a:prstGeom xmlns:a="http://schemas.openxmlformats.org/drawingml/2006/main" prst="rect">
            <a:avLst/>
          </a:prstGeom>
          <a:solidFill xmlns:a="http://schemas.openxmlformats.org/drawingml/2006/main">
            <a:srgbClr val="F1EBE2"/>
          </a:solidFill>
          <a:ln xmlns:a="http://schemas.openxmlformats.org/drawingml/2006/main" w="0">
            <a:solidFill>
              <a:srgbClr val="000000">
                <a:alpha val="0"/>
              </a:srgbClr>
            </a:solidFill>
            <a:prstDash val="solid"/>
          </a:ln>
        </p:spPr>
        <p:txBody xmlns:a="http://schemas.openxmlformats.org/drawingml/2006/main">
          <a:bodyPr/>
          <a:p/>
        </p:txBody>
      </p:sp>
      <p:sp>
        <p:nvSpPr>
          <p:cNvPr id="60" name="">
            <a:extLst xmlns:a="http://schemas.openxmlformats.org/drawingml/2006/main">
              <a:ext uri="{FF2B5EF4-FFF2-40B4-BE49-F238E27FC236}">
                <a16:creationId xmlns:a16="http://schemas.microsoft.com/office/drawing/2014/main" id="{EF03C83B-FA98-4E54-80CB-0EEE13C69A4C}"/>
              </a:ext>
            </a:extLst>
          </p:cNvPr>
          <p:cNvSpPr>
            <a:spLocks xmlns:a="http://schemas.openxmlformats.org/drawingml/2006/main" noGrp="1"/>
          </p:cNvSpPr>
          <p:nvPr/>
        </p:nvSpPr>
        <p:spPr>
          <a:xfrm xmlns:a="http://schemas.openxmlformats.org/drawingml/2006/main">
            <a:off x="609600" y="4953000"/>
            <a:ext cx="66675" cy="323850"/>
          </a:xfrm>
          <a:prstGeom xmlns:a="http://schemas.openxmlformats.org/drawingml/2006/main" prst="rect">
            <a:avLst/>
          </a:prstGeom>
          <a:solidFill xmlns:a="http://schemas.openxmlformats.org/drawingml/2006/main">
            <a:srgbClr val="0F9F6E"/>
          </a:solidFill>
          <a:ln xmlns:a="http://schemas.openxmlformats.org/drawingml/2006/main" w="0">
            <a:solidFill>
              <a:srgbClr val="000000">
                <a:alpha val="0"/>
              </a:srgbClr>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E9E2E2A4-0708-4E4A-A754-BD6E4D126F6A}"/>
              </a:ext>
            </a:extLst>
          </p:cNvPr>
          <p:cNvSpPr>
            <a:spLocks xmlns:a="http://schemas.openxmlformats.org/drawingml/2006/main" noGrp="1"/>
          </p:cNvSpPr>
          <p:nvPr/>
        </p:nvSpPr>
        <p:spPr>
          <a:xfrm xmlns:a="http://schemas.openxmlformats.org/drawingml/2006/main">
            <a:off x="781050" y="5019675"/>
            <a:ext cx="19240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48" b="1">
                <a:solidFill>
                  <a:srgbClr val="0F9F6E"/>
                </a:solidFill>
                <a:latin typeface="Aptos"/>
                <a:ea typeface="Aptos"/>
                <a:cs typeface="Aptos"/>
              </a:defRPr>
            </a:pPr>
            <a:r>
              <a:rPr sz="848" b="1">
                <a:solidFill>
                  <a:srgbClr val="0F9F6E"/>
                </a:solidFill>
                <a:latin typeface="Aptos"/>
                <a:ea typeface="Aptos"/>
                <a:cs typeface="Aptos"/>
              </a:rPr>
              <a:t>SGLang Worker</a:t>
            </a:r>
          </a:p>
        </p:txBody>
      </p:sp>
      <p:sp>
        <p:nvSpPr>
          <p:cNvPr id="62" name="">
            <a:extLst xmlns:a="http://schemas.openxmlformats.org/drawingml/2006/main">
              <a:ext uri="{FF2B5EF4-FFF2-40B4-BE49-F238E27FC236}">
                <a16:creationId xmlns:a16="http://schemas.microsoft.com/office/drawing/2014/main" id="{1838C50D-F1D0-4CE3-B333-FB84E4865D33}"/>
              </a:ext>
            </a:extLst>
          </p:cNvPr>
          <p:cNvSpPr>
            <a:spLocks xmlns:a="http://schemas.openxmlformats.org/drawingml/2006/main" noGrp="1"/>
          </p:cNvSpPr>
          <p:nvPr/>
        </p:nvSpPr>
        <p:spPr>
          <a:xfrm xmlns:a="http://schemas.openxmlformats.org/drawingml/2006/main">
            <a:off x="2876550" y="5019675"/>
            <a:ext cx="52578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95" b="0">
                <a:solidFill>
                  <a:srgbClr val="334155"/>
                </a:solidFill>
                <a:latin typeface="Aptos"/>
                <a:ea typeface="Aptos"/>
                <a:cs typeface="Aptos"/>
              </a:defRPr>
            </a:pPr>
            <a:r>
              <a:rPr sz="795" b="0">
                <a:solidFill>
                  <a:srgbClr val="334155"/>
                </a:solidFill>
                <a:latin typeface="Aptos"/>
                <a:ea typeface="Aptos"/>
                <a:cs typeface="Aptos"/>
              </a:rPr>
              <a:t>Runs model execution and returns response/runtime signals.</a:t>
            </a:r>
          </a:p>
        </p:txBody>
      </p:sp>
      <p:sp>
        <p:nvSpPr>
          <p:cNvPr id="63" name="">
            <a:extLst xmlns:a="http://schemas.openxmlformats.org/drawingml/2006/main">
              <a:ext uri="{FF2B5EF4-FFF2-40B4-BE49-F238E27FC236}">
                <a16:creationId xmlns:a16="http://schemas.microsoft.com/office/drawing/2014/main" id="{30719E5B-C89A-49D5-8B7B-EAC182F6B4EB}"/>
              </a:ext>
            </a:extLst>
          </p:cNvPr>
          <p:cNvSpPr>
            <a:spLocks xmlns:a="http://schemas.openxmlformats.org/drawingml/2006/main" noGrp="1"/>
          </p:cNvSpPr>
          <p:nvPr/>
        </p:nvSpPr>
        <p:spPr>
          <a:xfrm xmlns:a="http://schemas.openxmlformats.org/drawingml/2006/main">
            <a:off x="609600" y="5334000"/>
            <a:ext cx="7772400" cy="323850"/>
          </a:xfrm>
          <a:prstGeom xmlns:a="http://schemas.openxmlformats.org/drawingml/2006/main" prst="rect">
            <a:avLst/>
          </a:prstGeom>
          <a:solidFill xmlns:a="http://schemas.openxmlformats.org/drawingml/2006/main">
            <a:srgbClr val="FBF8F2"/>
          </a:solidFill>
          <a:ln xmlns:a="http://schemas.openxmlformats.org/drawingml/2006/main" w="0">
            <a:solidFill>
              <a:srgbClr val="000000">
                <a:alpha val="0"/>
              </a:srgbClr>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799DAF6C-5E74-47AB-AEA1-1222D287A418}"/>
              </a:ext>
            </a:extLst>
          </p:cNvPr>
          <p:cNvSpPr>
            <a:spLocks xmlns:a="http://schemas.openxmlformats.org/drawingml/2006/main" noGrp="1"/>
          </p:cNvSpPr>
          <p:nvPr/>
        </p:nvSpPr>
        <p:spPr>
          <a:xfrm xmlns:a="http://schemas.openxmlformats.org/drawingml/2006/main">
            <a:off x="609600" y="5334000"/>
            <a:ext cx="66675" cy="323850"/>
          </a:xfrm>
          <a:prstGeom xmlns:a="http://schemas.openxmlformats.org/drawingml/2006/main" prst="rect">
            <a:avLst/>
          </a:prstGeom>
          <a:solidFill xmlns:a="http://schemas.openxmlformats.org/drawingml/2006/main">
            <a:srgbClr val="BE123C"/>
          </a:solidFill>
          <a:ln xmlns:a="http://schemas.openxmlformats.org/drawingml/2006/main" w="0">
            <a:solidFill>
              <a:srgbClr val="000000">
                <a:alpha val="0"/>
              </a:srgbClr>
            </a:solidFill>
            <a:prstDash val="solid"/>
          </a:ln>
        </p:spPr>
        <p:txBody xmlns:a="http://schemas.openxmlformats.org/drawingml/2006/main">
          <a:bodyPr/>
          <a:p/>
        </p:txBody>
      </p:sp>
      <p:sp>
        <p:nvSpPr>
          <p:cNvPr id="65" name="">
            <a:extLst xmlns:a="http://schemas.openxmlformats.org/drawingml/2006/main">
              <a:ext uri="{FF2B5EF4-FFF2-40B4-BE49-F238E27FC236}">
                <a16:creationId xmlns:a16="http://schemas.microsoft.com/office/drawing/2014/main" id="{9DD83E49-5071-4575-A4FE-5F2CD3FAF95B}"/>
              </a:ext>
            </a:extLst>
          </p:cNvPr>
          <p:cNvSpPr>
            <a:spLocks xmlns:a="http://schemas.openxmlformats.org/drawingml/2006/main" noGrp="1"/>
          </p:cNvSpPr>
          <p:nvPr/>
        </p:nvSpPr>
        <p:spPr>
          <a:xfrm xmlns:a="http://schemas.openxmlformats.org/drawingml/2006/main">
            <a:off x="781050" y="5400675"/>
            <a:ext cx="19240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48" b="1">
                <a:solidFill>
                  <a:srgbClr val="BE123C"/>
                </a:solidFill>
                <a:latin typeface="Aptos"/>
                <a:ea typeface="Aptos"/>
                <a:cs typeface="Aptos"/>
              </a:defRPr>
            </a:pPr>
            <a:r>
              <a:rPr sz="848" b="1">
                <a:solidFill>
                  <a:srgbClr val="BE123C"/>
                </a:solidFill>
                <a:latin typeface="Aptos"/>
                <a:ea typeface="Aptos"/>
                <a:cs typeface="Aptos"/>
              </a:rPr>
              <a:t>Prompt Evolution Evidence</a:t>
            </a:r>
          </a:p>
        </p:txBody>
      </p:sp>
      <p:sp>
        <p:nvSpPr>
          <p:cNvPr id="66" name="">
            <a:extLst xmlns:a="http://schemas.openxmlformats.org/drawingml/2006/main">
              <a:ext uri="{FF2B5EF4-FFF2-40B4-BE49-F238E27FC236}">
                <a16:creationId xmlns:a16="http://schemas.microsoft.com/office/drawing/2014/main" id="{4F6B7AF3-D468-485E-BFDD-0C1F5289EF8A}"/>
              </a:ext>
            </a:extLst>
          </p:cNvPr>
          <p:cNvSpPr>
            <a:spLocks xmlns:a="http://schemas.openxmlformats.org/drawingml/2006/main" noGrp="1"/>
          </p:cNvSpPr>
          <p:nvPr/>
        </p:nvSpPr>
        <p:spPr>
          <a:xfrm xmlns:a="http://schemas.openxmlformats.org/drawingml/2006/main">
            <a:off x="2876550" y="5400675"/>
            <a:ext cx="52578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95" b="0">
                <a:solidFill>
                  <a:srgbClr val="334155"/>
                </a:solidFill>
                <a:latin typeface="Aptos"/>
                <a:ea typeface="Aptos"/>
                <a:cs typeface="Aptos"/>
              </a:defRPr>
            </a:pPr>
            <a:r>
              <a:rPr sz="795" b="0">
                <a:solidFill>
                  <a:srgbClr val="334155"/>
                </a:solidFill>
                <a:latin typeface="Aptos"/>
                <a:ea typeface="Aptos"/>
                <a:cs typeface="Aptos"/>
              </a:rPr>
              <a:t>Captures payload shape, added fields, size changes, and runtime facts.</a:t>
            </a:r>
          </a:p>
        </p:txBody>
      </p:sp>
      <p:sp>
        <p:nvSpPr>
          <p:cNvPr id="67" name="">
            <a:extLst xmlns:a="http://schemas.openxmlformats.org/drawingml/2006/main">
              <a:ext uri="{FF2B5EF4-FFF2-40B4-BE49-F238E27FC236}">
                <a16:creationId xmlns:a16="http://schemas.microsoft.com/office/drawing/2014/main" id="{68833EA2-1AB2-4BA9-B623-59C6C7E5E466}"/>
              </a:ext>
            </a:extLst>
          </p:cNvPr>
          <p:cNvSpPr>
            <a:spLocks xmlns:a="http://schemas.openxmlformats.org/drawingml/2006/main" noGrp="1"/>
          </p:cNvSpPr>
          <p:nvPr/>
        </p:nvSpPr>
        <p:spPr>
          <a:xfrm xmlns:a="http://schemas.openxmlformats.org/drawingml/2006/main">
            <a:off x="8743950" y="1962150"/>
            <a:ext cx="2838450" cy="3752850"/>
          </a:xfrm>
          <a:prstGeom xmlns:a="http://schemas.openxmlformats.org/drawingml/2006/main" prst="rect">
            <a:avLst/>
          </a:prstGeom>
          <a:solidFill xmlns:a="http://schemas.openxmlformats.org/drawingml/2006/main">
            <a:srgbClr val="FFFFFF"/>
          </a:solidFill>
          <a:ln xmlns:a="http://schemas.openxmlformats.org/drawingml/2006/main" w="19050">
            <a:solidFill>
              <a:srgbClr val="6D28D9"/>
            </a:solidFill>
            <a:prstDash val="solid"/>
          </a:ln>
        </p:spPr>
        <p:txBody xmlns:a="http://schemas.openxmlformats.org/drawingml/2006/main">
          <a:bodyPr/>
          <a:p/>
        </p:txBody>
      </p:sp>
      <p:sp>
        <p:nvSpPr>
          <p:cNvPr id="68" name="">
            <a:extLst xmlns:a="http://schemas.openxmlformats.org/drawingml/2006/main">
              <a:ext uri="{FF2B5EF4-FFF2-40B4-BE49-F238E27FC236}">
                <a16:creationId xmlns:a16="http://schemas.microsoft.com/office/drawing/2014/main" id="{E0D9553B-01CF-4A8D-9E46-0B612A38CDD7}"/>
              </a:ext>
            </a:extLst>
          </p:cNvPr>
          <p:cNvSpPr>
            <a:spLocks xmlns:a="http://schemas.openxmlformats.org/drawingml/2006/main" noGrp="1"/>
          </p:cNvSpPr>
          <p:nvPr/>
        </p:nvSpPr>
        <p:spPr>
          <a:xfrm xmlns:a="http://schemas.openxmlformats.org/drawingml/2006/main">
            <a:off x="8743950" y="1962150"/>
            <a:ext cx="2838450" cy="76200"/>
          </a:xfrm>
          <a:prstGeom xmlns:a="http://schemas.openxmlformats.org/drawingml/2006/main" prst="rect">
            <a:avLst/>
          </a:prstGeom>
          <a:solidFill xmlns:a="http://schemas.openxmlformats.org/drawingml/2006/main">
            <a:srgbClr val="6D28D9"/>
          </a:solidFill>
          <a:ln xmlns:a="http://schemas.openxmlformats.org/drawingml/2006/main" w="0">
            <a:solidFill>
              <a:srgbClr val="000000">
                <a:alpha val="0"/>
              </a:srgbClr>
            </a:solidFill>
            <a:prstDash val="solid"/>
          </a:ln>
        </p:spPr>
        <p:txBody xmlns:a="http://schemas.openxmlformats.org/drawingml/2006/main">
          <a:bodyPr/>
          <a:p/>
        </p:txBody>
      </p:sp>
      <p:sp>
        <p:nvSpPr>
          <p:cNvPr id="69" name="">
            <a:extLst xmlns:a="http://schemas.openxmlformats.org/drawingml/2006/main">
              <a:ext uri="{FF2B5EF4-FFF2-40B4-BE49-F238E27FC236}">
                <a16:creationId xmlns:a16="http://schemas.microsoft.com/office/drawing/2014/main" id="{54DC5DE2-FB37-4AAA-AC95-FFE46918C62F}"/>
              </a:ext>
            </a:extLst>
          </p:cNvPr>
          <p:cNvSpPr>
            <a:spLocks xmlns:a="http://schemas.openxmlformats.org/drawingml/2006/main" noGrp="1"/>
          </p:cNvSpPr>
          <p:nvPr/>
        </p:nvSpPr>
        <p:spPr>
          <a:xfrm xmlns:a="http://schemas.openxmlformats.org/drawingml/2006/main">
            <a:off x="8991600" y="2266950"/>
            <a:ext cx="2095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1820"/>
                </a:solidFill>
                <a:latin typeface="Aptos Display"/>
                <a:ea typeface="Aptos Display"/>
                <a:cs typeface="Aptos Display"/>
              </a:defRPr>
            </a:pPr>
            <a:r>
              <a:rPr sz="1350" b="1">
                <a:solidFill>
                  <a:srgbClr val="101820"/>
                </a:solidFill>
                <a:latin typeface="Aptos Display"/>
                <a:ea typeface="Aptos Display"/>
                <a:cs typeface="Aptos Display"/>
              </a:rPr>
              <a:t>Where This Came From</a:t>
            </a:r>
          </a:p>
        </p:txBody>
      </p:sp>
      <p:sp>
        <p:nvSpPr>
          <p:cNvPr id="70" name="">
            <a:extLst xmlns:a="http://schemas.openxmlformats.org/drawingml/2006/main">
              <a:ext uri="{FF2B5EF4-FFF2-40B4-BE49-F238E27FC236}">
                <a16:creationId xmlns:a16="http://schemas.microsoft.com/office/drawing/2014/main" id="{2494D1AB-C4F1-47BA-959B-2FE56F8D459A}"/>
              </a:ext>
            </a:extLst>
          </p:cNvPr>
          <p:cNvSpPr>
            <a:spLocks xmlns:a="http://schemas.openxmlformats.org/drawingml/2006/main" noGrp="1"/>
          </p:cNvSpPr>
          <p:nvPr/>
        </p:nvSpPr>
        <p:spPr>
          <a:xfrm xmlns:a="http://schemas.openxmlformats.org/drawingml/2006/main">
            <a:off x="8991600" y="2743200"/>
            <a:ext cx="1047750" cy="123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0" b="1">
                <a:solidFill>
                  <a:srgbClr val="667085"/>
                </a:solidFill>
                <a:latin typeface="Aptos"/>
                <a:ea typeface="Aptos"/>
                <a:cs typeface="Aptos"/>
              </a:defRPr>
            </a:pPr>
            <a:r>
              <a:rPr sz="780" b="1">
                <a:solidFill>
                  <a:srgbClr val="667085"/>
                </a:solidFill>
                <a:latin typeface="Aptos"/>
                <a:ea typeface="Aptos"/>
                <a:cs typeface="Aptos"/>
              </a:rPr>
              <a:t>Deep Agents</a:t>
            </a:r>
          </a:p>
        </p:txBody>
      </p:sp>
      <p:sp>
        <p:nvSpPr>
          <p:cNvPr id="71" name="">
            <a:extLst xmlns:a="http://schemas.openxmlformats.org/drawingml/2006/main">
              <a:ext uri="{FF2B5EF4-FFF2-40B4-BE49-F238E27FC236}">
                <a16:creationId xmlns:a16="http://schemas.microsoft.com/office/drawing/2014/main" id="{A3A57831-0FE6-4A4C-8357-9FEFFB0D534A}"/>
              </a:ext>
            </a:extLst>
          </p:cNvPr>
          <p:cNvSpPr>
            <a:spLocks xmlns:a="http://schemas.openxmlformats.org/drawingml/2006/main" noGrp="1"/>
          </p:cNvSpPr>
          <p:nvPr/>
        </p:nvSpPr>
        <p:spPr>
          <a:xfrm xmlns:a="http://schemas.openxmlformats.org/drawingml/2006/main">
            <a:off x="8991600" y="2895600"/>
            <a:ext cx="22098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40" b="0">
                <a:solidFill>
                  <a:srgbClr val="334155"/>
                </a:solidFill>
                <a:latin typeface="Aptos"/>
                <a:ea typeface="Aptos"/>
                <a:cs typeface="Aptos"/>
              </a:defRPr>
            </a:pPr>
            <a:r>
              <a:rPr sz="840" b="0">
                <a:solidFill>
                  <a:srgbClr val="334155"/>
                </a:solidFill>
                <a:latin typeface="Aptos"/>
                <a:ea typeface="Aptos"/>
                <a:cs typeface="Aptos"/>
              </a:rPr>
              <a:t>langchain-ai/deepagents</a:t>
            </a:r>
          </a:p>
        </p:txBody>
      </p:sp>
      <p:sp>
        <p:nvSpPr>
          <p:cNvPr id="72" name="">
            <a:extLst xmlns:a="http://schemas.openxmlformats.org/drawingml/2006/main">
              <a:ext uri="{FF2B5EF4-FFF2-40B4-BE49-F238E27FC236}">
                <a16:creationId xmlns:a16="http://schemas.microsoft.com/office/drawing/2014/main" id="{3CC40F32-6F3D-42E5-97C3-3CE02B749EB5}"/>
              </a:ext>
            </a:extLst>
          </p:cNvPr>
          <p:cNvSpPr>
            <a:spLocks xmlns:a="http://schemas.openxmlformats.org/drawingml/2006/main" noGrp="1"/>
          </p:cNvSpPr>
          <p:nvPr/>
        </p:nvSpPr>
        <p:spPr>
          <a:xfrm xmlns:a="http://schemas.openxmlformats.org/drawingml/2006/main">
            <a:off x="8991600" y="3257550"/>
            <a:ext cx="1047750" cy="123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0" b="1">
                <a:solidFill>
                  <a:srgbClr val="667085"/>
                </a:solidFill>
                <a:latin typeface="Aptos"/>
                <a:ea typeface="Aptos"/>
                <a:cs typeface="Aptos"/>
              </a:defRPr>
            </a:pPr>
            <a:r>
              <a:rPr sz="780" b="1">
                <a:solidFill>
                  <a:srgbClr val="667085"/>
                </a:solidFill>
                <a:latin typeface="Aptos"/>
                <a:ea typeface="Aptos"/>
                <a:cs typeface="Aptos"/>
              </a:rPr>
              <a:t>Dynamo</a:t>
            </a:r>
          </a:p>
        </p:txBody>
      </p:sp>
      <p:sp>
        <p:nvSpPr>
          <p:cNvPr id="73" name="">
            <a:extLst xmlns:a="http://schemas.openxmlformats.org/drawingml/2006/main">
              <a:ext uri="{FF2B5EF4-FFF2-40B4-BE49-F238E27FC236}">
                <a16:creationId xmlns:a16="http://schemas.microsoft.com/office/drawing/2014/main" id="{7AAA7858-F1B5-4472-BBCA-64BCB478A81C}"/>
              </a:ext>
            </a:extLst>
          </p:cNvPr>
          <p:cNvSpPr>
            <a:spLocks xmlns:a="http://schemas.openxmlformats.org/drawingml/2006/main" noGrp="1"/>
          </p:cNvSpPr>
          <p:nvPr/>
        </p:nvSpPr>
        <p:spPr>
          <a:xfrm xmlns:a="http://schemas.openxmlformats.org/drawingml/2006/main">
            <a:off x="8991600" y="3409950"/>
            <a:ext cx="22098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40" b="0">
                <a:solidFill>
                  <a:srgbClr val="334155"/>
                </a:solidFill>
                <a:latin typeface="Aptos"/>
                <a:ea typeface="Aptos"/>
                <a:cs typeface="Aptos"/>
              </a:defRPr>
            </a:pPr>
            <a:r>
              <a:rPr sz="840" b="0">
                <a:solidFill>
                  <a:srgbClr val="334155"/>
                </a:solidFill>
                <a:latin typeface="Aptos"/>
                <a:ea typeface="Aptos"/>
                <a:cs typeface="Aptos"/>
              </a:rPr>
              <a:t>ai-dynamo/dynamo</a:t>
            </a:r>
          </a:p>
        </p:txBody>
      </p:sp>
      <p:sp>
        <p:nvSpPr>
          <p:cNvPr id="74" name="">
            <a:extLst xmlns:a="http://schemas.openxmlformats.org/drawingml/2006/main">
              <a:ext uri="{FF2B5EF4-FFF2-40B4-BE49-F238E27FC236}">
                <a16:creationId xmlns:a16="http://schemas.microsoft.com/office/drawing/2014/main" id="{550F9759-961A-467C-8368-1FF41F6BB523}"/>
              </a:ext>
            </a:extLst>
          </p:cNvPr>
          <p:cNvSpPr>
            <a:spLocks xmlns:a="http://schemas.openxmlformats.org/drawingml/2006/main" noGrp="1"/>
          </p:cNvSpPr>
          <p:nvPr/>
        </p:nvSpPr>
        <p:spPr>
          <a:xfrm xmlns:a="http://schemas.openxmlformats.org/drawingml/2006/main">
            <a:off x="8991600" y="3771900"/>
            <a:ext cx="1047750" cy="123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0" b="1">
                <a:solidFill>
                  <a:srgbClr val="667085"/>
                </a:solidFill>
                <a:latin typeface="Aptos"/>
                <a:ea typeface="Aptos"/>
                <a:cs typeface="Aptos"/>
              </a:defRPr>
            </a:pPr>
            <a:r>
              <a:rPr sz="780" b="1">
                <a:solidFill>
                  <a:srgbClr val="667085"/>
                </a:solidFill>
                <a:latin typeface="Aptos"/>
                <a:ea typeface="Aptos"/>
                <a:cs typeface="Aptos"/>
              </a:rPr>
              <a:t>Benchmark</a:t>
            </a:r>
          </a:p>
        </p:txBody>
      </p:sp>
      <p:sp>
        <p:nvSpPr>
          <p:cNvPr id="75" name="">
            <a:extLst xmlns:a="http://schemas.openxmlformats.org/drawingml/2006/main">
              <a:ext uri="{FF2B5EF4-FFF2-40B4-BE49-F238E27FC236}">
                <a16:creationId xmlns:a16="http://schemas.microsoft.com/office/drawing/2014/main" id="{DBF3108B-F446-40A9-A319-4545C86D6359}"/>
              </a:ext>
            </a:extLst>
          </p:cNvPr>
          <p:cNvSpPr>
            <a:spLocks xmlns:a="http://schemas.openxmlformats.org/drawingml/2006/main" noGrp="1"/>
          </p:cNvSpPr>
          <p:nvPr/>
        </p:nvSpPr>
        <p:spPr>
          <a:xfrm xmlns:a="http://schemas.openxmlformats.org/drawingml/2006/main">
            <a:off x="8991600" y="3924300"/>
            <a:ext cx="22098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40" b="0">
                <a:solidFill>
                  <a:srgbClr val="334155"/>
                </a:solidFill>
                <a:latin typeface="Aptos"/>
                <a:ea typeface="Aptos"/>
                <a:cs typeface="Aptos"/>
              </a:defRPr>
            </a:pPr>
            <a:r>
              <a:rPr sz="840" b="0">
                <a:solidFill>
                  <a:srgbClr val="334155"/>
                </a:solidFill>
                <a:latin typeface="Aptos"/>
                <a:ea typeface="Aptos"/>
                <a:cs typeface="Aptos"/>
              </a:rPr>
              <a:t>ScaleAI/SWE-bench_Pro</a:t>
            </a:r>
          </a:p>
        </p:txBody>
      </p:sp>
      <p:sp>
        <p:nvSpPr>
          <p:cNvPr id="76" name="">
            <a:extLst xmlns:a="http://schemas.openxmlformats.org/drawingml/2006/main">
              <a:ext uri="{FF2B5EF4-FFF2-40B4-BE49-F238E27FC236}">
                <a16:creationId xmlns:a16="http://schemas.microsoft.com/office/drawing/2014/main" id="{CF472D95-B889-4E18-BE70-166AE08FF07F}"/>
              </a:ext>
            </a:extLst>
          </p:cNvPr>
          <p:cNvSpPr>
            <a:spLocks xmlns:a="http://schemas.openxmlformats.org/drawingml/2006/main" noGrp="1"/>
          </p:cNvSpPr>
          <p:nvPr/>
        </p:nvSpPr>
        <p:spPr>
          <a:xfrm xmlns:a="http://schemas.openxmlformats.org/drawingml/2006/main">
            <a:off x="8991600" y="4286250"/>
            <a:ext cx="1047750" cy="123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0" b="1">
                <a:solidFill>
                  <a:srgbClr val="667085"/>
                </a:solidFill>
                <a:latin typeface="Aptos"/>
                <a:ea typeface="Aptos"/>
                <a:cs typeface="Aptos"/>
              </a:defRPr>
            </a:pPr>
            <a:r>
              <a:rPr sz="780" b="1">
                <a:solidFill>
                  <a:srgbClr val="667085"/>
                </a:solidFill>
                <a:latin typeface="Aptos"/>
                <a:ea typeface="Aptos"/>
                <a:cs typeface="Aptos"/>
              </a:rPr>
              <a:t>Local glue</a:t>
            </a:r>
          </a:p>
        </p:txBody>
      </p:sp>
      <p:sp>
        <p:nvSpPr>
          <p:cNvPr id="77" name="">
            <a:extLst xmlns:a="http://schemas.openxmlformats.org/drawingml/2006/main">
              <a:ext uri="{FF2B5EF4-FFF2-40B4-BE49-F238E27FC236}">
                <a16:creationId xmlns:a16="http://schemas.microsoft.com/office/drawing/2014/main" id="{38CC3253-36F7-4CE0-9316-626CC7D75293}"/>
              </a:ext>
            </a:extLst>
          </p:cNvPr>
          <p:cNvSpPr>
            <a:spLocks xmlns:a="http://schemas.openxmlformats.org/drawingml/2006/main" noGrp="1"/>
          </p:cNvSpPr>
          <p:nvPr/>
        </p:nvSpPr>
        <p:spPr>
          <a:xfrm xmlns:a="http://schemas.openxmlformats.org/drawingml/2006/main">
            <a:off x="8991600" y="4438650"/>
            <a:ext cx="22098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wrap="square"/>
          <a:lstStyle xmlns:a="http://schemas.openxmlformats.org/drawingml/2006/main"/>
          <a:p xmlns:a="http://schemas.openxmlformats.org/drawingml/2006/main">
            <a:pPr algn="l">
              <a:defRPr sz="840" b="0">
                <a:solidFill>
                  <a:srgbClr val="334155"/>
                </a:solidFill>
                <a:latin typeface="Aptos"/>
                <a:ea typeface="Aptos"/>
                <a:cs typeface="Aptos"/>
              </a:defRPr>
            </a:pPr>
            <a:r>
              <a:rPr sz="750" b="0">
                <a:solidFill>
                  <a:srgbClr val="334155"/>
                </a:solidFill>
                <a:latin typeface="Aptos"/>
                <a:ea typeface="Aptos"/>
                <a:cs typeface="Aptos"/>
              </a:rPr>
              <a:t>AgentBench loader + prompt builder (local helper script)</a:t>
            </a:r>
          </a:p>
        </p:txBody>
      </p:sp>
      <p:sp>
        <p:nvSpPr>
          <p:cNvPr id="78" name="">
            <a:extLst xmlns:a="http://schemas.openxmlformats.org/drawingml/2006/main">
              <a:ext uri="{FF2B5EF4-FFF2-40B4-BE49-F238E27FC236}">
                <a16:creationId xmlns:a16="http://schemas.microsoft.com/office/drawing/2014/main" id="{04862B63-6026-4FBF-B66C-4EC19D1A8D77}"/>
              </a:ext>
            </a:extLst>
          </p:cNvPr>
          <p:cNvSpPr>
            <a:spLocks xmlns:a="http://schemas.openxmlformats.org/drawingml/2006/main" noGrp="1"/>
          </p:cNvSpPr>
          <p:nvPr/>
        </p:nvSpPr>
        <p:spPr>
          <a:xfrm xmlns:a="http://schemas.openxmlformats.org/drawingml/2006/main">
            <a:off x="8991600" y="4800600"/>
            <a:ext cx="1047750" cy="123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0" b="1">
                <a:solidFill>
                  <a:srgbClr val="667085"/>
                </a:solidFill>
                <a:latin typeface="Aptos"/>
                <a:ea typeface="Aptos"/>
                <a:cs typeface="Aptos"/>
              </a:defRPr>
            </a:pPr>
            <a:r>
              <a:rPr sz="780" b="1">
                <a:solidFill>
                  <a:srgbClr val="667085"/>
                </a:solidFill>
                <a:latin typeface="Aptos"/>
                <a:ea typeface="Aptos"/>
                <a:cs typeface="Aptos"/>
              </a:rPr>
              <a:t>Instrumentation</a:t>
            </a:r>
          </a:p>
        </p:txBody>
      </p:sp>
      <p:sp>
        <p:nvSpPr>
          <p:cNvPr id="79" name="">
            <a:extLst xmlns:a="http://schemas.openxmlformats.org/drawingml/2006/main">
              <a:ext uri="{FF2B5EF4-FFF2-40B4-BE49-F238E27FC236}">
                <a16:creationId xmlns:a16="http://schemas.microsoft.com/office/drawing/2014/main" id="{FAFAF3F3-0782-4D86-A1E0-6DAC3A7B4229}"/>
              </a:ext>
            </a:extLst>
          </p:cNvPr>
          <p:cNvSpPr>
            <a:spLocks xmlns:a="http://schemas.openxmlformats.org/drawingml/2006/main" noGrp="1"/>
          </p:cNvSpPr>
          <p:nvPr/>
        </p:nvSpPr>
        <p:spPr>
          <a:xfrm xmlns:a="http://schemas.openxmlformats.org/drawingml/2006/main">
            <a:off x="8991600" y="4953000"/>
            <a:ext cx="22098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28" b="0">
                <a:solidFill>
                  <a:srgbClr val="334155"/>
                </a:solidFill>
                <a:latin typeface="Aptos"/>
                <a:ea typeface="Aptos"/>
                <a:cs typeface="Aptos"/>
              </a:defRPr>
            </a:pPr>
            <a:r>
              <a:rPr sz="728" b="0">
                <a:solidFill>
                  <a:srgbClr val="334155"/>
                </a:solidFill>
                <a:latin typeface="Aptos"/>
                <a:ea typeface="Aptos"/>
                <a:cs typeface="Aptos"/>
              </a:rPr>
              <a:t>Deep Agents app/harness logs + Dynamo/SGLang runtime JSON logs</a:t>
            </a:r>
          </a:p>
        </p:txBody>
      </p:sp>
      <p:sp>
        <p:nvSpPr>
          <p:cNvPr id="80" name="">
            <a:extLst xmlns:a="http://schemas.openxmlformats.org/drawingml/2006/main">
              <a:ext uri="{FF2B5EF4-FFF2-40B4-BE49-F238E27FC236}">
                <a16:creationId xmlns:a16="http://schemas.microsoft.com/office/drawing/2014/main" id="{656F4C88-9593-4F8E-9134-B3E8D7D1EC68}"/>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D1C8"/>
          </a:solidFill>
          <a:ln xmlns:a="http://schemas.openxmlformats.org/drawingml/2006/main" w="0">
            <a:solidFill>
              <a:srgbClr val="000000">
                <a:alpha val="0"/>
              </a:srgbClr>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0B623F57-4CD8-4132-8D10-58DAC8F267D8}"/>
              </a:ext>
            </a:extLst>
          </p:cNvPr>
          <p:cNvSpPr>
            <a:spLocks xmlns:a="http://schemas.openxmlformats.org/drawingml/2006/main" noGrp="1"/>
          </p:cNvSpPr>
          <p:nvPr/>
        </p:nvSpPr>
        <p:spPr>
          <a:xfrm xmlns:a="http://schemas.openxmlformats.org/drawingml/2006/main">
            <a:off x="609600" y="6477000"/>
            <a:ext cx="3238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667085"/>
                </a:solidFill>
                <a:latin typeface="Aptos"/>
                <a:ea typeface="Aptos"/>
                <a:cs typeface="Aptos"/>
              </a:defRPr>
            </a:pPr>
            <a:r>
              <a:rPr sz="825" b="1">
                <a:solidFill>
                  <a:srgbClr val="667085"/>
                </a:solidFill>
                <a:latin typeface="Aptos"/>
                <a:ea typeface="Aptos"/>
                <a:cs typeface="Aptos"/>
              </a:rPr>
              <a:t>PROMPT EVOLUTION</a:t>
            </a:r>
          </a:p>
        </p:txBody>
      </p:sp>
      <p:sp>
        <p:nvSpPr>
          <p:cNvPr id="82" name="">
            <a:extLst xmlns:a="http://schemas.openxmlformats.org/drawingml/2006/main">
              <a:ext uri="{FF2B5EF4-FFF2-40B4-BE49-F238E27FC236}">
                <a16:creationId xmlns:a16="http://schemas.microsoft.com/office/drawing/2014/main" id="{BA7D1FEC-7130-4542-BF1D-00E79BEF7191}"/>
              </a:ext>
            </a:extLst>
          </p:cNvPr>
          <p:cNvSpPr>
            <a:spLocks xmlns:a="http://schemas.openxmlformats.org/drawingml/2006/main" noGrp="1"/>
          </p:cNvSpPr>
          <p:nvPr/>
        </p:nvSpPr>
        <p:spPr>
          <a:xfrm xmlns:a="http://schemas.openxmlformats.org/drawingml/2006/main">
            <a:off x="11087100" y="6477000"/>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1">
                <a:solidFill>
                  <a:srgbClr val="334155"/>
                </a:solidFill>
              </a:rPr>
              <a:t>02</a:t>
            </a:r>
          </a:p>
        </p:txBody>
      </p:sp>
    </p:spTree>
    <p:extLst>
      <p:ext uri="{BB962C8B-B14F-4D97-AF65-F5344CB8AC3E}">
        <p14:creationId xmlns:p14="http://schemas.microsoft.com/office/powerpoint/2010/main" val="174613137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32283EC-D9CF-47E7-ABCF-73E367FE997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EF46AAD-05E9-4379-8F83-587B947817BA}"/>
              </a:ext>
            </a:extLst>
          </p:cNvPr>
          <p:cNvSpPr>
            <a:spLocks xmlns:a="http://schemas.openxmlformats.org/drawingml/2006/main" noGrp="1"/>
          </p:cNvSpPr>
          <p:nvPr/>
        </p:nvSpPr>
        <p:spPr>
          <a:xfrm xmlns:a="http://schemas.openxmlformats.org/drawingml/2006/main">
            <a:off x="609600" y="495300"/>
            <a:ext cx="76200" cy="228600"/>
          </a:xfrm>
          <a:prstGeom xmlns:a="http://schemas.openxmlformats.org/drawingml/2006/main" prst="rect">
            <a:avLst/>
          </a:prstGeom>
          <a:solidFill xmlns:a="http://schemas.openxmlformats.org/drawingml/2006/main">
            <a:srgbClr val="6D28D9"/>
          </a:solidFill>
          <a:ln xmlns:a="http://schemas.openxmlformats.org/drawingml/2006/main" w="0">
            <a:solidFill>
              <a:srgbClr val="000000">
                <a:alpha val="0"/>
              </a:srgbClr>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A6A3B9B-08DF-4E12-A0E5-60D7DD61E426}"/>
              </a:ext>
            </a:extLst>
          </p:cNvPr>
          <p:cNvSpPr>
            <a:spLocks xmlns:a="http://schemas.openxmlformats.org/drawingml/2006/main" noGrp="1"/>
          </p:cNvSpPr>
          <p:nvPr/>
        </p:nvSpPr>
        <p:spPr>
          <a:xfrm xmlns:a="http://schemas.openxmlformats.org/drawingml/2006/main">
            <a:off x="800100" y="4953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67085"/>
                </a:solidFill>
                <a:latin typeface="Aptos"/>
                <a:ea typeface="Aptos"/>
                <a:cs typeface="Aptos"/>
              </a:defRPr>
            </a:pPr>
            <a:r>
              <a:rPr sz="900" b="1">
                <a:solidFill>
                  <a:srgbClr val="667085"/>
                </a:solidFill>
                <a:latin typeface="Aptos"/>
                <a:ea typeface="Aptos"/>
                <a:cs typeface="Aptos"/>
              </a:rPr>
              <a:t>BENCHMARK CONTEXT</a:t>
            </a:r>
          </a:p>
        </p:txBody>
      </p:sp>
      <p:sp>
        <p:nvSpPr>
          <p:cNvPr id="4" name="">
            <a:extLst xmlns:a="http://schemas.openxmlformats.org/drawingml/2006/main">
              <a:ext uri="{FF2B5EF4-FFF2-40B4-BE49-F238E27FC236}">
                <a16:creationId xmlns:a16="http://schemas.microsoft.com/office/drawing/2014/main" id="{455CAA11-D6A9-4598-A183-5F81A677EB56}"/>
              </a:ext>
            </a:extLst>
          </p:cNvPr>
          <p:cNvSpPr>
            <a:spLocks xmlns:a="http://schemas.openxmlformats.org/drawingml/2006/main" noGrp="1"/>
          </p:cNvSpPr>
          <p:nvPr/>
        </p:nvSpPr>
        <p:spPr>
          <a:xfrm xmlns:a="http://schemas.openxmlformats.org/drawingml/2006/main">
            <a:off x="609600" y="819150"/>
            <a:ext cx="100965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01820"/>
                </a:solidFill>
                <a:latin typeface="Aptos Display"/>
                <a:ea typeface="Aptos Display"/>
                <a:cs typeface="Aptos Display"/>
              </a:defRPr>
            </a:pPr>
            <a:r>
              <a:rPr sz="2850" b="1">
                <a:solidFill>
                  <a:srgbClr val="101820"/>
                </a:solidFill>
                <a:latin typeface="Aptos Display"/>
                <a:ea typeface="Aptos Display"/>
                <a:cs typeface="Aptos Display"/>
              </a:rPr>
              <a:t>Why SWE-bench Pro was the right benchmark.</a:t>
            </a:r>
          </a:p>
        </p:txBody>
      </p:sp>
      <p:sp>
        <p:nvSpPr>
          <p:cNvPr id="5" name="">
            <a:extLst xmlns:a="http://schemas.openxmlformats.org/drawingml/2006/main">
              <a:ext uri="{FF2B5EF4-FFF2-40B4-BE49-F238E27FC236}">
                <a16:creationId xmlns:a16="http://schemas.microsoft.com/office/drawing/2014/main" id="{AECE462F-2BD6-4415-8DEF-E1C4EF8F18E9}"/>
              </a:ext>
            </a:extLst>
          </p:cNvPr>
          <p:cNvSpPr>
            <a:spLocks xmlns:a="http://schemas.openxmlformats.org/drawingml/2006/main" noGrp="1"/>
          </p:cNvSpPr>
          <p:nvPr/>
        </p:nvSpPr>
        <p:spPr>
          <a:xfrm xmlns:a="http://schemas.openxmlformats.org/drawingml/2006/main">
            <a:off x="609600" y="1809750"/>
            <a:ext cx="100965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35" b="0">
                <a:solidFill>
                  <a:srgbClr val="334155"/>
                </a:solidFill>
                <a:latin typeface="Aptos"/>
                <a:ea typeface="Aptos"/>
                <a:cs typeface="Aptos"/>
              </a:defRPr>
            </a:pPr>
            <a:r>
              <a:rPr sz="1335" b="0">
                <a:solidFill>
                  <a:srgbClr val="334155"/>
                </a:solidFill>
                <a:latin typeface="Aptos"/>
                <a:ea typeface="Aptos"/>
                <a:cs typeface="Aptos"/>
              </a:rPr>
              <a:t>SWE-bench Pro gives us realistic software-engineering tasks, not toy prompts: codebase context, a bug or requested behavior, requirements, tests, and an expected fix path.</a:t>
            </a:r>
          </a:p>
        </p:txBody>
      </p:sp>
      <p:sp>
        <p:nvSpPr>
          <p:cNvPr id="6" name="">
            <a:extLst xmlns:a="http://schemas.openxmlformats.org/drawingml/2006/main">
              <a:ext uri="{FF2B5EF4-FFF2-40B4-BE49-F238E27FC236}">
                <a16:creationId xmlns:a16="http://schemas.microsoft.com/office/drawing/2014/main" id="{54476D4E-8383-4800-878A-56E0A14A8213}"/>
              </a:ext>
            </a:extLst>
          </p:cNvPr>
          <p:cNvSpPr>
            <a:spLocks xmlns:a="http://schemas.openxmlformats.org/drawingml/2006/main" noGrp="1"/>
          </p:cNvSpPr>
          <p:nvPr/>
        </p:nvSpPr>
        <p:spPr>
          <a:xfrm xmlns:a="http://schemas.openxmlformats.org/drawingml/2006/main">
            <a:off x="609600" y="2495550"/>
            <a:ext cx="3200400" cy="2076450"/>
          </a:xfrm>
          <a:prstGeom xmlns:a="http://schemas.openxmlformats.org/drawingml/2006/main" prst="rect">
            <a:avLst/>
          </a:prstGeom>
          <a:solidFill xmlns:a="http://schemas.openxmlformats.org/drawingml/2006/main">
            <a:srgbClr val="FFFFFF"/>
          </a:solidFill>
          <a:ln xmlns:a="http://schemas.openxmlformats.org/drawingml/2006/main" w="19050">
            <a:solidFill>
              <a:srgbClr val="2563EB"/>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A0177B8B-F8BF-40CD-96F1-A17173CA5EF5}"/>
              </a:ext>
            </a:extLst>
          </p:cNvPr>
          <p:cNvSpPr>
            <a:spLocks xmlns:a="http://schemas.openxmlformats.org/drawingml/2006/main" noGrp="1"/>
          </p:cNvSpPr>
          <p:nvPr/>
        </p:nvSpPr>
        <p:spPr>
          <a:xfrm xmlns:a="http://schemas.openxmlformats.org/drawingml/2006/main">
            <a:off x="609600" y="2495550"/>
            <a:ext cx="3200400" cy="76200"/>
          </a:xfrm>
          <a:prstGeom xmlns:a="http://schemas.openxmlformats.org/drawingml/2006/main" prst="rect">
            <a:avLst/>
          </a:prstGeom>
          <a:solidFill xmlns:a="http://schemas.openxmlformats.org/drawingml/2006/main">
            <a:srgbClr val="2563EB"/>
          </a:solidFill>
          <a:ln xmlns:a="http://schemas.openxmlformats.org/drawingml/2006/main" w="0">
            <a:solidFill>
              <a:srgbClr val="000000">
                <a:alpha val="0"/>
              </a:srgbClr>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98120C6E-CBD4-4CC7-BDFE-C99F868BAA80}"/>
              </a:ext>
            </a:extLst>
          </p:cNvPr>
          <p:cNvSpPr>
            <a:spLocks xmlns:a="http://schemas.openxmlformats.org/drawingml/2006/main" noGrp="1"/>
          </p:cNvSpPr>
          <p:nvPr/>
        </p:nvSpPr>
        <p:spPr>
          <a:xfrm xmlns:a="http://schemas.openxmlformats.org/drawingml/2006/main">
            <a:off x="838200" y="2781300"/>
            <a:ext cx="19050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667085"/>
                </a:solidFill>
                <a:latin typeface="Aptos"/>
                <a:ea typeface="Aptos"/>
                <a:cs typeface="Aptos"/>
              </a:defRPr>
            </a:pPr>
            <a:r>
              <a:rPr sz="735" b="1">
                <a:solidFill>
                  <a:srgbClr val="667085"/>
                </a:solidFill>
                <a:latin typeface="Aptos"/>
                <a:ea typeface="Aptos"/>
                <a:cs typeface="Aptos"/>
              </a:rPr>
              <a:t>WHAT IT IS</a:t>
            </a:r>
          </a:p>
        </p:txBody>
      </p:sp>
      <p:sp>
        <p:nvSpPr>
          <p:cNvPr id="9" name="">
            <a:extLst xmlns:a="http://schemas.openxmlformats.org/drawingml/2006/main">
              <a:ext uri="{FF2B5EF4-FFF2-40B4-BE49-F238E27FC236}">
                <a16:creationId xmlns:a16="http://schemas.microsoft.com/office/drawing/2014/main" id="{14D96CDF-25D1-40A4-A899-9F01428FE45F}"/>
              </a:ext>
            </a:extLst>
          </p:cNvPr>
          <p:cNvSpPr>
            <a:spLocks xmlns:a="http://schemas.openxmlformats.org/drawingml/2006/main" noGrp="1"/>
          </p:cNvSpPr>
          <p:nvPr/>
        </p:nvSpPr>
        <p:spPr>
          <a:xfrm xmlns:a="http://schemas.openxmlformats.org/drawingml/2006/main">
            <a:off x="838200" y="3028950"/>
            <a:ext cx="27241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01820"/>
                </a:solidFill>
                <a:latin typeface="Aptos Display"/>
                <a:ea typeface="Aptos Display"/>
                <a:cs typeface="Aptos Display"/>
              </a:defRPr>
            </a:pPr>
            <a:r>
              <a:rPr sz="1800" b="1">
                <a:solidFill>
                  <a:srgbClr val="101820"/>
                </a:solidFill>
                <a:latin typeface="Aptos Display"/>
                <a:ea typeface="Aptos Display"/>
                <a:cs typeface="Aptos Display"/>
              </a:rPr>
              <a:t>Real Repo Task</a:t>
            </a:r>
          </a:p>
        </p:txBody>
      </p:sp>
      <p:sp>
        <p:nvSpPr>
          <p:cNvPr id="10" name="">
            <a:extLst xmlns:a="http://schemas.openxmlformats.org/drawingml/2006/main">
              <a:ext uri="{FF2B5EF4-FFF2-40B4-BE49-F238E27FC236}">
                <a16:creationId xmlns:a16="http://schemas.microsoft.com/office/drawing/2014/main" id="{42BDE2D8-C900-4277-BFBE-E05469A3DE76}"/>
              </a:ext>
            </a:extLst>
          </p:cNvPr>
          <p:cNvSpPr>
            <a:spLocks xmlns:a="http://schemas.openxmlformats.org/drawingml/2006/main" noGrp="1"/>
          </p:cNvSpPr>
          <p:nvPr/>
        </p:nvSpPr>
        <p:spPr>
          <a:xfrm xmlns:a="http://schemas.openxmlformats.org/drawingml/2006/main">
            <a:off x="838200" y="3638550"/>
            <a:ext cx="27241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35" b="0">
                <a:solidFill>
                  <a:srgbClr val="334155"/>
                </a:solidFill>
                <a:latin typeface="Aptos"/>
                <a:ea typeface="Aptos"/>
                <a:cs typeface="Aptos"/>
              </a:defRPr>
            </a:pPr>
            <a:r>
              <a:rPr sz="1035" b="0">
                <a:solidFill>
                  <a:srgbClr val="334155"/>
                </a:solidFill>
                <a:latin typeface="Aptos"/>
                <a:ea typeface="Aptos"/>
                <a:cs typeface="Aptos"/>
              </a:rPr>
              <a:t>A benchmark built around realistic software-engineering tasks with repo context, problem details, requirements, and tests.</a:t>
            </a:r>
          </a:p>
        </p:txBody>
      </p:sp>
      <p:sp>
        <p:nvSpPr>
          <p:cNvPr id="11" name="">
            <a:extLst xmlns:a="http://schemas.openxmlformats.org/drawingml/2006/main">
              <a:ext uri="{FF2B5EF4-FFF2-40B4-BE49-F238E27FC236}">
                <a16:creationId xmlns:a16="http://schemas.microsoft.com/office/drawing/2014/main" id="{CFF775F9-B243-45B6-85FE-F773EDCF9202}"/>
              </a:ext>
            </a:extLst>
          </p:cNvPr>
          <p:cNvSpPr>
            <a:spLocks xmlns:a="http://schemas.openxmlformats.org/drawingml/2006/main" noGrp="1"/>
          </p:cNvSpPr>
          <p:nvPr/>
        </p:nvSpPr>
        <p:spPr>
          <a:xfrm xmlns:a="http://schemas.openxmlformats.org/drawingml/2006/main">
            <a:off x="3867150" y="3371850"/>
            <a:ext cx="342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63" b="1">
                <a:solidFill>
                  <a:srgbClr val="2563EB"/>
                </a:solidFill>
                <a:latin typeface="Aptos Mono"/>
                <a:ea typeface="Aptos Mono"/>
                <a:cs typeface="Aptos Mono"/>
              </a:defRPr>
            </a:pPr>
            <a:r>
              <a:rPr sz="1163" b="1">
                <a:solidFill>
                  <a:srgbClr val="2563EB"/>
                </a:solidFill>
                <a:latin typeface="Aptos Mono"/>
                <a:ea typeface="Aptos Mono"/>
                <a:cs typeface="Aptos Mono"/>
              </a:rPr>
              <a:t>-&gt;</a:t>
            </a:r>
          </a:p>
        </p:txBody>
      </p:sp>
      <p:sp>
        <p:nvSpPr>
          <p:cNvPr id="12" name="">
            <a:extLst xmlns:a="http://schemas.openxmlformats.org/drawingml/2006/main">
              <a:ext uri="{FF2B5EF4-FFF2-40B4-BE49-F238E27FC236}">
                <a16:creationId xmlns:a16="http://schemas.microsoft.com/office/drawing/2014/main" id="{E532A804-A367-49B9-BA12-839BE773F37A}"/>
              </a:ext>
            </a:extLst>
          </p:cNvPr>
          <p:cNvSpPr>
            <a:spLocks xmlns:a="http://schemas.openxmlformats.org/drawingml/2006/main" noGrp="1"/>
          </p:cNvSpPr>
          <p:nvPr/>
        </p:nvSpPr>
        <p:spPr>
          <a:xfrm xmlns:a="http://schemas.openxmlformats.org/drawingml/2006/main">
            <a:off x="4324350" y="2495550"/>
            <a:ext cx="3200400" cy="2076450"/>
          </a:xfrm>
          <a:prstGeom xmlns:a="http://schemas.openxmlformats.org/drawingml/2006/main" prst="rect">
            <a:avLst/>
          </a:prstGeom>
          <a:solidFill xmlns:a="http://schemas.openxmlformats.org/drawingml/2006/main">
            <a:srgbClr val="FFFFFF"/>
          </a:solidFill>
          <a:ln xmlns:a="http://schemas.openxmlformats.org/drawingml/2006/main" w="19050">
            <a:solidFill>
              <a:srgbClr val="6D28D9"/>
            </a:solid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BED22052-9640-4E2E-A84B-93ACDFC07B09}"/>
              </a:ext>
            </a:extLst>
          </p:cNvPr>
          <p:cNvSpPr>
            <a:spLocks xmlns:a="http://schemas.openxmlformats.org/drawingml/2006/main" noGrp="1"/>
          </p:cNvSpPr>
          <p:nvPr/>
        </p:nvSpPr>
        <p:spPr>
          <a:xfrm xmlns:a="http://schemas.openxmlformats.org/drawingml/2006/main">
            <a:off x="4324350" y="2495550"/>
            <a:ext cx="3200400" cy="76200"/>
          </a:xfrm>
          <a:prstGeom xmlns:a="http://schemas.openxmlformats.org/drawingml/2006/main" prst="rect">
            <a:avLst/>
          </a:prstGeom>
          <a:solidFill xmlns:a="http://schemas.openxmlformats.org/drawingml/2006/main">
            <a:srgbClr val="6D28D9"/>
          </a:solidFill>
          <a:ln xmlns:a="http://schemas.openxmlformats.org/drawingml/2006/main" w="0">
            <a:solidFill>
              <a:srgbClr val="000000">
                <a:alpha val="0"/>
              </a:srgbClr>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AA494259-5476-4632-98D7-8091E232F5B4}"/>
              </a:ext>
            </a:extLst>
          </p:cNvPr>
          <p:cNvSpPr>
            <a:spLocks xmlns:a="http://schemas.openxmlformats.org/drawingml/2006/main" noGrp="1"/>
          </p:cNvSpPr>
          <p:nvPr/>
        </p:nvSpPr>
        <p:spPr>
          <a:xfrm xmlns:a="http://schemas.openxmlformats.org/drawingml/2006/main">
            <a:off x="4552950" y="2781300"/>
            <a:ext cx="19050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667085"/>
                </a:solidFill>
                <a:latin typeface="Aptos"/>
                <a:ea typeface="Aptos"/>
                <a:cs typeface="Aptos"/>
              </a:defRPr>
            </a:pPr>
            <a:r>
              <a:rPr sz="735" b="1">
                <a:solidFill>
                  <a:srgbClr val="667085"/>
                </a:solidFill>
                <a:latin typeface="Aptos"/>
                <a:ea typeface="Aptos"/>
                <a:cs typeface="Aptos"/>
              </a:rPr>
              <a:t>WHY WE USED IT</a:t>
            </a:r>
          </a:p>
        </p:txBody>
      </p:sp>
      <p:sp>
        <p:nvSpPr>
          <p:cNvPr id="15" name="">
            <a:extLst xmlns:a="http://schemas.openxmlformats.org/drawingml/2006/main">
              <a:ext uri="{FF2B5EF4-FFF2-40B4-BE49-F238E27FC236}">
                <a16:creationId xmlns:a16="http://schemas.microsoft.com/office/drawing/2014/main" id="{EDC14C13-EE05-44EE-B3B1-F0398C2470DB}"/>
              </a:ext>
            </a:extLst>
          </p:cNvPr>
          <p:cNvSpPr>
            <a:spLocks xmlns:a="http://schemas.openxmlformats.org/drawingml/2006/main" noGrp="1"/>
          </p:cNvSpPr>
          <p:nvPr/>
        </p:nvSpPr>
        <p:spPr>
          <a:xfrm xmlns:a="http://schemas.openxmlformats.org/drawingml/2006/main">
            <a:off x="4552950" y="3028950"/>
            <a:ext cx="27241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01820"/>
                </a:solidFill>
                <a:latin typeface="Aptos Display"/>
                <a:ea typeface="Aptos Display"/>
                <a:cs typeface="Aptos Display"/>
              </a:defRPr>
            </a:pPr>
            <a:r>
              <a:rPr sz="1575" b="1">
                <a:solidFill>
                  <a:srgbClr val="101820"/>
                </a:solidFill>
                <a:latin typeface="Aptos Display"/>
                <a:ea typeface="Aptos Display"/>
                <a:cs typeface="Aptos Display"/>
              </a:rPr>
              <a:t>Agent Workflow Stress Test</a:t>
            </a:r>
          </a:p>
        </p:txBody>
      </p:sp>
      <p:sp>
        <p:nvSpPr>
          <p:cNvPr id="16" name="">
            <a:extLst xmlns:a="http://schemas.openxmlformats.org/drawingml/2006/main">
              <a:ext uri="{FF2B5EF4-FFF2-40B4-BE49-F238E27FC236}">
                <a16:creationId xmlns:a16="http://schemas.microsoft.com/office/drawing/2014/main" id="{5F8599CF-2027-48A7-A297-F4B1971A2559}"/>
              </a:ext>
            </a:extLst>
          </p:cNvPr>
          <p:cNvSpPr>
            <a:spLocks xmlns:a="http://schemas.openxmlformats.org/drawingml/2006/main" noGrp="1"/>
          </p:cNvSpPr>
          <p:nvPr/>
        </p:nvSpPr>
        <p:spPr>
          <a:xfrm xmlns:a="http://schemas.openxmlformats.org/drawingml/2006/main">
            <a:off x="4552950" y="3638550"/>
            <a:ext cx="27241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35" b="0">
                <a:solidFill>
                  <a:srgbClr val="334155"/>
                </a:solidFill>
                <a:latin typeface="Aptos"/>
                <a:ea typeface="Aptos"/>
                <a:cs typeface="Aptos"/>
              </a:defRPr>
            </a:pPr>
            <a:r>
              <a:rPr sz="1035" b="0">
                <a:solidFill>
                  <a:srgbClr val="334155"/>
                </a:solidFill>
                <a:latin typeface="Aptos"/>
                <a:ea typeface="Aptos"/>
                <a:cs typeface="Aptos"/>
              </a:rPr>
              <a:t>It exercises prompt construction, tool use, runtime execution, and result capture instead of only testing text generation.</a:t>
            </a:r>
          </a:p>
        </p:txBody>
      </p:sp>
      <p:sp>
        <p:nvSpPr>
          <p:cNvPr id="17" name="">
            <a:extLst xmlns:a="http://schemas.openxmlformats.org/drawingml/2006/main">
              <a:ext uri="{FF2B5EF4-FFF2-40B4-BE49-F238E27FC236}">
                <a16:creationId xmlns:a16="http://schemas.microsoft.com/office/drawing/2014/main" id="{CF603C17-7A2B-4463-A749-C17C79B9E5FA}"/>
              </a:ext>
            </a:extLst>
          </p:cNvPr>
          <p:cNvSpPr>
            <a:spLocks xmlns:a="http://schemas.openxmlformats.org/drawingml/2006/main" noGrp="1"/>
          </p:cNvSpPr>
          <p:nvPr/>
        </p:nvSpPr>
        <p:spPr>
          <a:xfrm xmlns:a="http://schemas.openxmlformats.org/drawingml/2006/main">
            <a:off x="7581900" y="3371850"/>
            <a:ext cx="342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63" b="1">
                <a:solidFill>
                  <a:srgbClr val="6D28D9"/>
                </a:solidFill>
                <a:latin typeface="Aptos Mono"/>
                <a:ea typeface="Aptos Mono"/>
                <a:cs typeface="Aptos Mono"/>
              </a:defRPr>
            </a:pPr>
            <a:r>
              <a:rPr sz="1163" b="1">
                <a:solidFill>
                  <a:srgbClr val="6D28D9"/>
                </a:solidFill>
                <a:latin typeface="Aptos Mono"/>
                <a:ea typeface="Aptos Mono"/>
                <a:cs typeface="Aptos Mono"/>
              </a:rPr>
              <a:t>-&gt;</a:t>
            </a:r>
          </a:p>
        </p:txBody>
      </p:sp>
      <p:sp>
        <p:nvSpPr>
          <p:cNvPr id="18" name="">
            <a:extLst xmlns:a="http://schemas.openxmlformats.org/drawingml/2006/main">
              <a:ext uri="{FF2B5EF4-FFF2-40B4-BE49-F238E27FC236}">
                <a16:creationId xmlns:a16="http://schemas.microsoft.com/office/drawing/2014/main" id="{11556695-D4E2-47A0-B84C-3A1A52F9EC9C}"/>
              </a:ext>
            </a:extLst>
          </p:cNvPr>
          <p:cNvSpPr>
            <a:spLocks xmlns:a="http://schemas.openxmlformats.org/drawingml/2006/main" noGrp="1"/>
          </p:cNvSpPr>
          <p:nvPr/>
        </p:nvSpPr>
        <p:spPr>
          <a:xfrm xmlns:a="http://schemas.openxmlformats.org/drawingml/2006/main">
            <a:off x="8039100" y="2495550"/>
            <a:ext cx="3200400" cy="2076450"/>
          </a:xfrm>
          <a:prstGeom xmlns:a="http://schemas.openxmlformats.org/drawingml/2006/main" prst="rect">
            <a:avLst/>
          </a:prstGeom>
          <a:solidFill xmlns:a="http://schemas.openxmlformats.org/drawingml/2006/main">
            <a:srgbClr val="FFFFFF"/>
          </a:solidFill>
          <a:ln xmlns:a="http://schemas.openxmlformats.org/drawingml/2006/main" w="19050">
            <a:solidFill>
              <a:srgbClr val="0F9F6E"/>
            </a:solidFill>
            <a:prstDash val="solid"/>
          </a:ln>
        </p:spPr>
        <p:txBody xmlns:a="http://schemas.openxmlformats.org/drawingml/2006/main">
          <a:bodyPr/>
          <a:p/>
        </p:txBody>
      </p:sp>
      <p:sp>
        <p:nvSpPr>
          <p:cNvPr id="19" name="">
            <a:extLst xmlns:a="http://schemas.openxmlformats.org/drawingml/2006/main">
              <a:ext uri="{FF2B5EF4-FFF2-40B4-BE49-F238E27FC236}">
                <a16:creationId xmlns:a16="http://schemas.microsoft.com/office/drawing/2014/main" id="{8614D395-82ED-4110-B927-CAB6A0A8D679}"/>
              </a:ext>
            </a:extLst>
          </p:cNvPr>
          <p:cNvSpPr>
            <a:spLocks xmlns:a="http://schemas.openxmlformats.org/drawingml/2006/main" noGrp="1"/>
          </p:cNvSpPr>
          <p:nvPr/>
        </p:nvSpPr>
        <p:spPr>
          <a:xfrm xmlns:a="http://schemas.openxmlformats.org/drawingml/2006/main">
            <a:off x="8039100" y="2495550"/>
            <a:ext cx="3200400" cy="76200"/>
          </a:xfrm>
          <a:prstGeom xmlns:a="http://schemas.openxmlformats.org/drawingml/2006/main" prst="rect">
            <a:avLst/>
          </a:prstGeom>
          <a:solidFill xmlns:a="http://schemas.openxmlformats.org/drawingml/2006/main">
            <a:srgbClr val="0F9F6E"/>
          </a:solidFill>
          <a:ln xmlns:a="http://schemas.openxmlformats.org/drawingml/2006/main" w="0">
            <a:solidFill>
              <a:srgbClr val="000000">
                <a:alpha val="0"/>
              </a:srgbClr>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F009F305-0185-45EC-AB16-FC800E63D6C5}"/>
              </a:ext>
            </a:extLst>
          </p:cNvPr>
          <p:cNvSpPr>
            <a:spLocks xmlns:a="http://schemas.openxmlformats.org/drawingml/2006/main" noGrp="1"/>
          </p:cNvSpPr>
          <p:nvPr/>
        </p:nvSpPr>
        <p:spPr>
          <a:xfrm xmlns:a="http://schemas.openxmlformats.org/drawingml/2006/main">
            <a:off x="8267700" y="2781300"/>
            <a:ext cx="19050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667085"/>
                </a:solidFill>
                <a:latin typeface="Aptos"/>
                <a:ea typeface="Aptos"/>
                <a:cs typeface="Aptos"/>
              </a:defRPr>
            </a:pPr>
            <a:r>
              <a:rPr sz="735" b="1">
                <a:solidFill>
                  <a:srgbClr val="667085"/>
                </a:solidFill>
                <a:latin typeface="Aptos"/>
                <a:ea typeface="Aptos"/>
                <a:cs typeface="Aptos"/>
              </a:rPr>
              <a:t>WHY IT MATTERS HERE</a:t>
            </a:r>
          </a:p>
        </p:txBody>
      </p:sp>
      <p:sp>
        <p:nvSpPr>
          <p:cNvPr id="21" name="">
            <a:extLst xmlns:a="http://schemas.openxmlformats.org/drawingml/2006/main">
              <a:ext uri="{FF2B5EF4-FFF2-40B4-BE49-F238E27FC236}">
                <a16:creationId xmlns:a16="http://schemas.microsoft.com/office/drawing/2014/main" id="{B88FDB05-FBCC-4FD3-A5AC-40FC7B963160}"/>
              </a:ext>
            </a:extLst>
          </p:cNvPr>
          <p:cNvSpPr>
            <a:spLocks xmlns:a="http://schemas.openxmlformats.org/drawingml/2006/main" noGrp="1"/>
          </p:cNvSpPr>
          <p:nvPr/>
        </p:nvSpPr>
        <p:spPr>
          <a:xfrm xmlns:a="http://schemas.openxmlformats.org/drawingml/2006/main">
            <a:off x="8267700" y="3028950"/>
            <a:ext cx="27241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01820"/>
                </a:solidFill>
                <a:latin typeface="Aptos Display"/>
                <a:ea typeface="Aptos Display"/>
                <a:cs typeface="Aptos Display"/>
              </a:defRPr>
            </a:pPr>
            <a:r>
              <a:rPr sz="1575" b="1">
                <a:solidFill>
                  <a:srgbClr val="101820"/>
                </a:solidFill>
                <a:latin typeface="Aptos Display"/>
                <a:ea typeface="Aptos Display"/>
                <a:cs typeface="Aptos Display"/>
              </a:rPr>
              <a:t>End-to-End Observability</a:t>
            </a:r>
          </a:p>
        </p:txBody>
      </p:sp>
      <p:sp>
        <p:nvSpPr>
          <p:cNvPr id="22" name="">
            <a:extLst xmlns:a="http://schemas.openxmlformats.org/drawingml/2006/main">
              <a:ext uri="{FF2B5EF4-FFF2-40B4-BE49-F238E27FC236}">
                <a16:creationId xmlns:a16="http://schemas.microsoft.com/office/drawing/2014/main" id="{41B38B9B-8D32-4807-BBF8-03AF9EC37C7F}"/>
              </a:ext>
            </a:extLst>
          </p:cNvPr>
          <p:cNvSpPr>
            <a:spLocks xmlns:a="http://schemas.openxmlformats.org/drawingml/2006/main" noGrp="1"/>
          </p:cNvSpPr>
          <p:nvPr/>
        </p:nvSpPr>
        <p:spPr>
          <a:xfrm xmlns:a="http://schemas.openxmlformats.org/drawingml/2006/main">
            <a:off x="8267700" y="3638550"/>
            <a:ext cx="27241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35" b="0">
                <a:solidFill>
                  <a:srgbClr val="334155"/>
                </a:solidFill>
                <a:latin typeface="Aptos"/>
                <a:ea typeface="Aptos"/>
                <a:cs typeface="Aptos"/>
              </a:defRPr>
            </a:pPr>
            <a:r>
              <a:rPr sz="1035" b="0">
                <a:solidFill>
                  <a:srgbClr val="334155"/>
                </a:solidFill>
                <a:latin typeface="Aptos"/>
                <a:ea typeface="Aptos"/>
                <a:cs typeface="Aptos"/>
              </a:rPr>
              <a:t>It makes prompt growth and stage-by-stage transformation visible as the task moves through every layer.</a:t>
            </a:r>
          </a:p>
        </p:txBody>
      </p:sp>
      <p:sp>
        <p:nvSpPr>
          <p:cNvPr id="23" name="">
            <a:extLst xmlns:a="http://schemas.openxmlformats.org/drawingml/2006/main">
              <a:ext uri="{FF2B5EF4-FFF2-40B4-BE49-F238E27FC236}">
                <a16:creationId xmlns:a16="http://schemas.microsoft.com/office/drawing/2014/main" id="{1766781B-14F9-40D2-95CB-246DA3BE745A}"/>
              </a:ext>
            </a:extLst>
          </p:cNvPr>
          <p:cNvSpPr>
            <a:spLocks xmlns:a="http://schemas.openxmlformats.org/drawingml/2006/main" noGrp="1"/>
          </p:cNvSpPr>
          <p:nvPr/>
        </p:nvSpPr>
        <p:spPr>
          <a:xfrm xmlns:a="http://schemas.openxmlformats.org/drawingml/2006/main">
            <a:off x="609600" y="4953000"/>
            <a:ext cx="10972800" cy="685800"/>
          </a:xfrm>
          <a:prstGeom xmlns:a="http://schemas.openxmlformats.org/drawingml/2006/main" prst="rect">
            <a:avLst/>
          </a:prstGeom>
          <a:solidFill xmlns:a="http://schemas.openxmlformats.org/drawingml/2006/main">
            <a:srgbClr val="FBF8F2"/>
          </a:solidFill>
          <a:ln xmlns:a="http://schemas.openxmlformats.org/drawingml/2006/main" w="14288">
            <a:solidFill>
              <a:srgbClr val="D97706"/>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54FD2502-D847-4C6F-AC5B-3E266C9DE568}"/>
              </a:ext>
            </a:extLst>
          </p:cNvPr>
          <p:cNvSpPr>
            <a:spLocks xmlns:a="http://schemas.openxmlformats.org/drawingml/2006/main" noGrp="1"/>
          </p:cNvSpPr>
          <p:nvPr/>
        </p:nvSpPr>
        <p:spPr>
          <a:xfrm xmlns:a="http://schemas.openxmlformats.org/drawingml/2006/main">
            <a:off x="609600" y="4953000"/>
            <a:ext cx="76200" cy="68580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txBody xmlns:a="http://schemas.openxmlformats.org/drawingml/2006/main">
          <a:bodyPr/>
          <a:p/>
        </p:txBody>
      </p:sp>
      <p:sp>
        <p:nvSpPr>
          <p:cNvPr id="25" name="">
            <a:extLst xmlns:a="http://schemas.openxmlformats.org/drawingml/2006/main">
              <a:ext uri="{FF2B5EF4-FFF2-40B4-BE49-F238E27FC236}">
                <a16:creationId xmlns:a16="http://schemas.microsoft.com/office/drawing/2014/main" id="{C0EC6F82-705C-443D-AD02-250B3161E5D8}"/>
              </a:ext>
            </a:extLst>
          </p:cNvPr>
          <p:cNvSpPr>
            <a:spLocks xmlns:a="http://schemas.openxmlformats.org/drawingml/2006/main" noGrp="1"/>
          </p:cNvSpPr>
          <p:nvPr/>
        </p:nvSpPr>
        <p:spPr>
          <a:xfrm xmlns:a="http://schemas.openxmlformats.org/drawingml/2006/main">
            <a:off x="876300" y="5124450"/>
            <a:ext cx="1333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D97706"/>
                </a:solidFill>
                <a:latin typeface="Aptos"/>
                <a:ea typeface="Aptos"/>
                <a:cs typeface="Aptos"/>
              </a:defRPr>
            </a:pPr>
            <a:r>
              <a:rPr sz="863" b="1">
                <a:solidFill>
                  <a:srgbClr val="D97706"/>
                </a:solidFill>
                <a:latin typeface="Aptos"/>
                <a:ea typeface="Aptos"/>
                <a:cs typeface="Aptos"/>
              </a:rPr>
              <a:t>Experiment task</a:t>
            </a:r>
          </a:p>
        </p:txBody>
      </p:sp>
      <p:sp>
        <p:nvSpPr>
          <p:cNvPr id="26" name="">
            <a:extLst xmlns:a="http://schemas.openxmlformats.org/drawingml/2006/main">
              <a:ext uri="{FF2B5EF4-FFF2-40B4-BE49-F238E27FC236}">
                <a16:creationId xmlns:a16="http://schemas.microsoft.com/office/drawing/2014/main" id="{297AAB8C-8640-4B49-9D55-C123165AE921}"/>
              </a:ext>
            </a:extLst>
          </p:cNvPr>
          <p:cNvSpPr>
            <a:spLocks xmlns:a="http://schemas.openxmlformats.org/drawingml/2006/main" noGrp="1"/>
          </p:cNvSpPr>
          <p:nvPr/>
        </p:nvSpPr>
        <p:spPr>
          <a:xfrm xmlns:a="http://schemas.openxmlformats.org/drawingml/2006/main">
            <a:off x="2266950" y="5105400"/>
            <a:ext cx="4953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35" b="1">
                <a:solidFill>
                  <a:srgbClr val="101820"/>
                </a:solidFill>
                <a:latin typeface="Aptos"/>
                <a:ea typeface="Aptos"/>
                <a:cs typeface="Aptos"/>
              </a:defRPr>
            </a:pPr>
            <a:r>
              <a:rPr sz="1035" b="1">
                <a:solidFill>
                  <a:srgbClr val="101820"/>
                </a:solidFill>
                <a:latin typeface="Aptos"/>
                <a:ea typeface="Aptos"/>
                <a:cs typeface="Aptos"/>
              </a:rPr>
              <a:t>The next slide shows the exact NodeBB issue that traveled through the pipeline.</a:t>
            </a:r>
          </a:p>
        </p:txBody>
      </p:sp>
      <p:sp>
        <p:nvSpPr>
          <p:cNvPr id="27" name="">
            <a:extLst xmlns:a="http://schemas.openxmlformats.org/drawingml/2006/main">
              <a:ext uri="{FF2B5EF4-FFF2-40B4-BE49-F238E27FC236}">
                <a16:creationId xmlns:a16="http://schemas.microsoft.com/office/drawing/2014/main" id="{BFE66346-25BC-461D-9F84-D57B72A3F3EB}"/>
              </a:ext>
            </a:extLst>
          </p:cNvPr>
          <p:cNvSpPr>
            <a:spLocks xmlns:a="http://schemas.openxmlformats.org/drawingml/2006/main" noGrp="1"/>
          </p:cNvSpPr>
          <p:nvPr/>
        </p:nvSpPr>
        <p:spPr>
          <a:xfrm xmlns:a="http://schemas.openxmlformats.org/drawingml/2006/main">
            <a:off x="2266950" y="5372100"/>
            <a:ext cx="4381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334155"/>
                </a:solidFill>
                <a:latin typeface="Aptos"/>
                <a:ea typeface="Aptos"/>
                <a:cs typeface="Aptos"/>
              </a:defRPr>
            </a:pPr>
            <a:r>
              <a:rPr sz="900" b="0">
                <a:solidFill>
                  <a:srgbClr val="334155"/>
                </a:solidFill>
                <a:latin typeface="Aptos"/>
                <a:ea typeface="Aptos"/>
                <a:cs typeface="Aptos"/>
              </a:rPr>
              <a:t>Benchmark used: ScaleAI/SWE-bench_Pro</a:t>
            </a:r>
          </a:p>
        </p:txBody>
      </p:sp>
      <p:sp>
        <p:nvSpPr>
          <p:cNvPr id="28" name="">
            <a:extLst xmlns:a="http://schemas.openxmlformats.org/drawingml/2006/main">
              <a:ext uri="{FF2B5EF4-FFF2-40B4-BE49-F238E27FC236}">
                <a16:creationId xmlns:a16="http://schemas.microsoft.com/office/drawing/2014/main" id="{177DAC24-AD27-4CF9-86DB-D15A125322D1}"/>
              </a:ext>
            </a:extLst>
          </p:cNvPr>
          <p:cNvSpPr>
            <a:spLocks xmlns:a="http://schemas.openxmlformats.org/drawingml/2006/main" noGrp="1"/>
          </p:cNvSpPr>
          <p:nvPr/>
        </p:nvSpPr>
        <p:spPr>
          <a:xfrm xmlns:a="http://schemas.openxmlformats.org/drawingml/2006/main">
            <a:off x="7848600" y="5143500"/>
            <a:ext cx="3238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334155"/>
                </a:solidFill>
                <a:latin typeface="Aptos"/>
                <a:ea typeface="Aptos"/>
                <a:cs typeface="Aptos"/>
              </a:defRPr>
            </a:pPr>
            <a:r>
              <a:rPr sz="900" b="0">
                <a:solidFill>
                  <a:srgbClr val="334155"/>
                </a:solidFill>
                <a:latin typeface="Aptos"/>
                <a:ea typeface="Aptos"/>
                <a:cs typeface="Aptos"/>
              </a:rPr>
              <a:t>The task is realistic enough to expose prompt growth, request packaging, runtime preparation, and final behavior.</a:t>
            </a:r>
          </a:p>
        </p:txBody>
      </p:sp>
      <p:sp>
        <p:nvSpPr>
          <p:cNvPr id="29" name="">
            <a:extLst xmlns:a="http://schemas.openxmlformats.org/drawingml/2006/main">
              <a:ext uri="{FF2B5EF4-FFF2-40B4-BE49-F238E27FC236}">
                <a16:creationId xmlns:a16="http://schemas.microsoft.com/office/drawing/2014/main" id="{5C38E9C4-4067-4F80-B4B3-D21CC1558856}"/>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D1C8"/>
          </a:solidFill>
          <a:ln xmlns:a="http://schemas.openxmlformats.org/drawingml/2006/main" w="0">
            <a:solidFill>
              <a:srgbClr val="000000">
                <a:alpha val="0"/>
              </a:srgbClr>
            </a:solidFill>
            <a:prstDash val="solid"/>
          </a:ln>
        </p:spPr>
        <p:txBody xmlns:a="http://schemas.openxmlformats.org/drawingml/2006/main">
          <a:bodyPr/>
          <a:p/>
        </p:txBody>
      </p:sp>
      <p:sp>
        <p:nvSpPr>
          <p:cNvPr id="30" name="">
            <a:extLst xmlns:a="http://schemas.openxmlformats.org/drawingml/2006/main">
              <a:ext uri="{FF2B5EF4-FFF2-40B4-BE49-F238E27FC236}">
                <a16:creationId xmlns:a16="http://schemas.microsoft.com/office/drawing/2014/main" id="{A08748DF-3AAD-43EE-9306-79C39A162D43}"/>
              </a:ext>
            </a:extLst>
          </p:cNvPr>
          <p:cNvSpPr>
            <a:spLocks xmlns:a="http://schemas.openxmlformats.org/drawingml/2006/main" noGrp="1"/>
          </p:cNvSpPr>
          <p:nvPr/>
        </p:nvSpPr>
        <p:spPr>
          <a:xfrm xmlns:a="http://schemas.openxmlformats.org/drawingml/2006/main">
            <a:off x="609600" y="6477000"/>
            <a:ext cx="3238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667085"/>
                </a:solidFill>
                <a:latin typeface="Aptos"/>
                <a:ea typeface="Aptos"/>
                <a:cs typeface="Aptos"/>
              </a:defRPr>
            </a:pPr>
            <a:r>
              <a:rPr sz="825" b="1">
                <a:solidFill>
                  <a:srgbClr val="667085"/>
                </a:solidFill>
                <a:latin typeface="Aptos"/>
                <a:ea typeface="Aptos"/>
                <a:cs typeface="Aptos"/>
              </a:rPr>
              <a:t>PROMPT EVOLUTION</a:t>
            </a:r>
          </a:p>
        </p:txBody>
      </p:sp>
      <p:sp>
        <p:nvSpPr>
          <p:cNvPr id="31" name="">
            <a:extLst xmlns:a="http://schemas.openxmlformats.org/drawingml/2006/main">
              <a:ext uri="{FF2B5EF4-FFF2-40B4-BE49-F238E27FC236}">
                <a16:creationId xmlns:a16="http://schemas.microsoft.com/office/drawing/2014/main" id="{AD229418-B653-447B-A3E9-49A928AFF154}"/>
              </a:ext>
            </a:extLst>
          </p:cNvPr>
          <p:cNvSpPr>
            <a:spLocks xmlns:a="http://schemas.openxmlformats.org/drawingml/2006/main" noGrp="1"/>
          </p:cNvSpPr>
          <p:nvPr/>
        </p:nvSpPr>
        <p:spPr>
          <a:xfrm xmlns:a="http://schemas.openxmlformats.org/drawingml/2006/main">
            <a:off x="11087100" y="6477000"/>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1">
                <a:solidFill>
                  <a:srgbClr val="334155"/>
                </a:solidFill>
              </a:rPr>
              <a:t>03</a:t>
            </a:r>
          </a:p>
        </p:txBody>
      </p:sp>
    </p:spTree>
    <p:extLst>
      <p:ext uri="{BB962C8B-B14F-4D97-AF65-F5344CB8AC3E}">
        <p14:creationId xmlns:p14="http://schemas.microsoft.com/office/powerpoint/2010/main" val="22882363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80BB5D0-B601-4EA4-8FC3-38E16E2F340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56021B1-824D-4EBA-8134-AECD37553FAE}"/>
              </a:ext>
            </a:extLst>
          </p:cNvPr>
          <p:cNvSpPr>
            <a:spLocks xmlns:a="http://schemas.openxmlformats.org/drawingml/2006/main" noGrp="1"/>
          </p:cNvSpPr>
          <p:nvPr/>
        </p:nvSpPr>
        <p:spPr>
          <a:xfrm xmlns:a="http://schemas.openxmlformats.org/drawingml/2006/main">
            <a:off x="609600" y="495300"/>
            <a:ext cx="76200" cy="228600"/>
          </a:xfrm>
          <a:prstGeom xmlns:a="http://schemas.openxmlformats.org/drawingml/2006/main" prst="rect">
            <a:avLst/>
          </a:prstGeom>
          <a:solidFill xmlns:a="http://schemas.openxmlformats.org/drawingml/2006/main">
            <a:srgbClr val="6D28D9"/>
          </a:solidFill>
          <a:ln xmlns:a="http://schemas.openxmlformats.org/drawingml/2006/main" w="0">
            <a:solidFill>
              <a:srgbClr val="000000">
                <a:alpha val="0"/>
              </a:srgbClr>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92F988CE-3858-4122-BED9-4CBF02CE2AD1}"/>
              </a:ext>
            </a:extLst>
          </p:cNvPr>
          <p:cNvSpPr>
            <a:spLocks xmlns:a="http://schemas.openxmlformats.org/drawingml/2006/main" noGrp="1"/>
          </p:cNvSpPr>
          <p:nvPr/>
        </p:nvSpPr>
        <p:spPr>
          <a:xfrm xmlns:a="http://schemas.openxmlformats.org/drawingml/2006/main">
            <a:off x="800100" y="4953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67085"/>
                </a:solidFill>
                <a:latin typeface="Aptos"/>
                <a:ea typeface="Aptos"/>
                <a:cs typeface="Aptos"/>
              </a:defRPr>
            </a:pPr>
            <a:r>
              <a:rPr sz="900" b="1">
                <a:solidFill>
                  <a:srgbClr val="667085"/>
                </a:solidFill>
                <a:latin typeface="Aptos"/>
                <a:ea typeface="Aptos"/>
                <a:cs typeface="Aptos"/>
              </a:rPr>
              <a:t>EXPERIMENT TASK</a:t>
            </a:r>
          </a:p>
        </p:txBody>
      </p:sp>
      <p:sp>
        <p:nvSpPr>
          <p:cNvPr id="4" name="">
            <a:extLst xmlns:a="http://schemas.openxmlformats.org/drawingml/2006/main">
              <a:ext uri="{FF2B5EF4-FFF2-40B4-BE49-F238E27FC236}">
                <a16:creationId xmlns:a16="http://schemas.microsoft.com/office/drawing/2014/main" id="{0E80347F-6118-4E37-87DA-1709B1996435}"/>
              </a:ext>
            </a:extLst>
          </p:cNvPr>
          <p:cNvSpPr>
            <a:spLocks xmlns:a="http://schemas.openxmlformats.org/drawingml/2006/main" noGrp="1"/>
          </p:cNvSpPr>
          <p:nvPr/>
        </p:nvSpPr>
        <p:spPr>
          <a:xfrm xmlns:a="http://schemas.openxmlformats.org/drawingml/2006/main">
            <a:off x="609600" y="819150"/>
            <a:ext cx="100965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01820"/>
                </a:solidFill>
                <a:latin typeface="Aptos Display"/>
                <a:ea typeface="Aptos Display"/>
                <a:cs typeface="Aptos Display"/>
              </a:defRPr>
            </a:pPr>
            <a:r>
              <a:rPr sz="2850" b="1">
                <a:solidFill>
                  <a:srgbClr val="101820"/>
                </a:solidFill>
                <a:latin typeface="Aptos Display"/>
                <a:ea typeface="Aptos Display"/>
                <a:cs typeface="Aptos Display"/>
              </a:rPr>
              <a:t>The task asked the agent to fix a real NodeBB email validation bug.</a:t>
            </a:r>
          </a:p>
        </p:txBody>
      </p:sp>
      <p:sp>
        <p:nvSpPr>
          <p:cNvPr id="5" name="">
            <a:extLst xmlns:a="http://schemas.openxmlformats.org/drawingml/2006/main">
              <a:ext uri="{FF2B5EF4-FFF2-40B4-BE49-F238E27FC236}">
                <a16:creationId xmlns:a16="http://schemas.microsoft.com/office/drawing/2014/main" id="{8BD130C9-30C2-4E56-92B2-234E52306604}"/>
              </a:ext>
            </a:extLst>
          </p:cNvPr>
          <p:cNvSpPr>
            <a:spLocks xmlns:a="http://schemas.openxmlformats.org/drawingml/2006/main" noGrp="1"/>
          </p:cNvSpPr>
          <p:nvPr/>
        </p:nvSpPr>
        <p:spPr>
          <a:xfrm xmlns:a="http://schemas.openxmlformats.org/drawingml/2006/main">
            <a:off x="609600" y="1924050"/>
            <a:ext cx="7048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60" b="0">
                <a:solidFill>
                  <a:srgbClr val="334155"/>
                </a:solidFill>
                <a:latin typeface="Aptos"/>
                <a:ea typeface="Aptos"/>
                <a:cs typeface="Aptos"/>
              </a:defRPr>
            </a:pPr>
            <a:r>
              <a:rPr sz="1260" b="0">
                <a:solidFill>
                  <a:srgbClr val="334155"/>
                </a:solidFill>
                <a:latin typeface="Aptos"/>
                <a:ea typeface="Aptos"/>
                <a:cs typeface="Aptos"/>
              </a:rPr>
              <a:t>This is the concrete work item that entered the pipeline before it became a prompt, then a model request, then runtime behavior.</a:t>
            </a:r>
          </a:p>
        </p:txBody>
      </p:sp>
      <p:sp>
        <p:nvSpPr>
          <p:cNvPr id="6" name="">
            <a:extLst xmlns:a="http://schemas.openxmlformats.org/drawingml/2006/main">
              <a:ext uri="{FF2B5EF4-FFF2-40B4-BE49-F238E27FC236}">
                <a16:creationId xmlns:a16="http://schemas.microsoft.com/office/drawing/2014/main" id="{D56A4E04-D9F8-4103-A5D3-672BA93EDBC8}"/>
              </a:ext>
            </a:extLst>
          </p:cNvPr>
          <p:cNvSpPr>
            <a:spLocks xmlns:a="http://schemas.openxmlformats.org/drawingml/2006/main" noGrp="1"/>
          </p:cNvSpPr>
          <p:nvPr/>
        </p:nvSpPr>
        <p:spPr>
          <a:xfrm xmlns:a="http://schemas.openxmlformats.org/drawingml/2006/main">
            <a:off x="8324850" y="1771650"/>
            <a:ext cx="3257550" cy="476250"/>
          </a:xfrm>
          <a:prstGeom xmlns:a="http://schemas.openxmlformats.org/drawingml/2006/main" prst="rect">
            <a:avLst/>
          </a:prstGeom>
          <a:solidFill xmlns:a="http://schemas.openxmlformats.org/drawingml/2006/main">
            <a:srgbClr val="FFFFFF"/>
          </a:solidFill>
          <a:ln xmlns:a="http://schemas.openxmlformats.org/drawingml/2006/main" w="17145">
            <a:solidFill>
              <a:srgbClr val="1D4ED8"/>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666B3120-766C-416C-BD5D-AFF84B447DBE}"/>
              </a:ext>
            </a:extLst>
          </p:cNvPr>
          <p:cNvSpPr>
            <a:spLocks xmlns:a="http://schemas.openxmlformats.org/drawingml/2006/main" noGrp="1"/>
          </p:cNvSpPr>
          <p:nvPr/>
        </p:nvSpPr>
        <p:spPr>
          <a:xfrm xmlns:a="http://schemas.openxmlformats.org/drawingml/2006/main">
            <a:off x="8324850" y="1771650"/>
            <a:ext cx="76200" cy="476250"/>
          </a:xfrm>
          <a:prstGeom xmlns:a="http://schemas.openxmlformats.org/drawingml/2006/main" prst="rect">
            <a:avLst/>
          </a:prstGeom>
          <a:solidFill xmlns:a="http://schemas.openxmlformats.org/drawingml/2006/main">
            <a:srgbClr val="1D4ED8"/>
          </a:solidFill>
          <a:ln xmlns:a="http://schemas.openxmlformats.org/drawingml/2006/main" w="0">
            <a:solidFill>
              <a:srgbClr val="000000">
                <a:alpha val="0"/>
              </a:srgbClr>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1481E2C2-6001-4623-8E28-CD8125E2480D}"/>
              </a:ext>
            </a:extLst>
          </p:cNvPr>
          <p:cNvSpPr>
            <a:spLocks xmlns:a="http://schemas.openxmlformats.org/drawingml/2006/main" noGrp="1"/>
          </p:cNvSpPr>
          <p:nvPr/>
        </p:nvSpPr>
        <p:spPr>
          <a:xfrm xmlns:a="http://schemas.openxmlformats.org/drawingml/2006/main">
            <a:off x="8553450" y="1885950"/>
            <a:ext cx="12573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73" b="1">
                <a:solidFill>
                  <a:srgbClr val="667085"/>
                </a:solidFill>
                <a:latin typeface="Aptos"/>
                <a:ea typeface="Aptos"/>
                <a:cs typeface="Aptos"/>
              </a:defRPr>
            </a:pPr>
            <a:r>
              <a:rPr sz="773" b="1">
                <a:solidFill>
                  <a:srgbClr val="667085"/>
                </a:solidFill>
                <a:latin typeface="Aptos"/>
                <a:ea typeface="Aptos"/>
                <a:cs typeface="Aptos"/>
              </a:rPr>
              <a:t>LLM model used</a:t>
            </a:r>
          </a:p>
        </p:txBody>
      </p:sp>
      <p:sp>
        <p:nvSpPr>
          <p:cNvPr id="9" name="">
            <a:extLst xmlns:a="http://schemas.openxmlformats.org/drawingml/2006/main">
              <a:ext uri="{FF2B5EF4-FFF2-40B4-BE49-F238E27FC236}">
                <a16:creationId xmlns:a16="http://schemas.microsoft.com/office/drawing/2014/main" id="{8307F1C1-E036-49C6-8973-63B2F4490BF1}"/>
              </a:ext>
            </a:extLst>
          </p:cNvPr>
          <p:cNvSpPr>
            <a:spLocks xmlns:a="http://schemas.openxmlformats.org/drawingml/2006/main" noGrp="1"/>
          </p:cNvSpPr>
          <p:nvPr/>
        </p:nvSpPr>
        <p:spPr>
          <a:xfrm xmlns:a="http://schemas.openxmlformats.org/drawingml/2006/main">
            <a:off x="8553450" y="2000250"/>
            <a:ext cx="27241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1">
                <a:solidFill>
                  <a:srgbClr val="101820"/>
                </a:solidFill>
                <a:latin typeface="Aptos Mono"/>
                <a:ea typeface="Aptos Mono"/>
                <a:cs typeface="Aptos Mono"/>
              </a:defRPr>
            </a:pPr>
            <a:r>
              <a:rPr sz="1013" b="1">
                <a:solidFill>
                  <a:srgbClr val="101820"/>
                </a:solidFill>
                <a:latin typeface="Aptos Mono"/>
                <a:ea typeface="Aptos Mono"/>
                <a:cs typeface="Aptos Mono"/>
              </a:rPr>
              <a:t>Qwen/Qwen2.5-7B-Instruct</a:t>
            </a:r>
          </a:p>
        </p:txBody>
      </p:sp>
      <p:sp>
        <p:nvSpPr>
          <p:cNvPr id="10" name="">
            <a:extLst xmlns:a="http://schemas.openxmlformats.org/drawingml/2006/main">
              <a:ext uri="{FF2B5EF4-FFF2-40B4-BE49-F238E27FC236}">
                <a16:creationId xmlns:a16="http://schemas.microsoft.com/office/drawing/2014/main" id="{3FB52416-D419-4561-865F-810EA23C1E63}"/>
              </a:ext>
            </a:extLst>
          </p:cNvPr>
          <p:cNvSpPr>
            <a:spLocks xmlns:a="http://schemas.openxmlformats.org/drawingml/2006/main" noGrp="1"/>
          </p:cNvSpPr>
          <p:nvPr/>
        </p:nvSpPr>
        <p:spPr>
          <a:xfrm xmlns:a="http://schemas.openxmlformats.org/drawingml/2006/main">
            <a:off x="609600" y="2305050"/>
            <a:ext cx="4171950" cy="3162300"/>
          </a:xfrm>
          <a:prstGeom xmlns:a="http://schemas.openxmlformats.org/drawingml/2006/main" prst="rect">
            <a:avLst/>
          </a:prstGeom>
          <a:solidFill xmlns:a="http://schemas.openxmlformats.org/drawingml/2006/main">
            <a:srgbClr val="FFFFFF"/>
          </a:solidFill>
          <a:ln xmlns:a="http://schemas.openxmlformats.org/drawingml/2006/main" w="19050">
            <a:solidFill>
              <a:srgbClr val="2563EB"/>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E1A20804-35F4-48A3-AA30-1A77E923C7ED}"/>
              </a:ext>
            </a:extLst>
          </p:cNvPr>
          <p:cNvSpPr>
            <a:spLocks xmlns:a="http://schemas.openxmlformats.org/drawingml/2006/main" noGrp="1"/>
          </p:cNvSpPr>
          <p:nvPr/>
        </p:nvSpPr>
        <p:spPr>
          <a:xfrm xmlns:a="http://schemas.openxmlformats.org/drawingml/2006/main">
            <a:off x="609600" y="2305050"/>
            <a:ext cx="4171950" cy="76200"/>
          </a:xfrm>
          <a:prstGeom xmlns:a="http://schemas.openxmlformats.org/drawingml/2006/main" prst="rect">
            <a:avLst/>
          </a:prstGeom>
          <a:solidFill xmlns:a="http://schemas.openxmlformats.org/drawingml/2006/main">
            <a:srgbClr val="2563EB"/>
          </a:solidFill>
          <a:ln xmlns:a="http://schemas.openxmlformats.org/drawingml/2006/main" w="0">
            <a:solidFill>
              <a:srgbClr val="000000">
                <a:alpha val="0"/>
              </a:srgbClr>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B11D44E5-4E7B-4471-B03F-39DD0C6540D3}"/>
              </a:ext>
            </a:extLst>
          </p:cNvPr>
          <p:cNvSpPr>
            <a:spLocks xmlns:a="http://schemas.openxmlformats.org/drawingml/2006/main" noGrp="1"/>
          </p:cNvSpPr>
          <p:nvPr/>
        </p:nvSpPr>
        <p:spPr>
          <a:xfrm xmlns:a="http://schemas.openxmlformats.org/drawingml/2006/main">
            <a:off x="876300" y="2609850"/>
            <a:ext cx="3143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01820"/>
                </a:solidFill>
                <a:latin typeface="Aptos Display"/>
                <a:ea typeface="Aptos Display"/>
                <a:cs typeface="Aptos Display"/>
              </a:defRPr>
            </a:pPr>
            <a:r>
              <a:rPr sz="1500" b="1">
                <a:solidFill>
                  <a:srgbClr val="101820"/>
                </a:solidFill>
                <a:latin typeface="Aptos Display"/>
                <a:ea typeface="Aptos Display"/>
                <a:cs typeface="Aptos Display"/>
              </a:rPr>
              <a:t>What entered the system</a:t>
            </a:r>
          </a:p>
        </p:txBody>
      </p:sp>
      <p:sp>
        <p:nvSpPr>
          <p:cNvPr id="13" name="">
            <a:extLst xmlns:a="http://schemas.openxmlformats.org/drawingml/2006/main">
              <a:ext uri="{FF2B5EF4-FFF2-40B4-BE49-F238E27FC236}">
                <a16:creationId xmlns:a16="http://schemas.microsoft.com/office/drawing/2014/main" id="{DD046978-A2BA-4A9C-954D-ED76C4917458}"/>
              </a:ext>
            </a:extLst>
          </p:cNvPr>
          <p:cNvSpPr>
            <a:spLocks xmlns:a="http://schemas.openxmlformats.org/drawingml/2006/main" noGrp="1"/>
          </p:cNvSpPr>
          <p:nvPr/>
        </p:nvSpPr>
        <p:spPr>
          <a:xfrm xmlns:a="http://schemas.openxmlformats.org/drawingml/2006/main">
            <a:off x="876300" y="3028950"/>
            <a:ext cx="1047750" cy="123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95" b="1">
                <a:solidFill>
                  <a:srgbClr val="667085"/>
                </a:solidFill>
                <a:latin typeface="Aptos"/>
                <a:ea typeface="Aptos"/>
                <a:cs typeface="Aptos"/>
              </a:defRPr>
            </a:pPr>
            <a:r>
              <a:rPr sz="795" b="1">
                <a:solidFill>
                  <a:srgbClr val="667085"/>
                </a:solidFill>
                <a:latin typeface="Aptos"/>
                <a:ea typeface="Aptos"/>
                <a:cs typeface="Aptos"/>
              </a:rPr>
              <a:t>Repository</a:t>
            </a:r>
          </a:p>
        </p:txBody>
      </p:sp>
      <p:sp>
        <p:nvSpPr>
          <p:cNvPr id="14" name="">
            <a:extLst xmlns:a="http://schemas.openxmlformats.org/drawingml/2006/main">
              <a:ext uri="{FF2B5EF4-FFF2-40B4-BE49-F238E27FC236}">
                <a16:creationId xmlns:a16="http://schemas.microsoft.com/office/drawing/2014/main" id="{387B1891-A319-4E4E-8D01-42C1C173F695}"/>
              </a:ext>
            </a:extLst>
          </p:cNvPr>
          <p:cNvSpPr>
            <a:spLocks xmlns:a="http://schemas.openxmlformats.org/drawingml/2006/main" noGrp="1"/>
          </p:cNvSpPr>
          <p:nvPr/>
        </p:nvSpPr>
        <p:spPr>
          <a:xfrm xmlns:a="http://schemas.openxmlformats.org/drawingml/2006/main">
            <a:off x="2000250" y="3009900"/>
            <a:ext cx="2381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20" b="1">
                <a:solidFill>
                  <a:srgbClr val="101820"/>
                </a:solidFill>
                <a:latin typeface="Aptos"/>
                <a:ea typeface="Aptos"/>
                <a:cs typeface="Aptos"/>
              </a:defRPr>
            </a:pPr>
            <a:r>
              <a:rPr sz="1020" b="1">
                <a:solidFill>
                  <a:srgbClr val="101820"/>
                </a:solidFill>
                <a:latin typeface="Aptos"/>
                <a:ea typeface="Aptos"/>
                <a:cs typeface="Aptos"/>
              </a:rPr>
              <a:t>NodeBB/NodeBB</a:t>
            </a:r>
          </a:p>
        </p:txBody>
      </p:sp>
      <p:sp>
        <p:nvSpPr>
          <p:cNvPr id="15" name="">
            <a:extLst xmlns:a="http://schemas.openxmlformats.org/drawingml/2006/main">
              <a:ext uri="{FF2B5EF4-FFF2-40B4-BE49-F238E27FC236}">
                <a16:creationId xmlns:a16="http://schemas.microsoft.com/office/drawing/2014/main" id="{752D5F16-58F7-432F-8FF9-5202A2B921E7}"/>
              </a:ext>
            </a:extLst>
          </p:cNvPr>
          <p:cNvSpPr>
            <a:spLocks xmlns:a="http://schemas.openxmlformats.org/drawingml/2006/main" noGrp="1"/>
          </p:cNvSpPr>
          <p:nvPr/>
        </p:nvSpPr>
        <p:spPr>
          <a:xfrm xmlns:a="http://schemas.openxmlformats.org/drawingml/2006/main">
            <a:off x="876300" y="3371850"/>
            <a:ext cx="1047750" cy="123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95" b="1">
                <a:solidFill>
                  <a:srgbClr val="667085"/>
                </a:solidFill>
                <a:latin typeface="Aptos"/>
                <a:ea typeface="Aptos"/>
                <a:cs typeface="Aptos"/>
              </a:defRPr>
            </a:pPr>
            <a:r>
              <a:rPr sz="795" b="1">
                <a:solidFill>
                  <a:srgbClr val="667085"/>
                </a:solidFill>
                <a:latin typeface="Aptos"/>
                <a:ea typeface="Aptos"/>
                <a:cs typeface="Aptos"/>
              </a:rPr>
              <a:t>Task title</a:t>
            </a:r>
          </a:p>
        </p:txBody>
      </p:sp>
      <p:sp>
        <p:nvSpPr>
          <p:cNvPr id="16" name="">
            <a:extLst xmlns:a="http://schemas.openxmlformats.org/drawingml/2006/main">
              <a:ext uri="{FF2B5EF4-FFF2-40B4-BE49-F238E27FC236}">
                <a16:creationId xmlns:a16="http://schemas.microsoft.com/office/drawing/2014/main" id="{04C2F961-2E1B-4C20-B94D-8FC5291014A5}"/>
              </a:ext>
            </a:extLst>
          </p:cNvPr>
          <p:cNvSpPr>
            <a:spLocks xmlns:a="http://schemas.openxmlformats.org/drawingml/2006/main" noGrp="1"/>
          </p:cNvSpPr>
          <p:nvPr/>
        </p:nvSpPr>
        <p:spPr>
          <a:xfrm xmlns:a="http://schemas.openxmlformats.org/drawingml/2006/main">
            <a:off x="2000250" y="3333750"/>
            <a:ext cx="23431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01820"/>
                </a:solidFill>
                <a:latin typeface="Aptos"/>
                <a:ea typeface="Aptos"/>
                <a:cs typeface="Aptos"/>
              </a:defRPr>
            </a:pPr>
            <a:r>
              <a:rPr sz="975" b="1">
                <a:solidFill>
                  <a:srgbClr val="101820"/>
                </a:solidFill>
                <a:latin typeface="Aptos"/>
                <a:ea typeface="Aptos"/>
                <a:cs typeface="Aptos"/>
              </a:rPr>
              <a:t>Email Validation Status Not Handled Correctly in ACP and Confirmation Logic</a:t>
            </a:r>
          </a:p>
        </p:txBody>
      </p:sp>
      <p:sp>
        <p:nvSpPr>
          <p:cNvPr id="17" name="">
            <a:extLst xmlns:a="http://schemas.openxmlformats.org/drawingml/2006/main">
              <a:ext uri="{FF2B5EF4-FFF2-40B4-BE49-F238E27FC236}">
                <a16:creationId xmlns:a16="http://schemas.microsoft.com/office/drawing/2014/main" id="{318AF2FB-2579-4EEA-A82C-CF036E2A6FE4}"/>
              </a:ext>
            </a:extLst>
          </p:cNvPr>
          <p:cNvSpPr>
            <a:spLocks xmlns:a="http://schemas.openxmlformats.org/drawingml/2006/main" noGrp="1"/>
          </p:cNvSpPr>
          <p:nvPr/>
        </p:nvSpPr>
        <p:spPr>
          <a:xfrm xmlns:a="http://schemas.openxmlformats.org/drawingml/2006/main">
            <a:off x="876300" y="3962400"/>
            <a:ext cx="2000250" cy="123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95" b="1">
                <a:solidFill>
                  <a:srgbClr val="667085"/>
                </a:solidFill>
                <a:latin typeface="Aptos"/>
                <a:ea typeface="Aptos"/>
                <a:cs typeface="Aptos"/>
              </a:defRPr>
            </a:pPr>
            <a:r>
              <a:rPr sz="795" b="1">
                <a:solidFill>
                  <a:srgbClr val="667085"/>
                </a:solidFill>
                <a:latin typeface="Aptos"/>
                <a:ea typeface="Aptos"/>
                <a:cs typeface="Aptos"/>
              </a:rPr>
              <a:t>Problem in simple words</a:t>
            </a:r>
          </a:p>
        </p:txBody>
      </p:sp>
      <p:sp>
        <p:nvSpPr>
          <p:cNvPr id="18" name="">
            <a:extLst xmlns:a="http://schemas.openxmlformats.org/drawingml/2006/main">
              <a:ext uri="{FF2B5EF4-FFF2-40B4-BE49-F238E27FC236}">
                <a16:creationId xmlns:a16="http://schemas.microsoft.com/office/drawing/2014/main" id="{412A1FE8-812B-4E1F-9C74-80D64A5F605B}"/>
              </a:ext>
            </a:extLst>
          </p:cNvPr>
          <p:cNvSpPr>
            <a:spLocks xmlns:a="http://schemas.openxmlformats.org/drawingml/2006/main" noGrp="1"/>
          </p:cNvSpPr>
          <p:nvPr/>
        </p:nvSpPr>
        <p:spPr>
          <a:xfrm xmlns:a="http://schemas.openxmlformats.org/drawingml/2006/main">
            <a:off x="876300" y="4171950"/>
            <a:ext cx="34290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82" b="0">
                <a:solidFill>
                  <a:srgbClr val="334155"/>
                </a:solidFill>
                <a:latin typeface="Aptos"/>
                <a:ea typeface="Aptos"/>
                <a:cs typeface="Aptos"/>
              </a:defRPr>
            </a:pPr>
            <a:r>
              <a:rPr sz="982" b="0">
                <a:solidFill>
                  <a:srgbClr val="334155"/>
                </a:solidFill>
                <a:latin typeface="Aptos"/>
                <a:ea typeface="Aptos"/>
                <a:cs typeface="Aptos"/>
              </a:rPr>
              <a:t>In NodeBB's Admin Control Panel, email validation status could show incorrectly, and admin actions like validate or resend email could fail when confirmation keys expired or email data was missing.</a:t>
            </a:r>
          </a:p>
        </p:txBody>
      </p:sp>
      <p:sp>
        <p:nvSpPr>
          <p:cNvPr id="19" name="">
            <a:extLst xmlns:a="http://schemas.openxmlformats.org/drawingml/2006/main">
              <a:ext uri="{FF2B5EF4-FFF2-40B4-BE49-F238E27FC236}">
                <a16:creationId xmlns:a16="http://schemas.microsoft.com/office/drawing/2014/main" id="{B5F7C491-642C-4603-BD3A-8FC13E90A0D5}"/>
              </a:ext>
            </a:extLst>
          </p:cNvPr>
          <p:cNvSpPr>
            <a:spLocks xmlns:a="http://schemas.openxmlformats.org/drawingml/2006/main" noGrp="1"/>
          </p:cNvSpPr>
          <p:nvPr/>
        </p:nvSpPr>
        <p:spPr>
          <a:xfrm xmlns:a="http://schemas.openxmlformats.org/drawingml/2006/main">
            <a:off x="876300" y="5048250"/>
            <a:ext cx="1047750" cy="123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95" b="1">
                <a:solidFill>
                  <a:srgbClr val="667085"/>
                </a:solidFill>
                <a:latin typeface="Aptos"/>
                <a:ea typeface="Aptos"/>
                <a:cs typeface="Aptos"/>
              </a:defRPr>
            </a:pPr>
            <a:r>
              <a:rPr sz="795" b="1">
                <a:solidFill>
                  <a:srgbClr val="667085"/>
                </a:solidFill>
                <a:latin typeface="Aptos"/>
                <a:ea typeface="Aptos"/>
                <a:cs typeface="Aptos"/>
              </a:rPr>
              <a:t>Selected tests</a:t>
            </a:r>
          </a:p>
        </p:txBody>
      </p:sp>
      <p:sp>
        <p:nvSpPr>
          <p:cNvPr id="20" name="">
            <a:extLst xmlns:a="http://schemas.openxmlformats.org/drawingml/2006/main">
              <a:ext uri="{FF2B5EF4-FFF2-40B4-BE49-F238E27FC236}">
                <a16:creationId xmlns:a16="http://schemas.microsoft.com/office/drawing/2014/main" id="{66B52EAD-F5C2-4C60-9852-A5368D946D8A}"/>
              </a:ext>
            </a:extLst>
          </p:cNvPr>
          <p:cNvSpPr>
            <a:spLocks xmlns:a="http://schemas.openxmlformats.org/drawingml/2006/main" noGrp="1"/>
          </p:cNvSpPr>
          <p:nvPr/>
        </p:nvSpPr>
        <p:spPr>
          <a:xfrm xmlns:a="http://schemas.openxmlformats.org/drawingml/2006/main">
            <a:off x="2000250" y="4991100"/>
            <a:ext cx="23812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334155"/>
                </a:solidFill>
                <a:latin typeface="Aptos Mono"/>
                <a:ea typeface="Aptos Mono"/>
                <a:cs typeface="Aptos Mono"/>
              </a:defRPr>
            </a:pPr>
            <a:r>
              <a:rPr sz="825" b="0">
                <a:solidFill>
                  <a:srgbClr val="334155"/>
                </a:solidFill>
                <a:latin typeface="Aptos Mono"/>
                <a:ea typeface="Aptos Mono"/>
                <a:cs typeface="Aptos Mono"/>
              </a:rPr>
              <a:t>test/database.js, test/database/keys.js, test/user/emails.js</a:t>
            </a:r>
          </a:p>
        </p:txBody>
      </p:sp>
      <p:sp>
        <p:nvSpPr>
          <p:cNvPr id="21" name="">
            <a:extLst xmlns:a="http://schemas.openxmlformats.org/drawingml/2006/main">
              <a:ext uri="{FF2B5EF4-FFF2-40B4-BE49-F238E27FC236}">
                <a16:creationId xmlns:a16="http://schemas.microsoft.com/office/drawing/2014/main" id="{6120DF1C-FF22-43C1-A65F-1B15606D5732}"/>
              </a:ext>
            </a:extLst>
          </p:cNvPr>
          <p:cNvSpPr>
            <a:spLocks xmlns:a="http://schemas.openxmlformats.org/drawingml/2006/main" noGrp="1"/>
          </p:cNvSpPr>
          <p:nvPr/>
        </p:nvSpPr>
        <p:spPr>
          <a:xfrm xmlns:a="http://schemas.openxmlformats.org/drawingml/2006/main">
            <a:off x="5124450" y="2305050"/>
            <a:ext cx="2857500" cy="3162300"/>
          </a:xfrm>
          <a:prstGeom xmlns:a="http://schemas.openxmlformats.org/drawingml/2006/main" prst="rect">
            <a:avLst/>
          </a:prstGeom>
          <a:solidFill xmlns:a="http://schemas.openxmlformats.org/drawingml/2006/main">
            <a:srgbClr val="FBF8F2"/>
          </a:solidFill>
          <a:ln xmlns:a="http://schemas.openxmlformats.org/drawingml/2006/main" w="19050">
            <a:solidFill>
              <a:srgbClr val="D97706"/>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EA80E044-4662-4DED-8FEC-173D493E9900}"/>
              </a:ext>
            </a:extLst>
          </p:cNvPr>
          <p:cNvSpPr>
            <a:spLocks xmlns:a="http://schemas.openxmlformats.org/drawingml/2006/main" noGrp="1"/>
          </p:cNvSpPr>
          <p:nvPr/>
        </p:nvSpPr>
        <p:spPr>
          <a:xfrm xmlns:a="http://schemas.openxmlformats.org/drawingml/2006/main">
            <a:off x="5124450" y="2305050"/>
            <a:ext cx="2857500" cy="7620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2025C722-88BC-4B7C-9F1D-3C4548C87142}"/>
              </a:ext>
            </a:extLst>
          </p:cNvPr>
          <p:cNvSpPr>
            <a:spLocks xmlns:a="http://schemas.openxmlformats.org/drawingml/2006/main" noGrp="1"/>
          </p:cNvSpPr>
          <p:nvPr/>
        </p:nvSpPr>
        <p:spPr>
          <a:xfrm xmlns:a="http://schemas.openxmlformats.org/drawingml/2006/main">
            <a:off x="5391150" y="2609850"/>
            <a:ext cx="2286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01820"/>
                </a:solidFill>
                <a:latin typeface="Aptos Display"/>
                <a:ea typeface="Aptos Display"/>
                <a:cs typeface="Aptos Display"/>
              </a:defRPr>
            </a:pPr>
            <a:r>
              <a:rPr sz="1500" b="1">
                <a:solidFill>
                  <a:srgbClr val="101820"/>
                </a:solidFill>
                <a:latin typeface="Aptos Display"/>
                <a:ea typeface="Aptos Display"/>
                <a:cs typeface="Aptos Display"/>
              </a:rPr>
              <a:t>What was going wrong</a:t>
            </a:r>
          </a:p>
        </p:txBody>
      </p:sp>
      <p:sp>
        <p:nvSpPr>
          <p:cNvPr id="24" name="">
            <a:extLst xmlns:a="http://schemas.openxmlformats.org/drawingml/2006/main">
              <a:ext uri="{FF2B5EF4-FFF2-40B4-BE49-F238E27FC236}">
                <a16:creationId xmlns:a16="http://schemas.microsoft.com/office/drawing/2014/main" id="{2D2C2608-DB5B-4E3F-B4F7-1007F3549E82}"/>
              </a:ext>
            </a:extLst>
          </p:cNvPr>
          <p:cNvSpPr>
            <a:spLocks xmlns:a="http://schemas.openxmlformats.org/drawingml/2006/main" noGrp="1"/>
          </p:cNvSpPr>
          <p:nvPr/>
        </p:nvSpPr>
        <p:spPr>
          <a:xfrm xmlns:a="http://schemas.openxmlformats.org/drawingml/2006/main">
            <a:off x="5391150" y="3086100"/>
            <a:ext cx="247650" cy="24765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txBody xmlns:a="http://schemas.openxmlformats.org/drawingml/2006/main">
          <a:bodyPr/>
          <a:p/>
        </p:txBody>
      </p:sp>
      <p:sp>
        <p:nvSpPr>
          <p:cNvPr id="25" name="">
            <a:extLst xmlns:a="http://schemas.openxmlformats.org/drawingml/2006/main">
              <a:ext uri="{FF2B5EF4-FFF2-40B4-BE49-F238E27FC236}">
                <a16:creationId xmlns:a16="http://schemas.microsoft.com/office/drawing/2014/main" id="{E0D2D0C3-A11A-4CEF-A339-1B47D89C42B4}"/>
              </a:ext>
            </a:extLst>
          </p:cNvPr>
          <p:cNvSpPr>
            <a:spLocks xmlns:a="http://schemas.openxmlformats.org/drawingml/2006/main" noGrp="1"/>
          </p:cNvSpPr>
          <p:nvPr/>
        </p:nvSpPr>
        <p:spPr>
          <a:xfrm xmlns:a="http://schemas.openxmlformats.org/drawingml/2006/main">
            <a:off x="5391150" y="3143250"/>
            <a:ext cx="2476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ptos Mono"/>
                <a:ea typeface="Aptos Mono"/>
                <a:cs typeface="Aptos Mono"/>
              </a:defRPr>
            </a:pPr>
            <a:r>
              <a:rPr sz="750" b="1">
                <a:solidFill>
                  <a:srgbClr val="FFFFFF"/>
                </a:solidFill>
                <a:latin typeface="Aptos Mono"/>
                <a:ea typeface="Aptos Mono"/>
                <a:cs typeface="Aptos Mono"/>
              </a:rPr>
              <a:t>1</a:t>
            </a:r>
          </a:p>
        </p:txBody>
      </p:sp>
      <p:sp>
        <p:nvSpPr>
          <p:cNvPr id="26" name="">
            <a:extLst xmlns:a="http://schemas.openxmlformats.org/drawingml/2006/main">
              <a:ext uri="{FF2B5EF4-FFF2-40B4-BE49-F238E27FC236}">
                <a16:creationId xmlns:a16="http://schemas.microsoft.com/office/drawing/2014/main" id="{79E5D393-1D44-486D-B05B-2FCA0885A09B}"/>
              </a:ext>
            </a:extLst>
          </p:cNvPr>
          <p:cNvSpPr>
            <a:spLocks xmlns:a="http://schemas.openxmlformats.org/drawingml/2006/main" noGrp="1"/>
          </p:cNvSpPr>
          <p:nvPr/>
        </p:nvSpPr>
        <p:spPr>
          <a:xfrm xmlns:a="http://schemas.openxmlformats.org/drawingml/2006/main">
            <a:off x="5772150" y="3086100"/>
            <a:ext cx="18097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0" b="0">
                <a:solidFill>
                  <a:srgbClr val="334155"/>
                </a:solidFill>
                <a:latin typeface="Aptos"/>
                <a:ea typeface="Aptos"/>
                <a:cs typeface="Aptos"/>
              </a:defRPr>
            </a:pPr>
            <a:r>
              <a:rPr sz="930" b="0">
                <a:solidFill>
                  <a:srgbClr val="334155"/>
                </a:solidFill>
                <a:latin typeface="Aptos"/>
                <a:ea typeface="Aptos"/>
                <a:cs typeface="Aptos"/>
              </a:rPr>
              <a:t>Expired confirmation keys blocked validation.</a:t>
            </a:r>
          </a:p>
        </p:txBody>
      </p:sp>
      <p:sp>
        <p:nvSpPr>
          <p:cNvPr id="27" name="">
            <a:extLst xmlns:a="http://schemas.openxmlformats.org/drawingml/2006/main">
              <a:ext uri="{FF2B5EF4-FFF2-40B4-BE49-F238E27FC236}">
                <a16:creationId xmlns:a16="http://schemas.microsoft.com/office/drawing/2014/main" id="{6C136F0B-8CF9-4B7A-BD72-F542D4D8DDA2}"/>
              </a:ext>
            </a:extLst>
          </p:cNvPr>
          <p:cNvSpPr>
            <a:spLocks xmlns:a="http://schemas.openxmlformats.org/drawingml/2006/main" noGrp="1"/>
          </p:cNvSpPr>
          <p:nvPr/>
        </p:nvSpPr>
        <p:spPr>
          <a:xfrm xmlns:a="http://schemas.openxmlformats.org/drawingml/2006/main">
            <a:off x="5391150" y="3600450"/>
            <a:ext cx="247650" cy="24765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txBody xmlns:a="http://schemas.openxmlformats.org/drawingml/2006/main">
          <a:bodyPr/>
          <a:p/>
        </p:txBody>
      </p:sp>
      <p:sp>
        <p:nvSpPr>
          <p:cNvPr id="28" name="">
            <a:extLst xmlns:a="http://schemas.openxmlformats.org/drawingml/2006/main">
              <a:ext uri="{FF2B5EF4-FFF2-40B4-BE49-F238E27FC236}">
                <a16:creationId xmlns:a16="http://schemas.microsoft.com/office/drawing/2014/main" id="{F6A027EE-3FCF-4C5F-AA2E-18DF7F2BB81B}"/>
              </a:ext>
            </a:extLst>
          </p:cNvPr>
          <p:cNvSpPr>
            <a:spLocks xmlns:a="http://schemas.openxmlformats.org/drawingml/2006/main" noGrp="1"/>
          </p:cNvSpPr>
          <p:nvPr/>
        </p:nvSpPr>
        <p:spPr>
          <a:xfrm xmlns:a="http://schemas.openxmlformats.org/drawingml/2006/main">
            <a:off x="5391150" y="3657600"/>
            <a:ext cx="2476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ptos Mono"/>
                <a:ea typeface="Aptos Mono"/>
                <a:cs typeface="Aptos Mono"/>
              </a:defRPr>
            </a:pPr>
            <a:r>
              <a:rPr sz="750" b="1">
                <a:solidFill>
                  <a:srgbClr val="FFFFFF"/>
                </a:solidFill>
                <a:latin typeface="Aptos Mono"/>
                <a:ea typeface="Aptos Mono"/>
                <a:cs typeface="Aptos Mono"/>
              </a:rPr>
              <a:t>2</a:t>
            </a:r>
          </a:p>
        </p:txBody>
      </p:sp>
      <p:sp>
        <p:nvSpPr>
          <p:cNvPr id="29" name="">
            <a:extLst xmlns:a="http://schemas.openxmlformats.org/drawingml/2006/main">
              <a:ext uri="{FF2B5EF4-FFF2-40B4-BE49-F238E27FC236}">
                <a16:creationId xmlns:a16="http://schemas.microsoft.com/office/drawing/2014/main" id="{4FADEF6D-4A17-427D-8459-31810B282871}"/>
              </a:ext>
            </a:extLst>
          </p:cNvPr>
          <p:cNvSpPr>
            <a:spLocks xmlns:a="http://schemas.openxmlformats.org/drawingml/2006/main" noGrp="1"/>
          </p:cNvSpPr>
          <p:nvPr/>
        </p:nvSpPr>
        <p:spPr>
          <a:xfrm xmlns:a="http://schemas.openxmlformats.org/drawingml/2006/main">
            <a:off x="5772150" y="3600450"/>
            <a:ext cx="18097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0" b="0">
                <a:solidFill>
                  <a:srgbClr val="334155"/>
                </a:solidFill>
                <a:latin typeface="Aptos"/>
                <a:ea typeface="Aptos"/>
                <a:cs typeface="Aptos"/>
              </a:defRPr>
            </a:pPr>
            <a:r>
              <a:rPr sz="930" b="0">
                <a:solidFill>
                  <a:srgbClr val="334155"/>
                </a:solidFill>
                <a:latin typeface="Aptos"/>
                <a:ea typeface="Aptos"/>
                <a:cs typeface="Aptos"/>
              </a:rPr>
              <a:t>ACP status could be unclear or wrong.</a:t>
            </a:r>
          </a:p>
        </p:txBody>
      </p:sp>
      <p:sp>
        <p:nvSpPr>
          <p:cNvPr id="30" name="">
            <a:extLst xmlns:a="http://schemas.openxmlformats.org/drawingml/2006/main">
              <a:ext uri="{FF2B5EF4-FFF2-40B4-BE49-F238E27FC236}">
                <a16:creationId xmlns:a16="http://schemas.microsoft.com/office/drawing/2014/main" id="{DD4D39B3-65A2-4B24-AE05-D9C7522C9C1C}"/>
              </a:ext>
            </a:extLst>
          </p:cNvPr>
          <p:cNvSpPr>
            <a:spLocks xmlns:a="http://schemas.openxmlformats.org/drawingml/2006/main" noGrp="1"/>
          </p:cNvSpPr>
          <p:nvPr/>
        </p:nvSpPr>
        <p:spPr>
          <a:xfrm xmlns:a="http://schemas.openxmlformats.org/drawingml/2006/main">
            <a:off x="5391150" y="4114800"/>
            <a:ext cx="247650" cy="24765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txBody xmlns:a="http://schemas.openxmlformats.org/drawingml/2006/main">
          <a:bodyPr/>
          <a:p/>
        </p:txBody>
      </p:sp>
      <p:sp>
        <p:nvSpPr>
          <p:cNvPr id="31" name="">
            <a:extLst xmlns:a="http://schemas.openxmlformats.org/drawingml/2006/main">
              <a:ext uri="{FF2B5EF4-FFF2-40B4-BE49-F238E27FC236}">
                <a16:creationId xmlns:a16="http://schemas.microsoft.com/office/drawing/2014/main" id="{2F91D675-6743-46A4-98FD-0284FF616DA0}"/>
              </a:ext>
            </a:extLst>
          </p:cNvPr>
          <p:cNvSpPr>
            <a:spLocks xmlns:a="http://schemas.openxmlformats.org/drawingml/2006/main" noGrp="1"/>
          </p:cNvSpPr>
          <p:nvPr/>
        </p:nvSpPr>
        <p:spPr>
          <a:xfrm xmlns:a="http://schemas.openxmlformats.org/drawingml/2006/main">
            <a:off x="5391150" y="4171950"/>
            <a:ext cx="2476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ptos Mono"/>
                <a:ea typeface="Aptos Mono"/>
                <a:cs typeface="Aptos Mono"/>
              </a:defRPr>
            </a:pPr>
            <a:r>
              <a:rPr sz="750" b="1">
                <a:solidFill>
                  <a:srgbClr val="FFFFFF"/>
                </a:solidFill>
                <a:latin typeface="Aptos Mono"/>
                <a:ea typeface="Aptos Mono"/>
                <a:cs typeface="Aptos Mono"/>
              </a:rPr>
              <a:t>3</a:t>
            </a:r>
          </a:p>
        </p:txBody>
      </p:sp>
      <p:sp>
        <p:nvSpPr>
          <p:cNvPr id="32" name="">
            <a:extLst xmlns:a="http://schemas.openxmlformats.org/drawingml/2006/main">
              <a:ext uri="{FF2B5EF4-FFF2-40B4-BE49-F238E27FC236}">
                <a16:creationId xmlns:a16="http://schemas.microsoft.com/office/drawing/2014/main" id="{F8CE5D16-372A-4924-ACF2-5D2EEFA60226}"/>
              </a:ext>
            </a:extLst>
          </p:cNvPr>
          <p:cNvSpPr>
            <a:spLocks xmlns:a="http://schemas.openxmlformats.org/drawingml/2006/main" noGrp="1"/>
          </p:cNvSpPr>
          <p:nvPr/>
        </p:nvSpPr>
        <p:spPr>
          <a:xfrm xmlns:a="http://schemas.openxmlformats.org/drawingml/2006/main">
            <a:off x="5772150" y="4114800"/>
            <a:ext cx="18097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0" b="0">
                <a:solidFill>
                  <a:srgbClr val="334155"/>
                </a:solidFill>
                <a:latin typeface="Aptos"/>
                <a:ea typeface="Aptos"/>
                <a:cs typeface="Aptos"/>
              </a:defRPr>
            </a:pPr>
            <a:r>
              <a:rPr sz="930" b="0">
                <a:solidFill>
                  <a:srgbClr val="334155"/>
                </a:solidFill>
                <a:latin typeface="Aptos"/>
                <a:ea typeface="Aptos"/>
                <a:cs typeface="Aptos"/>
              </a:rPr>
              <a:t>Validate and resend actions could fail.</a:t>
            </a:r>
          </a:p>
        </p:txBody>
      </p:sp>
      <p:sp>
        <p:nvSpPr>
          <p:cNvPr id="33" name="">
            <a:extLst xmlns:a="http://schemas.openxmlformats.org/drawingml/2006/main">
              <a:ext uri="{FF2B5EF4-FFF2-40B4-BE49-F238E27FC236}">
                <a16:creationId xmlns:a16="http://schemas.microsoft.com/office/drawing/2014/main" id="{1F3BC228-2AA8-43C1-95BB-D98347101EB9}"/>
              </a:ext>
            </a:extLst>
          </p:cNvPr>
          <p:cNvSpPr>
            <a:spLocks xmlns:a="http://schemas.openxmlformats.org/drawingml/2006/main" noGrp="1"/>
          </p:cNvSpPr>
          <p:nvPr/>
        </p:nvSpPr>
        <p:spPr>
          <a:xfrm xmlns:a="http://schemas.openxmlformats.org/drawingml/2006/main">
            <a:off x="5391150" y="4629150"/>
            <a:ext cx="247650" cy="24765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txBody xmlns:a="http://schemas.openxmlformats.org/drawingml/2006/main">
          <a:bodyPr/>
          <a:p/>
        </p:txBody>
      </p:sp>
      <p:sp>
        <p:nvSpPr>
          <p:cNvPr id="34" name="">
            <a:extLst xmlns:a="http://schemas.openxmlformats.org/drawingml/2006/main">
              <a:ext uri="{FF2B5EF4-FFF2-40B4-BE49-F238E27FC236}">
                <a16:creationId xmlns:a16="http://schemas.microsoft.com/office/drawing/2014/main" id="{E67915EF-92D2-48DE-944C-D4E139AD2DCF}"/>
              </a:ext>
            </a:extLst>
          </p:cNvPr>
          <p:cNvSpPr>
            <a:spLocks xmlns:a="http://schemas.openxmlformats.org/drawingml/2006/main" noGrp="1"/>
          </p:cNvSpPr>
          <p:nvPr/>
        </p:nvSpPr>
        <p:spPr>
          <a:xfrm xmlns:a="http://schemas.openxmlformats.org/drawingml/2006/main">
            <a:off x="5391150" y="4686300"/>
            <a:ext cx="2476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ptos Mono"/>
                <a:ea typeface="Aptos Mono"/>
                <a:cs typeface="Aptos Mono"/>
              </a:defRPr>
            </a:pPr>
            <a:r>
              <a:rPr sz="750" b="1">
                <a:solidFill>
                  <a:srgbClr val="FFFFFF"/>
                </a:solidFill>
                <a:latin typeface="Aptos Mono"/>
                <a:ea typeface="Aptos Mono"/>
                <a:cs typeface="Aptos Mono"/>
              </a:rPr>
              <a:t>4</a:t>
            </a:r>
          </a:p>
        </p:txBody>
      </p:sp>
      <p:sp>
        <p:nvSpPr>
          <p:cNvPr id="35" name="">
            <a:extLst xmlns:a="http://schemas.openxmlformats.org/drawingml/2006/main">
              <a:ext uri="{FF2B5EF4-FFF2-40B4-BE49-F238E27FC236}">
                <a16:creationId xmlns:a16="http://schemas.microsoft.com/office/drawing/2014/main" id="{A44BD651-4C96-4EE8-BBCE-B3D10A586C09}"/>
              </a:ext>
            </a:extLst>
          </p:cNvPr>
          <p:cNvSpPr>
            <a:spLocks xmlns:a="http://schemas.openxmlformats.org/drawingml/2006/main" noGrp="1"/>
          </p:cNvSpPr>
          <p:nvPr/>
        </p:nvSpPr>
        <p:spPr>
          <a:xfrm xmlns:a="http://schemas.openxmlformats.org/drawingml/2006/main">
            <a:off x="5772150" y="4629150"/>
            <a:ext cx="18097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0" b="0">
                <a:solidFill>
                  <a:srgbClr val="334155"/>
                </a:solidFill>
                <a:latin typeface="Aptos"/>
                <a:ea typeface="Aptos"/>
                <a:cs typeface="Aptos"/>
              </a:defRPr>
            </a:pPr>
            <a:r>
              <a:rPr sz="930" b="0">
                <a:solidFill>
                  <a:srgbClr val="334155"/>
                </a:solidFill>
                <a:latin typeface="Aptos"/>
                <a:ea typeface="Aptos"/>
                <a:cs typeface="Aptos"/>
              </a:rPr>
              <a:t>Email lookup needed a safer fallback path.</a:t>
            </a:r>
          </a:p>
        </p:txBody>
      </p:sp>
      <p:sp>
        <p:nvSpPr>
          <p:cNvPr id="36" name="">
            <a:extLst xmlns:a="http://schemas.openxmlformats.org/drawingml/2006/main">
              <a:ext uri="{FF2B5EF4-FFF2-40B4-BE49-F238E27FC236}">
                <a16:creationId xmlns:a16="http://schemas.microsoft.com/office/drawing/2014/main" id="{ED4F6366-5FFA-4E8F-9CE8-F2DFF5CE16C0}"/>
              </a:ext>
            </a:extLst>
          </p:cNvPr>
          <p:cNvSpPr>
            <a:spLocks xmlns:a="http://schemas.openxmlformats.org/drawingml/2006/main" noGrp="1"/>
          </p:cNvSpPr>
          <p:nvPr/>
        </p:nvSpPr>
        <p:spPr>
          <a:xfrm xmlns:a="http://schemas.openxmlformats.org/drawingml/2006/main">
            <a:off x="5391150" y="5029200"/>
            <a:ext cx="22669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10" b="1">
                <a:solidFill>
                  <a:srgbClr val="667085"/>
                </a:solidFill>
                <a:latin typeface="Aptos"/>
                <a:ea typeface="Aptos"/>
                <a:cs typeface="Aptos"/>
              </a:defRPr>
            </a:pPr>
            <a:r>
              <a:rPr sz="810" b="1">
                <a:solidFill>
                  <a:srgbClr val="667085"/>
                </a:solidFill>
                <a:latin typeface="Aptos"/>
                <a:ea typeface="Aptos"/>
                <a:cs typeface="Aptos"/>
              </a:rPr>
              <a:t>Main areas: database adapters + user email logic</a:t>
            </a:r>
          </a:p>
        </p:txBody>
      </p:sp>
      <p:sp>
        <p:nvSpPr>
          <p:cNvPr id="37" name="">
            <a:extLst xmlns:a="http://schemas.openxmlformats.org/drawingml/2006/main">
              <a:ext uri="{FF2B5EF4-FFF2-40B4-BE49-F238E27FC236}">
                <a16:creationId xmlns:a16="http://schemas.microsoft.com/office/drawing/2014/main" id="{8FAE5E1E-328F-40B5-9450-73066E0FA091}"/>
              </a:ext>
            </a:extLst>
          </p:cNvPr>
          <p:cNvSpPr>
            <a:spLocks xmlns:a="http://schemas.openxmlformats.org/drawingml/2006/main" noGrp="1"/>
          </p:cNvSpPr>
          <p:nvPr/>
        </p:nvSpPr>
        <p:spPr>
          <a:xfrm xmlns:a="http://schemas.openxmlformats.org/drawingml/2006/main">
            <a:off x="8324850" y="2305050"/>
            <a:ext cx="3257550" cy="3162300"/>
          </a:xfrm>
          <a:prstGeom xmlns:a="http://schemas.openxmlformats.org/drawingml/2006/main" prst="rect">
            <a:avLst/>
          </a:prstGeom>
          <a:solidFill xmlns:a="http://schemas.openxmlformats.org/drawingml/2006/main">
            <a:srgbClr val="FFFFFF"/>
          </a:solidFill>
          <a:ln xmlns:a="http://schemas.openxmlformats.org/drawingml/2006/main" w="19050">
            <a:solidFill>
              <a:srgbClr val="0F9F6E"/>
            </a:solidFill>
            <a:prstDash val="solid"/>
          </a:ln>
        </p:spPr>
        <p:txBody xmlns:a="http://schemas.openxmlformats.org/drawingml/2006/main">
          <a:bodyPr/>
          <a:p/>
        </p:txBody>
      </p:sp>
      <p:sp>
        <p:nvSpPr>
          <p:cNvPr id="38" name="">
            <a:extLst xmlns:a="http://schemas.openxmlformats.org/drawingml/2006/main">
              <a:ext uri="{FF2B5EF4-FFF2-40B4-BE49-F238E27FC236}">
                <a16:creationId xmlns:a16="http://schemas.microsoft.com/office/drawing/2014/main" id="{EB646F35-859A-4170-9BEF-3A42A84246F6}"/>
              </a:ext>
            </a:extLst>
          </p:cNvPr>
          <p:cNvSpPr>
            <a:spLocks xmlns:a="http://schemas.openxmlformats.org/drawingml/2006/main" noGrp="1"/>
          </p:cNvSpPr>
          <p:nvPr/>
        </p:nvSpPr>
        <p:spPr>
          <a:xfrm xmlns:a="http://schemas.openxmlformats.org/drawingml/2006/main">
            <a:off x="8324850" y="2305050"/>
            <a:ext cx="3257550" cy="76200"/>
          </a:xfrm>
          <a:prstGeom xmlns:a="http://schemas.openxmlformats.org/drawingml/2006/main" prst="rect">
            <a:avLst/>
          </a:prstGeom>
          <a:solidFill xmlns:a="http://schemas.openxmlformats.org/drawingml/2006/main">
            <a:srgbClr val="0F9F6E"/>
          </a:solidFill>
          <a:ln xmlns:a="http://schemas.openxmlformats.org/drawingml/2006/main" w="0">
            <a:solidFill>
              <a:srgbClr val="000000">
                <a:alpha val="0"/>
              </a:srgbClr>
            </a:solidFill>
            <a:prstDash val="solid"/>
          </a:ln>
        </p:spPr>
        <p:txBody xmlns:a="http://schemas.openxmlformats.org/drawingml/2006/main">
          <a:bodyPr/>
          <a:p/>
        </p:txBody>
      </p:sp>
      <p:sp>
        <p:nvSpPr>
          <p:cNvPr id="39" name="">
            <a:extLst xmlns:a="http://schemas.openxmlformats.org/drawingml/2006/main">
              <a:ext uri="{FF2B5EF4-FFF2-40B4-BE49-F238E27FC236}">
                <a16:creationId xmlns:a16="http://schemas.microsoft.com/office/drawing/2014/main" id="{ED9188CC-943A-4DBE-BDFA-B55EE22935B2}"/>
              </a:ext>
            </a:extLst>
          </p:cNvPr>
          <p:cNvSpPr>
            <a:spLocks xmlns:a="http://schemas.openxmlformats.org/drawingml/2006/main" noGrp="1"/>
          </p:cNvSpPr>
          <p:nvPr/>
        </p:nvSpPr>
        <p:spPr>
          <a:xfrm xmlns:a="http://schemas.openxmlformats.org/drawingml/2006/main">
            <a:off x="8591550" y="2609850"/>
            <a:ext cx="2667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01820"/>
                </a:solidFill>
                <a:latin typeface="Aptos Display"/>
                <a:ea typeface="Aptos Display"/>
                <a:cs typeface="Aptos Display"/>
              </a:defRPr>
            </a:pPr>
            <a:r>
              <a:rPr sz="1500" b="1">
                <a:solidFill>
                  <a:srgbClr val="101820"/>
                </a:solidFill>
                <a:latin typeface="Aptos Display"/>
                <a:ea typeface="Aptos Display"/>
                <a:cs typeface="Aptos Display"/>
              </a:rPr>
              <a:t>What the agent was asked to fix</a:t>
            </a:r>
          </a:p>
        </p:txBody>
      </p:sp>
      <p:sp>
        <p:nvSpPr>
          <p:cNvPr id="40" name="">
            <a:extLst xmlns:a="http://schemas.openxmlformats.org/drawingml/2006/main">
              <a:ext uri="{FF2B5EF4-FFF2-40B4-BE49-F238E27FC236}">
                <a16:creationId xmlns:a16="http://schemas.microsoft.com/office/drawing/2014/main" id="{79E1F202-699A-46A4-A43D-64DE4DC4AC72}"/>
              </a:ext>
            </a:extLst>
          </p:cNvPr>
          <p:cNvSpPr>
            <a:spLocks xmlns:a="http://schemas.openxmlformats.org/drawingml/2006/main" noGrp="1"/>
          </p:cNvSpPr>
          <p:nvPr/>
        </p:nvSpPr>
        <p:spPr>
          <a:xfrm xmlns:a="http://schemas.openxmlformats.org/drawingml/2006/main">
            <a:off x="8591550" y="3143250"/>
            <a:ext cx="2724150" cy="361950"/>
          </a:xfrm>
          <a:prstGeom xmlns:a="http://schemas.openxmlformats.org/drawingml/2006/main" prst="rect">
            <a:avLst/>
          </a:prstGeom>
          <a:solidFill xmlns:a="http://schemas.openxmlformats.org/drawingml/2006/main">
            <a:srgbClr val="FBF8F2"/>
          </a:solidFill>
          <a:ln xmlns:a="http://schemas.openxmlformats.org/drawingml/2006/main" w="10478">
            <a:solidFill>
              <a:srgbClr val="0F9F6E"/>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FF696BBB-42E4-4135-9AF3-BEEEAD8B3ADB}"/>
              </a:ext>
            </a:extLst>
          </p:cNvPr>
          <p:cNvSpPr>
            <a:spLocks xmlns:a="http://schemas.openxmlformats.org/drawingml/2006/main" noGrp="1"/>
          </p:cNvSpPr>
          <p:nvPr/>
        </p:nvSpPr>
        <p:spPr>
          <a:xfrm xmlns:a="http://schemas.openxmlformats.org/drawingml/2006/main">
            <a:off x="8591550" y="3143250"/>
            <a:ext cx="266700" cy="361950"/>
          </a:xfrm>
          <a:prstGeom xmlns:a="http://schemas.openxmlformats.org/drawingml/2006/main" prst="rect">
            <a:avLst/>
          </a:prstGeom>
          <a:solidFill xmlns:a="http://schemas.openxmlformats.org/drawingml/2006/main">
            <a:srgbClr val="0F9F6E"/>
          </a:solidFill>
          <a:ln xmlns:a="http://schemas.openxmlformats.org/drawingml/2006/main" w="0">
            <a:solidFill>
              <a:srgbClr val="000000">
                <a:alpha val="0"/>
              </a:srgbClr>
            </a:solidFill>
            <a:prstDash val="solid"/>
          </a:ln>
        </p:spPr>
        <p:txBody xmlns:a="http://schemas.openxmlformats.org/drawingml/2006/main">
          <a:bodyPr/>
          <a:p/>
        </p:txBody>
      </p:sp>
      <p:sp>
        <p:nvSpPr>
          <p:cNvPr id="42" name="">
            <a:extLst xmlns:a="http://schemas.openxmlformats.org/drawingml/2006/main">
              <a:ext uri="{FF2B5EF4-FFF2-40B4-BE49-F238E27FC236}">
                <a16:creationId xmlns:a16="http://schemas.microsoft.com/office/drawing/2014/main" id="{CE4BC437-EAF0-42C7-B80B-3A7DEBA23BAC}"/>
              </a:ext>
            </a:extLst>
          </p:cNvPr>
          <p:cNvSpPr>
            <a:spLocks xmlns:a="http://schemas.openxmlformats.org/drawingml/2006/main" noGrp="1"/>
          </p:cNvSpPr>
          <p:nvPr/>
        </p:nvSpPr>
        <p:spPr>
          <a:xfrm xmlns:a="http://schemas.openxmlformats.org/drawingml/2006/main">
            <a:off x="8591550" y="3238500"/>
            <a:ext cx="2667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20" b="1">
                <a:solidFill>
                  <a:srgbClr val="FFFFFF"/>
                </a:solidFill>
                <a:latin typeface="Aptos Mono"/>
                <a:ea typeface="Aptos Mono"/>
                <a:cs typeface="Aptos Mono"/>
              </a:defRPr>
            </a:pPr>
            <a:r>
              <a:rPr sz="720" b="1">
                <a:solidFill>
                  <a:srgbClr val="FFFFFF"/>
                </a:solidFill>
                <a:latin typeface="Aptos Mono"/>
                <a:ea typeface="Aptos Mono"/>
                <a:cs typeface="Aptos Mono"/>
              </a:rPr>
              <a:t>1</a:t>
            </a:r>
          </a:p>
        </p:txBody>
      </p:sp>
      <p:sp>
        <p:nvSpPr>
          <p:cNvPr id="43" name="">
            <a:extLst xmlns:a="http://schemas.openxmlformats.org/drawingml/2006/main">
              <a:ext uri="{FF2B5EF4-FFF2-40B4-BE49-F238E27FC236}">
                <a16:creationId xmlns:a16="http://schemas.microsoft.com/office/drawing/2014/main" id="{173937C5-BB55-4503-AC5F-220B49C3137B}"/>
              </a:ext>
            </a:extLst>
          </p:cNvPr>
          <p:cNvSpPr>
            <a:spLocks xmlns:a="http://schemas.openxmlformats.org/drawingml/2006/main" noGrp="1"/>
          </p:cNvSpPr>
          <p:nvPr/>
        </p:nvSpPr>
        <p:spPr>
          <a:xfrm xmlns:a="http://schemas.openxmlformats.org/drawingml/2006/main">
            <a:off x="8991600" y="3190875"/>
            <a:ext cx="20955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85" b="1">
                <a:solidFill>
                  <a:srgbClr val="101820"/>
                </a:solidFill>
                <a:latin typeface="Aptos"/>
                <a:ea typeface="Aptos"/>
                <a:cs typeface="Aptos"/>
              </a:defRPr>
            </a:pPr>
            <a:r>
              <a:rPr sz="885" b="1">
                <a:solidFill>
                  <a:srgbClr val="101820"/>
                </a:solidFill>
                <a:latin typeface="Aptos"/>
                <a:ea typeface="Aptos"/>
                <a:cs typeface="Aptos"/>
              </a:rPr>
              <a:t>Show correct status</a:t>
            </a:r>
          </a:p>
        </p:txBody>
      </p:sp>
      <p:sp>
        <p:nvSpPr>
          <p:cNvPr id="44" name="">
            <a:extLst xmlns:a="http://schemas.openxmlformats.org/drawingml/2006/main">
              <a:ext uri="{FF2B5EF4-FFF2-40B4-BE49-F238E27FC236}">
                <a16:creationId xmlns:a16="http://schemas.microsoft.com/office/drawing/2014/main" id="{59AA0A84-0121-49BB-979A-E653A50DFA99}"/>
              </a:ext>
            </a:extLst>
          </p:cNvPr>
          <p:cNvSpPr>
            <a:spLocks xmlns:a="http://schemas.openxmlformats.org/drawingml/2006/main" noGrp="1"/>
          </p:cNvSpPr>
          <p:nvPr/>
        </p:nvSpPr>
        <p:spPr>
          <a:xfrm xmlns:a="http://schemas.openxmlformats.org/drawingml/2006/main">
            <a:off x="8991600" y="3343275"/>
            <a:ext cx="2095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0">
                <a:solidFill>
                  <a:srgbClr val="334155"/>
                </a:solidFill>
                <a:latin typeface="Aptos"/>
                <a:ea typeface="Aptos"/>
                <a:cs typeface="Aptos"/>
              </a:defRPr>
            </a:pPr>
            <a:r>
              <a:rPr sz="735" b="0">
                <a:solidFill>
                  <a:srgbClr val="334155"/>
                </a:solidFill>
                <a:latin typeface="Aptos"/>
                <a:ea typeface="Aptos"/>
                <a:cs typeface="Aptos"/>
              </a:rPr>
              <a:t>Attach pending and expired flags to users.</a:t>
            </a:r>
          </a:p>
        </p:txBody>
      </p:sp>
      <p:sp>
        <p:nvSpPr>
          <p:cNvPr id="45" name="">
            <a:extLst xmlns:a="http://schemas.openxmlformats.org/drawingml/2006/main">
              <a:ext uri="{FF2B5EF4-FFF2-40B4-BE49-F238E27FC236}">
                <a16:creationId xmlns:a16="http://schemas.microsoft.com/office/drawing/2014/main" id="{004185AF-FCD4-4DDF-88F3-17C3EB39020E}"/>
              </a:ext>
            </a:extLst>
          </p:cNvPr>
          <p:cNvSpPr>
            <a:spLocks xmlns:a="http://schemas.openxmlformats.org/drawingml/2006/main" noGrp="1"/>
          </p:cNvSpPr>
          <p:nvPr/>
        </p:nvSpPr>
        <p:spPr>
          <a:xfrm xmlns:a="http://schemas.openxmlformats.org/drawingml/2006/main">
            <a:off x="8591550" y="3581400"/>
            <a:ext cx="2724150" cy="361950"/>
          </a:xfrm>
          <a:prstGeom xmlns:a="http://schemas.openxmlformats.org/drawingml/2006/main" prst="rect">
            <a:avLst/>
          </a:prstGeom>
          <a:solidFill xmlns:a="http://schemas.openxmlformats.org/drawingml/2006/main">
            <a:srgbClr val="F1EBE2"/>
          </a:solidFill>
          <a:ln xmlns:a="http://schemas.openxmlformats.org/drawingml/2006/main" w="10478">
            <a:solidFill>
              <a:srgbClr val="0F9F6E"/>
            </a:solidFill>
            <a:prstDash val="solid"/>
          </a:ln>
        </p:spPr>
        <p:txBody xmlns:a="http://schemas.openxmlformats.org/drawingml/2006/main">
          <a:bodyPr/>
          <a:p/>
        </p:txBody>
      </p:sp>
      <p:sp>
        <p:nvSpPr>
          <p:cNvPr id="46" name="">
            <a:extLst xmlns:a="http://schemas.openxmlformats.org/drawingml/2006/main">
              <a:ext uri="{FF2B5EF4-FFF2-40B4-BE49-F238E27FC236}">
                <a16:creationId xmlns:a16="http://schemas.microsoft.com/office/drawing/2014/main" id="{3051FF84-E005-40DA-A552-6061A61DB684}"/>
              </a:ext>
            </a:extLst>
          </p:cNvPr>
          <p:cNvSpPr>
            <a:spLocks xmlns:a="http://schemas.openxmlformats.org/drawingml/2006/main" noGrp="1"/>
          </p:cNvSpPr>
          <p:nvPr/>
        </p:nvSpPr>
        <p:spPr>
          <a:xfrm xmlns:a="http://schemas.openxmlformats.org/drawingml/2006/main">
            <a:off x="8591550" y="3581400"/>
            <a:ext cx="266700" cy="361950"/>
          </a:xfrm>
          <a:prstGeom xmlns:a="http://schemas.openxmlformats.org/drawingml/2006/main" prst="rect">
            <a:avLst/>
          </a:prstGeom>
          <a:solidFill xmlns:a="http://schemas.openxmlformats.org/drawingml/2006/main">
            <a:srgbClr val="0F9F6E"/>
          </a:solidFill>
          <a:ln xmlns:a="http://schemas.openxmlformats.org/drawingml/2006/main" w="0">
            <a:solidFill>
              <a:srgbClr val="000000">
                <a:alpha val="0"/>
              </a:srgbClr>
            </a:solidFill>
            <a:prstDash val="solid"/>
          </a:ln>
        </p:spPr>
        <p:txBody xmlns:a="http://schemas.openxmlformats.org/drawingml/2006/main">
          <a:bodyPr/>
          <a:p/>
        </p:txBody>
      </p:sp>
      <p:sp>
        <p:nvSpPr>
          <p:cNvPr id="47" name="">
            <a:extLst xmlns:a="http://schemas.openxmlformats.org/drawingml/2006/main">
              <a:ext uri="{FF2B5EF4-FFF2-40B4-BE49-F238E27FC236}">
                <a16:creationId xmlns:a16="http://schemas.microsoft.com/office/drawing/2014/main" id="{790B8306-D1EA-4180-B6E8-F2E5C14288EE}"/>
              </a:ext>
            </a:extLst>
          </p:cNvPr>
          <p:cNvSpPr>
            <a:spLocks xmlns:a="http://schemas.openxmlformats.org/drawingml/2006/main" noGrp="1"/>
          </p:cNvSpPr>
          <p:nvPr/>
        </p:nvSpPr>
        <p:spPr>
          <a:xfrm xmlns:a="http://schemas.openxmlformats.org/drawingml/2006/main">
            <a:off x="8591550" y="3676650"/>
            <a:ext cx="2667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20" b="1">
                <a:solidFill>
                  <a:srgbClr val="FFFFFF"/>
                </a:solidFill>
                <a:latin typeface="Aptos Mono"/>
                <a:ea typeface="Aptos Mono"/>
                <a:cs typeface="Aptos Mono"/>
              </a:defRPr>
            </a:pPr>
            <a:r>
              <a:rPr sz="720" b="1">
                <a:solidFill>
                  <a:srgbClr val="FFFFFF"/>
                </a:solidFill>
                <a:latin typeface="Aptos Mono"/>
                <a:ea typeface="Aptos Mono"/>
                <a:cs typeface="Aptos Mono"/>
              </a:rPr>
              <a:t>2</a:t>
            </a:r>
          </a:p>
        </p:txBody>
      </p:sp>
      <p:sp>
        <p:nvSpPr>
          <p:cNvPr id="48" name="">
            <a:extLst xmlns:a="http://schemas.openxmlformats.org/drawingml/2006/main">
              <a:ext uri="{FF2B5EF4-FFF2-40B4-BE49-F238E27FC236}">
                <a16:creationId xmlns:a16="http://schemas.microsoft.com/office/drawing/2014/main" id="{96179FCD-C7DC-44A7-96BC-C3D18F1743DE}"/>
              </a:ext>
            </a:extLst>
          </p:cNvPr>
          <p:cNvSpPr>
            <a:spLocks xmlns:a="http://schemas.openxmlformats.org/drawingml/2006/main" noGrp="1"/>
          </p:cNvSpPr>
          <p:nvPr/>
        </p:nvSpPr>
        <p:spPr>
          <a:xfrm xmlns:a="http://schemas.openxmlformats.org/drawingml/2006/main">
            <a:off x="8991600" y="3629025"/>
            <a:ext cx="20955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85" b="1">
                <a:solidFill>
                  <a:srgbClr val="101820"/>
                </a:solidFill>
                <a:latin typeface="Aptos"/>
                <a:ea typeface="Aptos"/>
                <a:cs typeface="Aptos"/>
              </a:defRPr>
            </a:pPr>
            <a:r>
              <a:rPr sz="885" b="1">
                <a:solidFill>
                  <a:srgbClr val="101820"/>
                </a:solidFill>
                <a:latin typeface="Aptos"/>
                <a:ea typeface="Aptos"/>
                <a:cs typeface="Aptos"/>
              </a:rPr>
              <a:t>Add batch lookup</a:t>
            </a:r>
          </a:p>
        </p:txBody>
      </p:sp>
      <p:sp>
        <p:nvSpPr>
          <p:cNvPr id="49" name="">
            <a:extLst xmlns:a="http://schemas.openxmlformats.org/drawingml/2006/main">
              <a:ext uri="{FF2B5EF4-FFF2-40B4-BE49-F238E27FC236}">
                <a16:creationId xmlns:a16="http://schemas.microsoft.com/office/drawing/2014/main" id="{3A6201BD-F1FE-4FE6-AACD-592B8EB9A800}"/>
              </a:ext>
            </a:extLst>
          </p:cNvPr>
          <p:cNvSpPr>
            <a:spLocks xmlns:a="http://schemas.openxmlformats.org/drawingml/2006/main" noGrp="1"/>
          </p:cNvSpPr>
          <p:nvPr/>
        </p:nvSpPr>
        <p:spPr>
          <a:xfrm xmlns:a="http://schemas.openxmlformats.org/drawingml/2006/main">
            <a:off x="8991600" y="3781425"/>
            <a:ext cx="2095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0">
                <a:solidFill>
                  <a:srgbClr val="334155"/>
                </a:solidFill>
                <a:latin typeface="Aptos"/>
                <a:ea typeface="Aptos"/>
                <a:cs typeface="Aptos"/>
              </a:defRPr>
            </a:pPr>
            <a:r>
              <a:rPr sz="735" b="0">
                <a:solidFill>
                  <a:srgbClr val="334155"/>
                </a:solidFill>
                <a:latin typeface="Aptos"/>
                <a:ea typeface="Aptos"/>
                <a:cs typeface="Aptos"/>
              </a:rPr>
              <a:t>Add db.mget(keys) across database adapters.</a:t>
            </a:r>
          </a:p>
        </p:txBody>
      </p:sp>
      <p:sp>
        <p:nvSpPr>
          <p:cNvPr id="50" name="">
            <a:extLst xmlns:a="http://schemas.openxmlformats.org/drawingml/2006/main">
              <a:ext uri="{FF2B5EF4-FFF2-40B4-BE49-F238E27FC236}">
                <a16:creationId xmlns:a16="http://schemas.microsoft.com/office/drawing/2014/main" id="{D1D3802E-33E5-4B20-A147-7211B1112A1F}"/>
              </a:ext>
            </a:extLst>
          </p:cNvPr>
          <p:cNvSpPr>
            <a:spLocks xmlns:a="http://schemas.openxmlformats.org/drawingml/2006/main" noGrp="1"/>
          </p:cNvSpPr>
          <p:nvPr/>
        </p:nvSpPr>
        <p:spPr>
          <a:xfrm xmlns:a="http://schemas.openxmlformats.org/drawingml/2006/main">
            <a:off x="8591550" y="4019550"/>
            <a:ext cx="2724150" cy="361950"/>
          </a:xfrm>
          <a:prstGeom xmlns:a="http://schemas.openxmlformats.org/drawingml/2006/main" prst="rect">
            <a:avLst/>
          </a:prstGeom>
          <a:solidFill xmlns:a="http://schemas.openxmlformats.org/drawingml/2006/main">
            <a:srgbClr val="FBF8F2"/>
          </a:solidFill>
          <a:ln xmlns:a="http://schemas.openxmlformats.org/drawingml/2006/main" w="10478">
            <a:solidFill>
              <a:srgbClr val="0F9F6E"/>
            </a:solidFill>
            <a:prstDash val="solid"/>
          </a:ln>
        </p:spPr>
        <p:txBody xmlns:a="http://schemas.openxmlformats.org/drawingml/2006/main">
          <a:bodyPr/>
          <a:p/>
        </p:txBody>
      </p:sp>
      <p:sp>
        <p:nvSpPr>
          <p:cNvPr id="51" name="">
            <a:extLst xmlns:a="http://schemas.openxmlformats.org/drawingml/2006/main">
              <a:ext uri="{FF2B5EF4-FFF2-40B4-BE49-F238E27FC236}">
                <a16:creationId xmlns:a16="http://schemas.microsoft.com/office/drawing/2014/main" id="{87573C81-75EA-4240-AEB0-C79C2E1B9B47}"/>
              </a:ext>
            </a:extLst>
          </p:cNvPr>
          <p:cNvSpPr>
            <a:spLocks xmlns:a="http://schemas.openxmlformats.org/drawingml/2006/main" noGrp="1"/>
          </p:cNvSpPr>
          <p:nvPr/>
        </p:nvSpPr>
        <p:spPr>
          <a:xfrm xmlns:a="http://schemas.openxmlformats.org/drawingml/2006/main">
            <a:off x="8591550" y="4019550"/>
            <a:ext cx="266700" cy="361950"/>
          </a:xfrm>
          <a:prstGeom xmlns:a="http://schemas.openxmlformats.org/drawingml/2006/main" prst="rect">
            <a:avLst/>
          </a:prstGeom>
          <a:solidFill xmlns:a="http://schemas.openxmlformats.org/drawingml/2006/main">
            <a:srgbClr val="0F9F6E"/>
          </a:solidFill>
          <a:ln xmlns:a="http://schemas.openxmlformats.org/drawingml/2006/main" w="0">
            <a:solidFill>
              <a:srgbClr val="000000">
                <a:alpha val="0"/>
              </a:srgbClr>
            </a:solidFill>
            <a:prstDash val="solid"/>
          </a:ln>
        </p:spPr>
        <p:txBody xmlns:a="http://schemas.openxmlformats.org/drawingml/2006/main">
          <a:bodyPr/>
          <a:p/>
        </p:txBody>
      </p:sp>
      <p:sp>
        <p:nvSpPr>
          <p:cNvPr id="52" name="">
            <a:extLst xmlns:a="http://schemas.openxmlformats.org/drawingml/2006/main">
              <a:ext uri="{FF2B5EF4-FFF2-40B4-BE49-F238E27FC236}">
                <a16:creationId xmlns:a16="http://schemas.microsoft.com/office/drawing/2014/main" id="{E3D2CEF5-BD7C-4AFF-81B6-432922726B07}"/>
              </a:ext>
            </a:extLst>
          </p:cNvPr>
          <p:cNvSpPr>
            <a:spLocks xmlns:a="http://schemas.openxmlformats.org/drawingml/2006/main" noGrp="1"/>
          </p:cNvSpPr>
          <p:nvPr/>
        </p:nvSpPr>
        <p:spPr>
          <a:xfrm xmlns:a="http://schemas.openxmlformats.org/drawingml/2006/main">
            <a:off x="8591550" y="4114800"/>
            <a:ext cx="2667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20" b="1">
                <a:solidFill>
                  <a:srgbClr val="FFFFFF"/>
                </a:solidFill>
                <a:latin typeface="Aptos Mono"/>
                <a:ea typeface="Aptos Mono"/>
                <a:cs typeface="Aptos Mono"/>
              </a:defRPr>
            </a:pPr>
            <a:r>
              <a:rPr sz="720" b="1">
                <a:solidFill>
                  <a:srgbClr val="FFFFFF"/>
                </a:solidFill>
                <a:latin typeface="Aptos Mono"/>
                <a:ea typeface="Aptos Mono"/>
                <a:cs typeface="Aptos Mono"/>
              </a:rPr>
              <a:t>3</a:t>
            </a:r>
          </a:p>
        </p:txBody>
      </p:sp>
      <p:sp>
        <p:nvSpPr>
          <p:cNvPr id="53" name="">
            <a:extLst xmlns:a="http://schemas.openxmlformats.org/drawingml/2006/main">
              <a:ext uri="{FF2B5EF4-FFF2-40B4-BE49-F238E27FC236}">
                <a16:creationId xmlns:a16="http://schemas.microsoft.com/office/drawing/2014/main" id="{B9F1A89D-B881-4D75-9EA6-CFABAC034A26}"/>
              </a:ext>
            </a:extLst>
          </p:cNvPr>
          <p:cNvSpPr>
            <a:spLocks xmlns:a="http://schemas.openxmlformats.org/drawingml/2006/main" noGrp="1"/>
          </p:cNvSpPr>
          <p:nvPr/>
        </p:nvSpPr>
        <p:spPr>
          <a:xfrm xmlns:a="http://schemas.openxmlformats.org/drawingml/2006/main">
            <a:off x="8991600" y="4067175"/>
            <a:ext cx="20955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85" b="1">
                <a:solidFill>
                  <a:srgbClr val="101820"/>
                </a:solidFill>
                <a:latin typeface="Aptos"/>
                <a:ea typeface="Aptos"/>
                <a:cs typeface="Aptos"/>
              </a:defRPr>
            </a:pPr>
            <a:r>
              <a:rPr sz="885" b="1">
                <a:solidFill>
                  <a:srgbClr val="101820"/>
                </a:solidFill>
                <a:latin typeface="Aptos"/>
                <a:ea typeface="Aptos"/>
                <a:cs typeface="Aptos"/>
              </a:rPr>
              <a:t>Recover validation email</a:t>
            </a:r>
          </a:p>
        </p:txBody>
      </p:sp>
      <p:sp>
        <p:nvSpPr>
          <p:cNvPr id="54" name="">
            <a:extLst xmlns:a="http://schemas.openxmlformats.org/drawingml/2006/main">
              <a:ext uri="{FF2B5EF4-FFF2-40B4-BE49-F238E27FC236}">
                <a16:creationId xmlns:a16="http://schemas.microsoft.com/office/drawing/2014/main" id="{D924412C-5638-49F4-92A0-275E3BB536EE}"/>
              </a:ext>
            </a:extLst>
          </p:cNvPr>
          <p:cNvSpPr>
            <a:spLocks xmlns:a="http://schemas.openxmlformats.org/drawingml/2006/main" noGrp="1"/>
          </p:cNvSpPr>
          <p:nvPr/>
        </p:nvSpPr>
        <p:spPr>
          <a:xfrm xmlns:a="http://schemas.openxmlformats.org/drawingml/2006/main">
            <a:off x="8991600" y="4219575"/>
            <a:ext cx="2095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0">
                <a:solidFill>
                  <a:srgbClr val="334155"/>
                </a:solidFill>
                <a:latin typeface="Aptos"/>
                <a:ea typeface="Aptos"/>
                <a:cs typeface="Aptos"/>
              </a:defRPr>
            </a:pPr>
            <a:r>
              <a:rPr sz="735" b="0">
                <a:solidFill>
                  <a:srgbClr val="334155"/>
                </a:solidFill>
                <a:latin typeface="Aptos"/>
                <a:ea typeface="Aptos"/>
                <a:cs typeface="Aptos"/>
              </a:rPr>
              <a:t>Find email from profile or confirmation data.</a:t>
            </a:r>
          </a:p>
        </p:txBody>
      </p:sp>
      <p:sp>
        <p:nvSpPr>
          <p:cNvPr id="55" name="">
            <a:extLst xmlns:a="http://schemas.openxmlformats.org/drawingml/2006/main">
              <a:ext uri="{FF2B5EF4-FFF2-40B4-BE49-F238E27FC236}">
                <a16:creationId xmlns:a16="http://schemas.microsoft.com/office/drawing/2014/main" id="{7C600420-EBBC-4C3C-BCC1-7A24A8C2EBCC}"/>
              </a:ext>
            </a:extLst>
          </p:cNvPr>
          <p:cNvSpPr>
            <a:spLocks xmlns:a="http://schemas.openxmlformats.org/drawingml/2006/main" noGrp="1"/>
          </p:cNvSpPr>
          <p:nvPr/>
        </p:nvSpPr>
        <p:spPr>
          <a:xfrm xmlns:a="http://schemas.openxmlformats.org/drawingml/2006/main">
            <a:off x="8591550" y="4457700"/>
            <a:ext cx="2724150" cy="361950"/>
          </a:xfrm>
          <a:prstGeom xmlns:a="http://schemas.openxmlformats.org/drawingml/2006/main" prst="rect">
            <a:avLst/>
          </a:prstGeom>
          <a:solidFill xmlns:a="http://schemas.openxmlformats.org/drawingml/2006/main">
            <a:srgbClr val="F1EBE2"/>
          </a:solidFill>
          <a:ln xmlns:a="http://schemas.openxmlformats.org/drawingml/2006/main" w="10478">
            <a:solidFill>
              <a:srgbClr val="0F9F6E"/>
            </a:solidFill>
            <a:prstDash val="solid"/>
          </a:ln>
        </p:spPr>
        <p:txBody xmlns:a="http://schemas.openxmlformats.org/drawingml/2006/main">
          <a:bodyPr/>
          <a:p/>
        </p:txBody>
      </p:sp>
      <p:sp>
        <p:nvSpPr>
          <p:cNvPr id="56" name="">
            <a:extLst xmlns:a="http://schemas.openxmlformats.org/drawingml/2006/main">
              <a:ext uri="{FF2B5EF4-FFF2-40B4-BE49-F238E27FC236}">
                <a16:creationId xmlns:a16="http://schemas.microsoft.com/office/drawing/2014/main" id="{78644520-2B39-468D-AB44-D539D0EB02DC}"/>
              </a:ext>
            </a:extLst>
          </p:cNvPr>
          <p:cNvSpPr>
            <a:spLocks xmlns:a="http://schemas.openxmlformats.org/drawingml/2006/main" noGrp="1"/>
          </p:cNvSpPr>
          <p:nvPr/>
        </p:nvSpPr>
        <p:spPr>
          <a:xfrm xmlns:a="http://schemas.openxmlformats.org/drawingml/2006/main">
            <a:off x="8591550" y="4457700"/>
            <a:ext cx="266700" cy="361950"/>
          </a:xfrm>
          <a:prstGeom xmlns:a="http://schemas.openxmlformats.org/drawingml/2006/main" prst="rect">
            <a:avLst/>
          </a:prstGeom>
          <a:solidFill xmlns:a="http://schemas.openxmlformats.org/drawingml/2006/main">
            <a:srgbClr val="0F9F6E"/>
          </a:solidFill>
          <a:ln xmlns:a="http://schemas.openxmlformats.org/drawingml/2006/main" w="0">
            <a:solidFill>
              <a:srgbClr val="000000">
                <a:alpha val="0"/>
              </a:srgbClr>
            </a:solidFill>
            <a:prstDash val="solid"/>
          </a:ln>
        </p:spPr>
        <p:txBody xmlns:a="http://schemas.openxmlformats.org/drawingml/2006/main">
          <a:bodyPr/>
          <a:p/>
        </p:txBody>
      </p:sp>
      <p:sp>
        <p:nvSpPr>
          <p:cNvPr id="57" name="">
            <a:extLst xmlns:a="http://schemas.openxmlformats.org/drawingml/2006/main">
              <a:ext uri="{FF2B5EF4-FFF2-40B4-BE49-F238E27FC236}">
                <a16:creationId xmlns:a16="http://schemas.microsoft.com/office/drawing/2014/main" id="{9D4DD61A-86D4-4A03-BEB4-745F4B7ED39D}"/>
              </a:ext>
            </a:extLst>
          </p:cNvPr>
          <p:cNvSpPr>
            <a:spLocks xmlns:a="http://schemas.openxmlformats.org/drawingml/2006/main" noGrp="1"/>
          </p:cNvSpPr>
          <p:nvPr/>
        </p:nvSpPr>
        <p:spPr>
          <a:xfrm xmlns:a="http://schemas.openxmlformats.org/drawingml/2006/main">
            <a:off x="8591550" y="4552950"/>
            <a:ext cx="2667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20" b="1">
                <a:solidFill>
                  <a:srgbClr val="FFFFFF"/>
                </a:solidFill>
                <a:latin typeface="Aptos Mono"/>
                <a:ea typeface="Aptos Mono"/>
                <a:cs typeface="Aptos Mono"/>
              </a:defRPr>
            </a:pPr>
            <a:r>
              <a:rPr sz="720" b="1">
                <a:solidFill>
                  <a:srgbClr val="FFFFFF"/>
                </a:solidFill>
                <a:latin typeface="Aptos Mono"/>
                <a:ea typeface="Aptos Mono"/>
                <a:cs typeface="Aptos Mono"/>
              </a:rPr>
              <a:t>4</a:t>
            </a:r>
          </a:p>
        </p:txBody>
      </p:sp>
      <p:sp>
        <p:nvSpPr>
          <p:cNvPr id="58" name="">
            <a:extLst xmlns:a="http://schemas.openxmlformats.org/drawingml/2006/main">
              <a:ext uri="{FF2B5EF4-FFF2-40B4-BE49-F238E27FC236}">
                <a16:creationId xmlns:a16="http://schemas.microsoft.com/office/drawing/2014/main" id="{A50C17A2-86DD-462A-B0BB-E2187360CC41}"/>
              </a:ext>
            </a:extLst>
          </p:cNvPr>
          <p:cNvSpPr>
            <a:spLocks xmlns:a="http://schemas.openxmlformats.org/drawingml/2006/main" noGrp="1"/>
          </p:cNvSpPr>
          <p:nvPr/>
        </p:nvSpPr>
        <p:spPr>
          <a:xfrm xmlns:a="http://schemas.openxmlformats.org/drawingml/2006/main">
            <a:off x="8991600" y="4505325"/>
            <a:ext cx="20955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85" b="1">
                <a:solidFill>
                  <a:srgbClr val="101820"/>
                </a:solidFill>
                <a:latin typeface="Aptos"/>
                <a:ea typeface="Aptos"/>
                <a:cs typeface="Aptos"/>
              </a:defRPr>
            </a:pPr>
            <a:r>
              <a:rPr sz="885" b="1">
                <a:solidFill>
                  <a:srgbClr val="101820"/>
                </a:solidFill>
                <a:latin typeface="Aptos"/>
                <a:ea typeface="Aptos"/>
                <a:cs typeface="Aptos"/>
              </a:rPr>
              <a:t>Use explicit expiry</a:t>
            </a:r>
          </a:p>
        </p:txBody>
      </p:sp>
      <p:sp>
        <p:nvSpPr>
          <p:cNvPr id="59" name="">
            <a:extLst xmlns:a="http://schemas.openxmlformats.org/drawingml/2006/main">
              <a:ext uri="{FF2B5EF4-FFF2-40B4-BE49-F238E27FC236}">
                <a16:creationId xmlns:a16="http://schemas.microsoft.com/office/drawing/2014/main" id="{3F312B43-E425-4B4D-8DE2-EC71C6D0159B}"/>
              </a:ext>
            </a:extLst>
          </p:cNvPr>
          <p:cNvSpPr>
            <a:spLocks xmlns:a="http://schemas.openxmlformats.org/drawingml/2006/main" noGrp="1"/>
          </p:cNvSpPr>
          <p:nvPr/>
        </p:nvSpPr>
        <p:spPr>
          <a:xfrm xmlns:a="http://schemas.openxmlformats.org/drawingml/2006/main">
            <a:off x="8991600" y="4657725"/>
            <a:ext cx="2095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0">
                <a:solidFill>
                  <a:srgbClr val="334155"/>
                </a:solidFill>
                <a:latin typeface="Aptos"/>
                <a:ea typeface="Aptos"/>
                <a:cs typeface="Aptos"/>
              </a:defRPr>
            </a:pPr>
            <a:r>
              <a:rPr sz="735" b="0">
                <a:solidFill>
                  <a:srgbClr val="334155"/>
                </a:solidFill>
                <a:latin typeface="Aptos"/>
                <a:ea typeface="Aptos"/>
                <a:cs typeface="Aptos"/>
              </a:rPr>
              <a:t>Use timestamp-based confirmation expiry.</a:t>
            </a:r>
          </a:p>
        </p:txBody>
      </p:sp>
      <p:sp>
        <p:nvSpPr>
          <p:cNvPr id="60" name="">
            <a:extLst xmlns:a="http://schemas.openxmlformats.org/drawingml/2006/main">
              <a:ext uri="{FF2B5EF4-FFF2-40B4-BE49-F238E27FC236}">
                <a16:creationId xmlns:a16="http://schemas.microsoft.com/office/drawing/2014/main" id="{CAA124F2-02C1-48C6-85F9-D6F3E0F4ECF2}"/>
              </a:ext>
            </a:extLst>
          </p:cNvPr>
          <p:cNvSpPr>
            <a:spLocks xmlns:a="http://schemas.openxmlformats.org/drawingml/2006/main" noGrp="1"/>
          </p:cNvSpPr>
          <p:nvPr/>
        </p:nvSpPr>
        <p:spPr>
          <a:xfrm xmlns:a="http://schemas.openxmlformats.org/drawingml/2006/main">
            <a:off x="8591550" y="5067300"/>
            <a:ext cx="2724150" cy="266700"/>
          </a:xfrm>
          <a:prstGeom xmlns:a="http://schemas.openxmlformats.org/drawingml/2006/main" prst="rect">
            <a:avLst/>
          </a:prstGeom>
          <a:solidFill xmlns:a="http://schemas.openxmlformats.org/drawingml/2006/main">
            <a:srgbClr val="F1EBE2"/>
          </a:solidFill>
          <a:ln xmlns:a="http://schemas.openxmlformats.org/drawingml/2006/main" w="0">
            <a:solidFill>
              <a:srgbClr val="000000">
                <a:alpha val="0"/>
              </a:srgbClr>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82E208DD-C3A8-4207-B44E-146DCF05039B}"/>
              </a:ext>
            </a:extLst>
          </p:cNvPr>
          <p:cNvSpPr>
            <a:spLocks xmlns:a="http://schemas.openxmlformats.org/drawingml/2006/main" noGrp="1"/>
          </p:cNvSpPr>
          <p:nvPr/>
        </p:nvSpPr>
        <p:spPr>
          <a:xfrm xmlns:a="http://schemas.openxmlformats.org/drawingml/2006/main">
            <a:off x="8705850" y="5105400"/>
            <a:ext cx="24955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65" b="1">
                <a:solidFill>
                  <a:srgbClr val="334155"/>
                </a:solidFill>
                <a:latin typeface="Aptos"/>
                <a:ea typeface="Aptos"/>
                <a:cs typeface="Aptos"/>
              </a:defRPr>
            </a:pPr>
            <a:r>
              <a:rPr sz="765" b="1">
                <a:solidFill>
                  <a:srgbClr val="334155"/>
                </a:solidFill>
                <a:latin typeface="Aptos"/>
                <a:ea typeface="Aptos"/>
                <a:cs typeface="Aptos"/>
              </a:rPr>
              <a:t>Next: watch this task become a prompt, request, runtime record, and behavior trace.</a:t>
            </a:r>
          </a:p>
        </p:txBody>
      </p:sp>
      <p:sp>
        <p:nvSpPr>
          <p:cNvPr id="62" name="">
            <a:extLst xmlns:a="http://schemas.openxmlformats.org/drawingml/2006/main">
              <a:ext uri="{FF2B5EF4-FFF2-40B4-BE49-F238E27FC236}">
                <a16:creationId xmlns:a16="http://schemas.microsoft.com/office/drawing/2014/main" id="{7DFB5522-BB14-4D15-B07D-ECA1F21D14B6}"/>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D1C8"/>
          </a:solidFill>
          <a:ln xmlns:a="http://schemas.openxmlformats.org/drawingml/2006/main" w="0">
            <a:solidFill>
              <a:srgbClr val="000000">
                <a:alpha val="0"/>
              </a:srgbClr>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182599B7-AAEB-4D11-B641-E7BE1FC4F07D}"/>
              </a:ext>
            </a:extLst>
          </p:cNvPr>
          <p:cNvSpPr>
            <a:spLocks xmlns:a="http://schemas.openxmlformats.org/drawingml/2006/main" noGrp="1"/>
          </p:cNvSpPr>
          <p:nvPr/>
        </p:nvSpPr>
        <p:spPr>
          <a:xfrm xmlns:a="http://schemas.openxmlformats.org/drawingml/2006/main">
            <a:off x="609600" y="6477000"/>
            <a:ext cx="3238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667085"/>
                </a:solidFill>
                <a:latin typeface="Aptos"/>
                <a:ea typeface="Aptos"/>
                <a:cs typeface="Aptos"/>
              </a:defRPr>
            </a:pPr>
            <a:r>
              <a:rPr sz="825" b="1">
                <a:solidFill>
                  <a:srgbClr val="667085"/>
                </a:solidFill>
                <a:latin typeface="Aptos"/>
                <a:ea typeface="Aptos"/>
                <a:cs typeface="Aptos"/>
              </a:rPr>
              <a:t>PROMPT EVOLUTION</a:t>
            </a:r>
          </a:p>
        </p:txBody>
      </p:sp>
      <p:sp>
        <p:nvSpPr>
          <p:cNvPr id="64" name="">
            <a:extLst xmlns:a="http://schemas.openxmlformats.org/drawingml/2006/main">
              <a:ext uri="{FF2B5EF4-FFF2-40B4-BE49-F238E27FC236}">
                <a16:creationId xmlns:a16="http://schemas.microsoft.com/office/drawing/2014/main" id="{B54E41BD-2CE3-423E-8845-34D83C848B26}"/>
              </a:ext>
            </a:extLst>
          </p:cNvPr>
          <p:cNvSpPr>
            <a:spLocks xmlns:a="http://schemas.openxmlformats.org/drawingml/2006/main" noGrp="1"/>
          </p:cNvSpPr>
          <p:nvPr/>
        </p:nvSpPr>
        <p:spPr>
          <a:xfrm xmlns:a="http://schemas.openxmlformats.org/drawingml/2006/main">
            <a:off x="11087100" y="6477000"/>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1">
                <a:solidFill>
                  <a:srgbClr val="334155"/>
                </a:solidFill>
              </a:rPr>
              <a:t>04</a:t>
            </a:r>
          </a:p>
        </p:txBody>
      </p:sp>
    </p:spTree>
    <p:extLst>
      <p:ext uri="{BB962C8B-B14F-4D97-AF65-F5344CB8AC3E}">
        <p14:creationId xmlns:p14="http://schemas.microsoft.com/office/powerpoint/2010/main" val="150198207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799D8CA-0E69-4C58-93C9-3394D4772D6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2D89F0A-B285-4A45-AECC-02EA8FD60942}"/>
              </a:ext>
            </a:extLst>
          </p:cNvPr>
          <p:cNvSpPr>
            <a:spLocks xmlns:a="http://schemas.openxmlformats.org/drawingml/2006/main" noGrp="1"/>
          </p:cNvSpPr>
          <p:nvPr/>
        </p:nvSpPr>
        <p:spPr>
          <a:xfrm xmlns:a="http://schemas.openxmlformats.org/drawingml/2006/main">
            <a:off x="609600" y="495300"/>
            <a:ext cx="76200" cy="228600"/>
          </a:xfrm>
          <a:prstGeom xmlns:a="http://schemas.openxmlformats.org/drawingml/2006/main" prst="rect">
            <a:avLst/>
          </a:prstGeom>
          <a:solidFill xmlns:a="http://schemas.openxmlformats.org/drawingml/2006/main">
            <a:srgbClr val="6D28D9"/>
          </a:solidFill>
          <a:ln xmlns:a="http://schemas.openxmlformats.org/drawingml/2006/main" w="0">
            <a:solidFill>
              <a:srgbClr val="000000">
                <a:alpha val="0"/>
              </a:srgbClr>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189E7649-B806-4314-8C5E-0070465BD8D1}"/>
              </a:ext>
            </a:extLst>
          </p:cNvPr>
          <p:cNvSpPr>
            <a:spLocks xmlns:a="http://schemas.openxmlformats.org/drawingml/2006/main" noGrp="1"/>
          </p:cNvSpPr>
          <p:nvPr/>
        </p:nvSpPr>
        <p:spPr>
          <a:xfrm xmlns:a="http://schemas.openxmlformats.org/drawingml/2006/main">
            <a:off x="800100" y="4953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67085"/>
                </a:solidFill>
                <a:latin typeface="Aptos"/>
                <a:ea typeface="Aptos"/>
                <a:cs typeface="Aptos"/>
              </a:defRPr>
            </a:pPr>
            <a:r>
              <a:rPr sz="900" b="1">
                <a:solidFill>
                  <a:srgbClr val="667085"/>
                </a:solidFill>
                <a:latin typeface="Aptos"/>
                <a:ea typeface="Aptos"/>
                <a:cs typeface="Aptos"/>
              </a:rPr>
              <a:t>STRUCTURE ROADMAP</a:t>
            </a:r>
          </a:p>
        </p:txBody>
      </p:sp>
      <p:sp>
        <p:nvSpPr>
          <p:cNvPr id="4" name="">
            <a:extLst xmlns:a="http://schemas.openxmlformats.org/drawingml/2006/main">
              <a:ext uri="{FF2B5EF4-FFF2-40B4-BE49-F238E27FC236}">
                <a16:creationId xmlns:a16="http://schemas.microsoft.com/office/drawing/2014/main" id="{A2A72171-FF73-4AF8-987C-C072BC1C75A2}"/>
              </a:ext>
            </a:extLst>
          </p:cNvPr>
          <p:cNvSpPr>
            <a:spLocks xmlns:a="http://schemas.openxmlformats.org/drawingml/2006/main" noGrp="1"/>
          </p:cNvSpPr>
          <p:nvPr/>
        </p:nvSpPr>
        <p:spPr>
          <a:xfrm xmlns:a="http://schemas.openxmlformats.org/drawingml/2006/main">
            <a:off x="609600" y="819150"/>
            <a:ext cx="100965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01820"/>
                </a:solidFill>
                <a:latin typeface="Aptos Display"/>
                <a:ea typeface="Aptos Display"/>
                <a:cs typeface="Aptos Display"/>
              </a:defRPr>
            </a:pPr>
            <a:r>
              <a:rPr sz="2850" b="1">
                <a:solidFill>
                  <a:srgbClr val="101820"/>
                </a:solidFill>
                <a:latin typeface="Aptos Display"/>
                <a:ea typeface="Aptos Display"/>
                <a:cs typeface="Aptos Display"/>
              </a:rPr>
              <a:t>This map shows the five handoffs we will inspect next.</a:t>
            </a:r>
          </a:p>
        </p:txBody>
      </p:sp>
      <p:sp>
        <p:nvSpPr>
          <p:cNvPr id="5" name="">
            <a:extLst xmlns:a="http://schemas.openxmlformats.org/drawingml/2006/main">
              <a:ext uri="{FF2B5EF4-FFF2-40B4-BE49-F238E27FC236}">
                <a16:creationId xmlns:a16="http://schemas.microsoft.com/office/drawing/2014/main" id="{3B6C1C62-1DDA-40AF-BEA2-AD04D7D9621C}"/>
              </a:ext>
            </a:extLst>
          </p:cNvPr>
          <p:cNvSpPr>
            <a:spLocks xmlns:a="http://schemas.openxmlformats.org/drawingml/2006/main" noGrp="1"/>
          </p:cNvSpPr>
          <p:nvPr/>
        </p:nvSpPr>
        <p:spPr>
          <a:xfrm xmlns:a="http://schemas.openxmlformats.org/drawingml/2006/main">
            <a:off x="609600" y="1943100"/>
            <a:ext cx="9906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15" b="0">
                <a:solidFill>
                  <a:srgbClr val="334155"/>
                </a:solidFill>
                <a:latin typeface="Aptos"/>
                <a:ea typeface="Aptos"/>
                <a:cs typeface="Aptos"/>
              </a:defRPr>
            </a:pPr>
            <a:r>
              <a:rPr sz="1215" b="0">
                <a:solidFill>
                  <a:srgbClr val="334155"/>
                </a:solidFill>
                <a:latin typeface="Aptos"/>
                <a:ea typeface="Aptos"/>
                <a:cs typeface="Aptos"/>
              </a:rPr>
              <a:t>Use this as the audience map: each row below is one handoff. The next slide explains the journey in simple words, then slides 7-11 show the before/after payload structure.</a:t>
            </a:r>
          </a:p>
        </p:txBody>
      </p:sp>
      <p:sp>
        <p:nvSpPr>
          <p:cNvPr id="6" name="">
            <a:extLst xmlns:a="http://schemas.openxmlformats.org/drawingml/2006/main">
              <a:ext uri="{FF2B5EF4-FFF2-40B4-BE49-F238E27FC236}">
                <a16:creationId xmlns:a16="http://schemas.microsoft.com/office/drawing/2014/main" id="{EDA6E63F-4C00-4AB5-90B6-798230B57287}"/>
              </a:ext>
            </a:extLst>
          </p:cNvPr>
          <p:cNvSpPr>
            <a:spLocks xmlns:a="http://schemas.openxmlformats.org/drawingml/2006/main" noGrp="1"/>
          </p:cNvSpPr>
          <p:nvPr/>
        </p:nvSpPr>
        <p:spPr>
          <a:xfrm xmlns:a="http://schemas.openxmlformats.org/drawingml/2006/main">
            <a:off x="609600" y="2381250"/>
            <a:ext cx="819150" cy="323850"/>
          </a:xfrm>
          <a:prstGeom xmlns:a="http://schemas.openxmlformats.org/drawingml/2006/main" prst="rect">
            <a:avLst/>
          </a:prstGeom>
          <a:solidFill xmlns:a="http://schemas.openxmlformats.org/drawingml/2006/main">
            <a:srgbClr val="E7E0D6"/>
          </a:solidFill>
          <a:ln xmlns:a="http://schemas.openxmlformats.org/drawingml/2006/main" w="0">
            <a:solidFill>
              <a:srgbClr val="000000">
                <a:alpha val="0"/>
              </a:srgbClr>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8176D9BE-5967-4F4F-986D-BE4A7A35CA40}"/>
              </a:ext>
            </a:extLst>
          </p:cNvPr>
          <p:cNvSpPr>
            <a:spLocks xmlns:a="http://schemas.openxmlformats.org/drawingml/2006/main" noGrp="1"/>
          </p:cNvSpPr>
          <p:nvPr/>
        </p:nvSpPr>
        <p:spPr>
          <a:xfrm xmlns:a="http://schemas.openxmlformats.org/drawingml/2006/main">
            <a:off x="704850" y="2457450"/>
            <a:ext cx="6286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01820"/>
                </a:solidFill>
                <a:latin typeface="Aptos"/>
                <a:ea typeface="Aptos"/>
                <a:cs typeface="Aptos"/>
              </a:defRPr>
            </a:pPr>
            <a:r>
              <a:rPr sz="863" b="1">
                <a:solidFill>
                  <a:srgbClr val="101820"/>
                </a:solidFill>
                <a:latin typeface="Aptos"/>
                <a:ea typeface="Aptos"/>
                <a:cs typeface="Aptos"/>
              </a:rPr>
              <a:t>Slide</a:t>
            </a:r>
          </a:p>
        </p:txBody>
      </p:sp>
      <p:sp>
        <p:nvSpPr>
          <p:cNvPr id="8" name="">
            <a:extLst xmlns:a="http://schemas.openxmlformats.org/drawingml/2006/main">
              <a:ext uri="{FF2B5EF4-FFF2-40B4-BE49-F238E27FC236}">
                <a16:creationId xmlns:a16="http://schemas.microsoft.com/office/drawing/2014/main" id="{333AC198-8194-4D64-9777-900C8285891B}"/>
              </a:ext>
            </a:extLst>
          </p:cNvPr>
          <p:cNvSpPr>
            <a:spLocks xmlns:a="http://schemas.openxmlformats.org/drawingml/2006/main" noGrp="1"/>
          </p:cNvSpPr>
          <p:nvPr/>
        </p:nvSpPr>
        <p:spPr>
          <a:xfrm xmlns:a="http://schemas.openxmlformats.org/drawingml/2006/main">
            <a:off x="1428750" y="2381250"/>
            <a:ext cx="2266950" cy="323850"/>
          </a:xfrm>
          <a:prstGeom xmlns:a="http://schemas.openxmlformats.org/drawingml/2006/main" prst="rect">
            <a:avLst/>
          </a:prstGeom>
          <a:solidFill xmlns:a="http://schemas.openxmlformats.org/drawingml/2006/main">
            <a:srgbClr val="E7E0D6"/>
          </a:solidFill>
          <a:ln xmlns:a="http://schemas.openxmlformats.org/drawingml/2006/main" w="0">
            <a:solidFill>
              <a:srgbClr val="000000">
                <a:alpha val="0"/>
              </a:srgbClr>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D40AB716-AE28-4439-9814-5C8925905B13}"/>
              </a:ext>
            </a:extLst>
          </p:cNvPr>
          <p:cNvSpPr>
            <a:spLocks xmlns:a="http://schemas.openxmlformats.org/drawingml/2006/main" noGrp="1"/>
          </p:cNvSpPr>
          <p:nvPr/>
        </p:nvSpPr>
        <p:spPr>
          <a:xfrm xmlns:a="http://schemas.openxmlformats.org/drawingml/2006/main">
            <a:off x="1524000" y="2457450"/>
            <a:ext cx="20764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01820"/>
                </a:solidFill>
                <a:latin typeface="Aptos"/>
                <a:ea typeface="Aptos"/>
                <a:cs typeface="Aptos"/>
              </a:defRPr>
            </a:pPr>
            <a:r>
              <a:rPr sz="863" b="1">
                <a:solidFill>
                  <a:srgbClr val="101820"/>
                </a:solidFill>
                <a:latin typeface="Aptos"/>
                <a:ea typeface="Aptos"/>
                <a:cs typeface="Aptos"/>
              </a:rPr>
              <a:t>Handoff</a:t>
            </a:r>
          </a:p>
        </p:txBody>
      </p:sp>
      <p:sp>
        <p:nvSpPr>
          <p:cNvPr id="10" name="">
            <a:extLst xmlns:a="http://schemas.openxmlformats.org/drawingml/2006/main">
              <a:ext uri="{FF2B5EF4-FFF2-40B4-BE49-F238E27FC236}">
                <a16:creationId xmlns:a16="http://schemas.microsoft.com/office/drawing/2014/main" id="{049F66E8-78B9-4516-B498-2CCD789005BC}"/>
              </a:ext>
            </a:extLst>
          </p:cNvPr>
          <p:cNvSpPr>
            <a:spLocks xmlns:a="http://schemas.openxmlformats.org/drawingml/2006/main" noGrp="1"/>
          </p:cNvSpPr>
          <p:nvPr/>
        </p:nvSpPr>
        <p:spPr>
          <a:xfrm xmlns:a="http://schemas.openxmlformats.org/drawingml/2006/main">
            <a:off x="3695700" y="2381250"/>
            <a:ext cx="2419350" cy="323850"/>
          </a:xfrm>
          <a:prstGeom xmlns:a="http://schemas.openxmlformats.org/drawingml/2006/main" prst="rect">
            <a:avLst/>
          </a:prstGeom>
          <a:solidFill xmlns:a="http://schemas.openxmlformats.org/drawingml/2006/main">
            <a:srgbClr val="E7E0D6"/>
          </a:solidFill>
          <a:ln xmlns:a="http://schemas.openxmlformats.org/drawingml/2006/main" w="0">
            <a:solidFill>
              <a:srgbClr val="000000">
                <a:alpha val="0"/>
              </a:srgbClr>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4569AEBB-177C-4087-8A94-C2779BE4DEC1}"/>
              </a:ext>
            </a:extLst>
          </p:cNvPr>
          <p:cNvSpPr>
            <a:spLocks xmlns:a="http://schemas.openxmlformats.org/drawingml/2006/main" noGrp="1"/>
          </p:cNvSpPr>
          <p:nvPr/>
        </p:nvSpPr>
        <p:spPr>
          <a:xfrm xmlns:a="http://schemas.openxmlformats.org/drawingml/2006/main">
            <a:off x="3790950" y="2457450"/>
            <a:ext cx="22288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01820"/>
                </a:solidFill>
                <a:latin typeface="Aptos"/>
                <a:ea typeface="Aptos"/>
                <a:cs typeface="Aptos"/>
              </a:defRPr>
            </a:pPr>
            <a:r>
              <a:rPr sz="863" b="1">
                <a:solidFill>
                  <a:srgbClr val="101820"/>
                </a:solidFill>
                <a:latin typeface="Aptos"/>
                <a:ea typeface="Aptos"/>
                <a:cs typeface="Aptos"/>
              </a:rPr>
              <a:t>From -&gt; To</a:t>
            </a:r>
          </a:p>
        </p:txBody>
      </p:sp>
      <p:sp>
        <p:nvSpPr>
          <p:cNvPr id="12" name="">
            <a:extLst xmlns:a="http://schemas.openxmlformats.org/drawingml/2006/main">
              <a:ext uri="{FF2B5EF4-FFF2-40B4-BE49-F238E27FC236}">
                <a16:creationId xmlns:a16="http://schemas.microsoft.com/office/drawing/2014/main" id="{710C733E-7474-45EF-8B32-D4E4E38E0201}"/>
              </a:ext>
            </a:extLst>
          </p:cNvPr>
          <p:cNvSpPr>
            <a:spLocks xmlns:a="http://schemas.openxmlformats.org/drawingml/2006/main" noGrp="1"/>
          </p:cNvSpPr>
          <p:nvPr/>
        </p:nvSpPr>
        <p:spPr>
          <a:xfrm xmlns:a="http://schemas.openxmlformats.org/drawingml/2006/main">
            <a:off x="6115050" y="2381250"/>
            <a:ext cx="2724150" cy="323850"/>
          </a:xfrm>
          <a:prstGeom xmlns:a="http://schemas.openxmlformats.org/drawingml/2006/main" prst="rect">
            <a:avLst/>
          </a:prstGeom>
          <a:solidFill xmlns:a="http://schemas.openxmlformats.org/drawingml/2006/main">
            <a:srgbClr val="E7E0D6"/>
          </a:solidFill>
          <a:ln xmlns:a="http://schemas.openxmlformats.org/drawingml/2006/main" w="0">
            <a:solidFill>
              <a:srgbClr val="000000">
                <a:alpha val="0"/>
              </a:srgbClr>
            </a:solid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B5E390FE-E9C6-4C87-ACCB-9659F0C42128}"/>
              </a:ext>
            </a:extLst>
          </p:cNvPr>
          <p:cNvSpPr>
            <a:spLocks xmlns:a="http://schemas.openxmlformats.org/drawingml/2006/main" noGrp="1"/>
          </p:cNvSpPr>
          <p:nvPr/>
        </p:nvSpPr>
        <p:spPr>
          <a:xfrm xmlns:a="http://schemas.openxmlformats.org/drawingml/2006/main">
            <a:off x="6210300" y="2457450"/>
            <a:ext cx="25336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01820"/>
                </a:solidFill>
                <a:latin typeface="Aptos"/>
                <a:ea typeface="Aptos"/>
                <a:cs typeface="Aptos"/>
              </a:defRPr>
            </a:pPr>
            <a:r>
              <a:rPr sz="863" b="1">
                <a:solidFill>
                  <a:srgbClr val="101820"/>
                </a:solidFill>
                <a:latin typeface="Aptos"/>
                <a:ea typeface="Aptos"/>
                <a:cs typeface="Aptos"/>
              </a:rPr>
              <a:t>What to watch</a:t>
            </a:r>
          </a:p>
        </p:txBody>
      </p:sp>
      <p:sp>
        <p:nvSpPr>
          <p:cNvPr id="14" name="">
            <a:extLst xmlns:a="http://schemas.openxmlformats.org/drawingml/2006/main">
              <a:ext uri="{FF2B5EF4-FFF2-40B4-BE49-F238E27FC236}">
                <a16:creationId xmlns:a16="http://schemas.microsoft.com/office/drawing/2014/main" id="{0101758A-6A88-4652-B1B6-9CCC2CC5A086}"/>
              </a:ext>
            </a:extLst>
          </p:cNvPr>
          <p:cNvSpPr>
            <a:spLocks xmlns:a="http://schemas.openxmlformats.org/drawingml/2006/main" noGrp="1"/>
          </p:cNvSpPr>
          <p:nvPr/>
        </p:nvSpPr>
        <p:spPr>
          <a:xfrm xmlns:a="http://schemas.openxmlformats.org/drawingml/2006/main">
            <a:off x="8839200" y="2381250"/>
            <a:ext cx="1219200" cy="323850"/>
          </a:xfrm>
          <a:prstGeom xmlns:a="http://schemas.openxmlformats.org/drawingml/2006/main" prst="rect">
            <a:avLst/>
          </a:prstGeom>
          <a:solidFill xmlns:a="http://schemas.openxmlformats.org/drawingml/2006/main">
            <a:srgbClr val="E7E0D6"/>
          </a:solidFill>
          <a:ln xmlns:a="http://schemas.openxmlformats.org/drawingml/2006/main" w="0">
            <a:solidFill>
              <a:srgbClr val="000000">
                <a:alpha val="0"/>
              </a:srgbClr>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287B8332-8668-49B6-847A-512045607092}"/>
              </a:ext>
            </a:extLst>
          </p:cNvPr>
          <p:cNvSpPr>
            <a:spLocks xmlns:a="http://schemas.openxmlformats.org/drawingml/2006/main" noGrp="1"/>
          </p:cNvSpPr>
          <p:nvPr/>
        </p:nvSpPr>
        <p:spPr>
          <a:xfrm xmlns:a="http://schemas.openxmlformats.org/drawingml/2006/main">
            <a:off x="8934450" y="2457450"/>
            <a:ext cx="10287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01820"/>
                </a:solidFill>
                <a:latin typeface="Aptos"/>
                <a:ea typeface="Aptos"/>
                <a:cs typeface="Aptos"/>
              </a:defRPr>
            </a:pPr>
            <a:r>
              <a:rPr sz="863" b="1">
                <a:solidFill>
                  <a:srgbClr val="101820"/>
                </a:solidFill>
                <a:latin typeface="Aptos"/>
                <a:ea typeface="Aptos"/>
                <a:cs typeface="Aptos"/>
              </a:rPr>
              <a:t>Size</a:t>
            </a:r>
          </a:p>
        </p:txBody>
      </p:sp>
      <p:sp>
        <p:nvSpPr>
          <p:cNvPr id="16" name="">
            <a:extLst xmlns:a="http://schemas.openxmlformats.org/drawingml/2006/main">
              <a:ext uri="{FF2B5EF4-FFF2-40B4-BE49-F238E27FC236}">
                <a16:creationId xmlns:a16="http://schemas.microsoft.com/office/drawing/2014/main" id="{041420B3-0523-4EC7-951A-7BD929CADDDB}"/>
              </a:ext>
            </a:extLst>
          </p:cNvPr>
          <p:cNvSpPr>
            <a:spLocks xmlns:a="http://schemas.openxmlformats.org/drawingml/2006/main" noGrp="1"/>
          </p:cNvSpPr>
          <p:nvPr/>
        </p:nvSpPr>
        <p:spPr>
          <a:xfrm xmlns:a="http://schemas.openxmlformats.org/drawingml/2006/main">
            <a:off x="10058400" y="2381250"/>
            <a:ext cx="1524000" cy="323850"/>
          </a:xfrm>
          <a:prstGeom xmlns:a="http://schemas.openxmlformats.org/drawingml/2006/main" prst="rect">
            <a:avLst/>
          </a:prstGeom>
          <a:solidFill xmlns:a="http://schemas.openxmlformats.org/drawingml/2006/main">
            <a:srgbClr val="E7E0D6"/>
          </a:solidFill>
          <a:ln xmlns:a="http://schemas.openxmlformats.org/drawingml/2006/main" w="0">
            <a:solidFill>
              <a:srgbClr val="000000">
                <a:alpha val="0"/>
              </a:srgbClr>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749FE08C-42B7-4852-9B15-3ECF7C648EEF}"/>
              </a:ext>
            </a:extLst>
          </p:cNvPr>
          <p:cNvSpPr>
            <a:spLocks xmlns:a="http://schemas.openxmlformats.org/drawingml/2006/main" noGrp="1"/>
          </p:cNvSpPr>
          <p:nvPr/>
        </p:nvSpPr>
        <p:spPr>
          <a:xfrm xmlns:a="http://schemas.openxmlformats.org/drawingml/2006/main">
            <a:off x="10153650" y="2457450"/>
            <a:ext cx="1333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01820"/>
                </a:solidFill>
                <a:latin typeface="Aptos"/>
                <a:ea typeface="Aptos"/>
                <a:cs typeface="Aptos"/>
              </a:defRPr>
            </a:pPr>
            <a:r>
              <a:rPr sz="863" b="1">
                <a:solidFill>
                  <a:srgbClr val="101820"/>
                </a:solidFill>
                <a:latin typeface="Aptos"/>
                <a:ea typeface="Aptos"/>
                <a:cs typeface="Aptos"/>
              </a:rPr>
              <a:t>Added</a:t>
            </a:r>
          </a:p>
        </p:txBody>
      </p:sp>
      <p:sp>
        <p:nvSpPr>
          <p:cNvPr id="18" name="">
            <a:extLst xmlns:a="http://schemas.openxmlformats.org/drawingml/2006/main">
              <a:ext uri="{FF2B5EF4-FFF2-40B4-BE49-F238E27FC236}">
                <a16:creationId xmlns:a16="http://schemas.microsoft.com/office/drawing/2014/main" id="{7F6DCA7A-A74C-4DDE-9545-ADDB3360AD48}"/>
              </a:ext>
            </a:extLst>
          </p:cNvPr>
          <p:cNvSpPr>
            <a:spLocks xmlns:a="http://schemas.openxmlformats.org/drawingml/2006/main" noGrp="1"/>
          </p:cNvSpPr>
          <p:nvPr/>
        </p:nvSpPr>
        <p:spPr>
          <a:xfrm xmlns:a="http://schemas.openxmlformats.org/drawingml/2006/main">
            <a:off x="609600" y="2705100"/>
            <a:ext cx="10972800" cy="685800"/>
          </a:xfrm>
          <a:prstGeom xmlns:a="http://schemas.openxmlformats.org/drawingml/2006/main" prst="rect">
            <a:avLst/>
          </a:prstGeom>
          <a:solidFill xmlns:a="http://schemas.openxmlformats.org/drawingml/2006/main">
            <a:srgbClr val="FBF8F2"/>
          </a:solidFill>
          <a:ln xmlns:a="http://schemas.openxmlformats.org/drawingml/2006/main" w="0">
            <a:solidFill>
              <a:srgbClr val="000000">
                <a:alpha val="0"/>
              </a:srgbClr>
            </a:solidFill>
            <a:prstDash val="solid"/>
          </a:ln>
        </p:spPr>
        <p:txBody xmlns:a="http://schemas.openxmlformats.org/drawingml/2006/main">
          <a:bodyPr/>
          <a:p/>
        </p:txBody>
      </p:sp>
      <p:sp>
        <p:nvSpPr>
          <p:cNvPr id="19" name="">
            <a:extLst xmlns:a="http://schemas.openxmlformats.org/drawingml/2006/main">
              <a:ext uri="{FF2B5EF4-FFF2-40B4-BE49-F238E27FC236}">
                <a16:creationId xmlns:a16="http://schemas.microsoft.com/office/drawing/2014/main" id="{EE18622B-FC9F-4A0C-8719-775D9EEDBB96}"/>
              </a:ext>
            </a:extLst>
          </p:cNvPr>
          <p:cNvSpPr>
            <a:spLocks xmlns:a="http://schemas.openxmlformats.org/drawingml/2006/main" noGrp="1"/>
          </p:cNvSpPr>
          <p:nvPr/>
        </p:nvSpPr>
        <p:spPr>
          <a:xfrm xmlns:a="http://schemas.openxmlformats.org/drawingml/2006/main">
            <a:off x="609600" y="2705100"/>
            <a:ext cx="76200" cy="685800"/>
          </a:xfrm>
          <a:prstGeom xmlns:a="http://schemas.openxmlformats.org/drawingml/2006/main" prst="rect">
            <a:avLst/>
          </a:prstGeom>
          <a:solidFill xmlns:a="http://schemas.openxmlformats.org/drawingml/2006/main">
            <a:srgbClr val="2563EB"/>
          </a:solidFill>
          <a:ln xmlns:a="http://schemas.openxmlformats.org/drawingml/2006/main" w="0">
            <a:solidFill>
              <a:srgbClr val="000000">
                <a:alpha val="0"/>
              </a:srgbClr>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EA48E5A2-BD2D-4A09-AD83-B73D29EF9F2B}"/>
              </a:ext>
            </a:extLst>
          </p:cNvPr>
          <p:cNvSpPr>
            <a:spLocks xmlns:a="http://schemas.openxmlformats.org/drawingml/2006/main" noGrp="1"/>
          </p:cNvSpPr>
          <p:nvPr/>
        </p:nvSpPr>
        <p:spPr>
          <a:xfrm xmlns:a="http://schemas.openxmlformats.org/drawingml/2006/main">
            <a:off x="742950" y="283845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45" b="1">
                <a:solidFill>
                  <a:srgbClr val="2563EB"/>
                </a:solidFill>
                <a:latin typeface="Aptos"/>
                <a:ea typeface="Aptos"/>
                <a:cs typeface="Aptos"/>
              </a:defRPr>
            </a:pPr>
            <a:r>
              <a:rPr sz="945" b="1">
                <a:solidFill>
                  <a:srgbClr val="2563EB"/>
                </a:solidFill>
                <a:latin typeface="Aptos"/>
                <a:ea typeface="Aptos"/>
                <a:cs typeface="Aptos"/>
              </a:rPr>
              <a:t>Slide 7</a:t>
            </a:r>
          </a:p>
        </p:txBody>
      </p:sp>
      <p:sp>
        <p:nvSpPr>
          <p:cNvPr id="21" name="">
            <a:extLst xmlns:a="http://schemas.openxmlformats.org/drawingml/2006/main">
              <a:ext uri="{FF2B5EF4-FFF2-40B4-BE49-F238E27FC236}">
                <a16:creationId xmlns:a16="http://schemas.microsoft.com/office/drawing/2014/main" id="{A0DC6422-8533-4BFB-B67C-801B6430B56E}"/>
              </a:ext>
            </a:extLst>
          </p:cNvPr>
          <p:cNvSpPr>
            <a:spLocks xmlns:a="http://schemas.openxmlformats.org/drawingml/2006/main" noGrp="1"/>
          </p:cNvSpPr>
          <p:nvPr/>
        </p:nvSpPr>
        <p:spPr>
          <a:xfrm xmlns:a="http://schemas.openxmlformats.org/drawingml/2006/main">
            <a:off x="742950" y="3067050"/>
            <a:ext cx="5905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05" b="1">
                <a:solidFill>
                  <a:srgbClr val="667085"/>
                </a:solidFill>
                <a:latin typeface="Aptos"/>
                <a:ea typeface="Aptos"/>
                <a:cs typeface="Aptos"/>
              </a:defRPr>
            </a:pPr>
            <a:r>
              <a:rPr sz="705" b="1">
                <a:solidFill>
                  <a:srgbClr val="667085"/>
                </a:solidFill>
                <a:latin typeface="Aptos"/>
                <a:ea typeface="Aptos"/>
                <a:cs typeface="Aptos"/>
              </a:rPr>
              <a:t>Step 1 of 5</a:t>
            </a:r>
          </a:p>
        </p:txBody>
      </p:sp>
      <p:sp>
        <p:nvSpPr>
          <p:cNvPr id="22" name="">
            <a:extLst xmlns:a="http://schemas.openxmlformats.org/drawingml/2006/main">
              <a:ext uri="{FF2B5EF4-FFF2-40B4-BE49-F238E27FC236}">
                <a16:creationId xmlns:a16="http://schemas.microsoft.com/office/drawing/2014/main" id="{93C14424-E6F2-4963-8CAD-CC24A88B7EC7}"/>
              </a:ext>
            </a:extLst>
          </p:cNvPr>
          <p:cNvSpPr>
            <a:spLocks xmlns:a="http://schemas.openxmlformats.org/drawingml/2006/main" noGrp="1"/>
          </p:cNvSpPr>
          <p:nvPr/>
        </p:nvSpPr>
        <p:spPr>
          <a:xfrm xmlns:a="http://schemas.openxmlformats.org/drawingml/2006/main">
            <a:off x="1543050" y="2819400"/>
            <a:ext cx="2038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95" b="1">
                <a:solidFill>
                  <a:srgbClr val="101820"/>
                </a:solidFill>
                <a:latin typeface="Aptos"/>
                <a:ea typeface="Aptos"/>
                <a:cs typeface="Aptos"/>
              </a:defRPr>
            </a:pPr>
            <a:r>
              <a:rPr sz="1095" b="1">
                <a:solidFill>
                  <a:srgbClr val="101820"/>
                </a:solidFill>
                <a:latin typeface="Aptos"/>
                <a:ea typeface="Aptos"/>
                <a:cs typeface="Aptos"/>
              </a:rPr>
              <a:t>Task -&gt; Prompt</a:t>
            </a:r>
          </a:p>
        </p:txBody>
      </p:sp>
      <p:sp>
        <p:nvSpPr>
          <p:cNvPr id="23" name="">
            <a:extLst xmlns:a="http://schemas.openxmlformats.org/drawingml/2006/main">
              <a:ext uri="{FF2B5EF4-FFF2-40B4-BE49-F238E27FC236}">
                <a16:creationId xmlns:a16="http://schemas.microsoft.com/office/drawing/2014/main" id="{24057ACE-3E03-4B0F-8453-ED1A9A632AC9}"/>
              </a:ext>
            </a:extLst>
          </p:cNvPr>
          <p:cNvSpPr>
            <a:spLocks xmlns:a="http://schemas.openxmlformats.org/drawingml/2006/main" noGrp="1"/>
          </p:cNvSpPr>
          <p:nvPr/>
        </p:nvSpPr>
        <p:spPr>
          <a:xfrm xmlns:a="http://schemas.openxmlformats.org/drawingml/2006/main">
            <a:off x="1543050" y="3067050"/>
            <a:ext cx="20383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wrap="square"/>
          <a:lstStyle xmlns:a="http://schemas.openxmlformats.org/drawingml/2006/main"/>
          <a:p xmlns:a="http://schemas.openxmlformats.org/drawingml/2006/main">
            <a:pPr algn="l">
              <a:defRPr sz="735" b="1">
                <a:solidFill>
                  <a:srgbClr val="2563EB"/>
                </a:solidFill>
                <a:latin typeface="Aptos"/>
                <a:ea typeface="Aptos"/>
                <a:cs typeface="Aptos"/>
              </a:defRPr>
            </a:pPr>
            <a:r>
              <a:rPr sz="665" b="1">
                <a:solidFill>
                  <a:srgbClr val="2563EB"/>
                </a:solidFill>
                <a:latin typeface="Aptos"/>
                <a:ea typeface="Aptos"/>
                <a:cs typeface="Aptos"/>
              </a:rPr>
              <a:t>Prompt Builder (local helper script)</a:t>
            </a:r>
          </a:p>
        </p:txBody>
      </p:sp>
      <p:sp>
        <p:nvSpPr>
          <p:cNvPr id="24" name="">
            <a:extLst xmlns:a="http://schemas.openxmlformats.org/drawingml/2006/main">
              <a:ext uri="{FF2B5EF4-FFF2-40B4-BE49-F238E27FC236}">
                <a16:creationId xmlns:a16="http://schemas.microsoft.com/office/drawing/2014/main" id="{BD9E0123-253C-4A25-BB33-A2CC6C3CE559}"/>
              </a:ext>
            </a:extLst>
          </p:cNvPr>
          <p:cNvSpPr>
            <a:spLocks xmlns:a="http://schemas.openxmlformats.org/drawingml/2006/main" noGrp="1"/>
          </p:cNvSpPr>
          <p:nvPr/>
        </p:nvSpPr>
        <p:spPr>
          <a:xfrm xmlns:a="http://schemas.openxmlformats.org/drawingml/2006/main">
            <a:off x="3810000" y="2876550"/>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334155"/>
                </a:solidFill>
                <a:latin typeface="Aptos"/>
                <a:ea typeface="Aptos"/>
                <a:cs typeface="Aptos"/>
              </a:defRPr>
            </a:pPr>
            <a:r>
              <a:rPr sz="900" b="0">
                <a:solidFill>
                  <a:srgbClr val="334155"/>
                </a:solidFill>
                <a:latin typeface="Aptos"/>
                <a:ea typeface="Aptos"/>
                <a:cs typeface="Aptos"/>
              </a:rPr>
              <a:t>Task Loaded -&gt; Prompt Built</a:t>
            </a:r>
          </a:p>
        </p:txBody>
      </p:sp>
      <p:sp>
        <p:nvSpPr>
          <p:cNvPr id="25" name="">
            <a:extLst xmlns:a="http://schemas.openxmlformats.org/drawingml/2006/main">
              <a:ext uri="{FF2B5EF4-FFF2-40B4-BE49-F238E27FC236}">
                <a16:creationId xmlns:a16="http://schemas.microsoft.com/office/drawing/2014/main" id="{130E704B-E94C-4668-8951-5DF2C73F7794}"/>
              </a:ext>
            </a:extLst>
          </p:cNvPr>
          <p:cNvSpPr>
            <a:spLocks xmlns:a="http://schemas.openxmlformats.org/drawingml/2006/main" noGrp="1"/>
          </p:cNvSpPr>
          <p:nvPr/>
        </p:nvSpPr>
        <p:spPr>
          <a:xfrm xmlns:a="http://schemas.openxmlformats.org/drawingml/2006/main">
            <a:off x="6229350" y="2809875"/>
            <a:ext cx="24955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10" b="0">
                <a:solidFill>
                  <a:srgbClr val="334155"/>
                </a:solidFill>
                <a:latin typeface="Aptos"/>
                <a:ea typeface="Aptos"/>
                <a:cs typeface="Aptos"/>
              </a:defRPr>
            </a:pPr>
            <a:r>
              <a:rPr sz="810" b="0">
                <a:solidFill>
                  <a:srgbClr val="334155"/>
                </a:solidFill>
                <a:latin typeface="Aptos"/>
                <a:ea typeface="Aptos"/>
                <a:cs typeface="Aptos"/>
              </a:rPr>
              <a:t>New field: prompt. Payload grows by +5,576.</a:t>
            </a:r>
          </a:p>
        </p:txBody>
      </p:sp>
      <p:sp>
        <p:nvSpPr>
          <p:cNvPr id="26" name="">
            <a:extLst xmlns:a="http://schemas.openxmlformats.org/drawingml/2006/main">
              <a:ext uri="{FF2B5EF4-FFF2-40B4-BE49-F238E27FC236}">
                <a16:creationId xmlns:a16="http://schemas.microsoft.com/office/drawing/2014/main" id="{019F2E6F-A757-4F03-85F9-44D98035B815}"/>
              </a:ext>
            </a:extLst>
          </p:cNvPr>
          <p:cNvSpPr>
            <a:spLocks xmlns:a="http://schemas.openxmlformats.org/drawingml/2006/main" noGrp="1"/>
          </p:cNvSpPr>
          <p:nvPr/>
        </p:nvSpPr>
        <p:spPr>
          <a:xfrm xmlns:a="http://schemas.openxmlformats.org/drawingml/2006/main">
            <a:off x="8953500" y="2857500"/>
            <a:ext cx="9906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20" b="1">
                <a:solidFill>
                  <a:srgbClr val="2563EB"/>
                </a:solidFill>
                <a:latin typeface="Aptos Mono"/>
                <a:ea typeface="Aptos Mono"/>
                <a:cs typeface="Aptos Mono"/>
              </a:defRPr>
            </a:pPr>
            <a:r>
              <a:rPr sz="1020" b="1">
                <a:solidFill>
                  <a:srgbClr val="2563EB"/>
                </a:solidFill>
                <a:latin typeface="Aptos Mono"/>
                <a:ea typeface="Aptos Mono"/>
                <a:cs typeface="Aptos Mono"/>
              </a:rPr>
              <a:t>+5,576</a:t>
            </a:r>
          </a:p>
        </p:txBody>
      </p:sp>
      <p:sp>
        <p:nvSpPr>
          <p:cNvPr id="27" name="">
            <a:extLst xmlns:a="http://schemas.openxmlformats.org/drawingml/2006/main">
              <a:ext uri="{FF2B5EF4-FFF2-40B4-BE49-F238E27FC236}">
                <a16:creationId xmlns:a16="http://schemas.microsoft.com/office/drawing/2014/main" id="{A75E4C36-4E10-41F8-89C8-6DD08C4769B6}"/>
              </a:ext>
            </a:extLst>
          </p:cNvPr>
          <p:cNvSpPr>
            <a:spLocks xmlns:a="http://schemas.openxmlformats.org/drawingml/2006/main" noGrp="1"/>
          </p:cNvSpPr>
          <p:nvPr/>
        </p:nvSpPr>
        <p:spPr>
          <a:xfrm xmlns:a="http://schemas.openxmlformats.org/drawingml/2006/main">
            <a:off x="10172700" y="2847975"/>
            <a:ext cx="12954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73" b="0">
                <a:solidFill>
                  <a:srgbClr val="334155"/>
                </a:solidFill>
                <a:latin typeface="Aptos"/>
                <a:ea typeface="Aptos"/>
                <a:cs typeface="Aptos"/>
              </a:defRPr>
            </a:pPr>
            <a:r>
              <a:rPr sz="773" b="0">
                <a:solidFill>
                  <a:srgbClr val="334155"/>
                </a:solidFill>
                <a:latin typeface="Aptos"/>
                <a:ea typeface="Aptos"/>
                <a:cs typeface="Aptos"/>
              </a:rPr>
              <a:t>prompt</a:t>
            </a:r>
          </a:p>
        </p:txBody>
      </p:sp>
      <p:sp>
        <p:nvSpPr>
          <p:cNvPr id="28" name="">
            <a:extLst xmlns:a="http://schemas.openxmlformats.org/drawingml/2006/main">
              <a:ext uri="{FF2B5EF4-FFF2-40B4-BE49-F238E27FC236}">
                <a16:creationId xmlns:a16="http://schemas.microsoft.com/office/drawing/2014/main" id="{2F6CB899-72E4-4780-A9B0-42859298F11B}"/>
              </a:ext>
            </a:extLst>
          </p:cNvPr>
          <p:cNvSpPr>
            <a:spLocks xmlns:a="http://schemas.openxmlformats.org/drawingml/2006/main" noGrp="1"/>
          </p:cNvSpPr>
          <p:nvPr/>
        </p:nvSpPr>
        <p:spPr>
          <a:xfrm xmlns:a="http://schemas.openxmlformats.org/drawingml/2006/main">
            <a:off x="609600" y="3381375"/>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A71E389E-5184-48A0-8C83-AC849DF5728C}"/>
              </a:ext>
            </a:extLst>
          </p:cNvPr>
          <p:cNvSpPr>
            <a:spLocks xmlns:a="http://schemas.openxmlformats.org/drawingml/2006/main" noGrp="1"/>
          </p:cNvSpPr>
          <p:nvPr/>
        </p:nvSpPr>
        <p:spPr>
          <a:xfrm xmlns:a="http://schemas.openxmlformats.org/drawingml/2006/main">
            <a:off x="609600" y="3390900"/>
            <a:ext cx="10972800" cy="685800"/>
          </a:xfrm>
          <a:prstGeom xmlns:a="http://schemas.openxmlformats.org/drawingml/2006/main" prst="rect">
            <a:avLst/>
          </a:prstGeom>
          <a:solidFill xmlns:a="http://schemas.openxmlformats.org/drawingml/2006/main">
            <a:srgbClr val="F1EBE2"/>
          </a:solidFill>
          <a:ln xmlns:a="http://schemas.openxmlformats.org/drawingml/2006/main" w="0">
            <a:solidFill>
              <a:srgbClr val="000000">
                <a:alpha val="0"/>
              </a:srgbClr>
            </a:solidFill>
            <a:prstDash val="solid"/>
          </a:ln>
        </p:spPr>
        <p:txBody xmlns:a="http://schemas.openxmlformats.org/drawingml/2006/main">
          <a:bodyPr/>
          <a:p/>
        </p:txBody>
      </p:sp>
      <p:sp>
        <p:nvSpPr>
          <p:cNvPr id="30" name="">
            <a:extLst xmlns:a="http://schemas.openxmlformats.org/drawingml/2006/main">
              <a:ext uri="{FF2B5EF4-FFF2-40B4-BE49-F238E27FC236}">
                <a16:creationId xmlns:a16="http://schemas.microsoft.com/office/drawing/2014/main" id="{C78BC1A2-7C3B-464B-BC47-161283779590}"/>
              </a:ext>
            </a:extLst>
          </p:cNvPr>
          <p:cNvSpPr>
            <a:spLocks xmlns:a="http://schemas.openxmlformats.org/drawingml/2006/main" noGrp="1"/>
          </p:cNvSpPr>
          <p:nvPr/>
        </p:nvSpPr>
        <p:spPr>
          <a:xfrm xmlns:a="http://schemas.openxmlformats.org/drawingml/2006/main">
            <a:off x="609600" y="3390900"/>
            <a:ext cx="76200" cy="685800"/>
          </a:xfrm>
          <a:prstGeom xmlns:a="http://schemas.openxmlformats.org/drawingml/2006/main" prst="rect">
            <a:avLst/>
          </a:prstGeom>
          <a:solidFill xmlns:a="http://schemas.openxmlformats.org/drawingml/2006/main">
            <a:srgbClr val="1D4ED8"/>
          </a:solidFill>
          <a:ln xmlns:a="http://schemas.openxmlformats.org/drawingml/2006/main" w="0">
            <a:solidFill>
              <a:srgbClr val="000000">
                <a:alpha val="0"/>
              </a:srgbClr>
            </a:solidFill>
            <a:prstDash val="solid"/>
          </a:ln>
        </p:spPr>
        <p:txBody xmlns:a="http://schemas.openxmlformats.org/drawingml/2006/main">
          <a:bodyPr/>
          <a:p/>
        </p:txBody>
      </p:sp>
      <p:sp>
        <p:nvSpPr>
          <p:cNvPr id="31" name="">
            <a:extLst xmlns:a="http://schemas.openxmlformats.org/drawingml/2006/main">
              <a:ext uri="{FF2B5EF4-FFF2-40B4-BE49-F238E27FC236}">
                <a16:creationId xmlns:a16="http://schemas.microsoft.com/office/drawing/2014/main" id="{63163BF3-3F7D-4061-92AF-2864AE0C819D}"/>
              </a:ext>
            </a:extLst>
          </p:cNvPr>
          <p:cNvSpPr>
            <a:spLocks xmlns:a="http://schemas.openxmlformats.org/drawingml/2006/main" noGrp="1"/>
          </p:cNvSpPr>
          <p:nvPr/>
        </p:nvSpPr>
        <p:spPr>
          <a:xfrm xmlns:a="http://schemas.openxmlformats.org/drawingml/2006/main">
            <a:off x="742950" y="352425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45" b="1">
                <a:solidFill>
                  <a:srgbClr val="1D4ED8"/>
                </a:solidFill>
                <a:latin typeface="Aptos"/>
                <a:ea typeface="Aptos"/>
                <a:cs typeface="Aptos"/>
              </a:defRPr>
            </a:pPr>
            <a:r>
              <a:rPr sz="945" b="1">
                <a:solidFill>
                  <a:srgbClr val="1D4ED8"/>
                </a:solidFill>
                <a:latin typeface="Aptos"/>
                <a:ea typeface="Aptos"/>
                <a:cs typeface="Aptos"/>
              </a:rPr>
              <a:t>Slide 8</a:t>
            </a:r>
          </a:p>
        </p:txBody>
      </p:sp>
      <p:sp>
        <p:nvSpPr>
          <p:cNvPr id="32" name="">
            <a:extLst xmlns:a="http://schemas.openxmlformats.org/drawingml/2006/main">
              <a:ext uri="{FF2B5EF4-FFF2-40B4-BE49-F238E27FC236}">
                <a16:creationId xmlns:a16="http://schemas.microsoft.com/office/drawing/2014/main" id="{9A64348C-05CF-4FCA-88EC-F6BC2BA01B88}"/>
              </a:ext>
            </a:extLst>
          </p:cNvPr>
          <p:cNvSpPr>
            <a:spLocks xmlns:a="http://schemas.openxmlformats.org/drawingml/2006/main" noGrp="1"/>
          </p:cNvSpPr>
          <p:nvPr/>
        </p:nvSpPr>
        <p:spPr>
          <a:xfrm xmlns:a="http://schemas.openxmlformats.org/drawingml/2006/main">
            <a:off x="742950" y="3752850"/>
            <a:ext cx="5905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05" b="1">
                <a:solidFill>
                  <a:srgbClr val="667085"/>
                </a:solidFill>
                <a:latin typeface="Aptos"/>
                <a:ea typeface="Aptos"/>
                <a:cs typeface="Aptos"/>
              </a:defRPr>
            </a:pPr>
            <a:r>
              <a:rPr sz="705" b="1">
                <a:solidFill>
                  <a:srgbClr val="667085"/>
                </a:solidFill>
                <a:latin typeface="Aptos"/>
                <a:ea typeface="Aptos"/>
                <a:cs typeface="Aptos"/>
              </a:rPr>
              <a:t>Step 2 of 5</a:t>
            </a:r>
          </a:p>
        </p:txBody>
      </p:sp>
      <p:sp>
        <p:nvSpPr>
          <p:cNvPr id="33" name="">
            <a:extLst xmlns:a="http://schemas.openxmlformats.org/drawingml/2006/main">
              <a:ext uri="{FF2B5EF4-FFF2-40B4-BE49-F238E27FC236}">
                <a16:creationId xmlns:a16="http://schemas.microsoft.com/office/drawing/2014/main" id="{938332D2-0228-476C-9510-094344941914}"/>
              </a:ext>
            </a:extLst>
          </p:cNvPr>
          <p:cNvSpPr>
            <a:spLocks xmlns:a="http://schemas.openxmlformats.org/drawingml/2006/main" noGrp="1"/>
          </p:cNvSpPr>
          <p:nvPr/>
        </p:nvSpPr>
        <p:spPr>
          <a:xfrm xmlns:a="http://schemas.openxmlformats.org/drawingml/2006/main">
            <a:off x="1543050" y="3505200"/>
            <a:ext cx="2038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95" b="1">
                <a:solidFill>
                  <a:srgbClr val="101820"/>
                </a:solidFill>
                <a:latin typeface="Aptos"/>
                <a:ea typeface="Aptos"/>
                <a:cs typeface="Aptos"/>
              </a:defRPr>
            </a:pPr>
            <a:r>
              <a:rPr sz="1095" b="1">
                <a:solidFill>
                  <a:srgbClr val="101820"/>
                </a:solidFill>
                <a:latin typeface="Aptos"/>
                <a:ea typeface="Aptos"/>
                <a:cs typeface="Aptos"/>
              </a:rPr>
              <a:t>Prompt -&gt; Request</a:t>
            </a:r>
          </a:p>
        </p:txBody>
      </p:sp>
      <p:sp>
        <p:nvSpPr>
          <p:cNvPr id="34" name="">
            <a:extLst xmlns:a="http://schemas.openxmlformats.org/drawingml/2006/main">
              <a:ext uri="{FF2B5EF4-FFF2-40B4-BE49-F238E27FC236}">
                <a16:creationId xmlns:a16="http://schemas.microsoft.com/office/drawing/2014/main" id="{7F384614-93E2-40BC-A842-A074B35CA6D7}"/>
              </a:ext>
            </a:extLst>
          </p:cNvPr>
          <p:cNvSpPr>
            <a:spLocks xmlns:a="http://schemas.openxmlformats.org/drawingml/2006/main" noGrp="1"/>
          </p:cNvSpPr>
          <p:nvPr/>
        </p:nvSpPr>
        <p:spPr>
          <a:xfrm xmlns:a="http://schemas.openxmlformats.org/drawingml/2006/main">
            <a:off x="1543050" y="3752850"/>
            <a:ext cx="20383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wrap="square"/>
          <a:lstStyle xmlns:a="http://schemas.openxmlformats.org/drawingml/2006/main"/>
          <a:p xmlns:a="http://schemas.openxmlformats.org/drawingml/2006/main">
            <a:pPr algn="l">
              <a:defRPr sz="735" b="1">
                <a:solidFill>
                  <a:srgbClr val="1D4ED8"/>
                </a:solidFill>
                <a:latin typeface="Aptos"/>
                <a:ea typeface="Aptos"/>
                <a:cs typeface="Aptos"/>
              </a:defRPr>
            </a:pPr>
            <a:r>
              <a:rPr sz="665" b="1">
                <a:solidFill>
                  <a:srgbClr val="1D4ED8"/>
                </a:solidFill>
                <a:latin typeface="Aptos"/>
                <a:ea typeface="Aptos"/>
                <a:cs typeface="Aptos"/>
              </a:rPr>
              <a:t>Request Wrapper (local helper script)</a:t>
            </a:r>
          </a:p>
        </p:txBody>
      </p:sp>
      <p:sp>
        <p:nvSpPr>
          <p:cNvPr id="35" name="">
            <a:extLst xmlns:a="http://schemas.openxmlformats.org/drawingml/2006/main">
              <a:ext uri="{FF2B5EF4-FFF2-40B4-BE49-F238E27FC236}">
                <a16:creationId xmlns:a16="http://schemas.microsoft.com/office/drawing/2014/main" id="{8907BD29-3CFB-42E1-A271-FA7D09B27EA2}"/>
              </a:ext>
            </a:extLst>
          </p:cNvPr>
          <p:cNvSpPr>
            <a:spLocks xmlns:a="http://schemas.openxmlformats.org/drawingml/2006/main" noGrp="1"/>
          </p:cNvSpPr>
          <p:nvPr/>
        </p:nvSpPr>
        <p:spPr>
          <a:xfrm xmlns:a="http://schemas.openxmlformats.org/drawingml/2006/main">
            <a:off x="3810000" y="3562350"/>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334155"/>
                </a:solidFill>
                <a:latin typeface="Aptos"/>
                <a:ea typeface="Aptos"/>
                <a:cs typeface="Aptos"/>
              </a:defRPr>
            </a:pPr>
            <a:r>
              <a:rPr sz="900" b="0">
                <a:solidFill>
                  <a:srgbClr val="334155"/>
                </a:solidFill>
                <a:latin typeface="Aptos"/>
                <a:ea typeface="Aptos"/>
                <a:cs typeface="Aptos"/>
              </a:rPr>
              <a:t>Prompt Built -&gt; Request Packaged</a:t>
            </a:r>
          </a:p>
        </p:txBody>
      </p:sp>
      <p:sp>
        <p:nvSpPr>
          <p:cNvPr id="36" name="">
            <a:extLst xmlns:a="http://schemas.openxmlformats.org/drawingml/2006/main">
              <a:ext uri="{FF2B5EF4-FFF2-40B4-BE49-F238E27FC236}">
                <a16:creationId xmlns:a16="http://schemas.microsoft.com/office/drawing/2014/main" id="{5AC7F769-0AB6-47D0-8FCB-79F4C45CC3F6}"/>
              </a:ext>
            </a:extLst>
          </p:cNvPr>
          <p:cNvSpPr>
            <a:spLocks xmlns:a="http://schemas.openxmlformats.org/drawingml/2006/main" noGrp="1"/>
          </p:cNvSpPr>
          <p:nvPr/>
        </p:nvSpPr>
        <p:spPr>
          <a:xfrm xmlns:a="http://schemas.openxmlformats.org/drawingml/2006/main">
            <a:off x="6229350" y="3495675"/>
            <a:ext cx="24955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10" b="0">
                <a:solidFill>
                  <a:srgbClr val="334155"/>
                </a:solidFill>
                <a:latin typeface="Aptos"/>
                <a:ea typeface="Aptos"/>
                <a:cs typeface="Aptos"/>
              </a:defRPr>
            </a:pPr>
            <a:r>
              <a:rPr sz="810" b="0">
                <a:solidFill>
                  <a:srgbClr val="334155"/>
                </a:solidFill>
                <a:latin typeface="Aptos"/>
                <a:ea typeface="Aptos"/>
                <a:cs typeface="Aptos"/>
              </a:rPr>
              <a:t>New fields: model, messages, request_context, agent_hints.</a:t>
            </a:r>
          </a:p>
        </p:txBody>
      </p:sp>
      <p:sp>
        <p:nvSpPr>
          <p:cNvPr id="37" name="">
            <a:extLst xmlns:a="http://schemas.openxmlformats.org/drawingml/2006/main">
              <a:ext uri="{FF2B5EF4-FFF2-40B4-BE49-F238E27FC236}">
                <a16:creationId xmlns:a16="http://schemas.microsoft.com/office/drawing/2014/main" id="{45E83C69-35D7-4BDF-8F1A-7D3EDEBA6B47}"/>
              </a:ext>
            </a:extLst>
          </p:cNvPr>
          <p:cNvSpPr>
            <a:spLocks xmlns:a="http://schemas.openxmlformats.org/drawingml/2006/main" noGrp="1"/>
          </p:cNvSpPr>
          <p:nvPr/>
        </p:nvSpPr>
        <p:spPr>
          <a:xfrm xmlns:a="http://schemas.openxmlformats.org/drawingml/2006/main">
            <a:off x="8953500" y="3543300"/>
            <a:ext cx="9906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20" b="1">
                <a:solidFill>
                  <a:srgbClr val="1D4ED8"/>
                </a:solidFill>
                <a:latin typeface="Aptos Mono"/>
                <a:ea typeface="Aptos Mono"/>
                <a:cs typeface="Aptos Mono"/>
              </a:defRPr>
            </a:pPr>
            <a:r>
              <a:rPr sz="1020" b="1">
                <a:solidFill>
                  <a:srgbClr val="1D4ED8"/>
                </a:solidFill>
                <a:latin typeface="Aptos Mono"/>
                <a:ea typeface="Aptos Mono"/>
                <a:cs typeface="Aptos Mono"/>
              </a:rPr>
              <a:t>0</a:t>
            </a:r>
          </a:p>
        </p:txBody>
      </p:sp>
      <p:sp>
        <p:nvSpPr>
          <p:cNvPr id="38" name="">
            <a:extLst xmlns:a="http://schemas.openxmlformats.org/drawingml/2006/main">
              <a:ext uri="{FF2B5EF4-FFF2-40B4-BE49-F238E27FC236}">
                <a16:creationId xmlns:a16="http://schemas.microsoft.com/office/drawing/2014/main" id="{CFF51811-C117-4E84-A811-294248B1E137}"/>
              </a:ext>
            </a:extLst>
          </p:cNvPr>
          <p:cNvSpPr>
            <a:spLocks xmlns:a="http://schemas.openxmlformats.org/drawingml/2006/main" noGrp="1"/>
          </p:cNvSpPr>
          <p:nvPr/>
        </p:nvSpPr>
        <p:spPr>
          <a:xfrm xmlns:a="http://schemas.openxmlformats.org/drawingml/2006/main">
            <a:off x="10172700" y="3533775"/>
            <a:ext cx="12954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73" b="0">
                <a:solidFill>
                  <a:srgbClr val="334155"/>
                </a:solidFill>
                <a:latin typeface="Aptos"/>
                <a:ea typeface="Aptos"/>
                <a:cs typeface="Aptos"/>
              </a:defRPr>
            </a:pPr>
            <a:r>
              <a:rPr sz="773" b="0">
                <a:solidFill>
                  <a:srgbClr val="334155"/>
                </a:solidFill>
                <a:latin typeface="Aptos"/>
                <a:ea typeface="Aptos"/>
                <a:cs typeface="Aptos"/>
              </a:rPr>
              <a:t>model, messages, request_context, agent_h...</a:t>
            </a:r>
          </a:p>
        </p:txBody>
      </p:sp>
      <p:sp>
        <p:nvSpPr>
          <p:cNvPr id="39" name="">
            <a:extLst xmlns:a="http://schemas.openxmlformats.org/drawingml/2006/main">
              <a:ext uri="{FF2B5EF4-FFF2-40B4-BE49-F238E27FC236}">
                <a16:creationId xmlns:a16="http://schemas.microsoft.com/office/drawing/2014/main" id="{8618A590-F413-47AE-BF11-C6140B65CDE7}"/>
              </a:ext>
            </a:extLst>
          </p:cNvPr>
          <p:cNvSpPr>
            <a:spLocks xmlns:a="http://schemas.openxmlformats.org/drawingml/2006/main" noGrp="1"/>
          </p:cNvSpPr>
          <p:nvPr/>
        </p:nvSpPr>
        <p:spPr>
          <a:xfrm xmlns:a="http://schemas.openxmlformats.org/drawingml/2006/main">
            <a:off x="609600" y="4067175"/>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9C5550BD-80B0-4261-9B06-E09A0AFB9598}"/>
              </a:ext>
            </a:extLst>
          </p:cNvPr>
          <p:cNvSpPr>
            <a:spLocks xmlns:a="http://schemas.openxmlformats.org/drawingml/2006/main" noGrp="1"/>
          </p:cNvSpPr>
          <p:nvPr/>
        </p:nvSpPr>
        <p:spPr>
          <a:xfrm xmlns:a="http://schemas.openxmlformats.org/drawingml/2006/main">
            <a:off x="609600" y="4076700"/>
            <a:ext cx="10972800" cy="685800"/>
          </a:xfrm>
          <a:prstGeom xmlns:a="http://schemas.openxmlformats.org/drawingml/2006/main" prst="rect">
            <a:avLst/>
          </a:prstGeom>
          <a:solidFill xmlns:a="http://schemas.openxmlformats.org/drawingml/2006/main">
            <a:srgbClr val="FBF8F2"/>
          </a:solidFill>
          <a:ln xmlns:a="http://schemas.openxmlformats.org/drawingml/2006/main" w="0">
            <a:solidFill>
              <a:srgbClr val="000000">
                <a:alpha val="0"/>
              </a:srgbClr>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6CD39A76-0FED-4BD1-A833-A4CC18EE103B}"/>
              </a:ext>
            </a:extLst>
          </p:cNvPr>
          <p:cNvSpPr>
            <a:spLocks xmlns:a="http://schemas.openxmlformats.org/drawingml/2006/main" noGrp="1"/>
          </p:cNvSpPr>
          <p:nvPr/>
        </p:nvSpPr>
        <p:spPr>
          <a:xfrm xmlns:a="http://schemas.openxmlformats.org/drawingml/2006/main">
            <a:off x="609600" y="4076700"/>
            <a:ext cx="76200" cy="68580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txBody xmlns:a="http://schemas.openxmlformats.org/drawingml/2006/main">
          <a:bodyPr/>
          <a:p/>
        </p:txBody>
      </p:sp>
      <p:sp>
        <p:nvSpPr>
          <p:cNvPr id="42" name="">
            <a:extLst xmlns:a="http://schemas.openxmlformats.org/drawingml/2006/main">
              <a:ext uri="{FF2B5EF4-FFF2-40B4-BE49-F238E27FC236}">
                <a16:creationId xmlns:a16="http://schemas.microsoft.com/office/drawing/2014/main" id="{57C7950A-EFDC-49EF-8281-68DAEE3432A8}"/>
              </a:ext>
            </a:extLst>
          </p:cNvPr>
          <p:cNvSpPr>
            <a:spLocks xmlns:a="http://schemas.openxmlformats.org/drawingml/2006/main" noGrp="1"/>
          </p:cNvSpPr>
          <p:nvPr/>
        </p:nvSpPr>
        <p:spPr>
          <a:xfrm xmlns:a="http://schemas.openxmlformats.org/drawingml/2006/main">
            <a:off x="742950" y="421005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45" b="1">
                <a:solidFill>
                  <a:srgbClr val="D97706"/>
                </a:solidFill>
                <a:latin typeface="Aptos"/>
                <a:ea typeface="Aptos"/>
                <a:cs typeface="Aptos"/>
              </a:defRPr>
            </a:pPr>
            <a:r>
              <a:rPr sz="945" b="1">
                <a:solidFill>
                  <a:srgbClr val="D97706"/>
                </a:solidFill>
                <a:latin typeface="Aptos"/>
                <a:ea typeface="Aptos"/>
                <a:cs typeface="Aptos"/>
              </a:rPr>
              <a:t>Slide 9</a:t>
            </a:r>
          </a:p>
        </p:txBody>
      </p:sp>
      <p:sp>
        <p:nvSpPr>
          <p:cNvPr id="43" name="">
            <a:extLst xmlns:a="http://schemas.openxmlformats.org/drawingml/2006/main">
              <a:ext uri="{FF2B5EF4-FFF2-40B4-BE49-F238E27FC236}">
                <a16:creationId xmlns:a16="http://schemas.microsoft.com/office/drawing/2014/main" id="{E770D9B9-298E-429B-8A38-0B527EE64CFD}"/>
              </a:ext>
            </a:extLst>
          </p:cNvPr>
          <p:cNvSpPr>
            <a:spLocks xmlns:a="http://schemas.openxmlformats.org/drawingml/2006/main" noGrp="1"/>
          </p:cNvSpPr>
          <p:nvPr/>
        </p:nvSpPr>
        <p:spPr>
          <a:xfrm xmlns:a="http://schemas.openxmlformats.org/drawingml/2006/main">
            <a:off x="742950" y="4438650"/>
            <a:ext cx="5905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05" b="1">
                <a:solidFill>
                  <a:srgbClr val="667085"/>
                </a:solidFill>
                <a:latin typeface="Aptos"/>
                <a:ea typeface="Aptos"/>
                <a:cs typeface="Aptos"/>
              </a:defRPr>
            </a:pPr>
            <a:r>
              <a:rPr sz="705" b="1">
                <a:solidFill>
                  <a:srgbClr val="667085"/>
                </a:solidFill>
                <a:latin typeface="Aptos"/>
                <a:ea typeface="Aptos"/>
                <a:cs typeface="Aptos"/>
              </a:rPr>
              <a:t>Step 3 of 5</a:t>
            </a:r>
          </a:p>
        </p:txBody>
      </p:sp>
      <p:sp>
        <p:nvSpPr>
          <p:cNvPr id="44" name="">
            <a:extLst xmlns:a="http://schemas.openxmlformats.org/drawingml/2006/main">
              <a:ext uri="{FF2B5EF4-FFF2-40B4-BE49-F238E27FC236}">
                <a16:creationId xmlns:a16="http://schemas.microsoft.com/office/drawing/2014/main" id="{A611713A-48EE-4728-B7F7-AA75CC7CEDEA}"/>
              </a:ext>
            </a:extLst>
          </p:cNvPr>
          <p:cNvSpPr>
            <a:spLocks xmlns:a="http://schemas.openxmlformats.org/drawingml/2006/main" noGrp="1"/>
          </p:cNvSpPr>
          <p:nvPr/>
        </p:nvSpPr>
        <p:spPr>
          <a:xfrm xmlns:a="http://schemas.openxmlformats.org/drawingml/2006/main">
            <a:off x="1543050" y="4191000"/>
            <a:ext cx="2038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95" b="1">
                <a:solidFill>
                  <a:srgbClr val="101820"/>
                </a:solidFill>
                <a:latin typeface="Aptos"/>
                <a:ea typeface="Aptos"/>
                <a:cs typeface="Aptos"/>
              </a:defRPr>
            </a:pPr>
            <a:r>
              <a:rPr sz="1095" b="1">
                <a:solidFill>
                  <a:srgbClr val="101820"/>
                </a:solidFill>
                <a:latin typeface="Aptos"/>
                <a:ea typeface="Aptos"/>
                <a:cs typeface="Aptos"/>
              </a:rPr>
              <a:t>Request -&gt; Agent Rules</a:t>
            </a:r>
          </a:p>
        </p:txBody>
      </p:sp>
      <p:sp>
        <p:nvSpPr>
          <p:cNvPr id="45" name="">
            <a:extLst xmlns:a="http://schemas.openxmlformats.org/drawingml/2006/main">
              <a:ext uri="{FF2B5EF4-FFF2-40B4-BE49-F238E27FC236}">
                <a16:creationId xmlns:a16="http://schemas.microsoft.com/office/drawing/2014/main" id="{6FB09978-0D76-4C17-AC8C-3BF4EC3CB94F}"/>
              </a:ext>
            </a:extLst>
          </p:cNvPr>
          <p:cNvSpPr>
            <a:spLocks xmlns:a="http://schemas.openxmlformats.org/drawingml/2006/main" noGrp="1"/>
          </p:cNvSpPr>
          <p:nvPr/>
        </p:nvSpPr>
        <p:spPr>
          <a:xfrm xmlns:a="http://schemas.openxmlformats.org/drawingml/2006/main">
            <a:off x="1543050" y="4438650"/>
            <a:ext cx="20383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D97706"/>
                </a:solidFill>
                <a:latin typeface="Aptos"/>
                <a:ea typeface="Aptos"/>
                <a:cs typeface="Aptos"/>
              </a:defRPr>
            </a:pPr>
            <a:r>
              <a:rPr sz="735" b="1">
                <a:solidFill>
                  <a:srgbClr val="D97706"/>
                </a:solidFill>
                <a:latin typeface="Aptos"/>
                <a:ea typeface="Aptos"/>
                <a:cs typeface="Aptos"/>
              </a:rPr>
              <a:t>Deep Agents Layer</a:t>
            </a:r>
          </a:p>
        </p:txBody>
      </p:sp>
      <p:sp>
        <p:nvSpPr>
          <p:cNvPr id="46" name="">
            <a:extLst xmlns:a="http://schemas.openxmlformats.org/drawingml/2006/main">
              <a:ext uri="{FF2B5EF4-FFF2-40B4-BE49-F238E27FC236}">
                <a16:creationId xmlns:a16="http://schemas.microsoft.com/office/drawing/2014/main" id="{42CA35F8-0369-409F-B115-DECC0F28B7ED}"/>
              </a:ext>
            </a:extLst>
          </p:cNvPr>
          <p:cNvSpPr>
            <a:spLocks xmlns:a="http://schemas.openxmlformats.org/drawingml/2006/main" noGrp="1"/>
          </p:cNvSpPr>
          <p:nvPr/>
        </p:nvSpPr>
        <p:spPr>
          <a:xfrm xmlns:a="http://schemas.openxmlformats.org/drawingml/2006/main">
            <a:off x="3810000" y="4248150"/>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334155"/>
                </a:solidFill>
                <a:latin typeface="Aptos"/>
                <a:ea typeface="Aptos"/>
                <a:cs typeface="Aptos"/>
              </a:defRPr>
            </a:pPr>
            <a:r>
              <a:rPr sz="900" b="0">
                <a:solidFill>
                  <a:srgbClr val="334155"/>
                </a:solidFill>
                <a:latin typeface="Aptos"/>
                <a:ea typeface="Aptos"/>
                <a:cs typeface="Aptos"/>
              </a:rPr>
              <a:t>Request Packaged -&gt; Agent Rules Applied</a:t>
            </a:r>
          </a:p>
        </p:txBody>
      </p:sp>
      <p:sp>
        <p:nvSpPr>
          <p:cNvPr id="47" name="">
            <a:extLst xmlns:a="http://schemas.openxmlformats.org/drawingml/2006/main">
              <a:ext uri="{FF2B5EF4-FFF2-40B4-BE49-F238E27FC236}">
                <a16:creationId xmlns:a16="http://schemas.microsoft.com/office/drawing/2014/main" id="{8943A3EF-70B0-4770-9AA4-BEF79BC6C8A7}"/>
              </a:ext>
            </a:extLst>
          </p:cNvPr>
          <p:cNvSpPr>
            <a:spLocks xmlns:a="http://schemas.openxmlformats.org/drawingml/2006/main" noGrp="1"/>
          </p:cNvSpPr>
          <p:nvPr/>
        </p:nvSpPr>
        <p:spPr>
          <a:xfrm xmlns:a="http://schemas.openxmlformats.org/drawingml/2006/main">
            <a:off x="6229350" y="4181475"/>
            <a:ext cx="24955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10" b="0">
                <a:solidFill>
                  <a:srgbClr val="334155"/>
                </a:solidFill>
                <a:latin typeface="Aptos"/>
                <a:ea typeface="Aptos"/>
                <a:cs typeface="Aptos"/>
              </a:defRPr>
            </a:pPr>
            <a:r>
              <a:rPr sz="810" b="0">
                <a:solidFill>
                  <a:srgbClr val="334155"/>
                </a:solidFill>
                <a:latin typeface="Aptos"/>
                <a:ea typeface="Aptos"/>
                <a:cs typeface="Aptos"/>
              </a:rPr>
              <a:t>New field: system_prompt.</a:t>
            </a:r>
          </a:p>
        </p:txBody>
      </p:sp>
      <p:sp>
        <p:nvSpPr>
          <p:cNvPr id="48" name="">
            <a:extLst xmlns:a="http://schemas.openxmlformats.org/drawingml/2006/main">
              <a:ext uri="{FF2B5EF4-FFF2-40B4-BE49-F238E27FC236}">
                <a16:creationId xmlns:a16="http://schemas.microsoft.com/office/drawing/2014/main" id="{7633398C-8408-44E0-9A2F-E94BC3F44EC7}"/>
              </a:ext>
            </a:extLst>
          </p:cNvPr>
          <p:cNvSpPr>
            <a:spLocks xmlns:a="http://schemas.openxmlformats.org/drawingml/2006/main" noGrp="1"/>
          </p:cNvSpPr>
          <p:nvPr/>
        </p:nvSpPr>
        <p:spPr>
          <a:xfrm xmlns:a="http://schemas.openxmlformats.org/drawingml/2006/main">
            <a:off x="8953500" y="4229100"/>
            <a:ext cx="9906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20" b="1">
                <a:solidFill>
                  <a:srgbClr val="D97706"/>
                </a:solidFill>
                <a:latin typeface="Aptos Mono"/>
                <a:ea typeface="Aptos Mono"/>
                <a:cs typeface="Aptos Mono"/>
              </a:defRPr>
            </a:pPr>
            <a:r>
              <a:rPr sz="1020" b="1">
                <a:solidFill>
                  <a:srgbClr val="D97706"/>
                </a:solidFill>
                <a:latin typeface="Aptos Mono"/>
                <a:ea typeface="Aptos Mono"/>
                <a:cs typeface="Aptos Mono"/>
              </a:rPr>
              <a:t>0</a:t>
            </a:r>
          </a:p>
        </p:txBody>
      </p:sp>
      <p:sp>
        <p:nvSpPr>
          <p:cNvPr id="49" name="">
            <a:extLst xmlns:a="http://schemas.openxmlformats.org/drawingml/2006/main">
              <a:ext uri="{FF2B5EF4-FFF2-40B4-BE49-F238E27FC236}">
                <a16:creationId xmlns:a16="http://schemas.microsoft.com/office/drawing/2014/main" id="{3CA4119C-8055-4D9C-B33B-774E1DCF9967}"/>
              </a:ext>
            </a:extLst>
          </p:cNvPr>
          <p:cNvSpPr>
            <a:spLocks xmlns:a="http://schemas.openxmlformats.org/drawingml/2006/main" noGrp="1"/>
          </p:cNvSpPr>
          <p:nvPr/>
        </p:nvSpPr>
        <p:spPr>
          <a:xfrm xmlns:a="http://schemas.openxmlformats.org/drawingml/2006/main">
            <a:off x="10172700" y="4219575"/>
            <a:ext cx="12954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73" b="0">
                <a:solidFill>
                  <a:srgbClr val="334155"/>
                </a:solidFill>
                <a:latin typeface="Aptos"/>
                <a:ea typeface="Aptos"/>
                <a:cs typeface="Aptos"/>
              </a:defRPr>
            </a:pPr>
            <a:r>
              <a:rPr sz="773" b="0">
                <a:solidFill>
                  <a:srgbClr val="334155"/>
                </a:solidFill>
                <a:latin typeface="Aptos"/>
                <a:ea typeface="Aptos"/>
                <a:cs typeface="Aptos"/>
              </a:rPr>
              <a:t>system_prompt</a:t>
            </a:r>
          </a:p>
        </p:txBody>
      </p:sp>
      <p:sp>
        <p:nvSpPr>
          <p:cNvPr id="50" name="">
            <a:extLst xmlns:a="http://schemas.openxmlformats.org/drawingml/2006/main">
              <a:ext uri="{FF2B5EF4-FFF2-40B4-BE49-F238E27FC236}">
                <a16:creationId xmlns:a16="http://schemas.microsoft.com/office/drawing/2014/main" id="{93400EC9-C45A-494E-9069-AE1B1B5EB499}"/>
              </a:ext>
            </a:extLst>
          </p:cNvPr>
          <p:cNvSpPr>
            <a:spLocks xmlns:a="http://schemas.openxmlformats.org/drawingml/2006/main" noGrp="1"/>
          </p:cNvSpPr>
          <p:nvPr/>
        </p:nvSpPr>
        <p:spPr>
          <a:xfrm xmlns:a="http://schemas.openxmlformats.org/drawingml/2006/main">
            <a:off x="609600" y="4752975"/>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51" name="">
            <a:extLst xmlns:a="http://schemas.openxmlformats.org/drawingml/2006/main">
              <a:ext uri="{FF2B5EF4-FFF2-40B4-BE49-F238E27FC236}">
                <a16:creationId xmlns:a16="http://schemas.microsoft.com/office/drawing/2014/main" id="{A1022C53-2A9F-4EF2-912F-3D498A2673DD}"/>
              </a:ext>
            </a:extLst>
          </p:cNvPr>
          <p:cNvSpPr>
            <a:spLocks xmlns:a="http://schemas.openxmlformats.org/drawingml/2006/main" noGrp="1"/>
          </p:cNvSpPr>
          <p:nvPr/>
        </p:nvSpPr>
        <p:spPr>
          <a:xfrm xmlns:a="http://schemas.openxmlformats.org/drawingml/2006/main">
            <a:off x="609600" y="4762500"/>
            <a:ext cx="10972800" cy="685800"/>
          </a:xfrm>
          <a:prstGeom xmlns:a="http://schemas.openxmlformats.org/drawingml/2006/main" prst="rect">
            <a:avLst/>
          </a:prstGeom>
          <a:solidFill xmlns:a="http://schemas.openxmlformats.org/drawingml/2006/main">
            <a:srgbClr val="F1EBE2"/>
          </a:solidFill>
          <a:ln xmlns:a="http://schemas.openxmlformats.org/drawingml/2006/main" w="0">
            <a:solidFill>
              <a:srgbClr val="000000">
                <a:alpha val="0"/>
              </a:srgbClr>
            </a:solidFill>
            <a:prstDash val="solid"/>
          </a:ln>
        </p:spPr>
        <p:txBody xmlns:a="http://schemas.openxmlformats.org/drawingml/2006/main">
          <a:bodyPr/>
          <a:p/>
        </p:txBody>
      </p:sp>
      <p:sp>
        <p:nvSpPr>
          <p:cNvPr id="52" name="">
            <a:extLst xmlns:a="http://schemas.openxmlformats.org/drawingml/2006/main">
              <a:ext uri="{FF2B5EF4-FFF2-40B4-BE49-F238E27FC236}">
                <a16:creationId xmlns:a16="http://schemas.microsoft.com/office/drawing/2014/main" id="{FADBB560-03DE-4E8A-B19F-7C650582DCEA}"/>
              </a:ext>
            </a:extLst>
          </p:cNvPr>
          <p:cNvSpPr>
            <a:spLocks xmlns:a="http://schemas.openxmlformats.org/drawingml/2006/main" noGrp="1"/>
          </p:cNvSpPr>
          <p:nvPr/>
        </p:nvSpPr>
        <p:spPr>
          <a:xfrm xmlns:a="http://schemas.openxmlformats.org/drawingml/2006/main">
            <a:off x="609600" y="4762500"/>
            <a:ext cx="76200" cy="685800"/>
          </a:xfrm>
          <a:prstGeom xmlns:a="http://schemas.openxmlformats.org/drawingml/2006/main" prst="rect">
            <a:avLst/>
          </a:prstGeom>
          <a:solidFill xmlns:a="http://schemas.openxmlformats.org/drawingml/2006/main">
            <a:srgbClr val="0F9F6E"/>
          </a:solidFill>
          <a:ln xmlns:a="http://schemas.openxmlformats.org/drawingml/2006/main" w="0">
            <a:solidFill>
              <a:srgbClr val="000000">
                <a:alpha val="0"/>
              </a:srgbClr>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4EB90D1C-3C1B-41BB-8CCF-DB740568AA38}"/>
              </a:ext>
            </a:extLst>
          </p:cNvPr>
          <p:cNvSpPr>
            <a:spLocks xmlns:a="http://schemas.openxmlformats.org/drawingml/2006/main" noGrp="1"/>
          </p:cNvSpPr>
          <p:nvPr/>
        </p:nvSpPr>
        <p:spPr>
          <a:xfrm xmlns:a="http://schemas.openxmlformats.org/drawingml/2006/main">
            <a:off x="742950" y="489585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45" b="1">
                <a:solidFill>
                  <a:srgbClr val="0F9F6E"/>
                </a:solidFill>
                <a:latin typeface="Aptos"/>
                <a:ea typeface="Aptos"/>
                <a:cs typeface="Aptos"/>
              </a:defRPr>
            </a:pPr>
            <a:r>
              <a:rPr sz="945" b="1">
                <a:solidFill>
                  <a:srgbClr val="0F9F6E"/>
                </a:solidFill>
                <a:latin typeface="Aptos"/>
                <a:ea typeface="Aptos"/>
                <a:cs typeface="Aptos"/>
              </a:rPr>
              <a:t>Slide 10</a:t>
            </a:r>
          </a:p>
        </p:txBody>
      </p:sp>
      <p:sp>
        <p:nvSpPr>
          <p:cNvPr id="54" name="">
            <a:extLst xmlns:a="http://schemas.openxmlformats.org/drawingml/2006/main">
              <a:ext uri="{FF2B5EF4-FFF2-40B4-BE49-F238E27FC236}">
                <a16:creationId xmlns:a16="http://schemas.microsoft.com/office/drawing/2014/main" id="{05D28C43-141C-4029-B1AB-F4D3CB84DC69}"/>
              </a:ext>
            </a:extLst>
          </p:cNvPr>
          <p:cNvSpPr>
            <a:spLocks xmlns:a="http://schemas.openxmlformats.org/drawingml/2006/main" noGrp="1"/>
          </p:cNvSpPr>
          <p:nvPr/>
        </p:nvSpPr>
        <p:spPr>
          <a:xfrm xmlns:a="http://schemas.openxmlformats.org/drawingml/2006/main">
            <a:off x="742950" y="5124450"/>
            <a:ext cx="5905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05" b="1">
                <a:solidFill>
                  <a:srgbClr val="667085"/>
                </a:solidFill>
                <a:latin typeface="Aptos"/>
                <a:ea typeface="Aptos"/>
                <a:cs typeface="Aptos"/>
              </a:defRPr>
            </a:pPr>
            <a:r>
              <a:rPr sz="705" b="1">
                <a:solidFill>
                  <a:srgbClr val="667085"/>
                </a:solidFill>
                <a:latin typeface="Aptos"/>
                <a:ea typeface="Aptos"/>
                <a:cs typeface="Aptos"/>
              </a:rPr>
              <a:t>Step 4 of 5</a:t>
            </a:r>
          </a:p>
        </p:txBody>
      </p:sp>
      <p:sp>
        <p:nvSpPr>
          <p:cNvPr id="55" name="">
            <a:extLst xmlns:a="http://schemas.openxmlformats.org/drawingml/2006/main">
              <a:ext uri="{FF2B5EF4-FFF2-40B4-BE49-F238E27FC236}">
                <a16:creationId xmlns:a16="http://schemas.microsoft.com/office/drawing/2014/main" id="{614F0F00-33DE-4C73-8489-B193D277EBE9}"/>
              </a:ext>
            </a:extLst>
          </p:cNvPr>
          <p:cNvSpPr>
            <a:spLocks xmlns:a="http://schemas.openxmlformats.org/drawingml/2006/main" noGrp="1"/>
          </p:cNvSpPr>
          <p:nvPr/>
        </p:nvSpPr>
        <p:spPr>
          <a:xfrm xmlns:a="http://schemas.openxmlformats.org/drawingml/2006/main">
            <a:off x="1543050" y="4876800"/>
            <a:ext cx="2038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95" b="1">
                <a:solidFill>
                  <a:srgbClr val="101820"/>
                </a:solidFill>
                <a:latin typeface="Aptos"/>
                <a:ea typeface="Aptos"/>
                <a:cs typeface="Aptos"/>
              </a:defRPr>
            </a:pPr>
            <a:r>
              <a:rPr sz="1095" b="1">
                <a:solidFill>
                  <a:srgbClr val="101820"/>
                </a:solidFill>
                <a:latin typeface="Aptos"/>
                <a:ea typeface="Aptos"/>
                <a:cs typeface="Aptos"/>
              </a:rPr>
              <a:t>Tools -&gt; Runtime Prepared</a:t>
            </a:r>
          </a:p>
        </p:txBody>
      </p:sp>
      <p:sp>
        <p:nvSpPr>
          <p:cNvPr id="56" name="">
            <a:extLst xmlns:a="http://schemas.openxmlformats.org/drawingml/2006/main">
              <a:ext uri="{FF2B5EF4-FFF2-40B4-BE49-F238E27FC236}">
                <a16:creationId xmlns:a16="http://schemas.microsoft.com/office/drawing/2014/main" id="{E7BA62E4-DDB5-4D43-829B-5A0C86EBDC5C}"/>
              </a:ext>
            </a:extLst>
          </p:cNvPr>
          <p:cNvSpPr>
            <a:spLocks xmlns:a="http://schemas.openxmlformats.org/drawingml/2006/main" noGrp="1"/>
          </p:cNvSpPr>
          <p:nvPr/>
        </p:nvSpPr>
        <p:spPr>
          <a:xfrm xmlns:a="http://schemas.openxmlformats.org/drawingml/2006/main">
            <a:off x="1543050" y="5124450"/>
            <a:ext cx="20383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0F9F6E"/>
                </a:solidFill>
                <a:latin typeface="Aptos"/>
                <a:ea typeface="Aptos"/>
                <a:cs typeface="Aptos"/>
              </a:defRPr>
            </a:pPr>
            <a:r>
              <a:rPr sz="735" b="1">
                <a:solidFill>
                  <a:srgbClr val="0F9F6E"/>
                </a:solidFill>
                <a:latin typeface="Aptos"/>
                <a:ea typeface="Aptos"/>
                <a:cs typeface="Aptos"/>
              </a:rPr>
              <a:t>Dynamo Runtime Layer</a:t>
            </a:r>
          </a:p>
        </p:txBody>
      </p:sp>
      <p:sp>
        <p:nvSpPr>
          <p:cNvPr id="57" name="">
            <a:extLst xmlns:a="http://schemas.openxmlformats.org/drawingml/2006/main">
              <a:ext uri="{FF2B5EF4-FFF2-40B4-BE49-F238E27FC236}">
                <a16:creationId xmlns:a16="http://schemas.microsoft.com/office/drawing/2014/main" id="{7E6A9507-B895-4AA0-9D98-009594BD01C9}"/>
              </a:ext>
            </a:extLst>
          </p:cNvPr>
          <p:cNvSpPr>
            <a:spLocks xmlns:a="http://schemas.openxmlformats.org/drawingml/2006/main" noGrp="1"/>
          </p:cNvSpPr>
          <p:nvPr/>
        </p:nvSpPr>
        <p:spPr>
          <a:xfrm xmlns:a="http://schemas.openxmlformats.org/drawingml/2006/main">
            <a:off x="3810000" y="4933950"/>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334155"/>
                </a:solidFill>
                <a:latin typeface="Aptos"/>
                <a:ea typeface="Aptos"/>
                <a:cs typeface="Aptos"/>
              </a:defRPr>
            </a:pPr>
            <a:r>
              <a:rPr sz="900" b="0">
                <a:solidFill>
                  <a:srgbClr val="334155"/>
                </a:solidFill>
                <a:latin typeface="Aptos"/>
                <a:ea typeface="Aptos"/>
                <a:cs typeface="Aptos"/>
              </a:rPr>
              <a:t>Tools Attached -&gt; Runtime Prepared</a:t>
            </a:r>
          </a:p>
        </p:txBody>
      </p:sp>
      <p:sp>
        <p:nvSpPr>
          <p:cNvPr id="58" name="">
            <a:extLst xmlns:a="http://schemas.openxmlformats.org/drawingml/2006/main">
              <a:ext uri="{FF2B5EF4-FFF2-40B4-BE49-F238E27FC236}">
                <a16:creationId xmlns:a16="http://schemas.microsoft.com/office/drawing/2014/main" id="{E693B010-2421-42CB-B657-F9C7081E2F48}"/>
              </a:ext>
            </a:extLst>
          </p:cNvPr>
          <p:cNvSpPr>
            <a:spLocks xmlns:a="http://schemas.openxmlformats.org/drawingml/2006/main" noGrp="1"/>
          </p:cNvSpPr>
          <p:nvPr/>
        </p:nvSpPr>
        <p:spPr>
          <a:xfrm xmlns:a="http://schemas.openxmlformats.org/drawingml/2006/main">
            <a:off x="6229350" y="4867275"/>
            <a:ext cx="24955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10" b="0">
                <a:solidFill>
                  <a:srgbClr val="334155"/>
                </a:solidFill>
                <a:latin typeface="Aptos"/>
                <a:ea typeface="Aptos"/>
                <a:cs typeface="Aptos"/>
              </a:defRPr>
            </a:pPr>
            <a:r>
              <a:rPr sz="810" b="0">
                <a:solidFill>
                  <a:srgbClr val="334155"/>
                </a:solidFill>
                <a:latin typeface="Aptos"/>
                <a:ea typeface="Aptos"/>
                <a:cs typeface="Aptos"/>
              </a:rPr>
              <a:t>Tool parser plus prompt/cache token fields.</a:t>
            </a:r>
          </a:p>
        </p:txBody>
      </p:sp>
      <p:sp>
        <p:nvSpPr>
          <p:cNvPr id="59" name="">
            <a:extLst xmlns:a="http://schemas.openxmlformats.org/drawingml/2006/main">
              <a:ext uri="{FF2B5EF4-FFF2-40B4-BE49-F238E27FC236}">
                <a16:creationId xmlns:a16="http://schemas.microsoft.com/office/drawing/2014/main" id="{BC64E21C-23EF-484C-988C-EE037A7C3106}"/>
              </a:ext>
            </a:extLst>
          </p:cNvPr>
          <p:cNvSpPr>
            <a:spLocks xmlns:a="http://schemas.openxmlformats.org/drawingml/2006/main" noGrp="1"/>
          </p:cNvSpPr>
          <p:nvPr/>
        </p:nvSpPr>
        <p:spPr>
          <a:xfrm xmlns:a="http://schemas.openxmlformats.org/drawingml/2006/main">
            <a:off x="8953500" y="4914900"/>
            <a:ext cx="9906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20" b="1">
                <a:solidFill>
                  <a:srgbClr val="0F9F6E"/>
                </a:solidFill>
                <a:latin typeface="Aptos Mono"/>
                <a:ea typeface="Aptos Mono"/>
                <a:cs typeface="Aptos Mono"/>
              </a:defRPr>
            </a:pPr>
            <a:r>
              <a:rPr sz="1020" b="1">
                <a:solidFill>
                  <a:srgbClr val="0F9F6E"/>
                </a:solidFill>
                <a:latin typeface="Aptos Mono"/>
                <a:ea typeface="Aptos Mono"/>
                <a:cs typeface="Aptos Mono"/>
              </a:rPr>
              <a:t>0</a:t>
            </a:r>
          </a:p>
        </p:txBody>
      </p:sp>
      <p:sp>
        <p:nvSpPr>
          <p:cNvPr id="60" name="">
            <a:extLst xmlns:a="http://schemas.openxmlformats.org/drawingml/2006/main">
              <a:ext uri="{FF2B5EF4-FFF2-40B4-BE49-F238E27FC236}">
                <a16:creationId xmlns:a16="http://schemas.microsoft.com/office/drawing/2014/main" id="{B5A310E0-6181-404A-95F1-FB200CDC8727}"/>
              </a:ext>
            </a:extLst>
          </p:cNvPr>
          <p:cNvSpPr>
            <a:spLocks xmlns:a="http://schemas.openxmlformats.org/drawingml/2006/main" noGrp="1"/>
          </p:cNvSpPr>
          <p:nvPr/>
        </p:nvSpPr>
        <p:spPr>
          <a:xfrm xmlns:a="http://schemas.openxmlformats.org/drawingml/2006/main">
            <a:off x="10172700" y="4905375"/>
            <a:ext cx="12954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73" b="0">
                <a:solidFill>
                  <a:srgbClr val="334155"/>
                </a:solidFill>
                <a:latin typeface="Aptos"/>
                <a:ea typeface="Aptos"/>
                <a:cs typeface="Aptos"/>
              </a:defRPr>
            </a:pPr>
            <a:r>
              <a:rPr sz="773" b="0">
                <a:solidFill>
                  <a:srgbClr val="334155"/>
                </a:solidFill>
                <a:latin typeface="Aptos"/>
                <a:ea typeface="Aptos"/>
                <a:cs typeface="Aptos"/>
              </a:rPr>
              <a:t>tools, parser, prompt/cache tokens</a:t>
            </a:r>
          </a:p>
        </p:txBody>
      </p:sp>
      <p:sp>
        <p:nvSpPr>
          <p:cNvPr id="61" name="">
            <a:extLst xmlns:a="http://schemas.openxmlformats.org/drawingml/2006/main">
              <a:ext uri="{FF2B5EF4-FFF2-40B4-BE49-F238E27FC236}">
                <a16:creationId xmlns:a16="http://schemas.microsoft.com/office/drawing/2014/main" id="{A3D718A9-2177-40FF-B8A9-0C91ED53B20C}"/>
              </a:ext>
            </a:extLst>
          </p:cNvPr>
          <p:cNvSpPr>
            <a:spLocks xmlns:a="http://schemas.openxmlformats.org/drawingml/2006/main" noGrp="1"/>
          </p:cNvSpPr>
          <p:nvPr/>
        </p:nvSpPr>
        <p:spPr>
          <a:xfrm xmlns:a="http://schemas.openxmlformats.org/drawingml/2006/main">
            <a:off x="609600" y="5438775"/>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62" name="">
            <a:extLst xmlns:a="http://schemas.openxmlformats.org/drawingml/2006/main">
              <a:ext uri="{FF2B5EF4-FFF2-40B4-BE49-F238E27FC236}">
                <a16:creationId xmlns:a16="http://schemas.microsoft.com/office/drawing/2014/main" id="{D6846D44-16D7-480E-B129-88471EFFDAB0}"/>
              </a:ext>
            </a:extLst>
          </p:cNvPr>
          <p:cNvSpPr>
            <a:spLocks xmlns:a="http://schemas.openxmlformats.org/drawingml/2006/main" noGrp="1"/>
          </p:cNvSpPr>
          <p:nvPr/>
        </p:nvSpPr>
        <p:spPr>
          <a:xfrm xmlns:a="http://schemas.openxmlformats.org/drawingml/2006/main">
            <a:off x="609600" y="5448300"/>
            <a:ext cx="10972800" cy="685800"/>
          </a:xfrm>
          <a:prstGeom xmlns:a="http://schemas.openxmlformats.org/drawingml/2006/main" prst="rect">
            <a:avLst/>
          </a:prstGeom>
          <a:solidFill xmlns:a="http://schemas.openxmlformats.org/drawingml/2006/main">
            <a:srgbClr val="FBF8F2"/>
          </a:solidFill>
          <a:ln xmlns:a="http://schemas.openxmlformats.org/drawingml/2006/main" w="0">
            <a:solidFill>
              <a:srgbClr val="000000">
                <a:alpha val="0"/>
              </a:srgbClr>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6D07B8AD-7E08-4BAB-AF89-92B005E2F38D}"/>
              </a:ext>
            </a:extLst>
          </p:cNvPr>
          <p:cNvSpPr>
            <a:spLocks xmlns:a="http://schemas.openxmlformats.org/drawingml/2006/main" noGrp="1"/>
          </p:cNvSpPr>
          <p:nvPr/>
        </p:nvSpPr>
        <p:spPr>
          <a:xfrm xmlns:a="http://schemas.openxmlformats.org/drawingml/2006/main">
            <a:off x="609600" y="5448300"/>
            <a:ext cx="76200" cy="685800"/>
          </a:xfrm>
          <a:prstGeom xmlns:a="http://schemas.openxmlformats.org/drawingml/2006/main" prst="rect">
            <a:avLst/>
          </a:prstGeom>
          <a:solidFill xmlns:a="http://schemas.openxmlformats.org/drawingml/2006/main">
            <a:srgbClr val="BE123C"/>
          </a:solidFill>
          <a:ln xmlns:a="http://schemas.openxmlformats.org/drawingml/2006/main" w="0">
            <a:solidFill>
              <a:srgbClr val="000000">
                <a:alpha val="0"/>
              </a:srgbClr>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CE7B3051-3800-4E9B-BA61-096B941CF509}"/>
              </a:ext>
            </a:extLst>
          </p:cNvPr>
          <p:cNvSpPr>
            <a:spLocks xmlns:a="http://schemas.openxmlformats.org/drawingml/2006/main" noGrp="1"/>
          </p:cNvSpPr>
          <p:nvPr/>
        </p:nvSpPr>
        <p:spPr>
          <a:xfrm xmlns:a="http://schemas.openxmlformats.org/drawingml/2006/main">
            <a:off x="742950" y="5581650"/>
            <a:ext cx="5905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45" b="1">
                <a:solidFill>
                  <a:srgbClr val="BE123C"/>
                </a:solidFill>
                <a:latin typeface="Aptos"/>
                <a:ea typeface="Aptos"/>
                <a:cs typeface="Aptos"/>
              </a:defRPr>
            </a:pPr>
            <a:r>
              <a:rPr sz="945" b="1">
                <a:solidFill>
                  <a:srgbClr val="BE123C"/>
                </a:solidFill>
                <a:latin typeface="Aptos"/>
                <a:ea typeface="Aptos"/>
                <a:cs typeface="Aptos"/>
              </a:rPr>
              <a:t>Slide 11</a:t>
            </a:r>
          </a:p>
        </p:txBody>
      </p:sp>
      <p:sp>
        <p:nvSpPr>
          <p:cNvPr id="65" name="">
            <a:extLst xmlns:a="http://schemas.openxmlformats.org/drawingml/2006/main">
              <a:ext uri="{FF2B5EF4-FFF2-40B4-BE49-F238E27FC236}">
                <a16:creationId xmlns:a16="http://schemas.microsoft.com/office/drawing/2014/main" id="{1FFC038E-7CBF-4171-B800-F7B5082D01D8}"/>
              </a:ext>
            </a:extLst>
          </p:cNvPr>
          <p:cNvSpPr>
            <a:spLocks xmlns:a="http://schemas.openxmlformats.org/drawingml/2006/main" noGrp="1"/>
          </p:cNvSpPr>
          <p:nvPr/>
        </p:nvSpPr>
        <p:spPr>
          <a:xfrm xmlns:a="http://schemas.openxmlformats.org/drawingml/2006/main">
            <a:off x="742950" y="5810250"/>
            <a:ext cx="5905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05" b="1">
                <a:solidFill>
                  <a:srgbClr val="667085"/>
                </a:solidFill>
                <a:latin typeface="Aptos"/>
                <a:ea typeface="Aptos"/>
                <a:cs typeface="Aptos"/>
              </a:defRPr>
            </a:pPr>
            <a:r>
              <a:rPr sz="705" b="1">
                <a:solidFill>
                  <a:srgbClr val="667085"/>
                </a:solidFill>
                <a:latin typeface="Aptos"/>
                <a:ea typeface="Aptos"/>
                <a:cs typeface="Aptos"/>
              </a:rPr>
              <a:t>Step 5 of 5</a:t>
            </a:r>
          </a:p>
        </p:txBody>
      </p:sp>
      <p:sp>
        <p:nvSpPr>
          <p:cNvPr id="66" name="">
            <a:extLst xmlns:a="http://schemas.openxmlformats.org/drawingml/2006/main">
              <a:ext uri="{FF2B5EF4-FFF2-40B4-BE49-F238E27FC236}">
                <a16:creationId xmlns:a16="http://schemas.microsoft.com/office/drawing/2014/main" id="{479BF7DD-F2C9-487C-BA76-BEFD7A41952E}"/>
              </a:ext>
            </a:extLst>
          </p:cNvPr>
          <p:cNvSpPr>
            <a:spLocks xmlns:a="http://schemas.openxmlformats.org/drawingml/2006/main" noGrp="1"/>
          </p:cNvSpPr>
          <p:nvPr/>
        </p:nvSpPr>
        <p:spPr>
          <a:xfrm xmlns:a="http://schemas.openxmlformats.org/drawingml/2006/main">
            <a:off x="1543050" y="5562600"/>
            <a:ext cx="2038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95" b="1">
                <a:solidFill>
                  <a:srgbClr val="101820"/>
                </a:solidFill>
                <a:latin typeface="Aptos"/>
                <a:ea typeface="Aptos"/>
                <a:cs typeface="Aptos"/>
              </a:defRPr>
            </a:pPr>
            <a:r>
              <a:rPr sz="1095" b="1">
                <a:solidFill>
                  <a:srgbClr val="101820"/>
                </a:solidFill>
                <a:latin typeface="Aptos"/>
                <a:ea typeface="Aptos"/>
                <a:cs typeface="Aptos"/>
              </a:rPr>
              <a:t>Runtime -&gt; Behavior</a:t>
            </a:r>
          </a:p>
        </p:txBody>
      </p:sp>
      <p:sp>
        <p:nvSpPr>
          <p:cNvPr id="67" name="">
            <a:extLst xmlns:a="http://schemas.openxmlformats.org/drawingml/2006/main">
              <a:ext uri="{FF2B5EF4-FFF2-40B4-BE49-F238E27FC236}">
                <a16:creationId xmlns:a16="http://schemas.microsoft.com/office/drawing/2014/main" id="{DDC52C16-7FFD-48B7-B4C4-EF6309920D75}"/>
              </a:ext>
            </a:extLst>
          </p:cNvPr>
          <p:cNvSpPr>
            <a:spLocks xmlns:a="http://schemas.openxmlformats.org/drawingml/2006/main" noGrp="1"/>
          </p:cNvSpPr>
          <p:nvPr/>
        </p:nvSpPr>
        <p:spPr>
          <a:xfrm xmlns:a="http://schemas.openxmlformats.org/drawingml/2006/main">
            <a:off x="1543050" y="5810250"/>
            <a:ext cx="20383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BE123C"/>
                </a:solidFill>
                <a:latin typeface="Aptos"/>
                <a:ea typeface="Aptos"/>
                <a:cs typeface="Aptos"/>
              </a:defRPr>
            </a:pPr>
            <a:r>
              <a:rPr sz="735" b="1">
                <a:solidFill>
                  <a:srgbClr val="BE123C"/>
                </a:solidFill>
                <a:latin typeface="Aptos"/>
                <a:ea typeface="Aptos"/>
                <a:cs typeface="Aptos"/>
              </a:rPr>
              <a:t>Deep Agents Layer</a:t>
            </a:r>
          </a:p>
        </p:txBody>
      </p:sp>
      <p:sp>
        <p:nvSpPr>
          <p:cNvPr id="68" name="">
            <a:extLst xmlns:a="http://schemas.openxmlformats.org/drawingml/2006/main">
              <a:ext uri="{FF2B5EF4-FFF2-40B4-BE49-F238E27FC236}">
                <a16:creationId xmlns:a16="http://schemas.microsoft.com/office/drawing/2014/main" id="{A268BB99-7319-4295-8A71-587A574B905B}"/>
              </a:ext>
            </a:extLst>
          </p:cNvPr>
          <p:cNvSpPr>
            <a:spLocks xmlns:a="http://schemas.openxmlformats.org/drawingml/2006/main" noGrp="1"/>
          </p:cNvSpPr>
          <p:nvPr/>
        </p:nvSpPr>
        <p:spPr>
          <a:xfrm xmlns:a="http://schemas.openxmlformats.org/drawingml/2006/main">
            <a:off x="3810000" y="5619750"/>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334155"/>
                </a:solidFill>
                <a:latin typeface="Aptos"/>
                <a:ea typeface="Aptos"/>
                <a:cs typeface="Aptos"/>
              </a:defRPr>
            </a:pPr>
            <a:r>
              <a:rPr sz="900" b="0">
                <a:solidFill>
                  <a:srgbClr val="334155"/>
                </a:solidFill>
                <a:latin typeface="Aptos"/>
                <a:ea typeface="Aptos"/>
                <a:cs typeface="Aptos"/>
              </a:rPr>
              <a:t>Runtime Prepared -&gt; Behavior Recorded</a:t>
            </a:r>
          </a:p>
        </p:txBody>
      </p:sp>
      <p:sp>
        <p:nvSpPr>
          <p:cNvPr id="69" name="">
            <a:extLst xmlns:a="http://schemas.openxmlformats.org/drawingml/2006/main">
              <a:ext uri="{FF2B5EF4-FFF2-40B4-BE49-F238E27FC236}">
                <a16:creationId xmlns:a16="http://schemas.microsoft.com/office/drawing/2014/main" id="{562A9DFB-4174-4931-B453-4EA0600E936A}"/>
              </a:ext>
            </a:extLst>
          </p:cNvPr>
          <p:cNvSpPr>
            <a:spLocks xmlns:a="http://schemas.openxmlformats.org/drawingml/2006/main" noGrp="1"/>
          </p:cNvSpPr>
          <p:nvPr/>
        </p:nvSpPr>
        <p:spPr>
          <a:xfrm xmlns:a="http://schemas.openxmlformats.org/drawingml/2006/main">
            <a:off x="6229350" y="5553075"/>
            <a:ext cx="24955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10" b="0">
                <a:solidFill>
                  <a:srgbClr val="334155"/>
                </a:solidFill>
                <a:latin typeface="Aptos"/>
                <a:ea typeface="Aptos"/>
                <a:cs typeface="Aptos"/>
              </a:defRPr>
            </a:pPr>
            <a:r>
              <a:rPr sz="810" b="0">
                <a:solidFill>
                  <a:srgbClr val="334155"/>
                </a:solidFill>
                <a:latin typeface="Aptos"/>
                <a:ea typeface="Aptos"/>
                <a:cs typeface="Aptos"/>
              </a:rPr>
              <a:t>Tool calls, finish_reason, response_text, workspace_changed.</a:t>
            </a:r>
          </a:p>
        </p:txBody>
      </p:sp>
      <p:sp>
        <p:nvSpPr>
          <p:cNvPr id="70" name="">
            <a:extLst xmlns:a="http://schemas.openxmlformats.org/drawingml/2006/main">
              <a:ext uri="{FF2B5EF4-FFF2-40B4-BE49-F238E27FC236}">
                <a16:creationId xmlns:a16="http://schemas.microsoft.com/office/drawing/2014/main" id="{D3602783-F5F0-4937-BDA5-EEE03DD82B93}"/>
              </a:ext>
            </a:extLst>
          </p:cNvPr>
          <p:cNvSpPr>
            <a:spLocks xmlns:a="http://schemas.openxmlformats.org/drawingml/2006/main" noGrp="1"/>
          </p:cNvSpPr>
          <p:nvPr/>
        </p:nvSpPr>
        <p:spPr>
          <a:xfrm xmlns:a="http://schemas.openxmlformats.org/drawingml/2006/main">
            <a:off x="8953500" y="5600700"/>
            <a:ext cx="9906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20" b="1">
                <a:solidFill>
                  <a:srgbClr val="BE123C"/>
                </a:solidFill>
                <a:latin typeface="Aptos Mono"/>
                <a:ea typeface="Aptos Mono"/>
                <a:cs typeface="Aptos Mono"/>
              </a:defRPr>
            </a:pPr>
            <a:r>
              <a:rPr sz="1020" b="1">
                <a:solidFill>
                  <a:srgbClr val="BE123C"/>
                </a:solidFill>
                <a:latin typeface="Aptos Mono"/>
                <a:ea typeface="Aptos Mono"/>
                <a:cs typeface="Aptos Mono"/>
              </a:rPr>
              <a:t>+2,066</a:t>
            </a:r>
          </a:p>
        </p:txBody>
      </p:sp>
      <p:sp>
        <p:nvSpPr>
          <p:cNvPr id="71" name="">
            <a:extLst xmlns:a="http://schemas.openxmlformats.org/drawingml/2006/main">
              <a:ext uri="{FF2B5EF4-FFF2-40B4-BE49-F238E27FC236}">
                <a16:creationId xmlns:a16="http://schemas.microsoft.com/office/drawing/2014/main" id="{8B4FD6D3-9D75-4551-BAAB-C2C9434FD763}"/>
              </a:ext>
            </a:extLst>
          </p:cNvPr>
          <p:cNvSpPr>
            <a:spLocks xmlns:a="http://schemas.openxmlformats.org/drawingml/2006/main" noGrp="1"/>
          </p:cNvSpPr>
          <p:nvPr/>
        </p:nvSpPr>
        <p:spPr>
          <a:xfrm xmlns:a="http://schemas.openxmlformats.org/drawingml/2006/main">
            <a:off x="10172700" y="5591175"/>
            <a:ext cx="12954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73" b="0">
                <a:solidFill>
                  <a:srgbClr val="334155"/>
                </a:solidFill>
                <a:latin typeface="Aptos"/>
                <a:ea typeface="Aptos"/>
                <a:cs typeface="Aptos"/>
              </a:defRPr>
            </a:pPr>
            <a:r>
              <a:rPr sz="773" b="0">
                <a:solidFill>
                  <a:srgbClr val="334155"/>
                </a:solidFill>
                <a:latin typeface="Aptos"/>
                <a:ea typeface="Aptos"/>
                <a:cs typeface="Aptos"/>
              </a:rPr>
              <a:t>tool calls, response, outcome</a:t>
            </a:r>
          </a:p>
        </p:txBody>
      </p:sp>
      <p:sp>
        <p:nvSpPr>
          <p:cNvPr id="72" name="">
            <a:extLst xmlns:a="http://schemas.openxmlformats.org/drawingml/2006/main">
              <a:ext uri="{FF2B5EF4-FFF2-40B4-BE49-F238E27FC236}">
                <a16:creationId xmlns:a16="http://schemas.microsoft.com/office/drawing/2014/main" id="{25237FFD-AC35-4936-B0D1-CF37BCD1342E}"/>
              </a:ext>
            </a:extLst>
          </p:cNvPr>
          <p:cNvSpPr>
            <a:spLocks xmlns:a="http://schemas.openxmlformats.org/drawingml/2006/main" noGrp="1"/>
          </p:cNvSpPr>
          <p:nvPr/>
        </p:nvSpPr>
        <p:spPr>
          <a:xfrm xmlns:a="http://schemas.openxmlformats.org/drawingml/2006/main">
            <a:off x="609600" y="6124575"/>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FF7D0F1F-80CB-49E5-AF52-0AF84B614444}"/>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D1C8"/>
          </a:solidFill>
          <a:ln xmlns:a="http://schemas.openxmlformats.org/drawingml/2006/main" w="0">
            <a:solidFill>
              <a:srgbClr val="000000">
                <a:alpha val="0"/>
              </a:srgbClr>
            </a:solidFill>
            <a:prstDash val="solid"/>
          </a:ln>
        </p:spPr>
        <p:txBody xmlns:a="http://schemas.openxmlformats.org/drawingml/2006/main">
          <a:bodyPr/>
          <a:p/>
        </p:txBody>
      </p:sp>
      <p:sp>
        <p:nvSpPr>
          <p:cNvPr id="74" name="">
            <a:extLst xmlns:a="http://schemas.openxmlformats.org/drawingml/2006/main">
              <a:ext uri="{FF2B5EF4-FFF2-40B4-BE49-F238E27FC236}">
                <a16:creationId xmlns:a16="http://schemas.microsoft.com/office/drawing/2014/main" id="{C9A904F1-594D-48DD-A9C1-DD5525EC5655}"/>
              </a:ext>
            </a:extLst>
          </p:cNvPr>
          <p:cNvSpPr>
            <a:spLocks xmlns:a="http://schemas.openxmlformats.org/drawingml/2006/main" noGrp="1"/>
          </p:cNvSpPr>
          <p:nvPr/>
        </p:nvSpPr>
        <p:spPr>
          <a:xfrm xmlns:a="http://schemas.openxmlformats.org/drawingml/2006/main">
            <a:off x="609600" y="6477000"/>
            <a:ext cx="3238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667085"/>
                </a:solidFill>
                <a:latin typeface="Aptos"/>
                <a:ea typeface="Aptos"/>
                <a:cs typeface="Aptos"/>
              </a:defRPr>
            </a:pPr>
            <a:r>
              <a:rPr sz="825" b="1">
                <a:solidFill>
                  <a:srgbClr val="667085"/>
                </a:solidFill>
                <a:latin typeface="Aptos"/>
                <a:ea typeface="Aptos"/>
                <a:cs typeface="Aptos"/>
              </a:rPr>
              <a:t>PROMPT EVOLUTION</a:t>
            </a:r>
          </a:p>
        </p:txBody>
      </p:sp>
      <p:sp>
        <p:nvSpPr>
          <p:cNvPr id="75" name="">
            <a:extLst xmlns:a="http://schemas.openxmlformats.org/drawingml/2006/main">
              <a:ext uri="{FF2B5EF4-FFF2-40B4-BE49-F238E27FC236}">
                <a16:creationId xmlns:a16="http://schemas.microsoft.com/office/drawing/2014/main" id="{AB837DB8-6C60-446E-8D50-F68FAE5AA102}"/>
              </a:ext>
            </a:extLst>
          </p:cNvPr>
          <p:cNvSpPr>
            <a:spLocks xmlns:a="http://schemas.openxmlformats.org/drawingml/2006/main" noGrp="1"/>
          </p:cNvSpPr>
          <p:nvPr/>
        </p:nvSpPr>
        <p:spPr>
          <a:xfrm xmlns:a="http://schemas.openxmlformats.org/drawingml/2006/main">
            <a:off x="11087100" y="6477000"/>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1">
                <a:solidFill>
                  <a:srgbClr val="334155"/>
                </a:solidFill>
              </a:rPr>
              <a:t>05</a:t>
            </a:r>
          </a:p>
        </p:txBody>
      </p:sp>
    </p:spTree>
    <p:extLst>
      <p:ext uri="{BB962C8B-B14F-4D97-AF65-F5344CB8AC3E}">
        <p14:creationId xmlns:p14="http://schemas.microsoft.com/office/powerpoint/2010/main" val="76281368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609600" y="495300"/>
            <a:ext cx="76200" cy="22860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TextBox 3"/>
          <p:cNvSpPr txBox="1"/>
          <p:nvPr/>
        </p:nvSpPr>
        <p:spPr>
          <a:xfrm>
            <a:off x="800100" y="495300"/>
            <a:ext cx="5905500" cy="228600"/>
          </a:xfrm>
          <a:prstGeom prst="rect">
            <a:avLst/>
          </a:prstGeom>
          <a:noFill/>
        </p:spPr>
        <p:txBody>
          <a:bodyPr wrap="square" lIns="0" rIns="0" tIns="0" bIns="0" anchor="t">
            <a:spAutoFit/>
          </a:bodyPr>
          <a:lstStyle/>
          <a:p>
            <a:pPr algn="l"/>
            <a:r>
              <a:rPr sz="1200" b="1">
                <a:solidFill>
                  <a:srgbClr val="667085"/>
                </a:solidFill>
                <a:latin typeface="Aptos"/>
              </a:rPr>
              <a:t>STEP 1 OF 5 | TASK -&gt; PROMPT | PROMPT BUILDER (LOCAL HELPER SCRIPT)</a:t>
            </a:r>
          </a:p>
        </p:txBody>
      </p:sp>
      <p:sp xmlns:a="http://schemas.openxmlformats.org/drawingml/2006/main">
        <p:nvSpPr>
          <p:cNvPr id="5" name="Rectangle 4"/>
          <p:cNvSpPr/>
          <p:nvPr/>
        </p:nvSpPr>
        <p:spPr>
          <a:xfrm>
            <a:off x="7658100" y="514350"/>
            <a:ext cx="742950" cy="209550"/>
          </a:xfrm>
          <a:prstGeom prst="rect">
            <a:avLst/>
          </a:prstGeom>
          <a:solidFill>
            <a:srgbClr val="2563EB"/>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TextBox 5"/>
          <p:cNvSpPr txBox="1"/>
          <p:nvPr/>
        </p:nvSpPr>
        <p:spPr>
          <a:xfrm>
            <a:off x="7715250" y="571500"/>
            <a:ext cx="628650" cy="95250"/>
          </a:xfrm>
          <a:prstGeom prst="rect">
            <a:avLst/>
          </a:prstGeom>
          <a:noFill/>
        </p:spPr>
        <p:txBody>
          <a:bodyPr wrap="square" lIns="0" rIns="0" tIns="0" bIns="0" anchor="t">
            <a:spAutoFit/>
          </a:bodyPr>
          <a:lstStyle/>
          <a:p>
            <a:pPr algn="ctr"/>
            <a:r>
              <a:rPr sz="900" b="1">
                <a:solidFill>
                  <a:srgbClr val="FFFFFF"/>
                </a:solidFill>
                <a:latin typeface="Aptos"/>
              </a:rPr>
              <a:t>Task</a:t>
            </a:r>
          </a:p>
        </p:txBody>
      </p:sp>
      <p:sp xmlns:a="http://schemas.openxmlformats.org/drawingml/2006/main">
        <p:nvSpPr>
          <p:cNvPr id="7" name="Rectangle 6"/>
          <p:cNvSpPr/>
          <p:nvPr/>
        </p:nvSpPr>
        <p:spPr>
          <a:xfrm>
            <a:off x="8477250" y="514350"/>
            <a:ext cx="742950" cy="209550"/>
          </a:xfrm>
          <a:prstGeom prst="rect">
            <a:avLst/>
          </a:prstGeom>
          <a:solidFill>
            <a:srgbClr val="000000"/>
          </a:solidFill>
          <a:ln w="15240">
            <a:solidFill>
              <a:srgbClr val="D7D1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TextBox 7"/>
          <p:cNvSpPr txBox="1"/>
          <p:nvPr/>
        </p:nvSpPr>
        <p:spPr>
          <a:xfrm>
            <a:off x="8534400" y="571500"/>
            <a:ext cx="628650" cy="95250"/>
          </a:xfrm>
          <a:prstGeom prst="rect">
            <a:avLst/>
          </a:prstGeom>
          <a:noFill/>
        </p:spPr>
        <p:txBody>
          <a:bodyPr wrap="square" lIns="0" rIns="0" tIns="0" bIns="0" anchor="t">
            <a:spAutoFit/>
          </a:bodyPr>
          <a:lstStyle/>
          <a:p>
            <a:pPr algn="ctr"/>
            <a:r>
              <a:rPr sz="900" b="1">
                <a:solidFill>
                  <a:srgbClr val="667085"/>
                </a:solidFill>
                <a:latin typeface="Aptos"/>
              </a:rPr>
              <a:t>Prompt</a:t>
            </a:r>
          </a:p>
        </p:txBody>
      </p:sp>
      <p:sp xmlns:a="http://schemas.openxmlformats.org/drawingml/2006/main">
        <p:nvSpPr>
          <p:cNvPr id="9" name="Rectangle 8"/>
          <p:cNvSpPr/>
          <p:nvPr/>
        </p:nvSpPr>
        <p:spPr>
          <a:xfrm>
            <a:off x="9296400" y="514350"/>
            <a:ext cx="742950" cy="209550"/>
          </a:xfrm>
          <a:prstGeom prst="rect">
            <a:avLst/>
          </a:prstGeom>
          <a:solidFill>
            <a:srgbClr val="000000"/>
          </a:solidFill>
          <a:ln w="15240">
            <a:solidFill>
              <a:srgbClr val="D7D1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TextBox 9"/>
          <p:cNvSpPr txBox="1"/>
          <p:nvPr/>
        </p:nvSpPr>
        <p:spPr>
          <a:xfrm>
            <a:off x="9353550" y="571500"/>
            <a:ext cx="628650" cy="95250"/>
          </a:xfrm>
          <a:prstGeom prst="rect">
            <a:avLst/>
          </a:prstGeom>
          <a:noFill/>
        </p:spPr>
        <p:txBody>
          <a:bodyPr wrap="square" lIns="0" rIns="0" tIns="0" bIns="0" anchor="t">
            <a:spAutoFit/>
          </a:bodyPr>
          <a:lstStyle/>
          <a:p>
            <a:pPr algn="ctr"/>
            <a:r>
              <a:rPr sz="900" b="1">
                <a:solidFill>
                  <a:srgbClr val="667085"/>
                </a:solidFill>
                <a:latin typeface="Aptos"/>
              </a:rPr>
              <a:t>Request</a:t>
            </a:r>
          </a:p>
        </p:txBody>
      </p:sp>
      <p:sp xmlns:a="http://schemas.openxmlformats.org/drawingml/2006/main">
        <p:nvSpPr>
          <p:cNvPr id="11" name="Rectangle 10"/>
          <p:cNvSpPr/>
          <p:nvPr/>
        </p:nvSpPr>
        <p:spPr>
          <a:xfrm>
            <a:off x="10115550" y="514350"/>
            <a:ext cx="742950" cy="209550"/>
          </a:xfrm>
          <a:prstGeom prst="rect">
            <a:avLst/>
          </a:prstGeom>
          <a:solidFill>
            <a:srgbClr val="000000"/>
          </a:solidFill>
          <a:ln w="15240">
            <a:solidFill>
              <a:srgbClr val="D7D1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TextBox 11"/>
          <p:cNvSpPr txBox="1"/>
          <p:nvPr/>
        </p:nvSpPr>
        <p:spPr>
          <a:xfrm>
            <a:off x="10172700" y="571500"/>
            <a:ext cx="628650" cy="95250"/>
          </a:xfrm>
          <a:prstGeom prst="rect">
            <a:avLst/>
          </a:prstGeom>
          <a:noFill/>
        </p:spPr>
        <p:txBody>
          <a:bodyPr wrap="square" lIns="0" rIns="0" tIns="0" bIns="0" anchor="t">
            <a:spAutoFit/>
          </a:bodyPr>
          <a:lstStyle/>
          <a:p>
            <a:pPr algn="ctr"/>
            <a:r>
              <a:rPr sz="900" b="1">
                <a:solidFill>
                  <a:srgbClr val="667085"/>
                </a:solidFill>
                <a:latin typeface="Aptos"/>
              </a:rPr>
              <a:t>Runtime</a:t>
            </a:r>
          </a:p>
        </p:txBody>
      </p:sp>
      <p:sp xmlns:a="http://schemas.openxmlformats.org/drawingml/2006/main">
        <p:nvSpPr>
          <p:cNvPr id="13" name="Rectangle 12"/>
          <p:cNvSpPr/>
          <p:nvPr/>
        </p:nvSpPr>
        <p:spPr>
          <a:xfrm>
            <a:off x="10934700" y="514350"/>
            <a:ext cx="742950" cy="209550"/>
          </a:xfrm>
          <a:prstGeom prst="rect">
            <a:avLst/>
          </a:prstGeom>
          <a:solidFill>
            <a:srgbClr val="000000"/>
          </a:solidFill>
          <a:ln w="15240">
            <a:solidFill>
              <a:srgbClr val="D7D1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TextBox 13"/>
          <p:cNvSpPr txBox="1"/>
          <p:nvPr/>
        </p:nvSpPr>
        <p:spPr>
          <a:xfrm>
            <a:off x="10991850" y="571500"/>
            <a:ext cx="628650" cy="95250"/>
          </a:xfrm>
          <a:prstGeom prst="rect">
            <a:avLst/>
          </a:prstGeom>
          <a:noFill/>
        </p:spPr>
        <p:txBody>
          <a:bodyPr wrap="square" lIns="0" rIns="0" tIns="0" bIns="0" anchor="t">
            <a:spAutoFit/>
          </a:bodyPr>
          <a:lstStyle/>
          <a:p>
            <a:pPr algn="ctr"/>
            <a:r>
              <a:rPr sz="900" b="1">
                <a:solidFill>
                  <a:srgbClr val="667085"/>
                </a:solidFill>
                <a:latin typeface="Aptos"/>
              </a:rPr>
              <a:t>Behavior</a:t>
            </a:r>
          </a:p>
        </p:txBody>
      </p:sp>
      <p:sp xmlns:a="http://schemas.openxmlformats.org/drawingml/2006/main">
        <p:nvSpPr>
          <p:cNvPr id="15" name="TextBox 14"/>
          <p:cNvSpPr txBox="1"/>
          <p:nvPr/>
        </p:nvSpPr>
        <p:spPr>
          <a:xfrm>
            <a:off x="609600" y="819150"/>
            <a:ext cx="10096500" cy="990600"/>
          </a:xfrm>
          <a:prstGeom prst="rect">
            <a:avLst/>
          </a:prstGeom>
          <a:noFill/>
        </p:spPr>
        <p:txBody>
          <a:bodyPr wrap="square" lIns="0" rIns="0" tIns="0" bIns="0" anchor="t">
            <a:spAutoFit/>
          </a:bodyPr>
          <a:lstStyle/>
          <a:p>
            <a:pPr algn="l"/>
            <a:r>
              <a:rPr sz="3800" b="1">
                <a:solidFill>
                  <a:srgbClr val="101820"/>
                </a:solidFill>
                <a:latin typeface="Aptos Display"/>
              </a:rPr>
              <a:t>First, the raw task becomes one prompt object.</a:t>
            </a:r>
          </a:p>
        </p:txBody>
      </p:sp>
      <p:sp xmlns:a="http://schemas.openxmlformats.org/drawingml/2006/main">
        <p:nvSpPr>
          <p:cNvPr id="16" name="Rectangle 15"/>
          <p:cNvSpPr/>
          <p:nvPr/>
        </p:nvSpPr>
        <p:spPr>
          <a:xfrm>
            <a:off x="609600" y="1866900"/>
            <a:ext cx="10972800" cy="1905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609600" y="2457450"/>
            <a:ext cx="10972800" cy="9525"/>
          </a:xfrm>
          <a:prstGeom prst="rect">
            <a:avLst/>
          </a:prstGeom>
          <a:solidFill>
            <a:srgbClr val="D7D1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609600" y="1866900"/>
            <a:ext cx="76200" cy="59055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extBox 18"/>
          <p:cNvSpPr txBox="1"/>
          <p:nvPr/>
        </p:nvSpPr>
        <p:spPr>
          <a:xfrm>
            <a:off x="838200" y="1971675"/>
            <a:ext cx="1047750" cy="114300"/>
          </a:xfrm>
          <a:prstGeom prst="rect">
            <a:avLst/>
          </a:prstGeom>
          <a:noFill/>
        </p:spPr>
        <p:txBody>
          <a:bodyPr wrap="square" lIns="0" rIns="0" tIns="0" bIns="0" anchor="t">
            <a:spAutoFit/>
          </a:bodyPr>
          <a:lstStyle/>
          <a:p>
            <a:pPr algn="l"/>
            <a:r>
              <a:rPr sz="980" b="1">
                <a:solidFill>
                  <a:srgbClr val="667085"/>
                </a:solidFill>
                <a:latin typeface="Aptos"/>
              </a:rPr>
              <a:t>What changed</a:t>
            </a:r>
          </a:p>
        </p:txBody>
      </p:sp>
      <p:sp xmlns:a="http://schemas.openxmlformats.org/drawingml/2006/main">
        <p:nvSpPr>
          <p:cNvPr id="20" name="TextBox 19"/>
          <p:cNvSpPr txBox="1"/>
          <p:nvPr/>
        </p:nvSpPr>
        <p:spPr>
          <a:xfrm>
            <a:off x="838200" y="2114550"/>
            <a:ext cx="2571750" cy="266700"/>
          </a:xfrm>
          <a:prstGeom prst="rect">
            <a:avLst/>
          </a:prstGeom>
          <a:noFill/>
        </p:spPr>
        <p:txBody>
          <a:bodyPr wrap="square" lIns="0" rIns="0" tIns="0" bIns="0" anchor="t">
            <a:spAutoFit/>
          </a:bodyPr>
          <a:lstStyle/>
          <a:p>
            <a:pPr algn="l"/>
            <a:r>
              <a:rPr sz="1160" b="0">
                <a:solidFill>
                  <a:srgbClr val="101820"/>
                </a:solidFill>
                <a:latin typeface="Aptos"/>
              </a:rPr>
              <a:t>Raw benchmark fields become one prompt field.</a:t>
            </a:r>
          </a:p>
        </p:txBody>
      </p:sp>
      <p:sp xmlns:a="http://schemas.openxmlformats.org/drawingml/2006/main">
        <p:nvSpPr>
          <p:cNvPr id="21" name="TextBox 20"/>
          <p:cNvSpPr txBox="1"/>
          <p:nvPr/>
        </p:nvSpPr>
        <p:spPr>
          <a:xfrm>
            <a:off x="3676650" y="1971675"/>
            <a:ext cx="1047750" cy="114300"/>
          </a:xfrm>
          <a:prstGeom prst="rect">
            <a:avLst/>
          </a:prstGeom>
          <a:noFill/>
        </p:spPr>
        <p:txBody>
          <a:bodyPr wrap="square" lIns="0" rIns="0" tIns="0" bIns="0" anchor="t">
            <a:spAutoFit/>
          </a:bodyPr>
          <a:lstStyle/>
          <a:p>
            <a:pPr algn="l"/>
            <a:r>
              <a:rPr sz="980" b="1">
                <a:solidFill>
                  <a:srgbClr val="667085"/>
                </a:solidFill>
                <a:latin typeface="Aptos"/>
              </a:rPr>
              <a:t>Why it matters</a:t>
            </a:r>
          </a:p>
        </p:txBody>
      </p:sp>
      <p:sp xmlns:a="http://schemas.openxmlformats.org/drawingml/2006/main">
        <p:nvSpPr>
          <p:cNvPr id="22" name="TextBox 21"/>
          <p:cNvSpPr txBox="1"/>
          <p:nvPr/>
        </p:nvSpPr>
        <p:spPr>
          <a:xfrm>
            <a:off x="3676650" y="2114550"/>
            <a:ext cx="2667000" cy="266700"/>
          </a:xfrm>
          <a:prstGeom prst="rect">
            <a:avLst/>
          </a:prstGeom>
          <a:noFill/>
        </p:spPr>
        <p:txBody>
          <a:bodyPr wrap="square" lIns="0" rIns="0" tIns="0" bIns="0" anchor="t">
            <a:spAutoFit/>
          </a:bodyPr>
          <a:lstStyle/>
          <a:p>
            <a:pPr algn="l"/>
            <a:r>
              <a:rPr sz="1160" b="0">
                <a:solidFill>
                  <a:srgbClr val="101820"/>
                </a:solidFill>
                <a:latin typeface="Aptos"/>
              </a:rPr>
              <a:t>This is where the task becomes instructions the agent can follow.</a:t>
            </a:r>
          </a:p>
        </p:txBody>
      </p:sp>
      <p:sp xmlns:a="http://schemas.openxmlformats.org/drawingml/2006/main">
        <p:nvSpPr>
          <p:cNvPr id="23" name="TextBox 22"/>
          <p:cNvSpPr txBox="1"/>
          <p:nvPr/>
        </p:nvSpPr>
        <p:spPr>
          <a:xfrm>
            <a:off x="6610350" y="1971675"/>
            <a:ext cx="1143000" cy="114300"/>
          </a:xfrm>
          <a:prstGeom prst="rect">
            <a:avLst/>
          </a:prstGeom>
          <a:noFill/>
        </p:spPr>
        <p:txBody>
          <a:bodyPr wrap="square" lIns="0" rIns="0" tIns="0" bIns="0" anchor="t">
            <a:spAutoFit/>
          </a:bodyPr>
          <a:lstStyle/>
          <a:p>
            <a:pPr algn="l"/>
            <a:r>
              <a:rPr sz="980" b="1">
                <a:solidFill>
                  <a:srgbClr val="667085"/>
                </a:solidFill>
                <a:latin typeface="Aptos"/>
              </a:rPr>
              <a:t>What to look at</a:t>
            </a:r>
          </a:p>
        </p:txBody>
      </p:sp>
      <p:sp xmlns:a="http://schemas.openxmlformats.org/drawingml/2006/main">
        <p:nvSpPr>
          <p:cNvPr id="24" name="TextBox 23"/>
          <p:cNvSpPr txBox="1"/>
          <p:nvPr/>
        </p:nvSpPr>
        <p:spPr>
          <a:xfrm>
            <a:off x="6610350" y="2114550"/>
            <a:ext cx="3105150" cy="266700"/>
          </a:xfrm>
          <a:prstGeom prst="rect">
            <a:avLst/>
          </a:prstGeom>
          <a:noFill/>
        </p:spPr>
        <p:txBody>
          <a:bodyPr wrap="square" lIns="0" rIns="0" tIns="0" bIns="0" anchor="t">
            <a:spAutoFit/>
          </a:bodyPr>
          <a:lstStyle/>
          <a:p>
            <a:pPr algn="l"/>
            <a:r>
              <a:rPr sz="1160" b="0">
                <a:solidFill>
                  <a:srgbClr val="101820"/>
                </a:solidFill>
                <a:latin typeface="Aptos"/>
              </a:rPr>
              <a:t>New field: prompt. Payload grows by +5,576.</a:t>
            </a:r>
          </a:p>
        </p:txBody>
      </p:sp>
      <p:sp xmlns:a="http://schemas.openxmlformats.org/drawingml/2006/main">
        <p:nvSpPr>
          <p:cNvPr id="25" name="TextBox 24"/>
          <p:cNvSpPr txBox="1"/>
          <p:nvPr/>
        </p:nvSpPr>
        <p:spPr>
          <a:xfrm>
            <a:off x="10001250" y="1971675"/>
            <a:ext cx="857250" cy="114300"/>
          </a:xfrm>
          <a:prstGeom prst="rect">
            <a:avLst/>
          </a:prstGeom>
          <a:noFill/>
        </p:spPr>
        <p:txBody>
          <a:bodyPr wrap="square" lIns="0" rIns="0" tIns="0" bIns="0" anchor="t">
            <a:spAutoFit/>
          </a:bodyPr>
          <a:lstStyle/>
          <a:p>
            <a:pPr algn="l"/>
            <a:r>
              <a:rPr sz="980" b="1">
                <a:solidFill>
                  <a:srgbClr val="667085"/>
                </a:solidFill>
                <a:latin typeface="Aptos"/>
              </a:rPr>
              <a:t>Component</a:t>
            </a:r>
          </a:p>
        </p:txBody>
      </p:sp>
      <p:sp xmlns:a="http://schemas.openxmlformats.org/drawingml/2006/main">
        <p:nvSpPr>
          <p:cNvPr id="26" name="TextBox 25"/>
          <p:cNvSpPr txBox="1"/>
          <p:nvPr/>
        </p:nvSpPr>
        <p:spPr>
          <a:xfrm>
            <a:off x="10001250" y="2114550"/>
            <a:ext cx="1314450" cy="152400"/>
          </a:xfrm>
          <a:prstGeom prst="rect">
            <a:avLst/>
          </a:prstGeom>
          <a:noFill/>
        </p:spPr>
        <p:txBody>
          <a:bodyPr wrap="square" lIns="0" rIns="0" tIns="0" bIns="0" anchor="t">
            <a:spAutoFit/>
          </a:bodyPr>
          <a:lstStyle/>
          <a:p>
            <a:pPr algn="l"/>
            <a:r>
              <a:rPr sz="1120" b="1">
                <a:solidFill>
                  <a:srgbClr val="2563EB"/>
                </a:solidFill>
                <a:latin typeface="Aptos"/>
              </a:rPr>
              <a:t>Prompt Builder (local helper script)</a:t>
            </a:r>
          </a:p>
        </p:txBody>
      </p:sp>
      <p:sp xmlns:a="http://schemas.openxmlformats.org/drawingml/2006/main">
        <p:nvSpPr>
          <p:cNvPr id="27" name="TextBox 26"/>
          <p:cNvSpPr txBox="1"/>
          <p:nvPr/>
        </p:nvSpPr>
        <p:spPr>
          <a:xfrm>
            <a:off x="609600" y="2476500"/>
            <a:ext cx="2476500" cy="209550"/>
          </a:xfrm>
          <a:prstGeom prst="rect">
            <a:avLst/>
          </a:prstGeom>
          <a:noFill/>
        </p:spPr>
        <p:txBody>
          <a:bodyPr wrap="square" lIns="0" rIns="0" tIns="0" bIns="0" anchor="t">
            <a:spAutoFit/>
          </a:bodyPr>
          <a:lstStyle/>
          <a:p>
            <a:pPr algn="l"/>
            <a:r>
              <a:rPr sz="1800" b="1">
                <a:solidFill>
                  <a:srgbClr val="101820"/>
                </a:solidFill>
                <a:latin typeface="Aptos"/>
              </a:rPr>
              <a:t>Prompt Built</a:t>
            </a:r>
          </a:p>
        </p:txBody>
      </p:sp>
      <p:sp xmlns:a="http://schemas.openxmlformats.org/drawingml/2006/main">
        <p:nvSpPr>
          <p:cNvPr id="28" name="TextBox 27"/>
          <p:cNvSpPr txBox="1"/>
          <p:nvPr/>
        </p:nvSpPr>
        <p:spPr>
          <a:xfrm>
            <a:off x="3257550" y="2495550"/>
            <a:ext cx="1257300" cy="114300"/>
          </a:xfrm>
          <a:prstGeom prst="rect">
            <a:avLst/>
          </a:prstGeom>
          <a:noFill/>
        </p:spPr>
        <p:txBody>
          <a:bodyPr wrap="square" lIns="0" rIns="0" tIns="0" bIns="0" anchor="t">
            <a:spAutoFit/>
          </a:bodyPr>
          <a:lstStyle/>
          <a:p>
            <a:pPr algn="l"/>
            <a:r>
              <a:rPr sz="1000" b="1">
                <a:solidFill>
                  <a:srgbClr val="667085"/>
                </a:solidFill>
                <a:latin typeface="Aptos"/>
              </a:rPr>
              <a:t>Added in this step</a:t>
            </a:r>
          </a:p>
        </p:txBody>
      </p:sp>
      <p:sp xmlns:a="http://schemas.openxmlformats.org/drawingml/2006/main">
        <p:nvSpPr>
          <p:cNvPr id="29" name="Rectangle 28"/>
          <p:cNvSpPr/>
          <p:nvPr/>
        </p:nvSpPr>
        <p:spPr>
          <a:xfrm>
            <a:off x="4533900" y="2457450"/>
            <a:ext cx="581025" cy="209550"/>
          </a:xfrm>
          <a:prstGeom prst="rect">
            <a:avLst/>
          </a:prstGeom>
          <a:solidFill>
            <a:srgbClr val="FFFFFF"/>
          </a:solidFill>
          <a:ln w="1397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TextBox 29"/>
          <p:cNvSpPr txBox="1"/>
          <p:nvPr/>
        </p:nvSpPr>
        <p:spPr>
          <a:xfrm>
            <a:off x="4619625" y="2505075"/>
            <a:ext cx="409575" cy="104775"/>
          </a:xfrm>
          <a:prstGeom prst="rect">
            <a:avLst/>
          </a:prstGeom>
          <a:noFill/>
        </p:spPr>
        <p:txBody>
          <a:bodyPr wrap="square" lIns="0" rIns="0" tIns="0" bIns="0" anchor="t">
            <a:spAutoFit/>
          </a:bodyPr>
          <a:lstStyle/>
          <a:p>
            <a:pPr algn="l"/>
            <a:r>
              <a:rPr sz="910" b="1">
                <a:solidFill>
                  <a:srgbClr val="334155"/>
                </a:solidFill>
                <a:latin typeface="Aptos"/>
              </a:rPr>
              <a:t>prompt</a:t>
            </a:r>
          </a:p>
        </p:txBody>
      </p:sp>
      <p:sp xmlns:a="http://schemas.openxmlformats.org/drawingml/2006/main">
        <p:nvSpPr>
          <p:cNvPr id="31" name="Rectangle 30"/>
          <p:cNvSpPr/>
          <p:nvPr/>
        </p:nvSpPr>
        <p:spPr>
          <a:xfrm>
            <a:off x="9658350" y="2381250"/>
            <a:ext cx="1924050" cy="400050"/>
          </a:xfrm>
          <a:prstGeom prst="rect">
            <a:avLst/>
          </a:prstGeom>
          <a:solidFill>
            <a:srgbClr val="FFFFFF"/>
          </a:solidFill>
          <a:ln w="2032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TextBox 31"/>
          <p:cNvSpPr txBox="1"/>
          <p:nvPr/>
        </p:nvSpPr>
        <p:spPr>
          <a:xfrm>
            <a:off x="9772650" y="2447925"/>
            <a:ext cx="1695450" cy="95250"/>
          </a:xfrm>
          <a:prstGeom prst="rect">
            <a:avLst/>
          </a:prstGeom>
          <a:noFill/>
        </p:spPr>
        <p:txBody>
          <a:bodyPr wrap="square" lIns="0" rIns="0" tIns="0" bIns="0" anchor="t">
            <a:spAutoFit/>
          </a:bodyPr>
          <a:lstStyle/>
          <a:p>
            <a:pPr algn="l"/>
            <a:r>
              <a:rPr sz="919" b="1">
                <a:solidFill>
                  <a:srgbClr val="667085"/>
                </a:solidFill>
                <a:latin typeface="Aptos"/>
              </a:rPr>
              <a:t>Payload size change</a:t>
            </a:r>
          </a:p>
        </p:txBody>
      </p:sp>
      <p:sp xmlns:a="http://schemas.openxmlformats.org/drawingml/2006/main">
        <p:nvSpPr>
          <p:cNvPr id="33" name="TextBox 32"/>
          <p:cNvSpPr txBox="1"/>
          <p:nvPr/>
        </p:nvSpPr>
        <p:spPr>
          <a:xfrm>
            <a:off x="9772650" y="2571750"/>
            <a:ext cx="1695450" cy="180975"/>
          </a:xfrm>
          <a:prstGeom prst="rect">
            <a:avLst/>
          </a:prstGeom>
          <a:noFill/>
        </p:spPr>
        <p:txBody>
          <a:bodyPr wrap="square" lIns="0" rIns="0" tIns="0" bIns="0" anchor="t">
            <a:spAutoFit/>
          </a:bodyPr>
          <a:lstStyle/>
          <a:p>
            <a:pPr algn="l"/>
            <a:r>
              <a:rPr sz="1650" b="1">
                <a:solidFill>
                  <a:srgbClr val="2563EB"/>
                </a:solidFill>
                <a:latin typeface="Aptos Mono"/>
              </a:rPr>
              <a:t>+5,576</a:t>
            </a:r>
          </a:p>
        </p:txBody>
      </p:sp>
      <p:sp xmlns:a="http://schemas.openxmlformats.org/drawingml/2006/main">
        <p:nvSpPr>
          <p:cNvPr id="34" name="Rectangle 33"/>
          <p:cNvSpPr/>
          <p:nvPr/>
        </p:nvSpPr>
        <p:spPr>
          <a:xfrm>
            <a:off x="609600" y="2857500"/>
            <a:ext cx="5219700" cy="2914650"/>
          </a:xfrm>
          <a:prstGeom prst="rect">
            <a:avLst/>
          </a:prstGeom>
          <a:solidFill>
            <a:srgbClr val="FFFFFF"/>
          </a:solidFill>
          <a:ln w="25400">
            <a:solidFill>
              <a:srgbClr val="8D99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Rectangle 34"/>
          <p:cNvSpPr/>
          <p:nvPr/>
        </p:nvSpPr>
        <p:spPr>
          <a:xfrm>
            <a:off x="609600" y="2857500"/>
            <a:ext cx="5219700" cy="400050"/>
          </a:xfrm>
          <a:prstGeom prst="rect">
            <a:avLst/>
          </a:prstGeom>
          <a:solidFill>
            <a:srgbClr val="E9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81050" y="2962275"/>
            <a:ext cx="4876800" cy="190500"/>
          </a:xfrm>
          <a:prstGeom prst="rect">
            <a:avLst/>
          </a:prstGeom>
          <a:noFill/>
        </p:spPr>
        <p:txBody>
          <a:bodyPr wrap="square" lIns="0" rIns="0" tIns="0" bIns="0" anchor="t">
            <a:spAutoFit/>
          </a:bodyPr>
          <a:lstStyle/>
          <a:p>
            <a:pPr algn="l"/>
            <a:r>
              <a:rPr sz="1320" b="1">
                <a:solidFill>
                  <a:srgbClr val="101820"/>
                </a:solidFill>
                <a:latin typeface="Aptos"/>
              </a:rPr>
              <a:t>Before</a:t>
            </a:r>
          </a:p>
        </p:txBody>
      </p:sp>
      <p:sp xmlns:a="http://schemas.openxmlformats.org/drawingml/2006/main">
        <p:nvSpPr>
          <p:cNvPr id="37" name="TextBox 36"/>
          <p:cNvSpPr txBox="1"/>
          <p:nvPr/>
        </p:nvSpPr>
        <p:spPr>
          <a:xfrm>
            <a:off x="781050" y="3409950"/>
            <a:ext cx="4876800" cy="2247900"/>
          </a:xfrm>
          <a:prstGeom prst="rect">
            <a:avLst/>
          </a:prstGeom>
          <a:noFill/>
        </p:spPr>
        <p:txBody>
          <a:bodyPr wrap="none" lIns="0" rIns="0" tIns="0" bIns="0" anchor="t">
            <a:spAutoFit/>
          </a:bodyPr>
          <a:lstStyle/>
          <a:p>
            <a:pPr>
              <a:lnSpc>
                <a:spcPct val="98000"/>
              </a:lnSpc>
              <a:spcBef>
                <a:spcPts val="0"/>
              </a:spcBef>
              <a:spcAft>
                <a:spcPts val="0"/>
              </a:spcAft>
            </a:pPr>
            <a:r>
              <a:rPr sz="855" b="0">
                <a:solidFill>
                  <a:srgbClr val="667085"/>
                </a:solidFill>
                <a:latin typeface="Aptos Mono"/>
              </a:rPr>
              <a:t>{</a:t>
            </a:r>
          </a:p>
          <a:p>
            <a:pPr>
              <a:lnSpc>
                <a:spcPct val="98000"/>
              </a:lnSpc>
              <a:spcBef>
                <a:spcPts val="0"/>
              </a:spcBef>
              <a:spcAft>
                <a:spcPts val="0"/>
              </a:spcAft>
            </a:pPr>
            <a:r>
              <a:rPr sz="855" b="0">
                <a:solidFill>
                  <a:srgbClr val="667085"/>
                </a:solidFill>
                <a:latin typeface="Aptos Mono"/>
              </a:rPr>
              <a:t>  </a:t>
            </a:r>
            <a:r>
              <a:rPr sz="855" b="1">
                <a:solidFill>
                  <a:srgbClr val="1D4ED8"/>
                </a:solidFill>
                <a:latin typeface="Aptos Mono"/>
              </a:rPr>
              <a:t>"repo"</a:t>
            </a:r>
            <a:r>
              <a:rPr sz="855" b="0">
                <a:solidFill>
                  <a:srgbClr val="667085"/>
                </a:solidFill>
                <a:latin typeface="Aptos Mono"/>
              </a:rPr>
              <a:t>: </a:t>
            </a:r>
            <a:r>
              <a:rPr sz="855" b="0">
                <a:solidFill>
                  <a:srgbClr val="172033"/>
                </a:solidFill>
                <a:latin typeface="Aptos Mono"/>
              </a:rPr>
              <a:t>"NodeBB/NodeBB",</a:t>
            </a:r>
          </a:p>
          <a:p>
            <a:pPr>
              <a:lnSpc>
                <a:spcPct val="98000"/>
              </a:lnSpc>
              <a:spcBef>
                <a:spcPts val="0"/>
              </a:spcBef>
              <a:spcAft>
                <a:spcPts val="0"/>
              </a:spcAft>
            </a:pPr>
            <a:r>
              <a:rPr sz="855" b="0">
                <a:solidFill>
                  <a:srgbClr val="667085"/>
                </a:solidFill>
                <a:latin typeface="Aptos Mono"/>
              </a:rPr>
              <a:t>  </a:t>
            </a:r>
            <a:r>
              <a:rPr sz="855" b="1">
                <a:solidFill>
                  <a:srgbClr val="1D4ED8"/>
                </a:solidFill>
                <a:latin typeface="Aptos Mono"/>
              </a:rPr>
              <a:t>"base_commit"</a:t>
            </a:r>
            <a:r>
              <a:rPr sz="855" b="0">
                <a:solidFill>
                  <a:srgbClr val="667085"/>
                </a:solidFill>
                <a:latin typeface="Aptos Mono"/>
              </a:rPr>
              <a:t>: </a:t>
            </a:r>
            <a:r>
              <a:rPr sz="855" b="0">
                <a:solidFill>
                  <a:srgbClr val="172033"/>
                </a:solidFill>
                <a:latin typeface="Aptos Mono"/>
              </a:rPr>
              <a:t>"...",</a:t>
            </a:r>
          </a:p>
          <a:p>
            <a:pPr>
              <a:lnSpc>
                <a:spcPct val="98000"/>
              </a:lnSpc>
              <a:spcBef>
                <a:spcPts val="0"/>
              </a:spcBef>
              <a:spcAft>
                <a:spcPts val="0"/>
              </a:spcAft>
            </a:pPr>
            <a:r>
              <a:rPr sz="855" b="0">
                <a:solidFill>
                  <a:srgbClr val="667085"/>
                </a:solidFill>
                <a:latin typeface="Aptos Mono"/>
              </a:rPr>
              <a:t>  </a:t>
            </a:r>
            <a:r>
              <a:rPr sz="855" b="1">
                <a:solidFill>
                  <a:srgbClr val="1D4ED8"/>
                </a:solidFill>
                <a:latin typeface="Aptos Mono"/>
              </a:rPr>
              <a:t>"problem_statement"</a:t>
            </a:r>
            <a:r>
              <a:rPr sz="855" b="0">
                <a:solidFill>
                  <a:srgbClr val="667085"/>
                </a:solidFill>
                <a:latin typeface="Aptos Mono"/>
              </a:rPr>
              <a:t>: </a:t>
            </a:r>
            <a:r>
              <a:rPr sz="855" b="0">
                <a:solidFill>
                  <a:srgbClr val="172033"/>
                </a:solidFill>
                <a:latin typeface="Aptos Mono"/>
              </a:rPr>
              <a:t>"...",</a:t>
            </a:r>
          </a:p>
          <a:p>
            <a:pPr>
              <a:lnSpc>
                <a:spcPct val="98000"/>
              </a:lnSpc>
              <a:spcBef>
                <a:spcPts val="0"/>
              </a:spcBef>
              <a:spcAft>
                <a:spcPts val="0"/>
              </a:spcAft>
            </a:pPr>
            <a:r>
              <a:rPr sz="855" b="0">
                <a:solidFill>
                  <a:srgbClr val="667085"/>
                </a:solidFill>
                <a:latin typeface="Aptos Mono"/>
              </a:rPr>
              <a:t>  </a:t>
            </a:r>
            <a:r>
              <a:rPr sz="855" b="1">
                <a:solidFill>
                  <a:srgbClr val="1D4ED8"/>
                </a:solidFill>
                <a:latin typeface="Aptos Mono"/>
              </a:rPr>
              <a:t>"requirements"</a:t>
            </a:r>
            <a:r>
              <a:rPr sz="855" b="0">
                <a:solidFill>
                  <a:srgbClr val="667085"/>
                </a:solidFill>
                <a:latin typeface="Aptos Mono"/>
              </a:rPr>
              <a:t>: </a:t>
            </a:r>
            <a:r>
              <a:rPr sz="855" b="0">
                <a:solidFill>
                  <a:srgbClr val="172033"/>
                </a:solidFill>
                <a:latin typeface="Aptos Mono"/>
              </a:rPr>
              <a:t>"...",</a:t>
            </a:r>
          </a:p>
          <a:p>
            <a:pPr>
              <a:lnSpc>
                <a:spcPct val="98000"/>
              </a:lnSpc>
              <a:spcBef>
                <a:spcPts val="0"/>
              </a:spcBef>
              <a:spcAft>
                <a:spcPts val="0"/>
              </a:spcAft>
            </a:pPr>
            <a:r>
              <a:rPr sz="855" b="0">
                <a:solidFill>
                  <a:srgbClr val="667085"/>
                </a:solidFill>
                <a:latin typeface="Aptos Mono"/>
              </a:rPr>
              <a:t>  </a:t>
            </a:r>
            <a:r>
              <a:rPr sz="855" b="1">
                <a:solidFill>
                  <a:srgbClr val="1D4ED8"/>
                </a:solidFill>
                <a:latin typeface="Aptos Mono"/>
              </a:rPr>
              <a:t>"selected_test_files_to_run"</a:t>
            </a:r>
            <a:r>
              <a:rPr sz="855" b="0">
                <a:solidFill>
                  <a:srgbClr val="667085"/>
                </a:solidFill>
                <a:latin typeface="Aptos Mono"/>
              </a:rPr>
              <a:t>: </a:t>
            </a:r>
            <a:r>
              <a:rPr sz="855" b="0">
                <a:solidFill>
                  <a:srgbClr val="667085"/>
                </a:solidFill>
                <a:latin typeface="Aptos Mono"/>
              </a:rPr>
              <a:t>[</a:t>
            </a:r>
          </a:p>
          <a:p>
            <a:pPr>
              <a:lnSpc>
                <a:spcPct val="98000"/>
              </a:lnSpc>
              <a:spcBef>
                <a:spcPts val="0"/>
              </a:spcBef>
              <a:spcAft>
                <a:spcPts val="0"/>
              </a:spcAft>
            </a:pPr>
            <a:r>
              <a:rPr sz="855" b="0">
                <a:solidFill>
                  <a:srgbClr val="172033"/>
                </a:solidFill>
                <a:latin typeface="Aptos Mono"/>
              </a:rPr>
              <a:t>    "test/database.js",</a:t>
            </a:r>
          </a:p>
          <a:p>
            <a:pPr>
              <a:lnSpc>
                <a:spcPct val="98000"/>
              </a:lnSpc>
              <a:spcBef>
                <a:spcPts val="0"/>
              </a:spcBef>
              <a:spcAft>
                <a:spcPts val="0"/>
              </a:spcAft>
            </a:pPr>
            <a:r>
              <a:rPr sz="855" b="0">
                <a:solidFill>
                  <a:srgbClr val="172033"/>
                </a:solidFill>
                <a:latin typeface="Aptos Mono"/>
              </a:rPr>
              <a:t>    "test/database/keys.js",</a:t>
            </a:r>
          </a:p>
          <a:p>
            <a:pPr>
              <a:lnSpc>
                <a:spcPct val="98000"/>
              </a:lnSpc>
              <a:spcBef>
                <a:spcPts val="0"/>
              </a:spcBef>
              <a:spcAft>
                <a:spcPts val="0"/>
              </a:spcAft>
            </a:pPr>
            <a:r>
              <a:rPr sz="855" b="0">
                <a:solidFill>
                  <a:srgbClr val="172033"/>
                </a:solidFill>
                <a:latin typeface="Aptos Mono"/>
              </a:rPr>
              <a:t>    "test/user/emails.js"</a:t>
            </a:r>
          </a:p>
          <a:p>
            <a:pPr>
              <a:lnSpc>
                <a:spcPct val="98000"/>
              </a:lnSpc>
              <a:spcBef>
                <a:spcPts val="0"/>
              </a:spcBef>
              <a:spcAft>
                <a:spcPts val="0"/>
              </a:spcAft>
            </a:pPr>
            <a:r>
              <a:rPr sz="855" b="0">
                <a:solidFill>
                  <a:srgbClr val="667085"/>
                </a:solidFill>
                <a:latin typeface="Aptos Mono"/>
              </a:rPr>
              <a:t>  ],</a:t>
            </a:r>
          </a:p>
          <a:p>
            <a:pPr>
              <a:lnSpc>
                <a:spcPct val="98000"/>
              </a:lnSpc>
              <a:spcBef>
                <a:spcPts val="0"/>
              </a:spcBef>
              <a:spcAft>
                <a:spcPts val="0"/>
              </a:spcAft>
            </a:pPr>
            <a:r>
              <a:rPr sz="855" b="0">
                <a:solidFill>
                  <a:srgbClr val="667085"/>
                </a:solidFill>
                <a:latin typeface="Aptos Mono"/>
              </a:rPr>
              <a:t>  </a:t>
            </a:r>
            <a:r>
              <a:rPr sz="855" b="1">
                <a:solidFill>
                  <a:srgbClr val="1D4ED8"/>
                </a:solidFill>
                <a:latin typeface="Aptos Mono"/>
              </a:rPr>
              <a:t>"workspace_path"</a:t>
            </a:r>
            <a:r>
              <a:rPr sz="855" b="0">
                <a:solidFill>
                  <a:srgbClr val="667085"/>
                </a:solidFill>
                <a:latin typeface="Aptos Mono"/>
              </a:rPr>
              <a:t>: </a:t>
            </a:r>
            <a:r>
              <a:rPr sz="855" b="0">
                <a:solidFill>
                  <a:srgbClr val="172033"/>
                </a:solidFill>
                <a:latin typeface="Aptos Mono"/>
              </a:rPr>
              <a:t>"..."</a:t>
            </a:r>
          </a:p>
          <a:p>
            <a:pPr>
              <a:lnSpc>
                <a:spcPct val="98000"/>
              </a:lnSpc>
              <a:spcBef>
                <a:spcPts val="0"/>
              </a:spcBef>
              <a:spcAft>
                <a:spcPts val="0"/>
              </a:spcAft>
            </a:pPr>
            <a:r>
              <a:rPr sz="855" b="0">
                <a:solidFill>
                  <a:srgbClr val="667085"/>
                </a:solidFill>
                <a:latin typeface="Aptos Mono"/>
              </a:rPr>
              <a:t>}</a:t>
            </a:r>
          </a:p>
        </p:txBody>
      </p:sp>
      <p:sp xmlns:a="http://schemas.openxmlformats.org/drawingml/2006/main">
        <p:nvSpPr>
          <p:cNvPr id="38" name="Rectangle 37"/>
          <p:cNvSpPr/>
          <p:nvPr/>
        </p:nvSpPr>
        <p:spPr>
          <a:xfrm>
            <a:off x="6362700" y="2857500"/>
            <a:ext cx="5219700" cy="2914650"/>
          </a:xfrm>
          <a:prstGeom prst="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ectangle 38"/>
          <p:cNvSpPr/>
          <p:nvPr/>
        </p:nvSpPr>
        <p:spPr>
          <a:xfrm>
            <a:off x="6362700" y="2857500"/>
            <a:ext cx="5219700" cy="400050"/>
          </a:xfrm>
          <a:prstGeom prst="rect">
            <a:avLst/>
          </a:prstGeom>
          <a:solidFill>
            <a:srgbClr val="E9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6534150" y="2962275"/>
            <a:ext cx="4876800" cy="190500"/>
          </a:xfrm>
          <a:prstGeom prst="rect">
            <a:avLst/>
          </a:prstGeom>
          <a:noFill/>
        </p:spPr>
        <p:txBody>
          <a:bodyPr wrap="square" lIns="0" rIns="0" tIns="0" bIns="0" anchor="t">
            <a:spAutoFit/>
          </a:bodyPr>
          <a:lstStyle/>
          <a:p>
            <a:pPr algn="l"/>
            <a:r>
              <a:rPr sz="1320" b="1">
                <a:solidFill>
                  <a:srgbClr val="101820"/>
                </a:solidFill>
                <a:latin typeface="Aptos"/>
              </a:rPr>
              <a:t>After - actual prompt field, lightly truncated</a:t>
            </a:r>
          </a:p>
        </p:txBody>
      </p:sp>
      <p:sp xmlns:a="http://schemas.openxmlformats.org/drawingml/2006/main">
        <p:nvSpPr>
          <p:cNvPr id="41" name="TextBox 40"/>
          <p:cNvSpPr txBox="1"/>
          <p:nvPr/>
        </p:nvSpPr>
        <p:spPr>
          <a:xfrm>
            <a:off x="6534150" y="3409950"/>
            <a:ext cx="4876800" cy="2247900"/>
          </a:xfrm>
          <a:prstGeom prst="rect">
            <a:avLst/>
          </a:prstGeom>
          <a:noFill/>
        </p:spPr>
        <p:txBody>
          <a:bodyPr wrap="none" lIns="0" rIns="0" tIns="0" bIns="0" anchor="t">
            <a:spAutoFit/>
          </a:bodyPr>
          <a:lstStyle/>
          <a:p>
            <a:pPr>
              <a:lnSpc>
                <a:spcPct val="98000"/>
              </a:lnSpc>
              <a:spcBef>
                <a:spcPts val="0"/>
              </a:spcBef>
              <a:spcAft>
                <a:spcPts val="0"/>
              </a:spcAft>
            </a:pPr>
            <a:r>
              <a:rPr sz="835" b="0">
                <a:solidFill>
                  <a:srgbClr val="667085"/>
                </a:solidFill>
                <a:latin typeface="Aptos Mono"/>
              </a:rPr>
              <a:t>{</a:t>
            </a:r>
          </a:p>
          <a:p>
            <a:pPr>
              <a:lnSpc>
                <a:spcPct val="98000"/>
              </a:lnSpc>
              <a:spcBef>
                <a:spcPts val="0"/>
              </a:spcBef>
              <a:spcAft>
                <a:spcPts val="0"/>
              </a:spcAft>
            </a:pPr>
            <a:r>
              <a:rPr sz="835" b="0">
                <a:solidFill>
                  <a:srgbClr val="667085"/>
                </a:solidFill>
                <a:latin typeface="Aptos Mono"/>
              </a:rPr>
              <a:t>  </a:t>
            </a:r>
            <a:r>
              <a:rPr sz="835" b="1">
                <a:solidFill>
                  <a:srgbClr val="1D4ED8"/>
                </a:solidFill>
                <a:latin typeface="Aptos Mono"/>
              </a:rPr>
              <a:t>"prompt"</a:t>
            </a:r>
            <a:r>
              <a:rPr sz="835" b="0">
                <a:solidFill>
                  <a:srgbClr val="667085"/>
                </a:solidFill>
                <a:latin typeface="Aptos Mono"/>
              </a:rPr>
              <a:t>: "</a:t>
            </a:r>
            <a:r>
              <a:rPr sz="835" b="0">
                <a:solidFill>
                  <a:srgbClr val="172033"/>
                </a:solidFill>
                <a:latin typeface="Aptos Mono"/>
              </a:rPr>
              <a:t>You are working on one SWE-bench Pro software</a:t>
            </a:r>
          </a:p>
          <a:p>
            <a:pPr>
              <a:lnSpc>
                <a:spcPct val="98000"/>
              </a:lnSpc>
              <a:spcBef>
                <a:spcPts val="0"/>
              </a:spcBef>
              <a:spcAft>
                <a:spcPts val="0"/>
              </a:spcAft>
            </a:pPr>
            <a:r>
              <a:rPr sz="835" b="0">
                <a:solidFill>
                  <a:srgbClr val="172033"/>
                </a:solidFill>
                <a:latin typeface="Aptos Mono"/>
              </a:rPr>
              <a:t>            engineering task.\n\nTask metadata:\n-</a:t>
            </a:r>
          </a:p>
          <a:p>
            <a:pPr>
              <a:lnSpc>
                <a:spcPct val="98000"/>
              </a:lnSpc>
              <a:spcBef>
                <a:spcPts val="0"/>
              </a:spcBef>
              <a:spcAft>
                <a:spcPts val="0"/>
              </a:spcAft>
            </a:pPr>
            <a:r>
              <a:rPr sz="835" b="0">
                <a:solidFill>
                  <a:srgbClr val="172033"/>
                </a:solidFill>
                <a:latin typeface="Aptos Mono"/>
              </a:rPr>
              <a:t>            instance_id:</a:t>
            </a:r>
          </a:p>
          <a:p>
            <a:pPr>
              <a:lnSpc>
                <a:spcPct val="98000"/>
              </a:lnSpc>
              <a:spcBef>
                <a:spcPts val="0"/>
              </a:spcBef>
              <a:spcAft>
                <a:spcPts val="0"/>
              </a:spcAft>
            </a:pPr>
            <a:r>
              <a:rPr sz="835" b="0">
                <a:solidFill>
                  <a:srgbClr val="172033"/>
                </a:solidFill>
                <a:latin typeface="Aptos Mono"/>
              </a:rPr>
              <a:t>            instance_NodeBB__NodeBB-04998908ba6721d64eba79ae3b65a351dcfbc5b5-vnan\n-</a:t>
            </a:r>
          </a:p>
          <a:p>
            <a:pPr>
              <a:lnSpc>
                <a:spcPct val="98000"/>
              </a:lnSpc>
              <a:spcBef>
                <a:spcPts val="0"/>
              </a:spcBef>
              <a:spcAft>
                <a:spcPts val="0"/>
              </a:spcAft>
            </a:pPr>
            <a:r>
              <a:rPr sz="835" b="0">
                <a:solidFill>
                  <a:srgbClr val="172033"/>
                </a:solidFill>
                <a:latin typeface="Aptos Mono"/>
              </a:rPr>
              <a:t>            repo: NodeBB/NodeBB\n\nProblem</a:t>
            </a:r>
          </a:p>
          <a:p>
            <a:pPr>
              <a:lnSpc>
                <a:spcPct val="98000"/>
              </a:lnSpc>
              <a:spcBef>
                <a:spcPts val="0"/>
              </a:spcBef>
              <a:spcAft>
                <a:spcPts val="0"/>
              </a:spcAft>
            </a:pPr>
            <a:r>
              <a:rPr sz="835" b="0">
                <a:solidFill>
                  <a:srgbClr val="172033"/>
                </a:solidFill>
                <a:latin typeface="Aptos Mono"/>
              </a:rPr>
              <a:t>            statement:\n**Title: Email Validation Status Not</a:t>
            </a:r>
          </a:p>
          <a:p>
            <a:pPr>
              <a:lnSpc>
                <a:spcPct val="98000"/>
              </a:lnSpc>
              <a:spcBef>
                <a:spcPts val="0"/>
              </a:spcBef>
              <a:spcAft>
                <a:spcPts val="0"/>
              </a:spcAft>
            </a:pPr>
            <a:r>
              <a:rPr sz="835" b="0">
                <a:solidFill>
                  <a:srgbClr val="172033"/>
                </a:solidFill>
                <a:latin typeface="Aptos Mono"/>
              </a:rPr>
              <a:t>            Handled Correctly in ACP and Confirmation</a:t>
            </a:r>
          </a:p>
          <a:p>
            <a:pPr>
              <a:lnSpc>
                <a:spcPct val="98000"/>
              </a:lnSpc>
              <a:spcBef>
                <a:spcPts val="0"/>
              </a:spcBef>
              <a:spcAft>
                <a:spcPts val="0"/>
              </a:spcAft>
            </a:pPr>
            <a:r>
              <a:rPr sz="835" b="0">
                <a:solidFill>
                  <a:srgbClr val="172033"/>
                </a:solidFill>
                <a:latin typeface="Aptos Mono"/>
              </a:rPr>
              <a:t>            Logic**\n\n**Description:**\n...</a:t>
            </a:r>
            <a:r>
              <a:rPr sz="835" b="0">
                <a:solidFill>
                  <a:srgbClr val="667085"/>
                </a:solidFill>
                <a:latin typeface="Aptos Mono"/>
              </a:rPr>
              <a:t>"</a:t>
            </a:r>
          </a:p>
          <a:p>
            <a:pPr>
              <a:lnSpc>
                <a:spcPct val="98000"/>
              </a:lnSpc>
              <a:spcBef>
                <a:spcPts val="0"/>
              </a:spcBef>
              <a:spcAft>
                <a:spcPts val="0"/>
              </a:spcAft>
            </a:pPr>
            <a:r>
              <a:rPr sz="835" b="0">
                <a:solidFill>
                  <a:srgbClr val="667085"/>
                </a:solidFill>
                <a:latin typeface="Aptos Mono"/>
              </a:rPr>
              <a:t>}</a:t>
            </a:r>
          </a:p>
        </p:txBody>
      </p:sp>
      <p:sp xmlns:a="http://schemas.openxmlformats.org/drawingml/2006/main">
        <p:nvSpPr>
          <p:cNvPr id="42" name="TextBox 41"/>
          <p:cNvSpPr txBox="1"/>
          <p:nvPr/>
        </p:nvSpPr>
        <p:spPr>
          <a:xfrm>
            <a:off x="609600" y="5810250"/>
            <a:ext cx="9906000" cy="323850"/>
          </a:xfrm>
          <a:prstGeom prst="rect">
            <a:avLst/>
          </a:prstGeom>
          <a:noFill/>
        </p:spPr>
        <p:txBody>
          <a:bodyPr wrap="square" lIns="0" rIns="0" tIns="0" bIns="0" anchor="t">
            <a:spAutoFit/>
          </a:bodyPr>
          <a:lstStyle/>
          <a:p>
            <a:pPr algn="l"/>
            <a:r>
              <a:rPr sz="1550" b="0">
                <a:solidFill>
                  <a:srgbClr val="334155"/>
                </a:solidFill>
                <a:latin typeface="Aptos"/>
              </a:rPr>
              <a:t>Prompt grew here | user_prompt_lines=114 | user_prompt_chars=6906 | next two slides show the actual prompt field contents.</a:t>
            </a:r>
          </a:p>
        </p:txBody>
      </p:sp>
      <p:sp xmlns:a="http://schemas.openxmlformats.org/drawingml/2006/main">
        <p:nvSpPr>
          <p:cNvPr id="43" name="Rectangle 42"/>
          <p:cNvSpPr/>
          <p:nvPr/>
        </p:nvSpPr>
        <p:spPr>
          <a:xfrm>
            <a:off x="609600" y="6324600"/>
            <a:ext cx="10972800" cy="9525"/>
          </a:xfrm>
          <a:prstGeom prst="rect">
            <a:avLst/>
          </a:prstGeom>
          <a:solidFill>
            <a:srgbClr val="D7D1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TextBox 43"/>
          <p:cNvSpPr txBox="1"/>
          <p:nvPr/>
        </p:nvSpPr>
        <p:spPr>
          <a:xfrm>
            <a:off x="609600" y="6477000"/>
            <a:ext cx="3238500" cy="171450"/>
          </a:xfrm>
          <a:prstGeom prst="rect">
            <a:avLst/>
          </a:prstGeom>
          <a:noFill/>
        </p:spPr>
        <p:txBody>
          <a:bodyPr wrap="square" lIns="0" rIns="0" tIns="0" bIns="0" anchor="t">
            <a:spAutoFit/>
          </a:bodyPr>
          <a:lstStyle/>
          <a:p>
            <a:pPr algn="l"/>
            <a:r>
              <a:rPr sz="1100" b="1">
                <a:solidFill>
                  <a:srgbClr val="667085"/>
                </a:solidFill>
                <a:latin typeface="Aptos"/>
              </a:rPr>
              <a:t>PROMPT EVOLUTION</a:t>
            </a:r>
          </a:p>
        </p:txBody>
      </p:sp>
      <p:sp xmlns:a="http://schemas.openxmlformats.org/drawingml/2006/main">
        <p:nvSpPr>
          <p:cNvPr id="45" name="TextBox 44"/>
          <p:cNvSpPr txBox="1"/>
          <p:nvPr/>
        </p:nvSpPr>
        <p:spPr>
          <a:xfrm>
            <a:off x="11087100" y="6477000"/>
            <a:ext cx="495300" cy="171450"/>
          </a:xfrm>
          <a:prstGeom prst="rect">
            <a:avLst/>
          </a:prstGeom>
          <a:noFill/>
        </p:spPr>
        <p:txBody>
          <a:bodyPr wrap="square" lIns="0" rIns="0" tIns="0" bIns="0" anchor="t">
            <a:spAutoFit/>
          </a:bodyPr>
          <a:lstStyle/>
          <a:p>
            <a:pPr algn="r"/>
            <a:r>
              <a:rPr sz="1100" b="0">
                <a:solidFill>
                  <a:srgbClr val="667085"/>
                </a:solidFill>
                <a:latin typeface="Aptos Mono"/>
              </a:rPr>
              <a:t>06</a:t>
            </a:r>
          </a:p>
        </p:txBody>
      </p:sp>
    </p:spTree>
    <p:extLst>
      <p:ext uri="{BB962C8B-B14F-4D97-AF65-F5344CB8AC3E}">
        <p14:creationId xmlns:p14="http://schemas.microsoft.com/office/powerpoint/2010/main" val="2031228134"/>
      </p:ext>
    </p:extLst>
  </p:cSld>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00050" y="476250"/>
            <a:ext cx="76200" cy="20955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0550" y="466725"/>
            <a:ext cx="4953000" cy="171450"/>
          </a:xfrm>
          <a:prstGeom prst="rect">
            <a:avLst/>
          </a:prstGeom>
          <a:noFill/>
        </p:spPr>
        <p:txBody>
          <a:bodyPr wrap="square" lIns="0" rIns="0" tIns="0" bIns="0" anchor="t">
            <a:spAutoFit/>
          </a:bodyPr>
          <a:lstStyle/>
          <a:p>
            <a:pPr algn="l"/>
            <a:r>
              <a:rPr sz="1200" b="1">
                <a:solidFill>
                  <a:srgbClr val="667085"/>
                </a:solidFill>
                <a:latin typeface="Aptos"/>
              </a:rPr>
              <a:t>PROMPT FIELD (1 OF 2)</a:t>
            </a:r>
          </a:p>
        </p:txBody>
      </p:sp>
      <p:sp>
        <p:nvSpPr>
          <p:cNvPr id="5" name="TextBox 4"/>
          <p:cNvSpPr txBox="1"/>
          <p:nvPr/>
        </p:nvSpPr>
        <p:spPr>
          <a:xfrm>
            <a:off x="400050" y="742950"/>
            <a:ext cx="9334500" cy="323850"/>
          </a:xfrm>
          <a:prstGeom prst="rect">
            <a:avLst/>
          </a:prstGeom>
          <a:noFill/>
        </p:spPr>
        <p:txBody>
          <a:bodyPr wrap="square" lIns="0" rIns="0" tIns="0" bIns="0" anchor="t">
            <a:spAutoFit/>
          </a:bodyPr>
          <a:lstStyle/>
          <a:p>
            <a:pPr algn="l"/>
            <a:r>
              <a:rPr sz="2800" b="1">
                <a:solidFill>
                  <a:srgbClr val="101820"/>
                </a:solidFill>
                <a:latin typeface="Aptos Display"/>
              </a:rPr>
              <a:t>What the JSON prompt value contains</a:t>
            </a:r>
          </a:p>
        </p:txBody>
      </p:sp>
      <p:sp>
        <p:nvSpPr>
          <p:cNvPr id="6" name="Rounded Rectangle 5"/>
          <p:cNvSpPr/>
          <p:nvPr/>
        </p:nvSpPr>
        <p:spPr>
          <a:xfrm>
            <a:off x="228600" y="1123950"/>
            <a:ext cx="11734800" cy="5143500"/>
          </a:xfrm>
          <a:prstGeom prst="roundRect">
            <a:avLst>
              <a:gd name="adj" fmla="val 8000"/>
            </a:avLst>
          </a:prstGeom>
          <a:solidFill>
            <a:srgbClr val="F5F8FF"/>
          </a:solidFill>
          <a:ln w="2413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8600" y="1123950"/>
            <a:ext cx="11734800" cy="9525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6250" y="1314450"/>
            <a:ext cx="1905000" cy="133350"/>
          </a:xfrm>
          <a:prstGeom prst="rect">
            <a:avLst/>
          </a:prstGeom>
          <a:noFill/>
        </p:spPr>
        <p:txBody>
          <a:bodyPr wrap="square" lIns="0" rIns="0" tIns="0" bIns="0" anchor="t">
            <a:spAutoFit/>
          </a:bodyPr>
          <a:lstStyle/>
          <a:p>
            <a:pPr algn="l"/>
            <a:r>
              <a:rPr sz="980" b="1">
                <a:solidFill>
                  <a:srgbClr val="667085"/>
                </a:solidFill>
                <a:latin typeface="Aptos"/>
              </a:rPr>
              <a:t>actual prompt field value</a:t>
            </a:r>
          </a:p>
        </p:txBody>
      </p:sp>
      <p:sp>
        <p:nvSpPr>
          <p:cNvPr id="9" name="TextBox 8"/>
          <p:cNvSpPr txBox="1"/>
          <p:nvPr/>
        </p:nvSpPr>
        <p:spPr>
          <a:xfrm>
            <a:off x="10287000" y="1314450"/>
            <a:ext cx="1390650" cy="133350"/>
          </a:xfrm>
          <a:prstGeom prst="rect">
            <a:avLst/>
          </a:prstGeom>
          <a:noFill/>
        </p:spPr>
        <p:txBody>
          <a:bodyPr wrap="square" lIns="0" rIns="0" tIns="0" bIns="0" anchor="t">
            <a:spAutoFit/>
          </a:bodyPr>
          <a:lstStyle/>
          <a:p>
            <a:pPr algn="r"/>
            <a:r>
              <a:rPr sz="980" b="1">
                <a:solidFill>
                  <a:srgbClr val="667085"/>
                </a:solidFill>
                <a:latin typeface="Aptos"/>
              </a:rPr>
              <a:t>latest NodeBB task</a:t>
            </a:r>
          </a:p>
        </p:txBody>
      </p:sp>
      <p:sp>
        <p:nvSpPr>
          <p:cNvPr id="10" name="Rectangle 9"/>
          <p:cNvSpPr/>
          <p:nvPr/>
        </p:nvSpPr>
        <p:spPr>
          <a:xfrm>
            <a:off x="381000" y="1524000"/>
            <a:ext cx="11430000" cy="4629150"/>
          </a:xfrm>
          <a:prstGeom prst="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600" y="1733550"/>
            <a:ext cx="228600" cy="152400"/>
          </a:xfrm>
          <a:prstGeom prst="rect">
            <a:avLst/>
          </a:prstGeom>
          <a:noFill/>
        </p:spPr>
        <p:txBody>
          <a:bodyPr wrap="square" lIns="0" rIns="0" tIns="0" bIns="0" anchor="t">
            <a:spAutoFit/>
          </a:bodyPr>
          <a:lstStyle/>
          <a:p>
            <a:pPr algn="l"/>
            <a:r>
              <a:rPr sz="1300" b="0">
                <a:solidFill>
                  <a:srgbClr val="667085"/>
                </a:solidFill>
                <a:latin typeface="Aptos Mono"/>
              </a:rPr>
              <a:t>{</a:t>
            </a:r>
          </a:p>
        </p:txBody>
      </p:sp>
      <p:sp>
        <p:nvSpPr>
          <p:cNvPr id="12" name="TextBox 11"/>
          <p:cNvSpPr txBox="1"/>
          <p:nvPr/>
        </p:nvSpPr>
        <p:spPr>
          <a:xfrm>
            <a:off x="609600" y="1943100"/>
            <a:ext cx="1143000" cy="152400"/>
          </a:xfrm>
          <a:prstGeom prst="rect">
            <a:avLst/>
          </a:prstGeom>
          <a:noFill/>
        </p:spPr>
        <p:txBody>
          <a:bodyPr wrap="square" lIns="0" rIns="0" tIns="0" bIns="0" anchor="t">
            <a:spAutoFit/>
          </a:bodyPr>
          <a:lstStyle/>
          <a:p>
            <a:pPr algn="l"/>
            <a:r>
              <a:rPr sz="1220" b="1">
                <a:solidFill>
                  <a:srgbClr val="1D4ED8"/>
                </a:solidFill>
                <a:latin typeface="Aptos Mono"/>
              </a:rPr>
              <a:t>  "prompt": "</a:t>
            </a:r>
          </a:p>
        </p:txBody>
      </p:sp>
      <p:sp>
        <p:nvSpPr>
          <p:cNvPr id="13" name="TextBox 12"/>
          <p:cNvSpPr txBox="1"/>
          <p:nvPr/>
        </p:nvSpPr>
        <p:spPr>
          <a:xfrm>
            <a:off x="1790700" y="1943100"/>
            <a:ext cx="9334500" cy="152400"/>
          </a:xfrm>
          <a:prstGeom prst="rect">
            <a:avLst/>
          </a:prstGeom>
          <a:noFill/>
        </p:spPr>
        <p:txBody>
          <a:bodyPr wrap="square" lIns="0" rIns="0" tIns="0" bIns="0" anchor="t">
            <a:spAutoFit/>
          </a:bodyPr>
          <a:lstStyle/>
          <a:p>
            <a:pPr algn="l"/>
            <a:r>
              <a:rPr sz="1220" b="0">
                <a:solidFill>
                  <a:srgbClr val="172033"/>
                </a:solidFill>
                <a:latin typeface="Aptos Mono"/>
              </a:rPr>
              <a:t>You are working on one SWE-bench Pro software engineering task.</a:t>
            </a:r>
          </a:p>
        </p:txBody>
      </p:sp>
      <p:sp>
        <p:nvSpPr>
          <p:cNvPr id="14" name="Rectangle 13"/>
          <p:cNvSpPr/>
          <p:nvPr/>
        </p:nvSpPr>
        <p:spPr>
          <a:xfrm>
            <a:off x="609600" y="2228850"/>
            <a:ext cx="10744200" cy="9525"/>
          </a:xfrm>
          <a:prstGeom prst="rect">
            <a:avLst/>
          </a:prstGeom>
          <a:solidFill>
            <a:srgbClr val="D9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9600" y="2381250"/>
            <a:ext cx="2400300" cy="876300"/>
          </a:xfrm>
          <a:prstGeom prst="rect">
            <a:avLst/>
          </a:prstGeom>
          <a:solidFill>
            <a:srgbClr val="FFFFFF"/>
          </a:solidFill>
          <a:ln w="1651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9600" y="2381250"/>
            <a:ext cx="2400300" cy="5715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2950" y="2495550"/>
            <a:ext cx="2133600" cy="152400"/>
          </a:xfrm>
          <a:prstGeom prst="rect">
            <a:avLst/>
          </a:prstGeom>
          <a:noFill/>
        </p:spPr>
        <p:txBody>
          <a:bodyPr wrap="square" lIns="0" rIns="0" tIns="0" bIns="0" anchor="t">
            <a:spAutoFit/>
          </a:bodyPr>
          <a:lstStyle/>
          <a:p>
            <a:pPr algn="l"/>
            <a:r>
              <a:rPr sz="1100" b="1">
                <a:solidFill>
                  <a:srgbClr val="1D4ED8"/>
                </a:solidFill>
                <a:latin typeface="Aptos"/>
              </a:rPr>
              <a:t>Task metadata</a:t>
            </a:r>
          </a:p>
        </p:txBody>
      </p:sp>
      <p:sp>
        <p:nvSpPr>
          <p:cNvPr id="18" name="TextBox 17"/>
          <p:cNvSpPr txBox="1"/>
          <p:nvPr/>
        </p:nvSpPr>
        <p:spPr>
          <a:xfrm>
            <a:off x="742950" y="2686050"/>
            <a:ext cx="2133600" cy="476250"/>
          </a:xfrm>
          <a:prstGeom prst="rect">
            <a:avLst/>
          </a:prstGeom>
          <a:noFill/>
        </p:spPr>
        <p:txBody>
          <a:bodyPr wrap="square" lIns="0" rIns="0" tIns="0" bIns="0" anchor="t">
            <a:spAutoFit/>
          </a:bodyPr>
          <a:lstStyle/>
          <a:p>
            <a:pPr algn="l"/>
            <a:r>
              <a:rPr sz="1080" b="0">
                <a:solidFill>
                  <a:srgbClr val="334155"/>
                </a:solidFill>
                <a:latin typeface="Aptos"/>
              </a:rPr>
              <a:t>- instance_id: instance_NodeBB__NodeBB-04998908ba6721d64eba79ae3b65a351dcfbc5b5-vnan
- repo: NodeBB/NodeBB</a:t>
            </a:r>
          </a:p>
        </p:txBody>
      </p:sp>
      <p:sp>
        <p:nvSpPr>
          <p:cNvPr id="19" name="Rectangle 18"/>
          <p:cNvSpPr/>
          <p:nvPr/>
        </p:nvSpPr>
        <p:spPr>
          <a:xfrm>
            <a:off x="3200400" y="2381250"/>
            <a:ext cx="8153400" cy="1371600"/>
          </a:xfrm>
          <a:prstGeom prst="rect">
            <a:avLst/>
          </a:prstGeom>
          <a:solidFill>
            <a:srgbClr val="FFFFFF"/>
          </a:solidFill>
          <a:ln w="1651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00400" y="2381250"/>
            <a:ext cx="8153400" cy="5715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33750" y="2495550"/>
            <a:ext cx="7886700" cy="152400"/>
          </a:xfrm>
          <a:prstGeom prst="rect">
            <a:avLst/>
          </a:prstGeom>
          <a:noFill/>
        </p:spPr>
        <p:txBody>
          <a:bodyPr wrap="square" lIns="0" rIns="0" tIns="0" bIns="0" anchor="t">
            <a:spAutoFit/>
          </a:bodyPr>
          <a:lstStyle/>
          <a:p>
            <a:pPr algn="l"/>
            <a:r>
              <a:rPr sz="1100" b="1">
                <a:solidFill>
                  <a:srgbClr val="1D4ED8"/>
                </a:solidFill>
                <a:latin typeface="Aptos"/>
              </a:rPr>
              <a:t>Problem statement</a:t>
            </a:r>
          </a:p>
        </p:txBody>
      </p:sp>
      <p:sp>
        <p:nvSpPr>
          <p:cNvPr id="22" name="TextBox 21"/>
          <p:cNvSpPr txBox="1"/>
          <p:nvPr/>
        </p:nvSpPr>
        <p:spPr>
          <a:xfrm>
            <a:off x="3333750" y="2686050"/>
            <a:ext cx="7886700" cy="971550"/>
          </a:xfrm>
          <a:prstGeom prst="rect">
            <a:avLst/>
          </a:prstGeom>
          <a:noFill/>
        </p:spPr>
        <p:txBody>
          <a:bodyPr wrap="square" lIns="0" rIns="0" tIns="0" bIns="0" anchor="t">
            <a:spAutoFit/>
          </a:bodyPr>
          <a:lstStyle/>
          <a:p>
            <a:pPr algn="l"/>
            <a:r>
              <a:rPr sz="1050" b="0">
                <a:solidFill>
                  <a:srgbClr val="334155"/>
                </a:solidFill>
                <a:latin typeface="Aptos"/>
              </a:rPr>
              <a:t>Title: Email Validation Status Not Handled Correctly in ACP and Confirmation Logic
The Admin Control Panel (ACP) does not accurately reflect the email validation status of users. Also, validation and confirmation processes rely on key expiration, which can prevent correct verification if t...</a:t>
            </a:r>
          </a:p>
        </p:txBody>
      </p:sp>
      <p:sp>
        <p:nvSpPr>
          <p:cNvPr id="23" name="Rectangle 22"/>
          <p:cNvSpPr/>
          <p:nvPr/>
        </p:nvSpPr>
        <p:spPr>
          <a:xfrm>
            <a:off x="609600" y="3924300"/>
            <a:ext cx="5219700" cy="1162050"/>
          </a:xfrm>
          <a:prstGeom prst="rect">
            <a:avLst/>
          </a:prstGeom>
          <a:solidFill>
            <a:srgbClr val="FFFFFF"/>
          </a:solidFill>
          <a:ln w="1651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9600" y="3924300"/>
            <a:ext cx="5219700" cy="5715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2950" y="4038600"/>
            <a:ext cx="4953000" cy="152400"/>
          </a:xfrm>
          <a:prstGeom prst="rect">
            <a:avLst/>
          </a:prstGeom>
          <a:noFill/>
        </p:spPr>
        <p:txBody>
          <a:bodyPr wrap="square" lIns="0" rIns="0" tIns="0" bIns="0" anchor="t">
            <a:spAutoFit/>
          </a:bodyPr>
          <a:lstStyle/>
          <a:p>
            <a:pPr algn="l"/>
            <a:r>
              <a:rPr sz="1100" b="1">
                <a:solidFill>
                  <a:srgbClr val="6D28D9"/>
                </a:solidFill>
                <a:latin typeface="Aptos"/>
              </a:rPr>
              <a:t>Expected behavior</a:t>
            </a:r>
          </a:p>
        </p:txBody>
      </p:sp>
      <p:sp>
        <p:nvSpPr>
          <p:cNvPr id="26" name="TextBox 25"/>
          <p:cNvSpPr txBox="1"/>
          <p:nvPr/>
        </p:nvSpPr>
        <p:spPr>
          <a:xfrm>
            <a:off x="742950" y="4229100"/>
            <a:ext cx="4953000" cy="762000"/>
          </a:xfrm>
          <a:prstGeom prst="rect">
            <a:avLst/>
          </a:prstGeom>
          <a:noFill/>
        </p:spPr>
        <p:txBody>
          <a:bodyPr wrap="square" lIns="0" rIns="0" tIns="0" bIns="0" anchor="t">
            <a:spAutoFit/>
          </a:bodyPr>
          <a:lstStyle/>
          <a:p>
            <a:pPr algn="l"/>
            <a:r>
              <a:rPr sz="1040" b="0">
                <a:solidFill>
                  <a:srgbClr val="334155"/>
                </a:solidFill>
                <a:latin typeface="Aptos"/>
              </a:rPr>
              <a:t>Accurate display of email status in ACP (validated, pending, expired, or missing).
Email confirmation should remain valid until it explicitly expires.
Validation actions should fallback to alternative sources to locate user emails.</a:t>
            </a:r>
          </a:p>
        </p:txBody>
      </p:sp>
      <p:sp>
        <p:nvSpPr>
          <p:cNvPr id="27" name="Rectangle 26"/>
          <p:cNvSpPr/>
          <p:nvPr/>
        </p:nvSpPr>
        <p:spPr>
          <a:xfrm>
            <a:off x="6134100" y="3924300"/>
            <a:ext cx="5219700" cy="1162050"/>
          </a:xfrm>
          <a:prstGeom prst="rect">
            <a:avLst/>
          </a:prstGeom>
          <a:solidFill>
            <a:srgbClr val="FFFFFF"/>
          </a:solidFill>
          <a:ln w="1651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34100" y="3924300"/>
            <a:ext cx="5219700" cy="57150"/>
          </a:xfrm>
          <a:prstGeom prst="rect">
            <a:avLst/>
          </a:prstGeom>
          <a:solidFill>
            <a:srgbClr val="BE1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67450" y="4038600"/>
            <a:ext cx="4953000" cy="152400"/>
          </a:xfrm>
          <a:prstGeom prst="rect">
            <a:avLst/>
          </a:prstGeom>
          <a:noFill/>
        </p:spPr>
        <p:txBody>
          <a:bodyPr wrap="square" lIns="0" rIns="0" tIns="0" bIns="0" anchor="t">
            <a:spAutoFit/>
          </a:bodyPr>
          <a:lstStyle/>
          <a:p>
            <a:pPr algn="l"/>
            <a:r>
              <a:rPr sz="1100" b="1">
                <a:solidFill>
                  <a:srgbClr val="BE123C"/>
                </a:solidFill>
                <a:latin typeface="Aptos"/>
              </a:rPr>
              <a:t>What happened instead</a:t>
            </a:r>
          </a:p>
        </p:txBody>
      </p:sp>
      <p:sp>
        <p:nvSpPr>
          <p:cNvPr id="30" name="TextBox 29"/>
          <p:cNvSpPr txBox="1"/>
          <p:nvPr/>
        </p:nvSpPr>
        <p:spPr>
          <a:xfrm>
            <a:off x="6267450" y="4229100"/>
            <a:ext cx="4953000" cy="762000"/>
          </a:xfrm>
          <a:prstGeom prst="rect">
            <a:avLst/>
          </a:prstGeom>
          <a:noFill/>
        </p:spPr>
        <p:txBody>
          <a:bodyPr wrap="square" lIns="0" rIns="0" tIns="0" bIns="0" anchor="t">
            <a:spAutoFit/>
          </a:bodyPr>
          <a:lstStyle/>
          <a:p>
            <a:pPr algn="l"/>
            <a:r>
              <a:rPr sz="1040" b="0">
                <a:solidFill>
                  <a:srgbClr val="334155"/>
                </a:solidFill>
                <a:latin typeface="Aptos"/>
              </a:rPr>
              <a:t>Expired confirmation keys prevented email validation.
The email status was unclear or incorrect in ACP.
"Validate" and "Send validation email" actions failed when the expected data was missing.</a:t>
            </a:r>
          </a:p>
        </p:txBody>
      </p:sp>
      <p:sp>
        <p:nvSpPr>
          <p:cNvPr id="31" name="TextBox 30"/>
          <p:cNvSpPr txBox="1"/>
          <p:nvPr/>
        </p:nvSpPr>
        <p:spPr>
          <a:xfrm>
            <a:off x="609600" y="5410200"/>
            <a:ext cx="457200" cy="152400"/>
          </a:xfrm>
          <a:prstGeom prst="rect">
            <a:avLst/>
          </a:prstGeom>
          <a:noFill/>
        </p:spPr>
        <p:txBody>
          <a:bodyPr wrap="square" lIns="0" rIns="0" tIns="0" bIns="0" anchor="t">
            <a:spAutoFit/>
          </a:bodyPr>
          <a:lstStyle/>
          <a:p>
            <a:pPr algn="l"/>
            <a:r>
              <a:rPr sz="1200" b="0">
                <a:solidFill>
                  <a:srgbClr val="667085"/>
                </a:solidFill>
                <a:latin typeface="Aptos Mono"/>
              </a:rPr>
              <a:t>  ..."</a:t>
            </a:r>
          </a:p>
        </p:txBody>
      </p:sp>
      <p:sp>
        <p:nvSpPr>
          <p:cNvPr id="32" name="TextBox 31"/>
          <p:cNvSpPr txBox="1"/>
          <p:nvPr/>
        </p:nvSpPr>
        <p:spPr>
          <a:xfrm>
            <a:off x="609600" y="5619750"/>
            <a:ext cx="228600" cy="152400"/>
          </a:xfrm>
          <a:prstGeom prst="rect">
            <a:avLst/>
          </a:prstGeom>
          <a:noFill/>
        </p:spPr>
        <p:txBody>
          <a:bodyPr wrap="square" lIns="0" rIns="0" tIns="0" bIns="0" anchor="t">
            <a:spAutoFit/>
          </a:bodyPr>
          <a:lstStyle/>
          <a:p>
            <a:pPr algn="l"/>
            <a:r>
              <a:rPr sz="1300" b="0">
                <a:solidFill>
                  <a:srgbClr val="667085"/>
                </a:solidFill>
                <a:latin typeface="Aptos Mono"/>
              </a:rPr>
              <a:t>}</a:t>
            </a:r>
          </a:p>
        </p:txBody>
      </p:sp>
      <p:sp>
        <p:nvSpPr>
          <p:cNvPr id="33" name="Rectangle 32"/>
          <p:cNvSpPr/>
          <p:nvPr/>
        </p:nvSpPr>
        <p:spPr>
          <a:xfrm>
            <a:off x="609600" y="6324600"/>
            <a:ext cx="10972800" cy="9525"/>
          </a:xfrm>
          <a:prstGeom prst="rect">
            <a:avLst/>
          </a:prstGeom>
          <a:solidFill>
            <a:srgbClr val="D7D1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9600" y="6477000"/>
            <a:ext cx="3238500" cy="171450"/>
          </a:xfrm>
          <a:prstGeom prst="rect">
            <a:avLst/>
          </a:prstGeom>
          <a:noFill/>
        </p:spPr>
        <p:txBody>
          <a:bodyPr wrap="square" lIns="0" rIns="0" tIns="0" bIns="0" anchor="t">
            <a:spAutoFit/>
          </a:bodyPr>
          <a:lstStyle/>
          <a:p>
            <a:pPr algn="l"/>
            <a:r>
              <a:rPr sz="1100" b="1">
                <a:solidFill>
                  <a:srgbClr val="667085"/>
                </a:solidFill>
                <a:latin typeface="Aptos"/>
              </a:rPr>
              <a:t>PROMPT EVOLUTION</a:t>
            </a:r>
          </a:p>
        </p:txBody>
      </p:sp>
      <p:sp>
        <p:nvSpPr>
          <p:cNvPr id="35" name="TextBox 34"/>
          <p:cNvSpPr txBox="1"/>
          <p:nvPr/>
        </p:nvSpPr>
        <p:spPr>
          <a:xfrm>
            <a:off x="11087100" y="6477000"/>
            <a:ext cx="495300" cy="171450"/>
          </a:xfrm>
          <a:prstGeom prst="rect">
            <a:avLst/>
          </a:prstGeom>
          <a:noFill/>
        </p:spPr>
        <p:txBody>
          <a:bodyPr wrap="square" lIns="0" rIns="0" tIns="0" bIns="0" anchor="t">
            <a:spAutoFit/>
          </a:bodyPr>
          <a:lstStyle/>
          <a:p>
            <a:pPr algn="r"/>
            <a:r>
              <a:rPr sz="1100" b="0">
                <a:solidFill>
                  <a:srgbClr val="667085"/>
                </a:solidFill>
                <a:latin typeface="Aptos Mono"/>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00050" y="476250"/>
            <a:ext cx="76200" cy="20955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0550" y="466725"/>
            <a:ext cx="4953000" cy="171450"/>
          </a:xfrm>
          <a:prstGeom prst="rect">
            <a:avLst/>
          </a:prstGeom>
          <a:noFill/>
        </p:spPr>
        <p:txBody>
          <a:bodyPr wrap="square" lIns="0" rIns="0" tIns="0" bIns="0" anchor="t">
            <a:spAutoFit/>
          </a:bodyPr>
          <a:lstStyle/>
          <a:p>
            <a:pPr algn="l"/>
            <a:r>
              <a:rPr sz="1200" b="1">
                <a:solidFill>
                  <a:srgbClr val="667085"/>
                </a:solidFill>
                <a:latin typeface="Aptos"/>
              </a:rPr>
              <a:t>PROMPT FIELD (2 OF 2)</a:t>
            </a:r>
          </a:p>
        </p:txBody>
      </p:sp>
      <p:sp>
        <p:nvSpPr>
          <p:cNvPr id="5" name="TextBox 4"/>
          <p:cNvSpPr txBox="1"/>
          <p:nvPr/>
        </p:nvSpPr>
        <p:spPr>
          <a:xfrm>
            <a:off x="400050" y="742950"/>
            <a:ext cx="9334500" cy="323850"/>
          </a:xfrm>
          <a:prstGeom prst="rect">
            <a:avLst/>
          </a:prstGeom>
          <a:noFill/>
        </p:spPr>
        <p:txBody>
          <a:bodyPr wrap="square" lIns="0" rIns="0" tIns="0" bIns="0" anchor="t">
            <a:spAutoFit/>
          </a:bodyPr>
          <a:lstStyle/>
          <a:p>
            <a:pPr algn="l"/>
            <a:r>
              <a:rPr sz="2800" b="1">
                <a:solidFill>
                  <a:srgbClr val="101820"/>
                </a:solidFill>
                <a:latin typeface="Aptos Display"/>
              </a:rPr>
              <a:t>The operational half of the same prompt value</a:t>
            </a:r>
          </a:p>
        </p:txBody>
      </p:sp>
      <p:sp>
        <p:nvSpPr>
          <p:cNvPr id="6" name="Rounded Rectangle 5"/>
          <p:cNvSpPr/>
          <p:nvPr/>
        </p:nvSpPr>
        <p:spPr>
          <a:xfrm>
            <a:off x="228600" y="1123950"/>
            <a:ext cx="11734800" cy="5143500"/>
          </a:xfrm>
          <a:prstGeom prst="roundRect">
            <a:avLst>
              <a:gd name="adj" fmla="val 8000"/>
            </a:avLst>
          </a:prstGeom>
          <a:solidFill>
            <a:srgbClr val="FAF5FF"/>
          </a:solidFill>
          <a:ln w="2413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8600" y="1123950"/>
            <a:ext cx="11734800" cy="9525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6250" y="1314450"/>
            <a:ext cx="1905000" cy="133350"/>
          </a:xfrm>
          <a:prstGeom prst="rect">
            <a:avLst/>
          </a:prstGeom>
          <a:noFill/>
        </p:spPr>
        <p:txBody>
          <a:bodyPr wrap="square" lIns="0" rIns="0" tIns="0" bIns="0" anchor="t">
            <a:spAutoFit/>
          </a:bodyPr>
          <a:lstStyle/>
          <a:p>
            <a:pPr algn="l"/>
            <a:r>
              <a:rPr sz="980" b="1">
                <a:solidFill>
                  <a:srgbClr val="667085"/>
                </a:solidFill>
                <a:latin typeface="Aptos"/>
              </a:rPr>
              <a:t>actual prompt field value</a:t>
            </a:r>
          </a:p>
        </p:txBody>
      </p:sp>
      <p:sp>
        <p:nvSpPr>
          <p:cNvPr id="9" name="TextBox 8"/>
          <p:cNvSpPr txBox="1"/>
          <p:nvPr/>
        </p:nvSpPr>
        <p:spPr>
          <a:xfrm>
            <a:off x="10363200" y="1314450"/>
            <a:ext cx="1314450" cy="133350"/>
          </a:xfrm>
          <a:prstGeom prst="rect">
            <a:avLst/>
          </a:prstGeom>
          <a:noFill/>
        </p:spPr>
        <p:txBody>
          <a:bodyPr wrap="square" lIns="0" rIns="0" tIns="0" bIns="0" anchor="t">
            <a:spAutoFit/>
          </a:bodyPr>
          <a:lstStyle/>
          <a:p>
            <a:pPr algn="r"/>
            <a:r>
              <a:rPr sz="980" b="1">
                <a:solidFill>
                  <a:srgbClr val="667085"/>
                </a:solidFill>
                <a:latin typeface="Aptos"/>
              </a:rPr>
              <a:t>same prompt value</a:t>
            </a:r>
          </a:p>
        </p:txBody>
      </p:sp>
      <p:sp>
        <p:nvSpPr>
          <p:cNvPr id="10" name="Rectangle 9"/>
          <p:cNvSpPr/>
          <p:nvPr/>
        </p:nvSpPr>
        <p:spPr>
          <a:xfrm>
            <a:off x="381000" y="1524000"/>
            <a:ext cx="11430000" cy="4629150"/>
          </a:xfrm>
          <a:prstGeom prst="rect">
            <a:avLst/>
          </a:prstGeom>
          <a:solidFill>
            <a:srgbClr val="FFFFFF"/>
          </a:solidFill>
          <a:ln w="1524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600" y="1733550"/>
            <a:ext cx="228600" cy="152400"/>
          </a:xfrm>
          <a:prstGeom prst="rect">
            <a:avLst/>
          </a:prstGeom>
          <a:noFill/>
        </p:spPr>
        <p:txBody>
          <a:bodyPr wrap="square" lIns="0" rIns="0" tIns="0" bIns="0" anchor="t">
            <a:spAutoFit/>
          </a:bodyPr>
          <a:lstStyle/>
          <a:p>
            <a:pPr algn="l"/>
            <a:r>
              <a:rPr sz="1300" b="0">
                <a:solidFill>
                  <a:srgbClr val="667085"/>
                </a:solidFill>
                <a:latin typeface="Aptos Mono"/>
              </a:rPr>
              <a:t>{</a:t>
            </a:r>
          </a:p>
        </p:txBody>
      </p:sp>
      <p:sp>
        <p:nvSpPr>
          <p:cNvPr id="12" name="TextBox 11"/>
          <p:cNvSpPr txBox="1"/>
          <p:nvPr/>
        </p:nvSpPr>
        <p:spPr>
          <a:xfrm>
            <a:off x="609600" y="1943100"/>
            <a:ext cx="1333500" cy="152400"/>
          </a:xfrm>
          <a:prstGeom prst="rect">
            <a:avLst/>
          </a:prstGeom>
          <a:noFill/>
        </p:spPr>
        <p:txBody>
          <a:bodyPr wrap="square" lIns="0" rIns="0" tIns="0" bIns="0" anchor="t">
            <a:spAutoFit/>
          </a:bodyPr>
          <a:lstStyle/>
          <a:p>
            <a:pPr algn="l"/>
            <a:r>
              <a:rPr sz="1220" b="1">
                <a:solidFill>
                  <a:srgbClr val="6D28D9"/>
                </a:solidFill>
                <a:latin typeface="Aptos Mono"/>
              </a:rPr>
              <a:t>  "prompt": "...</a:t>
            </a:r>
          </a:p>
        </p:txBody>
      </p:sp>
      <p:sp>
        <p:nvSpPr>
          <p:cNvPr id="13" name="Rectangle 12"/>
          <p:cNvSpPr/>
          <p:nvPr/>
        </p:nvSpPr>
        <p:spPr>
          <a:xfrm>
            <a:off x="609600" y="2228850"/>
            <a:ext cx="10744200" cy="9525"/>
          </a:xfrm>
          <a:prstGeom prst="rect">
            <a:avLst/>
          </a:prstGeom>
          <a:solidFill>
            <a:srgbClr val="E6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9600" y="2381250"/>
            <a:ext cx="10744200" cy="1695450"/>
          </a:xfrm>
          <a:prstGeom prst="rect">
            <a:avLst/>
          </a:prstGeom>
          <a:solidFill>
            <a:srgbClr val="FFFFFF"/>
          </a:solidFill>
          <a:ln w="1651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9600" y="2381250"/>
            <a:ext cx="10744200" cy="5715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2950" y="2495550"/>
            <a:ext cx="10477500" cy="152400"/>
          </a:xfrm>
          <a:prstGeom prst="rect">
            <a:avLst/>
          </a:prstGeom>
          <a:noFill/>
        </p:spPr>
        <p:txBody>
          <a:bodyPr wrap="square" lIns="0" rIns="0" tIns="0" bIns="0" anchor="t">
            <a:spAutoFit/>
          </a:bodyPr>
          <a:lstStyle/>
          <a:p>
            <a:pPr algn="l"/>
            <a:r>
              <a:rPr sz="1100" b="1">
                <a:solidFill>
                  <a:srgbClr val="6D28D9"/>
                </a:solidFill>
                <a:latin typeface="Aptos"/>
              </a:rPr>
              <a:t>Requirements</a:t>
            </a:r>
          </a:p>
        </p:txBody>
      </p:sp>
      <p:sp>
        <p:nvSpPr>
          <p:cNvPr id="17" name="TextBox 16"/>
          <p:cNvSpPr txBox="1"/>
          <p:nvPr/>
        </p:nvSpPr>
        <p:spPr>
          <a:xfrm>
            <a:off x="742950" y="2686050"/>
            <a:ext cx="10477500" cy="1295400"/>
          </a:xfrm>
          <a:prstGeom prst="rect">
            <a:avLst/>
          </a:prstGeom>
          <a:noFill/>
        </p:spPr>
        <p:txBody>
          <a:bodyPr wrap="square" lIns="0" rIns="0" tIns="0" bIns="0" anchor="t">
            <a:spAutoFit/>
          </a:bodyPr>
          <a:lstStyle/>
          <a:p>
            <a:pPr algn="l"/>
            <a:r>
              <a:rPr sz="1000" b="0">
                <a:solidFill>
                  <a:srgbClr val="334155"/>
                </a:solidFill>
                <a:latin typeface="Aptos"/>
              </a:rPr>
              <a:t>- The loadUserInfo(callerUid, uids) function should include logic to retrieve and attach `email:pending` and `email:expired` flags to each user object. These flags must be derived b...
</a:t>
            </a:r>
          </a:p>
        </p:txBody>
      </p:sp>
      <p:sp>
        <p:nvSpPr>
          <p:cNvPr id="18" name="Rectangle 17"/>
          <p:cNvSpPr/>
          <p:nvPr/>
        </p:nvSpPr>
        <p:spPr>
          <a:xfrm>
            <a:off x="609600" y="4248150"/>
            <a:ext cx="2781300" cy="895350"/>
          </a:xfrm>
          <a:prstGeom prst="rect">
            <a:avLst/>
          </a:prstGeom>
          <a:solidFill>
            <a:srgbClr val="FFFFFF"/>
          </a:solidFill>
          <a:ln w="1651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09600" y="4248150"/>
            <a:ext cx="2781300" cy="5715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2950" y="4362450"/>
            <a:ext cx="2514600" cy="152400"/>
          </a:xfrm>
          <a:prstGeom prst="rect">
            <a:avLst/>
          </a:prstGeom>
          <a:noFill/>
        </p:spPr>
        <p:txBody>
          <a:bodyPr wrap="square" lIns="0" rIns="0" tIns="0" bIns="0" anchor="t">
            <a:spAutoFit/>
          </a:bodyPr>
          <a:lstStyle/>
          <a:p>
            <a:pPr algn="l"/>
            <a:r>
              <a:rPr sz="1100" b="1">
                <a:solidFill>
                  <a:srgbClr val="2563EB"/>
                </a:solidFill>
                <a:latin typeface="Aptos"/>
              </a:rPr>
              <a:t>Selected tests</a:t>
            </a:r>
          </a:p>
        </p:txBody>
      </p:sp>
      <p:sp>
        <p:nvSpPr>
          <p:cNvPr id="21" name="TextBox 20"/>
          <p:cNvSpPr txBox="1"/>
          <p:nvPr/>
        </p:nvSpPr>
        <p:spPr>
          <a:xfrm>
            <a:off x="742950" y="4552950"/>
            <a:ext cx="2514600" cy="495300"/>
          </a:xfrm>
          <a:prstGeom prst="rect">
            <a:avLst/>
          </a:prstGeom>
          <a:noFill/>
        </p:spPr>
        <p:txBody>
          <a:bodyPr wrap="square" lIns="0" rIns="0" tIns="0" bIns="0" anchor="t">
            <a:spAutoFit/>
          </a:bodyPr>
          <a:lstStyle/>
          <a:p>
            <a:pPr algn="l"/>
            <a:r>
              <a:rPr sz="1040" b="0">
                <a:solidFill>
                  <a:srgbClr val="334155"/>
                </a:solidFill>
                <a:latin typeface="Aptos"/>
              </a:rPr>
              <a:t>- test/database.js
- test/database/keys.js
- test/user/emails.js</a:t>
            </a:r>
          </a:p>
        </p:txBody>
      </p:sp>
      <p:sp>
        <p:nvSpPr>
          <p:cNvPr id="22" name="Rectangle 21"/>
          <p:cNvSpPr/>
          <p:nvPr/>
        </p:nvSpPr>
        <p:spPr>
          <a:xfrm>
            <a:off x="3619500" y="4248150"/>
            <a:ext cx="3467100" cy="895350"/>
          </a:xfrm>
          <a:prstGeom prst="rect">
            <a:avLst/>
          </a:prstGeom>
          <a:solidFill>
            <a:srgbClr val="FFFFFF"/>
          </a:solidFill>
          <a:ln w="16510">
            <a:solidFill>
              <a:srgbClr val="0F9F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19500" y="4248150"/>
            <a:ext cx="3467100" cy="57150"/>
          </a:xfrm>
          <a:prstGeom prst="rect">
            <a:avLst/>
          </a:prstGeom>
          <a:solidFill>
            <a:srgbClr val="0F9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52850" y="4362450"/>
            <a:ext cx="3200400" cy="152400"/>
          </a:xfrm>
          <a:prstGeom prst="rect">
            <a:avLst/>
          </a:prstGeom>
          <a:noFill/>
        </p:spPr>
        <p:txBody>
          <a:bodyPr wrap="square" lIns="0" rIns="0" tIns="0" bIns="0" anchor="t">
            <a:spAutoFit/>
          </a:bodyPr>
          <a:lstStyle/>
          <a:p>
            <a:pPr algn="l"/>
            <a:r>
              <a:rPr sz="1100" b="1">
                <a:solidFill>
                  <a:srgbClr val="0F9F6E"/>
                </a:solidFill>
                <a:latin typeface="Aptos"/>
              </a:rPr>
              <a:t>Workspace</a:t>
            </a:r>
          </a:p>
        </p:txBody>
      </p:sp>
      <p:sp>
        <p:nvSpPr>
          <p:cNvPr id="25" name="TextBox 24"/>
          <p:cNvSpPr txBox="1"/>
          <p:nvPr/>
        </p:nvSpPr>
        <p:spPr>
          <a:xfrm>
            <a:off x="3752850" y="4552950"/>
            <a:ext cx="3200400" cy="495300"/>
          </a:xfrm>
          <a:prstGeom prst="rect">
            <a:avLst/>
          </a:prstGeom>
          <a:noFill/>
        </p:spPr>
        <p:txBody>
          <a:bodyPr wrap="square" lIns="0" rIns="0" tIns="0" bIns="0" anchor="t">
            <a:spAutoFit/>
          </a:bodyPr>
          <a:lstStyle/>
          <a:p>
            <a:pPr algn="l"/>
            <a:r>
              <a:rPr sz="1040" b="0">
                <a:solidFill>
                  <a:srgbClr val="334155"/>
                </a:solidFill>
                <a:latin typeface="Aptos"/>
              </a:rPr>
              <a:t>You have a writable local workspace at:
/home/ec2-user/kv_cache_offloading/agentbench/repos/NodeBB__NodeBB</a:t>
            </a:r>
          </a:p>
        </p:txBody>
      </p:sp>
      <p:sp>
        <p:nvSpPr>
          <p:cNvPr id="26" name="Rectangle 25"/>
          <p:cNvSpPr/>
          <p:nvPr/>
        </p:nvSpPr>
        <p:spPr>
          <a:xfrm>
            <a:off x="7315200" y="4248150"/>
            <a:ext cx="4038600" cy="1066800"/>
          </a:xfrm>
          <a:prstGeom prst="rect">
            <a:avLst/>
          </a:prstGeom>
          <a:solidFill>
            <a:srgbClr val="FFFFFF"/>
          </a:solidFill>
          <a:ln w="1651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15200" y="4248150"/>
            <a:ext cx="4038600" cy="5715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48550" y="4362450"/>
            <a:ext cx="3771900" cy="152400"/>
          </a:xfrm>
          <a:prstGeom prst="rect">
            <a:avLst/>
          </a:prstGeom>
          <a:noFill/>
        </p:spPr>
        <p:txBody>
          <a:bodyPr wrap="square" lIns="0" rIns="0" tIns="0" bIns="0" anchor="t">
            <a:spAutoFit/>
          </a:bodyPr>
          <a:lstStyle/>
          <a:p>
            <a:pPr algn="l"/>
            <a:r>
              <a:rPr sz="1100" b="1">
                <a:solidFill>
                  <a:srgbClr val="D97706"/>
                </a:solidFill>
                <a:latin typeface="Aptos"/>
              </a:rPr>
              <a:t>Expectations</a:t>
            </a:r>
          </a:p>
        </p:txBody>
      </p:sp>
      <p:sp>
        <p:nvSpPr>
          <p:cNvPr id="29" name="TextBox 28"/>
          <p:cNvSpPr txBox="1"/>
          <p:nvPr/>
        </p:nvSpPr>
        <p:spPr>
          <a:xfrm>
            <a:off x="7448550" y="4552950"/>
            <a:ext cx="3771900" cy="666750"/>
          </a:xfrm>
          <a:prstGeom prst="rect">
            <a:avLst/>
          </a:prstGeom>
          <a:noFill/>
        </p:spPr>
        <p:txBody>
          <a:bodyPr wrap="square" lIns="0" rIns="0" tIns="0" bIns="0" anchor="t">
            <a:spAutoFit/>
          </a:bodyPr>
          <a:lstStyle/>
          <a:p>
            <a:pPr algn="l"/>
            <a:r>
              <a:rPr sz="1000" b="0">
                <a:solidFill>
                  <a:srgbClr val="334155"/>
                </a:solidFill>
                <a:latin typeface="Aptos"/>
              </a:rPr>
              <a:t>- Inspect the real repo before deciding on changes.
- Use the available tools to read files, edit code, and run focused commands or tests when useful.
- Do not stop at a plan if you can make progress on the fix.
- Report only what you actually changed and actually validated.</a:t>
            </a:r>
          </a:p>
        </p:txBody>
      </p:sp>
      <p:sp>
        <p:nvSpPr>
          <p:cNvPr id="30" name="TextBox 29"/>
          <p:cNvSpPr txBox="1"/>
          <p:nvPr/>
        </p:nvSpPr>
        <p:spPr>
          <a:xfrm>
            <a:off x="609600" y="5486400"/>
            <a:ext cx="247650" cy="152400"/>
          </a:xfrm>
          <a:prstGeom prst="rect">
            <a:avLst/>
          </a:prstGeom>
          <a:noFill/>
        </p:spPr>
        <p:txBody>
          <a:bodyPr wrap="square" lIns="0" rIns="0" tIns="0" bIns="0" anchor="t">
            <a:spAutoFit/>
          </a:bodyPr>
          <a:lstStyle/>
          <a:p>
            <a:pPr algn="l"/>
            <a:r>
              <a:rPr sz="1200" b="0">
                <a:solidFill>
                  <a:srgbClr val="667085"/>
                </a:solidFill>
                <a:latin typeface="Aptos Mono"/>
              </a:rPr>
              <a:t>  "</a:t>
            </a:r>
          </a:p>
        </p:txBody>
      </p:sp>
      <p:sp>
        <p:nvSpPr>
          <p:cNvPr id="31" name="TextBox 30"/>
          <p:cNvSpPr txBox="1"/>
          <p:nvPr/>
        </p:nvSpPr>
        <p:spPr>
          <a:xfrm>
            <a:off x="609600" y="5695950"/>
            <a:ext cx="228600" cy="152400"/>
          </a:xfrm>
          <a:prstGeom prst="rect">
            <a:avLst/>
          </a:prstGeom>
          <a:noFill/>
        </p:spPr>
        <p:txBody>
          <a:bodyPr wrap="square" lIns="0" rIns="0" tIns="0" bIns="0" anchor="t">
            <a:spAutoFit/>
          </a:bodyPr>
          <a:lstStyle/>
          <a:p>
            <a:pPr algn="l"/>
            <a:r>
              <a:rPr sz="1300" b="0">
                <a:solidFill>
                  <a:srgbClr val="667085"/>
                </a:solidFill>
                <a:latin typeface="Aptos Mono"/>
              </a:rPr>
              <a:t>}</a:t>
            </a:r>
          </a:p>
        </p:txBody>
      </p:sp>
      <p:sp>
        <p:nvSpPr>
          <p:cNvPr id="32" name="Rectangle 31"/>
          <p:cNvSpPr/>
          <p:nvPr/>
        </p:nvSpPr>
        <p:spPr>
          <a:xfrm>
            <a:off x="609600" y="6324600"/>
            <a:ext cx="10972800" cy="9525"/>
          </a:xfrm>
          <a:prstGeom prst="rect">
            <a:avLst/>
          </a:prstGeom>
          <a:solidFill>
            <a:srgbClr val="D7D1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9600" y="6477000"/>
            <a:ext cx="3238500" cy="171450"/>
          </a:xfrm>
          <a:prstGeom prst="rect">
            <a:avLst/>
          </a:prstGeom>
          <a:noFill/>
        </p:spPr>
        <p:txBody>
          <a:bodyPr wrap="square" lIns="0" rIns="0" tIns="0" bIns="0" anchor="t">
            <a:spAutoFit/>
          </a:bodyPr>
          <a:lstStyle/>
          <a:p>
            <a:pPr algn="l"/>
            <a:r>
              <a:rPr sz="1100" b="1">
                <a:solidFill>
                  <a:srgbClr val="667085"/>
                </a:solidFill>
                <a:latin typeface="Aptos"/>
              </a:rPr>
              <a:t>PROMPT EVOLUTION</a:t>
            </a:r>
          </a:p>
        </p:txBody>
      </p:sp>
      <p:sp>
        <p:nvSpPr>
          <p:cNvPr id="34" name="TextBox 33"/>
          <p:cNvSpPr txBox="1"/>
          <p:nvPr/>
        </p:nvSpPr>
        <p:spPr>
          <a:xfrm>
            <a:off x="11087100" y="6477000"/>
            <a:ext cx="495300" cy="171450"/>
          </a:xfrm>
          <a:prstGeom prst="rect">
            <a:avLst/>
          </a:prstGeom>
          <a:noFill/>
        </p:spPr>
        <p:txBody>
          <a:bodyPr wrap="square" lIns="0" rIns="0" tIns="0" bIns="0" anchor="t">
            <a:spAutoFit/>
          </a:bodyPr>
          <a:lstStyle/>
          <a:p>
            <a:pPr algn="r"/>
            <a:r>
              <a:rPr sz="1100" b="0">
                <a:solidFill>
                  <a:srgbClr val="667085"/>
                </a:solidFill>
                <a:latin typeface="Aptos Mono"/>
              </a:rPr>
              <a:t>08</a:t>
            </a:r>
          </a:p>
        </p:txBody>
      </p:sp>
    </p:spTree>
  </p:cSld>
  <p:clrMapOvr>
    <a:masterClrMapping/>
  </p:clrMapOvr>
</p:sld>
</file>

<file path=ppt/slides/slide9.xml><?xml version="1.0" encoding="utf-8"?>
<p:sld xmlns:p="http://schemas.openxmlformats.org/presentationml/2006/main">
  <p:cSld>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609600" y="495300"/>
            <a:ext cx="76200" cy="22860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TextBox 3"/>
          <p:cNvSpPr txBox="1"/>
          <p:nvPr/>
        </p:nvSpPr>
        <p:spPr>
          <a:xfrm>
            <a:off x="800100" y="495300"/>
            <a:ext cx="5905500" cy="228600"/>
          </a:xfrm>
          <a:prstGeom prst="rect">
            <a:avLst/>
          </a:prstGeom>
          <a:noFill/>
        </p:spPr>
        <p:txBody>
          <a:bodyPr wrap="square" lIns="0" rIns="0" tIns="0" bIns="0" anchor="t">
            <a:spAutoFit/>
          </a:bodyPr>
          <a:lstStyle/>
          <a:p>
            <a:pPr algn="l"/>
            <a:r>
              <a:rPr sz="1200" b="1">
                <a:solidFill>
                  <a:srgbClr val="667085"/>
                </a:solidFill>
                <a:latin typeface="Aptos"/>
              </a:rPr>
              <a:t>STEP 2 OF 5 | PROMPT -&gt; REQUEST | REQUEST WRAPPER (LOCAL HELPER SCRIPT)</a:t>
            </a:r>
          </a:p>
        </p:txBody>
      </p:sp>
      <p:sp xmlns:a="http://schemas.openxmlformats.org/drawingml/2006/main">
        <p:nvSpPr>
          <p:cNvPr id="5" name="Rectangle 4"/>
          <p:cNvSpPr/>
          <p:nvPr/>
        </p:nvSpPr>
        <p:spPr>
          <a:xfrm>
            <a:off x="7658100" y="514350"/>
            <a:ext cx="742950" cy="209550"/>
          </a:xfrm>
          <a:prstGeom prst="rect">
            <a:avLst/>
          </a:prstGeom>
          <a:solidFill>
            <a:srgbClr val="000000"/>
          </a:solidFill>
          <a:ln w="15240">
            <a:solidFill>
              <a:srgbClr val="D7D1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TextBox 5"/>
          <p:cNvSpPr txBox="1"/>
          <p:nvPr/>
        </p:nvSpPr>
        <p:spPr>
          <a:xfrm>
            <a:off x="7715250" y="571500"/>
            <a:ext cx="628650" cy="95250"/>
          </a:xfrm>
          <a:prstGeom prst="rect">
            <a:avLst/>
          </a:prstGeom>
          <a:noFill/>
        </p:spPr>
        <p:txBody>
          <a:bodyPr wrap="square" lIns="0" rIns="0" tIns="0" bIns="0" anchor="t">
            <a:spAutoFit/>
          </a:bodyPr>
          <a:lstStyle/>
          <a:p>
            <a:pPr algn="ctr"/>
            <a:r>
              <a:rPr sz="900" b="1">
                <a:solidFill>
                  <a:srgbClr val="667085"/>
                </a:solidFill>
                <a:latin typeface="Aptos"/>
              </a:rPr>
              <a:t>Task</a:t>
            </a:r>
          </a:p>
        </p:txBody>
      </p:sp>
      <p:sp xmlns:a="http://schemas.openxmlformats.org/drawingml/2006/main">
        <p:nvSpPr>
          <p:cNvPr id="7" name="Rectangle 6"/>
          <p:cNvSpPr/>
          <p:nvPr/>
        </p:nvSpPr>
        <p:spPr>
          <a:xfrm>
            <a:off x="8477250" y="514350"/>
            <a:ext cx="742950" cy="209550"/>
          </a:xfrm>
          <a:prstGeom prst="rect">
            <a:avLst/>
          </a:prstGeom>
          <a:solidFill>
            <a:srgbClr val="2563EB"/>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TextBox 7"/>
          <p:cNvSpPr txBox="1"/>
          <p:nvPr/>
        </p:nvSpPr>
        <p:spPr>
          <a:xfrm>
            <a:off x="8534400" y="571500"/>
            <a:ext cx="628650" cy="95250"/>
          </a:xfrm>
          <a:prstGeom prst="rect">
            <a:avLst/>
          </a:prstGeom>
          <a:noFill/>
        </p:spPr>
        <p:txBody>
          <a:bodyPr wrap="square" lIns="0" rIns="0" tIns="0" bIns="0" anchor="t">
            <a:spAutoFit/>
          </a:bodyPr>
          <a:lstStyle/>
          <a:p>
            <a:pPr algn="ctr"/>
            <a:r>
              <a:rPr sz="900" b="1">
                <a:solidFill>
                  <a:srgbClr val="FFFFFF"/>
                </a:solidFill>
                <a:latin typeface="Aptos"/>
              </a:rPr>
              <a:t>Prompt</a:t>
            </a:r>
          </a:p>
        </p:txBody>
      </p:sp>
      <p:sp xmlns:a="http://schemas.openxmlformats.org/drawingml/2006/main">
        <p:nvSpPr>
          <p:cNvPr id="9" name="Rectangle 8"/>
          <p:cNvSpPr/>
          <p:nvPr/>
        </p:nvSpPr>
        <p:spPr>
          <a:xfrm>
            <a:off x="9296400" y="514350"/>
            <a:ext cx="742950" cy="209550"/>
          </a:xfrm>
          <a:prstGeom prst="rect">
            <a:avLst/>
          </a:prstGeom>
          <a:solidFill>
            <a:srgbClr val="000000"/>
          </a:solidFill>
          <a:ln w="15240">
            <a:solidFill>
              <a:srgbClr val="D7D1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TextBox 9"/>
          <p:cNvSpPr txBox="1"/>
          <p:nvPr/>
        </p:nvSpPr>
        <p:spPr>
          <a:xfrm>
            <a:off x="9353550" y="571500"/>
            <a:ext cx="628650" cy="95250"/>
          </a:xfrm>
          <a:prstGeom prst="rect">
            <a:avLst/>
          </a:prstGeom>
          <a:noFill/>
        </p:spPr>
        <p:txBody>
          <a:bodyPr wrap="square" lIns="0" rIns="0" tIns="0" bIns="0" anchor="t">
            <a:spAutoFit/>
          </a:bodyPr>
          <a:lstStyle/>
          <a:p>
            <a:pPr algn="ctr"/>
            <a:r>
              <a:rPr sz="900" b="1">
                <a:solidFill>
                  <a:srgbClr val="667085"/>
                </a:solidFill>
                <a:latin typeface="Aptos"/>
              </a:rPr>
              <a:t>Request</a:t>
            </a:r>
          </a:p>
        </p:txBody>
      </p:sp>
      <p:sp xmlns:a="http://schemas.openxmlformats.org/drawingml/2006/main">
        <p:nvSpPr>
          <p:cNvPr id="11" name="Rectangle 10"/>
          <p:cNvSpPr/>
          <p:nvPr/>
        </p:nvSpPr>
        <p:spPr>
          <a:xfrm>
            <a:off x="10115550" y="514350"/>
            <a:ext cx="742950" cy="209550"/>
          </a:xfrm>
          <a:prstGeom prst="rect">
            <a:avLst/>
          </a:prstGeom>
          <a:solidFill>
            <a:srgbClr val="000000"/>
          </a:solidFill>
          <a:ln w="15240">
            <a:solidFill>
              <a:srgbClr val="D7D1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TextBox 11"/>
          <p:cNvSpPr txBox="1"/>
          <p:nvPr/>
        </p:nvSpPr>
        <p:spPr>
          <a:xfrm>
            <a:off x="10172700" y="571500"/>
            <a:ext cx="628650" cy="95250"/>
          </a:xfrm>
          <a:prstGeom prst="rect">
            <a:avLst/>
          </a:prstGeom>
          <a:noFill/>
        </p:spPr>
        <p:txBody>
          <a:bodyPr wrap="square" lIns="0" rIns="0" tIns="0" bIns="0" anchor="t">
            <a:spAutoFit/>
          </a:bodyPr>
          <a:lstStyle/>
          <a:p>
            <a:pPr algn="ctr"/>
            <a:r>
              <a:rPr sz="900" b="1">
                <a:solidFill>
                  <a:srgbClr val="667085"/>
                </a:solidFill>
                <a:latin typeface="Aptos"/>
              </a:rPr>
              <a:t>Runtime</a:t>
            </a:r>
          </a:p>
        </p:txBody>
      </p:sp>
      <p:sp xmlns:a="http://schemas.openxmlformats.org/drawingml/2006/main">
        <p:nvSpPr>
          <p:cNvPr id="13" name="Rectangle 12"/>
          <p:cNvSpPr/>
          <p:nvPr/>
        </p:nvSpPr>
        <p:spPr>
          <a:xfrm>
            <a:off x="10934700" y="514350"/>
            <a:ext cx="742950" cy="209550"/>
          </a:xfrm>
          <a:prstGeom prst="rect">
            <a:avLst/>
          </a:prstGeom>
          <a:solidFill>
            <a:srgbClr val="000000"/>
          </a:solidFill>
          <a:ln w="15240">
            <a:solidFill>
              <a:srgbClr val="D7D1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TextBox 13"/>
          <p:cNvSpPr txBox="1"/>
          <p:nvPr/>
        </p:nvSpPr>
        <p:spPr>
          <a:xfrm>
            <a:off x="10991850" y="571500"/>
            <a:ext cx="628650" cy="95250"/>
          </a:xfrm>
          <a:prstGeom prst="rect">
            <a:avLst/>
          </a:prstGeom>
          <a:noFill/>
        </p:spPr>
        <p:txBody>
          <a:bodyPr wrap="square" lIns="0" rIns="0" tIns="0" bIns="0" anchor="t">
            <a:spAutoFit/>
          </a:bodyPr>
          <a:lstStyle/>
          <a:p>
            <a:pPr algn="ctr"/>
            <a:r>
              <a:rPr sz="900" b="1">
                <a:solidFill>
                  <a:srgbClr val="667085"/>
                </a:solidFill>
                <a:latin typeface="Aptos"/>
              </a:rPr>
              <a:t>Behavior</a:t>
            </a:r>
          </a:p>
        </p:txBody>
      </p:sp>
      <p:sp xmlns:a="http://schemas.openxmlformats.org/drawingml/2006/main">
        <p:nvSpPr>
          <p:cNvPr id="15" name="TextBox 14"/>
          <p:cNvSpPr txBox="1"/>
          <p:nvPr/>
        </p:nvSpPr>
        <p:spPr>
          <a:xfrm>
            <a:off x="609600" y="819150"/>
            <a:ext cx="10096500" cy="990600"/>
          </a:xfrm>
          <a:prstGeom prst="rect">
            <a:avLst/>
          </a:prstGeom>
          <a:noFill/>
        </p:spPr>
        <p:txBody>
          <a:bodyPr wrap="square" lIns="0" rIns="0" tIns="0" bIns="0" anchor="t">
            <a:spAutoFit/>
          </a:bodyPr>
          <a:lstStyle/>
          <a:p>
            <a:pPr algn="l"/>
            <a:r>
              <a:rPr sz="3800" b="1">
                <a:solidFill>
                  <a:srgbClr val="101820"/>
                </a:solidFill>
                <a:latin typeface="Aptos Display"/>
              </a:rPr>
              <a:t>Next, the prompt is wrapped for the model.</a:t>
            </a:r>
          </a:p>
        </p:txBody>
      </p:sp>
      <p:sp xmlns:a="http://schemas.openxmlformats.org/drawingml/2006/main">
        <p:nvSpPr>
          <p:cNvPr id="16" name="Rectangle 15"/>
          <p:cNvSpPr/>
          <p:nvPr/>
        </p:nvSpPr>
        <p:spPr>
          <a:xfrm>
            <a:off x="609600" y="1866900"/>
            <a:ext cx="10972800" cy="1905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609600" y="2457450"/>
            <a:ext cx="10972800" cy="9525"/>
          </a:xfrm>
          <a:prstGeom prst="rect">
            <a:avLst/>
          </a:prstGeom>
          <a:solidFill>
            <a:srgbClr val="D7D1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609600" y="1866900"/>
            <a:ext cx="76200" cy="59055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extBox 18"/>
          <p:cNvSpPr txBox="1"/>
          <p:nvPr/>
        </p:nvSpPr>
        <p:spPr>
          <a:xfrm>
            <a:off x="838200" y="1971675"/>
            <a:ext cx="1047750" cy="114300"/>
          </a:xfrm>
          <a:prstGeom prst="rect">
            <a:avLst/>
          </a:prstGeom>
          <a:noFill/>
        </p:spPr>
        <p:txBody>
          <a:bodyPr wrap="square" lIns="0" rIns="0" tIns="0" bIns="0" anchor="t">
            <a:spAutoFit/>
          </a:bodyPr>
          <a:lstStyle/>
          <a:p>
            <a:pPr algn="l"/>
            <a:r>
              <a:rPr sz="980" b="1">
                <a:solidFill>
                  <a:srgbClr val="667085"/>
                </a:solidFill>
                <a:latin typeface="Aptos"/>
              </a:rPr>
              <a:t>What changed</a:t>
            </a:r>
          </a:p>
        </p:txBody>
      </p:sp>
      <p:sp xmlns:a="http://schemas.openxmlformats.org/drawingml/2006/main">
        <p:nvSpPr>
          <p:cNvPr id="20" name="TextBox 19"/>
          <p:cNvSpPr txBox="1"/>
          <p:nvPr/>
        </p:nvSpPr>
        <p:spPr>
          <a:xfrm>
            <a:off x="838200" y="2114550"/>
            <a:ext cx="2571750" cy="266700"/>
          </a:xfrm>
          <a:prstGeom prst="rect">
            <a:avLst/>
          </a:prstGeom>
          <a:noFill/>
        </p:spPr>
        <p:txBody>
          <a:bodyPr wrap="square" lIns="0" rIns="0" tIns="0" bIns="0" anchor="t">
            <a:spAutoFit/>
          </a:bodyPr>
          <a:lstStyle/>
          <a:p>
            <a:pPr algn="l"/>
            <a:r>
              <a:rPr sz="1160" b="0">
                <a:solidFill>
                  <a:srgbClr val="101820"/>
                </a:solidFill>
                <a:latin typeface="Aptos"/>
              </a:rPr>
              <a:t>The prompt is wrapped in model request fields.</a:t>
            </a:r>
          </a:p>
        </p:txBody>
      </p:sp>
      <p:sp xmlns:a="http://schemas.openxmlformats.org/drawingml/2006/main">
        <p:nvSpPr>
          <p:cNvPr id="21" name="TextBox 20"/>
          <p:cNvSpPr txBox="1"/>
          <p:nvPr/>
        </p:nvSpPr>
        <p:spPr>
          <a:xfrm>
            <a:off x="3676650" y="1971675"/>
            <a:ext cx="1047750" cy="114300"/>
          </a:xfrm>
          <a:prstGeom prst="rect">
            <a:avLst/>
          </a:prstGeom>
          <a:noFill/>
        </p:spPr>
        <p:txBody>
          <a:bodyPr wrap="square" lIns="0" rIns="0" tIns="0" bIns="0" anchor="t">
            <a:spAutoFit/>
          </a:bodyPr>
          <a:lstStyle/>
          <a:p>
            <a:pPr algn="l"/>
            <a:r>
              <a:rPr sz="980" b="1">
                <a:solidFill>
                  <a:srgbClr val="667085"/>
                </a:solidFill>
                <a:latin typeface="Aptos"/>
              </a:rPr>
              <a:t>Why it matters</a:t>
            </a:r>
          </a:p>
        </p:txBody>
      </p:sp>
      <p:sp xmlns:a="http://schemas.openxmlformats.org/drawingml/2006/main">
        <p:nvSpPr>
          <p:cNvPr id="22" name="TextBox 21"/>
          <p:cNvSpPr txBox="1"/>
          <p:nvPr/>
        </p:nvSpPr>
        <p:spPr>
          <a:xfrm>
            <a:off x="3676650" y="2114550"/>
            <a:ext cx="2667000" cy="266700"/>
          </a:xfrm>
          <a:prstGeom prst="rect">
            <a:avLst/>
          </a:prstGeom>
          <a:noFill/>
        </p:spPr>
        <p:txBody>
          <a:bodyPr wrap="square" lIns="0" rIns="0" tIns="0" bIns="0" anchor="t">
            <a:spAutoFit/>
          </a:bodyPr>
          <a:lstStyle/>
          <a:p>
            <a:pPr algn="l"/>
            <a:r>
              <a:rPr sz="1160" b="0">
                <a:solidFill>
                  <a:srgbClr val="101820"/>
                </a:solidFill>
                <a:latin typeface="Aptos"/>
              </a:rPr>
              <a:t>The system now knows the model, messages, request ID, and hints.</a:t>
            </a:r>
          </a:p>
        </p:txBody>
      </p:sp>
      <p:sp xmlns:a="http://schemas.openxmlformats.org/drawingml/2006/main">
        <p:nvSpPr>
          <p:cNvPr id="23" name="TextBox 22"/>
          <p:cNvSpPr txBox="1"/>
          <p:nvPr/>
        </p:nvSpPr>
        <p:spPr>
          <a:xfrm>
            <a:off x="6610350" y="1971675"/>
            <a:ext cx="1143000" cy="114300"/>
          </a:xfrm>
          <a:prstGeom prst="rect">
            <a:avLst/>
          </a:prstGeom>
          <a:noFill/>
        </p:spPr>
        <p:txBody>
          <a:bodyPr wrap="square" lIns="0" rIns="0" tIns="0" bIns="0" anchor="t">
            <a:spAutoFit/>
          </a:bodyPr>
          <a:lstStyle/>
          <a:p>
            <a:pPr algn="l"/>
            <a:r>
              <a:rPr sz="980" b="1">
                <a:solidFill>
                  <a:srgbClr val="667085"/>
                </a:solidFill>
                <a:latin typeface="Aptos"/>
              </a:rPr>
              <a:t>What to look at</a:t>
            </a:r>
          </a:p>
        </p:txBody>
      </p:sp>
      <p:sp xmlns:a="http://schemas.openxmlformats.org/drawingml/2006/main">
        <p:nvSpPr>
          <p:cNvPr id="24" name="TextBox 23"/>
          <p:cNvSpPr txBox="1"/>
          <p:nvPr/>
        </p:nvSpPr>
        <p:spPr>
          <a:xfrm>
            <a:off x="6610350" y="2114550"/>
            <a:ext cx="3105150" cy="266700"/>
          </a:xfrm>
          <a:prstGeom prst="rect">
            <a:avLst/>
          </a:prstGeom>
          <a:noFill/>
        </p:spPr>
        <p:txBody>
          <a:bodyPr wrap="square" lIns="0" rIns="0" tIns="0" bIns="0" anchor="t">
            <a:spAutoFit/>
          </a:bodyPr>
          <a:lstStyle/>
          <a:p>
            <a:pPr algn="l"/>
            <a:r>
              <a:rPr sz="1160" b="0">
                <a:solidFill>
                  <a:srgbClr val="101820"/>
                </a:solidFill>
                <a:latin typeface="Aptos"/>
              </a:rPr>
              <a:t>New fields: model, messages, request_context, agent_hints.</a:t>
            </a:r>
          </a:p>
        </p:txBody>
      </p:sp>
      <p:sp xmlns:a="http://schemas.openxmlformats.org/drawingml/2006/main">
        <p:nvSpPr>
          <p:cNvPr id="25" name="TextBox 24"/>
          <p:cNvSpPr txBox="1"/>
          <p:nvPr/>
        </p:nvSpPr>
        <p:spPr>
          <a:xfrm>
            <a:off x="10001250" y="1971675"/>
            <a:ext cx="857250" cy="114300"/>
          </a:xfrm>
          <a:prstGeom prst="rect">
            <a:avLst/>
          </a:prstGeom>
          <a:noFill/>
        </p:spPr>
        <p:txBody>
          <a:bodyPr wrap="square" lIns="0" rIns="0" tIns="0" bIns="0" anchor="t">
            <a:spAutoFit/>
          </a:bodyPr>
          <a:lstStyle/>
          <a:p>
            <a:pPr algn="l"/>
            <a:r>
              <a:rPr sz="980" b="1">
                <a:solidFill>
                  <a:srgbClr val="667085"/>
                </a:solidFill>
                <a:latin typeface="Aptos"/>
              </a:rPr>
              <a:t>Component</a:t>
            </a:r>
          </a:p>
        </p:txBody>
      </p:sp>
      <p:sp xmlns:a="http://schemas.openxmlformats.org/drawingml/2006/main">
        <p:nvSpPr>
          <p:cNvPr id="26" name="TextBox 25"/>
          <p:cNvSpPr txBox="1"/>
          <p:nvPr/>
        </p:nvSpPr>
        <p:spPr>
          <a:xfrm>
            <a:off x="10001250" y="2114550"/>
            <a:ext cx="1314450" cy="152400"/>
          </a:xfrm>
          <a:prstGeom prst="rect">
            <a:avLst/>
          </a:prstGeom>
          <a:noFill/>
        </p:spPr>
        <p:txBody>
          <a:bodyPr wrap="square" lIns="0" rIns="0" tIns="0" bIns="0" anchor="t">
            <a:spAutoFit/>
          </a:bodyPr>
          <a:lstStyle/>
          <a:p>
            <a:pPr algn="l"/>
            <a:r>
              <a:rPr sz="1120" b="1">
                <a:solidFill>
                  <a:srgbClr val="6D28D9"/>
                </a:solidFill>
                <a:latin typeface="Aptos"/>
              </a:rPr>
              <a:t>Request Wrapper (local helper script)</a:t>
            </a:r>
          </a:p>
        </p:txBody>
      </p:sp>
      <p:sp xmlns:a="http://schemas.openxmlformats.org/drawingml/2006/main">
        <p:nvSpPr>
          <p:cNvPr id="27" name="TextBox 26"/>
          <p:cNvSpPr txBox="1"/>
          <p:nvPr/>
        </p:nvSpPr>
        <p:spPr>
          <a:xfrm>
            <a:off x="609600" y="2476500"/>
            <a:ext cx="2476500" cy="209550"/>
          </a:xfrm>
          <a:prstGeom prst="rect">
            <a:avLst/>
          </a:prstGeom>
          <a:noFill/>
        </p:spPr>
        <p:txBody>
          <a:bodyPr wrap="square" lIns="0" rIns="0" tIns="0" bIns="0" anchor="t">
            <a:spAutoFit/>
          </a:bodyPr>
          <a:lstStyle/>
          <a:p>
            <a:pPr algn="l"/>
            <a:r>
              <a:rPr sz="1800" b="1">
                <a:solidFill>
                  <a:srgbClr val="101820"/>
                </a:solidFill>
                <a:latin typeface="Aptos"/>
              </a:rPr>
              <a:t>Request Packaged</a:t>
            </a:r>
          </a:p>
        </p:txBody>
      </p:sp>
      <p:sp xmlns:a="http://schemas.openxmlformats.org/drawingml/2006/main">
        <p:nvSpPr>
          <p:cNvPr id="28" name="TextBox 27"/>
          <p:cNvSpPr txBox="1"/>
          <p:nvPr/>
        </p:nvSpPr>
        <p:spPr>
          <a:xfrm>
            <a:off x="3257550" y="2495550"/>
            <a:ext cx="1257300" cy="114300"/>
          </a:xfrm>
          <a:prstGeom prst="rect">
            <a:avLst/>
          </a:prstGeom>
          <a:noFill/>
        </p:spPr>
        <p:txBody>
          <a:bodyPr wrap="square" lIns="0" rIns="0" tIns="0" bIns="0" anchor="t">
            <a:spAutoFit/>
          </a:bodyPr>
          <a:lstStyle/>
          <a:p>
            <a:pPr algn="l"/>
            <a:r>
              <a:rPr sz="1000" b="1">
                <a:solidFill>
                  <a:srgbClr val="667085"/>
                </a:solidFill>
                <a:latin typeface="Aptos"/>
              </a:rPr>
              <a:t>Added in this step</a:t>
            </a:r>
          </a:p>
        </p:txBody>
      </p:sp>
      <p:sp xmlns:a="http://schemas.openxmlformats.org/drawingml/2006/main">
        <p:nvSpPr>
          <p:cNvPr id="29" name="Rectangle 28"/>
          <p:cNvSpPr/>
          <p:nvPr/>
        </p:nvSpPr>
        <p:spPr>
          <a:xfrm>
            <a:off x="4533900" y="2457450"/>
            <a:ext cx="552450" cy="209550"/>
          </a:xfrm>
          <a:prstGeom prst="rect">
            <a:avLst/>
          </a:prstGeom>
          <a:solidFill>
            <a:srgbClr val="FFFFFF"/>
          </a:solidFill>
          <a:ln w="1397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TextBox 29"/>
          <p:cNvSpPr txBox="1"/>
          <p:nvPr/>
        </p:nvSpPr>
        <p:spPr>
          <a:xfrm>
            <a:off x="4619625" y="2505075"/>
            <a:ext cx="381000" cy="104775"/>
          </a:xfrm>
          <a:prstGeom prst="rect">
            <a:avLst/>
          </a:prstGeom>
          <a:noFill/>
        </p:spPr>
        <p:txBody>
          <a:bodyPr wrap="square" lIns="0" rIns="0" tIns="0" bIns="0" anchor="t">
            <a:spAutoFit/>
          </a:bodyPr>
          <a:lstStyle/>
          <a:p>
            <a:pPr algn="l"/>
            <a:r>
              <a:rPr sz="910" b="1">
                <a:solidFill>
                  <a:srgbClr val="334155"/>
                </a:solidFill>
                <a:latin typeface="Aptos"/>
              </a:rPr>
              <a:t>model</a:t>
            </a:r>
          </a:p>
        </p:txBody>
      </p:sp>
      <p:sp xmlns:a="http://schemas.openxmlformats.org/drawingml/2006/main">
        <p:nvSpPr>
          <p:cNvPr id="31" name="Rectangle 30"/>
          <p:cNvSpPr/>
          <p:nvPr/>
        </p:nvSpPr>
        <p:spPr>
          <a:xfrm>
            <a:off x="5143500" y="2457450"/>
            <a:ext cx="704850" cy="209550"/>
          </a:xfrm>
          <a:prstGeom prst="rect">
            <a:avLst/>
          </a:prstGeom>
          <a:solidFill>
            <a:srgbClr val="FFFFFF"/>
          </a:solidFill>
          <a:ln w="1397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TextBox 31"/>
          <p:cNvSpPr txBox="1"/>
          <p:nvPr/>
        </p:nvSpPr>
        <p:spPr>
          <a:xfrm>
            <a:off x="5229225" y="2505075"/>
            <a:ext cx="533400" cy="104775"/>
          </a:xfrm>
          <a:prstGeom prst="rect">
            <a:avLst/>
          </a:prstGeom>
          <a:noFill/>
        </p:spPr>
        <p:txBody>
          <a:bodyPr wrap="square" lIns="0" rIns="0" tIns="0" bIns="0" anchor="t">
            <a:spAutoFit/>
          </a:bodyPr>
          <a:lstStyle/>
          <a:p>
            <a:pPr algn="l"/>
            <a:r>
              <a:rPr sz="910" b="1">
                <a:solidFill>
                  <a:srgbClr val="334155"/>
                </a:solidFill>
                <a:latin typeface="Aptos"/>
              </a:rPr>
              <a:t>messages</a:t>
            </a:r>
          </a:p>
        </p:txBody>
      </p:sp>
      <p:sp xmlns:a="http://schemas.openxmlformats.org/drawingml/2006/main">
        <p:nvSpPr>
          <p:cNvPr id="33" name="Rectangle 32"/>
          <p:cNvSpPr/>
          <p:nvPr/>
        </p:nvSpPr>
        <p:spPr>
          <a:xfrm>
            <a:off x="5905500" y="2457450"/>
            <a:ext cx="1162050" cy="209550"/>
          </a:xfrm>
          <a:prstGeom prst="rect">
            <a:avLst/>
          </a:prstGeom>
          <a:solidFill>
            <a:srgbClr val="FFFFFF"/>
          </a:solidFill>
          <a:ln w="1397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TextBox 33"/>
          <p:cNvSpPr txBox="1"/>
          <p:nvPr/>
        </p:nvSpPr>
        <p:spPr>
          <a:xfrm>
            <a:off x="5991225" y="2505075"/>
            <a:ext cx="990600" cy="104775"/>
          </a:xfrm>
          <a:prstGeom prst="rect">
            <a:avLst/>
          </a:prstGeom>
          <a:noFill/>
        </p:spPr>
        <p:txBody>
          <a:bodyPr wrap="square" lIns="0" rIns="0" tIns="0" bIns="0" anchor="t">
            <a:spAutoFit/>
          </a:bodyPr>
          <a:lstStyle/>
          <a:p>
            <a:pPr algn="l"/>
            <a:r>
              <a:rPr sz="910" b="1">
                <a:solidFill>
                  <a:srgbClr val="334155"/>
                </a:solidFill>
                <a:latin typeface="Aptos"/>
              </a:rPr>
              <a:t>request_context</a:t>
            </a:r>
          </a:p>
        </p:txBody>
      </p:sp>
      <p:sp xmlns:a="http://schemas.openxmlformats.org/drawingml/2006/main">
        <p:nvSpPr>
          <p:cNvPr id="35" name="Rectangle 34"/>
          <p:cNvSpPr/>
          <p:nvPr/>
        </p:nvSpPr>
        <p:spPr>
          <a:xfrm>
            <a:off x="7124700" y="2457450"/>
            <a:ext cx="904875" cy="209550"/>
          </a:xfrm>
          <a:prstGeom prst="rect">
            <a:avLst/>
          </a:prstGeom>
          <a:solidFill>
            <a:srgbClr val="FFFFFF"/>
          </a:solidFill>
          <a:ln w="1397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210425" y="2505075"/>
            <a:ext cx="733425" cy="104775"/>
          </a:xfrm>
          <a:prstGeom prst="rect">
            <a:avLst/>
          </a:prstGeom>
          <a:noFill/>
        </p:spPr>
        <p:txBody>
          <a:bodyPr wrap="square" lIns="0" rIns="0" tIns="0" bIns="0" anchor="t">
            <a:spAutoFit/>
          </a:bodyPr>
          <a:lstStyle/>
          <a:p>
            <a:pPr algn="l"/>
            <a:r>
              <a:rPr sz="910" b="1">
                <a:solidFill>
                  <a:srgbClr val="334155"/>
                </a:solidFill>
                <a:latin typeface="Aptos"/>
              </a:rPr>
              <a:t>agent_hints</a:t>
            </a:r>
          </a:p>
        </p:txBody>
      </p:sp>
      <p:sp xmlns:a="http://schemas.openxmlformats.org/drawingml/2006/main">
        <p:nvSpPr>
          <p:cNvPr id="37" name="Rectangle 36"/>
          <p:cNvSpPr/>
          <p:nvPr/>
        </p:nvSpPr>
        <p:spPr>
          <a:xfrm>
            <a:off x="4533900" y="2724150"/>
            <a:ext cx="904875" cy="209550"/>
          </a:xfrm>
          <a:prstGeom prst="rect">
            <a:avLst/>
          </a:prstGeom>
          <a:solidFill>
            <a:srgbClr val="FFFFFF"/>
          </a:solidFill>
          <a:ln w="1397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TextBox 37"/>
          <p:cNvSpPr txBox="1"/>
          <p:nvPr/>
        </p:nvSpPr>
        <p:spPr>
          <a:xfrm>
            <a:off x="4619625" y="2771775"/>
            <a:ext cx="733425" cy="104775"/>
          </a:xfrm>
          <a:prstGeom prst="rect">
            <a:avLst/>
          </a:prstGeom>
          <a:noFill/>
        </p:spPr>
        <p:txBody>
          <a:bodyPr wrap="square" lIns="0" rIns="0" tIns="0" bIns="0" anchor="t">
            <a:spAutoFit/>
          </a:bodyPr>
          <a:lstStyle/>
          <a:p>
            <a:pPr algn="l"/>
            <a:r>
              <a:rPr sz="910" b="1">
                <a:solidFill>
                  <a:srgbClr val="334155"/>
                </a:solidFill>
                <a:latin typeface="Aptos"/>
              </a:rPr>
              <a:t>tool_choice</a:t>
            </a:r>
          </a:p>
        </p:txBody>
      </p:sp>
      <p:sp xmlns:a="http://schemas.openxmlformats.org/drawingml/2006/main">
        <p:nvSpPr>
          <p:cNvPr id="39" name="Rectangle 38"/>
          <p:cNvSpPr/>
          <p:nvPr/>
        </p:nvSpPr>
        <p:spPr>
          <a:xfrm>
            <a:off x="9658350" y="2381250"/>
            <a:ext cx="1924050" cy="400050"/>
          </a:xfrm>
          <a:prstGeom prst="rect">
            <a:avLst/>
          </a:prstGeom>
          <a:solidFill>
            <a:srgbClr val="FFFFFF"/>
          </a:solidFill>
          <a:ln w="20320">
            <a:solidFill>
              <a:srgbClr val="667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9772650" y="2447925"/>
            <a:ext cx="1695450" cy="95250"/>
          </a:xfrm>
          <a:prstGeom prst="rect">
            <a:avLst/>
          </a:prstGeom>
          <a:noFill/>
        </p:spPr>
        <p:txBody>
          <a:bodyPr wrap="square" lIns="0" rIns="0" tIns="0" bIns="0" anchor="t">
            <a:spAutoFit/>
          </a:bodyPr>
          <a:lstStyle/>
          <a:p>
            <a:pPr algn="l"/>
            <a:r>
              <a:rPr sz="919" b="1">
                <a:solidFill>
                  <a:srgbClr val="667085"/>
                </a:solidFill>
                <a:latin typeface="Aptos"/>
              </a:rPr>
              <a:t>Payload size change</a:t>
            </a:r>
          </a:p>
        </p:txBody>
      </p:sp>
      <p:sp xmlns:a="http://schemas.openxmlformats.org/drawingml/2006/main">
        <p:nvSpPr>
          <p:cNvPr id="41" name="TextBox 40"/>
          <p:cNvSpPr txBox="1"/>
          <p:nvPr/>
        </p:nvSpPr>
        <p:spPr>
          <a:xfrm>
            <a:off x="9772650" y="2571750"/>
            <a:ext cx="1695450" cy="180975"/>
          </a:xfrm>
          <a:prstGeom prst="rect">
            <a:avLst/>
          </a:prstGeom>
          <a:noFill/>
        </p:spPr>
        <p:txBody>
          <a:bodyPr wrap="square" lIns="0" rIns="0" tIns="0" bIns="0" anchor="t">
            <a:spAutoFit/>
          </a:bodyPr>
          <a:lstStyle/>
          <a:p>
            <a:pPr algn="l"/>
            <a:r>
              <a:rPr sz="1650" b="1">
                <a:solidFill>
                  <a:srgbClr val="667085"/>
                </a:solidFill>
                <a:latin typeface="Aptos Mono"/>
              </a:rPr>
              <a:t>0</a:t>
            </a:r>
          </a:p>
        </p:txBody>
      </p:sp>
      <p:sp xmlns:a="http://schemas.openxmlformats.org/drawingml/2006/main">
        <p:nvSpPr>
          <p:cNvPr id="42" name="Rectangle 41"/>
          <p:cNvSpPr/>
          <p:nvPr/>
        </p:nvSpPr>
        <p:spPr>
          <a:xfrm>
            <a:off x="609600" y="2857500"/>
            <a:ext cx="5219700" cy="2914650"/>
          </a:xfrm>
          <a:prstGeom prst="rect">
            <a:avLst/>
          </a:prstGeom>
          <a:solidFill>
            <a:srgbClr val="FFFFFF"/>
          </a:solidFill>
          <a:ln w="25400">
            <a:solidFill>
              <a:srgbClr val="8D99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ectangle 42"/>
          <p:cNvSpPr/>
          <p:nvPr/>
        </p:nvSpPr>
        <p:spPr>
          <a:xfrm>
            <a:off x="609600" y="2857500"/>
            <a:ext cx="5219700" cy="400050"/>
          </a:xfrm>
          <a:prstGeom prst="rect">
            <a:avLst/>
          </a:prstGeom>
          <a:solidFill>
            <a:srgbClr val="E9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TextBox 43"/>
          <p:cNvSpPr txBox="1"/>
          <p:nvPr/>
        </p:nvSpPr>
        <p:spPr>
          <a:xfrm>
            <a:off x="781050" y="2962275"/>
            <a:ext cx="4876800" cy="190500"/>
          </a:xfrm>
          <a:prstGeom prst="rect">
            <a:avLst/>
          </a:prstGeom>
          <a:noFill/>
        </p:spPr>
        <p:txBody>
          <a:bodyPr wrap="square" lIns="0" rIns="0" tIns="0" bIns="0" anchor="t">
            <a:spAutoFit/>
          </a:bodyPr>
          <a:lstStyle/>
          <a:p>
            <a:pPr algn="l"/>
            <a:r>
              <a:rPr sz="1320" b="1">
                <a:solidFill>
                  <a:srgbClr val="101820"/>
                </a:solidFill>
                <a:latin typeface="Aptos"/>
              </a:rPr>
              <a:t>Before</a:t>
            </a:r>
          </a:p>
        </p:txBody>
      </p:sp>
      <p:sp xmlns:a="http://schemas.openxmlformats.org/drawingml/2006/main">
        <p:nvSpPr>
          <p:cNvPr id="45" name="TextBox 44"/>
          <p:cNvSpPr txBox="1"/>
          <p:nvPr/>
        </p:nvSpPr>
        <p:spPr>
          <a:xfrm>
            <a:off x="781050" y="3409950"/>
            <a:ext cx="4876800" cy="2247900"/>
          </a:xfrm>
          <a:prstGeom prst="rect">
            <a:avLst/>
          </a:prstGeom>
          <a:noFill/>
        </p:spPr>
        <p:txBody>
          <a:bodyPr wrap="none" lIns="0" rIns="0" tIns="0" bIns="0" anchor="t">
            <a:spAutoFit/>
          </a:bodyPr>
          <a:lstStyle/>
          <a:p>
            <a:pPr>
              <a:lnSpc>
                <a:spcPct val="98000"/>
              </a:lnSpc>
              <a:spcBef>
                <a:spcPts val="0"/>
              </a:spcBef>
              <a:spcAft>
                <a:spcPts val="0"/>
              </a:spcAft>
            </a:pPr>
            <a:r>
              <a:rPr sz="835" b="0">
                <a:solidFill>
                  <a:srgbClr val="667085"/>
                </a:solidFill>
                <a:latin typeface="Aptos Mono"/>
              </a:rPr>
              <a:t>{</a:t>
            </a:r>
          </a:p>
          <a:p>
            <a:pPr>
              <a:lnSpc>
                <a:spcPct val="98000"/>
              </a:lnSpc>
              <a:spcBef>
                <a:spcPts val="0"/>
              </a:spcBef>
              <a:spcAft>
                <a:spcPts val="0"/>
              </a:spcAft>
            </a:pPr>
            <a:r>
              <a:rPr sz="835" b="0">
                <a:solidFill>
                  <a:srgbClr val="667085"/>
                </a:solidFill>
                <a:latin typeface="Aptos Mono"/>
              </a:rPr>
              <a:t>  </a:t>
            </a:r>
            <a:r>
              <a:rPr sz="835" b="1">
                <a:solidFill>
                  <a:srgbClr val="1D4ED8"/>
                </a:solidFill>
                <a:latin typeface="Aptos Mono"/>
              </a:rPr>
              <a:t>"prompt"</a:t>
            </a:r>
            <a:r>
              <a:rPr sz="835" b="0">
                <a:solidFill>
                  <a:srgbClr val="667085"/>
                </a:solidFill>
                <a:latin typeface="Aptos Mono"/>
              </a:rPr>
              <a:t>: "</a:t>
            </a:r>
            <a:r>
              <a:rPr sz="835" b="0">
                <a:solidFill>
                  <a:srgbClr val="172033"/>
                </a:solidFill>
                <a:latin typeface="Aptos Mono"/>
              </a:rPr>
              <a:t>You are working on one SWE-bench Pro software</a:t>
            </a:r>
          </a:p>
          <a:p>
            <a:pPr>
              <a:lnSpc>
                <a:spcPct val="98000"/>
              </a:lnSpc>
              <a:spcBef>
                <a:spcPts val="0"/>
              </a:spcBef>
              <a:spcAft>
                <a:spcPts val="0"/>
              </a:spcAft>
            </a:pPr>
            <a:r>
              <a:rPr sz="835" b="0">
                <a:solidFill>
                  <a:srgbClr val="172033"/>
                </a:solidFill>
                <a:latin typeface="Aptos Mono"/>
              </a:rPr>
              <a:t>            engineering task.\n\nTask metadata:\n-</a:t>
            </a:r>
          </a:p>
          <a:p>
            <a:pPr>
              <a:lnSpc>
                <a:spcPct val="98000"/>
              </a:lnSpc>
              <a:spcBef>
                <a:spcPts val="0"/>
              </a:spcBef>
              <a:spcAft>
                <a:spcPts val="0"/>
              </a:spcAft>
            </a:pPr>
            <a:r>
              <a:rPr sz="835" b="0">
                <a:solidFill>
                  <a:srgbClr val="172033"/>
                </a:solidFill>
                <a:latin typeface="Aptos Mono"/>
              </a:rPr>
              <a:t>            instance_id:</a:t>
            </a:r>
          </a:p>
          <a:p>
            <a:pPr>
              <a:lnSpc>
                <a:spcPct val="98000"/>
              </a:lnSpc>
              <a:spcBef>
                <a:spcPts val="0"/>
              </a:spcBef>
              <a:spcAft>
                <a:spcPts val="0"/>
              </a:spcAft>
            </a:pPr>
            <a:r>
              <a:rPr sz="835" b="0">
                <a:solidFill>
                  <a:srgbClr val="172033"/>
                </a:solidFill>
                <a:latin typeface="Aptos Mono"/>
              </a:rPr>
              <a:t>            instance_NodeBB__NodeBB-04998908ba6721d64eba79ae3b65a351dcfbc5b5-vnan\n-</a:t>
            </a:r>
          </a:p>
          <a:p>
            <a:pPr>
              <a:lnSpc>
                <a:spcPct val="98000"/>
              </a:lnSpc>
              <a:spcBef>
                <a:spcPts val="0"/>
              </a:spcBef>
              <a:spcAft>
                <a:spcPts val="0"/>
              </a:spcAft>
            </a:pPr>
            <a:r>
              <a:rPr sz="835" b="0">
                <a:solidFill>
                  <a:srgbClr val="172033"/>
                </a:solidFill>
                <a:latin typeface="Aptos Mono"/>
              </a:rPr>
              <a:t>            repo: NodeBB/NodeBB\n\nProblem statement:\n...</a:t>
            </a:r>
            <a:r>
              <a:rPr sz="835" b="0">
                <a:solidFill>
                  <a:srgbClr val="667085"/>
                </a:solidFill>
                <a:latin typeface="Aptos Mono"/>
              </a:rPr>
              <a:t>"</a:t>
            </a:r>
          </a:p>
          <a:p>
            <a:pPr>
              <a:lnSpc>
                <a:spcPct val="98000"/>
              </a:lnSpc>
              <a:spcBef>
                <a:spcPts val="0"/>
              </a:spcBef>
              <a:spcAft>
                <a:spcPts val="0"/>
              </a:spcAft>
            </a:pPr>
            <a:r>
              <a:rPr sz="835" b="0">
                <a:solidFill>
                  <a:srgbClr val="667085"/>
                </a:solidFill>
                <a:latin typeface="Aptos Mono"/>
              </a:rPr>
              <a:t>}</a:t>
            </a:r>
          </a:p>
        </p:txBody>
      </p:sp>
      <p:sp xmlns:a="http://schemas.openxmlformats.org/drawingml/2006/main">
        <p:nvSpPr>
          <p:cNvPr id="46" name="Rectangle 45"/>
          <p:cNvSpPr/>
          <p:nvPr/>
        </p:nvSpPr>
        <p:spPr>
          <a:xfrm>
            <a:off x="6362700" y="2857500"/>
            <a:ext cx="5219700" cy="2914650"/>
          </a:xfrm>
          <a:prstGeom prst="rect">
            <a:avLst/>
          </a:prstGeom>
          <a:solidFill>
            <a:srgbClr val="FFFFFF"/>
          </a:solidFill>
          <a:ln w="254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Rectangle 46"/>
          <p:cNvSpPr/>
          <p:nvPr/>
        </p:nvSpPr>
        <p:spPr>
          <a:xfrm>
            <a:off x="6362700" y="2857500"/>
            <a:ext cx="5219700" cy="400050"/>
          </a:xfrm>
          <a:prstGeom prst="rect">
            <a:avLst/>
          </a:prstGeom>
          <a:solidFill>
            <a:srgbClr val="E9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6534150" y="2962275"/>
            <a:ext cx="4876800" cy="190500"/>
          </a:xfrm>
          <a:prstGeom prst="rect">
            <a:avLst/>
          </a:prstGeom>
          <a:noFill/>
        </p:spPr>
        <p:txBody>
          <a:bodyPr wrap="square" lIns="0" rIns="0" tIns="0" bIns="0" anchor="t">
            <a:spAutoFit/>
          </a:bodyPr>
          <a:lstStyle/>
          <a:p>
            <a:pPr algn="l"/>
            <a:r>
              <a:rPr sz="1320" b="1">
                <a:solidFill>
                  <a:srgbClr val="101820"/>
                </a:solidFill>
                <a:latin typeface="Aptos"/>
              </a:rPr>
              <a:t>After - actual request object, lightly truncated</a:t>
            </a:r>
          </a:p>
        </p:txBody>
      </p:sp>
      <p:sp xmlns:a="http://schemas.openxmlformats.org/drawingml/2006/main">
        <p:nvSpPr>
          <p:cNvPr id="49" name="TextBox 48"/>
          <p:cNvSpPr txBox="1"/>
          <p:nvPr/>
        </p:nvSpPr>
        <p:spPr>
          <a:xfrm>
            <a:off x="6534150" y="3409950"/>
            <a:ext cx="4876800" cy="2247900"/>
          </a:xfrm>
          <a:prstGeom prst="rect">
            <a:avLst/>
          </a:prstGeom>
          <a:noFill/>
        </p:spPr>
        <p:txBody>
          <a:bodyPr wrap="none" lIns="0" rIns="0" tIns="0" bIns="0" anchor="t">
            <a:spAutoFit/>
          </a:bodyPr>
          <a:lstStyle/>
          <a:p>
            <a:pPr>
              <a:lnSpc>
                <a:spcPct val="98000"/>
              </a:lnSpc>
              <a:spcBef>
                <a:spcPts val="0"/>
              </a:spcBef>
              <a:spcAft>
                <a:spcPts val="0"/>
              </a:spcAft>
            </a:pPr>
            <a:r>
              <a:rPr sz="805" b="0">
                <a:solidFill>
                  <a:srgbClr val="667085"/>
                </a:solidFill>
                <a:latin typeface="Aptos Mono"/>
              </a:rPr>
              <a:t>{</a:t>
            </a:r>
          </a:p>
          <a:p>
            <a:pPr>
              <a:lnSpc>
                <a:spcPct val="98000"/>
              </a:lnSpc>
              <a:spcBef>
                <a:spcPts val="0"/>
              </a:spcBef>
              <a:spcAft>
                <a:spcPts val="0"/>
              </a:spcAft>
            </a:pPr>
            <a:r>
              <a:rPr sz="805" b="0">
                <a:solidFill>
                  <a:srgbClr val="667085"/>
                </a:solidFill>
                <a:latin typeface="Aptos Mono"/>
              </a:rPr>
              <a:t>  </a:t>
            </a:r>
            <a:r>
              <a:rPr sz="805" b="1">
                <a:solidFill>
                  <a:srgbClr val="1D4ED8"/>
                </a:solidFill>
                <a:latin typeface="Aptos Mono"/>
              </a:rPr>
              <a:t>"model"</a:t>
            </a:r>
            <a:r>
              <a:rPr sz="805" b="0">
                <a:solidFill>
                  <a:srgbClr val="667085"/>
                </a:solidFill>
                <a:latin typeface="Aptos Mono"/>
              </a:rPr>
              <a:t>: </a:t>
            </a:r>
            <a:r>
              <a:rPr sz="805" b="0">
                <a:solidFill>
                  <a:srgbClr val="172033"/>
                </a:solidFill>
                <a:latin typeface="Aptos Mono"/>
              </a:rPr>
              <a:t>"Qwen/Qwen2.5-7B-Instruct",</a:t>
            </a:r>
          </a:p>
          <a:p>
            <a:pPr>
              <a:lnSpc>
                <a:spcPct val="98000"/>
              </a:lnSpc>
              <a:spcBef>
                <a:spcPts val="0"/>
              </a:spcBef>
              <a:spcAft>
                <a:spcPts val="0"/>
              </a:spcAft>
            </a:pPr>
            <a:r>
              <a:rPr sz="805" b="0">
                <a:solidFill>
                  <a:srgbClr val="667085"/>
                </a:solidFill>
                <a:latin typeface="Aptos Mono"/>
              </a:rPr>
              <a:t>  </a:t>
            </a:r>
            <a:r>
              <a:rPr sz="805" b="1">
                <a:solidFill>
                  <a:srgbClr val="1D4ED8"/>
                </a:solidFill>
                <a:latin typeface="Aptos Mono"/>
              </a:rPr>
              <a:t>"messages"</a:t>
            </a:r>
            <a:r>
              <a:rPr sz="805" b="0">
                <a:solidFill>
                  <a:srgbClr val="667085"/>
                </a:solidFill>
                <a:latin typeface="Aptos Mono"/>
              </a:rPr>
              <a:t>: </a:t>
            </a:r>
            <a:r>
              <a:rPr sz="805" b="0">
                <a:solidFill>
                  <a:srgbClr val="667085"/>
                </a:solidFill>
                <a:latin typeface="Aptos Mono"/>
              </a:rPr>
              <a:t>[</a:t>
            </a:r>
          </a:p>
          <a:p>
            <a:pPr>
              <a:lnSpc>
                <a:spcPct val="98000"/>
              </a:lnSpc>
              <a:spcBef>
                <a:spcPts val="0"/>
              </a:spcBef>
              <a:spcAft>
                <a:spcPts val="0"/>
              </a:spcAft>
            </a:pPr>
            <a:r>
              <a:rPr sz="805" b="0">
                <a:solidFill>
                  <a:srgbClr val="667085"/>
                </a:solidFill>
                <a:latin typeface="Aptos Mono"/>
              </a:rPr>
              <a:t>    {</a:t>
            </a:r>
          </a:p>
          <a:p>
            <a:pPr>
              <a:lnSpc>
                <a:spcPct val="98000"/>
              </a:lnSpc>
              <a:spcBef>
                <a:spcPts val="0"/>
              </a:spcBef>
              <a:spcAft>
                <a:spcPts val="0"/>
              </a:spcAft>
            </a:pPr>
            <a:r>
              <a:rPr sz="805" b="0">
                <a:solidFill>
                  <a:srgbClr val="667085"/>
                </a:solidFill>
                <a:latin typeface="Aptos Mono"/>
              </a:rPr>
              <a:t>      </a:t>
            </a:r>
            <a:r>
              <a:rPr sz="805" b="1">
                <a:solidFill>
                  <a:srgbClr val="1D4ED8"/>
                </a:solidFill>
                <a:latin typeface="Aptos Mono"/>
              </a:rPr>
              <a:t>"role"</a:t>
            </a:r>
            <a:r>
              <a:rPr sz="805" b="0">
                <a:solidFill>
                  <a:srgbClr val="667085"/>
                </a:solidFill>
                <a:latin typeface="Aptos Mono"/>
              </a:rPr>
              <a:t>: </a:t>
            </a:r>
            <a:r>
              <a:rPr sz="805" b="0">
                <a:solidFill>
                  <a:srgbClr val="172033"/>
                </a:solidFill>
                <a:latin typeface="Aptos Mono"/>
              </a:rPr>
              <a:t>"user",</a:t>
            </a:r>
          </a:p>
          <a:p>
            <a:pPr>
              <a:lnSpc>
                <a:spcPct val="98000"/>
              </a:lnSpc>
              <a:spcBef>
                <a:spcPts val="0"/>
              </a:spcBef>
              <a:spcAft>
                <a:spcPts val="0"/>
              </a:spcAft>
            </a:pPr>
            <a:r>
              <a:rPr sz="805" b="0">
                <a:solidFill>
                  <a:srgbClr val="667085"/>
                </a:solidFill>
                <a:latin typeface="Aptos Mono"/>
              </a:rPr>
              <a:t>      </a:t>
            </a:r>
            <a:r>
              <a:rPr sz="805" b="1">
                <a:solidFill>
                  <a:srgbClr val="1D4ED8"/>
                </a:solidFill>
                <a:latin typeface="Aptos Mono"/>
              </a:rPr>
              <a:t>"content"</a:t>
            </a:r>
            <a:r>
              <a:rPr sz="805" b="0">
                <a:solidFill>
                  <a:srgbClr val="667085"/>
                </a:solidFill>
                <a:latin typeface="Aptos Mono"/>
              </a:rPr>
              <a:t>: </a:t>
            </a:r>
            <a:r>
              <a:rPr sz="805" b="0">
                <a:solidFill>
                  <a:srgbClr val="172033"/>
                </a:solidFill>
                <a:latin typeface="Aptos Mono"/>
              </a:rPr>
              <a:t>"You are working on one</a:t>
            </a:r>
          </a:p>
          <a:p>
            <a:pPr>
              <a:lnSpc>
                <a:spcPct val="98000"/>
              </a:lnSpc>
              <a:spcBef>
                <a:spcPts val="0"/>
              </a:spcBef>
              <a:spcAft>
                <a:spcPts val="0"/>
              </a:spcAft>
            </a:pPr>
            <a:r>
              <a:rPr sz="805" b="0">
                <a:solidFill>
                  <a:srgbClr val="667085"/>
                </a:solidFill>
                <a:latin typeface="Aptos Mono"/>
              </a:rPr>
              <a:t>        SWE-bench Pro software</a:t>
            </a:r>
          </a:p>
          <a:p>
            <a:pPr>
              <a:lnSpc>
                <a:spcPct val="98000"/>
              </a:lnSpc>
              <a:spcBef>
                <a:spcPts val="0"/>
              </a:spcBef>
              <a:spcAft>
                <a:spcPts val="0"/>
              </a:spcAft>
            </a:pPr>
            <a:r>
              <a:rPr sz="805" b="0">
                <a:solidFill>
                  <a:srgbClr val="667085"/>
                </a:solidFill>
                <a:latin typeface="Aptos Mono"/>
              </a:rPr>
              <a:t>        engineering task.\\n\\nTask</a:t>
            </a:r>
          </a:p>
          <a:p>
            <a:pPr>
              <a:lnSpc>
                <a:spcPct val="98000"/>
              </a:lnSpc>
              <a:spcBef>
                <a:spcPts val="0"/>
              </a:spcBef>
              <a:spcAft>
                <a:spcPts val="0"/>
              </a:spcAft>
            </a:pPr>
            <a:r>
              <a:rPr sz="805" b="0">
                <a:solidFill>
                  <a:srgbClr val="667085"/>
                </a:solidFill>
                <a:latin typeface="Aptos Mono"/>
              </a:rPr>
              <a:t>        metadata:\\n- instance_id:</a:t>
            </a:r>
          </a:p>
          <a:p>
            <a:pPr>
              <a:lnSpc>
                <a:spcPct val="98000"/>
              </a:lnSpc>
              <a:spcBef>
                <a:spcPts val="0"/>
              </a:spcBef>
              <a:spcAft>
                <a:spcPts val="0"/>
              </a:spcAft>
            </a:pPr>
            <a:r>
              <a:rPr sz="805" b="0">
                <a:solidFill>
                  <a:srgbClr val="667085"/>
                </a:solidFill>
                <a:latin typeface="Aptos Mono"/>
              </a:rPr>
              <a:t>        instance_NodeBB__NodeBB-04998908ba6721d64eba79ae3b65a351dcfbc5b5-vnan\\n..."</a:t>
            </a:r>
          </a:p>
          <a:p>
            <a:pPr>
              <a:lnSpc>
                <a:spcPct val="98000"/>
              </a:lnSpc>
              <a:spcBef>
                <a:spcPts val="0"/>
              </a:spcBef>
              <a:spcAft>
                <a:spcPts val="0"/>
              </a:spcAft>
            </a:pPr>
            <a:r>
              <a:rPr sz="805" b="0">
                <a:solidFill>
                  <a:srgbClr val="667085"/>
                </a:solidFill>
                <a:latin typeface="Aptos Mono"/>
              </a:rPr>
              <a:t>    }</a:t>
            </a:r>
          </a:p>
          <a:p>
            <a:pPr>
              <a:lnSpc>
                <a:spcPct val="98000"/>
              </a:lnSpc>
              <a:spcBef>
                <a:spcPts val="0"/>
              </a:spcBef>
              <a:spcAft>
                <a:spcPts val="0"/>
              </a:spcAft>
            </a:pPr>
            <a:r>
              <a:rPr sz="805" b="0">
                <a:solidFill>
                  <a:srgbClr val="667085"/>
                </a:solidFill>
                <a:latin typeface="Aptos Mono"/>
              </a:rPr>
              <a:t>  ],</a:t>
            </a:r>
          </a:p>
          <a:p>
            <a:pPr>
              <a:lnSpc>
                <a:spcPct val="98000"/>
              </a:lnSpc>
              <a:spcBef>
                <a:spcPts val="0"/>
              </a:spcBef>
              <a:spcAft>
                <a:spcPts val="0"/>
              </a:spcAft>
            </a:pPr>
            <a:r>
              <a:rPr sz="805" b="0">
                <a:solidFill>
                  <a:srgbClr val="667085"/>
                </a:solidFill>
                <a:latin typeface="Aptos Mono"/>
              </a:rPr>
              <a:t>  </a:t>
            </a:r>
            <a:r>
              <a:rPr sz="805" b="1">
                <a:solidFill>
                  <a:srgbClr val="1D4ED8"/>
                </a:solidFill>
                <a:latin typeface="Aptos Mono"/>
              </a:rPr>
              <a:t>"request_context"</a:t>
            </a:r>
            <a:r>
              <a:rPr sz="805" b="0">
                <a:solidFill>
                  <a:srgbClr val="667085"/>
                </a:solidFill>
                <a:latin typeface="Aptos Mono"/>
              </a:rPr>
              <a:t>: </a:t>
            </a:r>
            <a:r>
              <a:rPr sz="805" b="0">
                <a:solidFill>
                  <a:srgbClr val="667085"/>
                </a:solidFill>
                <a:latin typeface="Aptos Mono"/>
              </a:rPr>
              <a:t>{</a:t>
            </a:r>
          </a:p>
          <a:p>
            <a:pPr>
              <a:lnSpc>
                <a:spcPct val="98000"/>
              </a:lnSpc>
              <a:spcBef>
                <a:spcPts val="0"/>
              </a:spcBef>
              <a:spcAft>
                <a:spcPts val="0"/>
              </a:spcAft>
            </a:pPr>
            <a:r>
              <a:rPr sz="805" b="0">
                <a:solidFill>
                  <a:srgbClr val="667085"/>
                </a:solidFill>
                <a:latin typeface="Aptos Mono"/>
              </a:rPr>
              <a:t>    </a:t>
            </a:r>
            <a:r>
              <a:rPr sz="805" b="1">
                <a:solidFill>
                  <a:srgbClr val="1D4ED8"/>
                </a:solidFill>
                <a:latin typeface="Aptos Mono"/>
              </a:rPr>
              <a:t>"request_id"</a:t>
            </a:r>
            <a:r>
              <a:rPr sz="805" b="0">
                <a:solidFill>
                  <a:srgbClr val="667085"/>
                </a:solidFill>
                <a:latin typeface="Aptos Mono"/>
              </a:rPr>
              <a:t>: </a:t>
            </a:r>
          </a:p>
          <a:p>
            <a:pPr>
              <a:lnSpc>
                <a:spcPct val="98000"/>
              </a:lnSpc>
              <a:spcBef>
                <a:spcPts val="0"/>
              </a:spcBef>
              <a:spcAft>
                <a:spcPts val="0"/>
              </a:spcAft>
            </a:pPr>
            <a:r>
              <a:rPr sz="805" b="0">
                <a:solidFill>
                  <a:srgbClr val="172033"/>
                </a:solidFill>
                <a:latin typeface="Aptos Mono"/>
              </a:rPr>
              <a:t>      "...::baseline_execution",</a:t>
            </a:r>
          </a:p>
          <a:p>
            <a:pPr>
              <a:lnSpc>
                <a:spcPct val="98000"/>
              </a:lnSpc>
              <a:spcBef>
                <a:spcPts val="0"/>
              </a:spcBef>
              <a:spcAft>
                <a:spcPts val="0"/>
              </a:spcAft>
            </a:pPr>
            <a:r>
              <a:rPr sz="805" b="0">
                <a:solidFill>
                  <a:srgbClr val="667085"/>
                </a:solidFill>
                <a:latin typeface="Aptos Mono"/>
              </a:rPr>
              <a:t>    </a:t>
            </a:r>
            <a:r>
              <a:rPr sz="805" b="1">
                <a:solidFill>
                  <a:srgbClr val="1D4ED8"/>
                </a:solidFill>
                <a:latin typeface="Aptos Mono"/>
              </a:rPr>
              <a:t>"phase"</a:t>
            </a:r>
            <a:r>
              <a:rPr sz="805" b="0">
                <a:solidFill>
                  <a:srgbClr val="667085"/>
                </a:solidFill>
                <a:latin typeface="Aptos Mono"/>
              </a:rPr>
              <a:t>: </a:t>
            </a:r>
            <a:r>
              <a:rPr sz="805" b="0">
                <a:solidFill>
                  <a:srgbClr val="172033"/>
                </a:solidFill>
                <a:latin typeface="Aptos Mono"/>
              </a:rPr>
              <a:t>"baseline_execution",</a:t>
            </a:r>
          </a:p>
          <a:p>
            <a:pPr>
              <a:lnSpc>
                <a:spcPct val="98000"/>
              </a:lnSpc>
              <a:spcBef>
                <a:spcPts val="0"/>
              </a:spcBef>
              <a:spcAft>
                <a:spcPts val="0"/>
              </a:spcAft>
            </a:pPr>
            <a:r>
              <a:rPr sz="805" b="0">
                <a:solidFill>
                  <a:srgbClr val="667085"/>
                </a:solidFill>
                <a:latin typeface="Aptos Mono"/>
              </a:rPr>
              <a:t>    </a:t>
            </a:r>
            <a:r>
              <a:rPr sz="805" b="1">
                <a:solidFill>
                  <a:srgbClr val="1D4ED8"/>
                </a:solidFill>
                <a:latin typeface="Aptos Mono"/>
              </a:rPr>
              <a:t>"app_variant"</a:t>
            </a:r>
            <a:r>
              <a:rPr sz="805" b="0">
                <a:solidFill>
                  <a:srgbClr val="667085"/>
                </a:solidFill>
                <a:latin typeface="Aptos Mono"/>
              </a:rPr>
              <a:t>: </a:t>
            </a:r>
          </a:p>
          <a:p>
            <a:pPr>
              <a:lnSpc>
                <a:spcPct val="98000"/>
              </a:lnSpc>
              <a:spcBef>
                <a:spcPts val="0"/>
              </a:spcBef>
              <a:spcAft>
                <a:spcPts val="0"/>
              </a:spcAft>
            </a:pPr>
            <a:r>
              <a:rPr sz="805" b="0">
                <a:solidFill>
                  <a:srgbClr val="172033"/>
                </a:solidFill>
                <a:latin typeface="Aptos Mono"/>
              </a:rPr>
              <a:t>      "upstream_deploy_coding_agent"</a:t>
            </a:r>
          </a:p>
          <a:p>
            <a:pPr>
              <a:lnSpc>
                <a:spcPct val="98000"/>
              </a:lnSpc>
              <a:spcBef>
                <a:spcPts val="0"/>
              </a:spcBef>
              <a:spcAft>
                <a:spcPts val="0"/>
              </a:spcAft>
            </a:pPr>
            <a:r>
              <a:rPr sz="805" b="0">
                <a:solidFill>
                  <a:srgbClr val="667085"/>
                </a:solidFill>
                <a:latin typeface="Aptos Mono"/>
              </a:rPr>
              <a:t>  },</a:t>
            </a:r>
          </a:p>
          <a:p>
            <a:pPr>
              <a:lnSpc>
                <a:spcPct val="98000"/>
              </a:lnSpc>
              <a:spcBef>
                <a:spcPts val="0"/>
              </a:spcBef>
              <a:spcAft>
                <a:spcPts val="0"/>
              </a:spcAft>
            </a:pPr>
            <a:r>
              <a:rPr sz="805" b="0">
                <a:solidFill>
                  <a:srgbClr val="667085"/>
                </a:solidFill>
                <a:latin typeface="Aptos Mono"/>
              </a:rPr>
              <a:t>  </a:t>
            </a:r>
            <a:r>
              <a:rPr sz="805" b="1">
                <a:solidFill>
                  <a:srgbClr val="1D4ED8"/>
                </a:solidFill>
                <a:latin typeface="Aptos Mono"/>
              </a:rPr>
              <a:t>"agent_hints"</a:t>
            </a:r>
            <a:r>
              <a:rPr sz="805" b="0">
                <a:solidFill>
                  <a:srgbClr val="667085"/>
                </a:solidFill>
                <a:latin typeface="Aptos Mono"/>
              </a:rPr>
              <a:t>: </a:t>
            </a:r>
            <a:r>
              <a:rPr sz="805" b="0">
                <a:solidFill>
                  <a:srgbClr val="667085"/>
                </a:solidFill>
                <a:latin typeface="Aptos Mono"/>
              </a:rPr>
              <a:t>{</a:t>
            </a:r>
          </a:p>
          <a:p>
            <a:pPr>
              <a:lnSpc>
                <a:spcPct val="98000"/>
              </a:lnSpc>
              <a:spcBef>
                <a:spcPts val="0"/>
              </a:spcBef>
              <a:spcAft>
                <a:spcPts val="0"/>
              </a:spcAft>
            </a:pPr>
            <a:r>
              <a:rPr sz="805" b="0">
                <a:solidFill>
                  <a:srgbClr val="667085"/>
                </a:solidFill>
                <a:latin typeface="Aptos Mono"/>
              </a:rPr>
              <a:t>    </a:t>
            </a:r>
            <a:r>
              <a:rPr sz="805" b="1">
                <a:solidFill>
                  <a:srgbClr val="1D4ED8"/>
                </a:solidFill>
                <a:latin typeface="Aptos Mono"/>
              </a:rPr>
              <a:t>"priority"</a:t>
            </a:r>
            <a:r>
              <a:rPr sz="805" b="0">
                <a:solidFill>
                  <a:srgbClr val="667085"/>
                </a:solidFill>
                <a:latin typeface="Aptos Mono"/>
              </a:rPr>
              <a:t>: </a:t>
            </a:r>
            <a:r>
              <a:rPr sz="805" b="0">
                <a:solidFill>
                  <a:srgbClr val="172033"/>
                </a:solidFill>
                <a:latin typeface="Aptos Mono"/>
              </a:rPr>
              <a:t>5,</a:t>
            </a:r>
          </a:p>
          <a:p>
            <a:pPr>
              <a:lnSpc>
                <a:spcPct val="98000"/>
              </a:lnSpc>
              <a:spcBef>
                <a:spcPts val="0"/>
              </a:spcBef>
              <a:spcAft>
                <a:spcPts val="0"/>
              </a:spcAft>
            </a:pPr>
            <a:r>
              <a:rPr sz="805" b="0">
                <a:solidFill>
                  <a:srgbClr val="667085"/>
                </a:solidFill>
                <a:latin typeface="Aptos Mono"/>
              </a:rPr>
              <a:t>    </a:t>
            </a:r>
            <a:r>
              <a:rPr sz="805" b="1">
                <a:solidFill>
                  <a:srgbClr val="1D4ED8"/>
                </a:solidFill>
                <a:latin typeface="Aptos Mono"/>
              </a:rPr>
              <a:t>"reuse_likelihood"</a:t>
            </a:r>
            <a:r>
              <a:rPr sz="805" b="0">
                <a:solidFill>
                  <a:srgbClr val="667085"/>
                </a:solidFill>
                <a:latin typeface="Aptos Mono"/>
              </a:rPr>
              <a:t>: </a:t>
            </a:r>
            <a:r>
              <a:rPr sz="805" b="0">
                <a:solidFill>
                  <a:srgbClr val="172033"/>
                </a:solidFill>
                <a:latin typeface="Aptos Mono"/>
              </a:rPr>
              <a:t>0.9,</a:t>
            </a:r>
          </a:p>
          <a:p>
            <a:pPr>
              <a:lnSpc>
                <a:spcPct val="98000"/>
              </a:lnSpc>
              <a:spcBef>
                <a:spcPts val="0"/>
              </a:spcBef>
              <a:spcAft>
                <a:spcPts val="0"/>
              </a:spcAft>
            </a:pPr>
            <a:r>
              <a:rPr sz="805" b="0">
                <a:solidFill>
                  <a:srgbClr val="667085"/>
                </a:solidFill>
                <a:latin typeface="Aptos Mono"/>
              </a:rPr>
              <a:t>    </a:t>
            </a:r>
            <a:r>
              <a:rPr sz="805" b="1">
                <a:solidFill>
                  <a:srgbClr val="1D4ED8"/>
                </a:solidFill>
                <a:latin typeface="Aptos Mono"/>
              </a:rPr>
              <a:t>"expected_output_tokens"</a:t>
            </a:r>
            <a:r>
              <a:rPr sz="805" b="0">
                <a:solidFill>
                  <a:srgbClr val="667085"/>
                </a:solidFill>
                <a:latin typeface="Aptos Mono"/>
              </a:rPr>
              <a:t>: </a:t>
            </a:r>
            <a:r>
              <a:rPr sz="805" b="0">
                <a:solidFill>
                  <a:srgbClr val="172033"/>
                </a:solidFill>
                <a:latin typeface="Aptos Mono"/>
              </a:rPr>
              <a:t>2048</a:t>
            </a:r>
          </a:p>
          <a:p>
            <a:pPr>
              <a:lnSpc>
                <a:spcPct val="98000"/>
              </a:lnSpc>
              <a:spcBef>
                <a:spcPts val="0"/>
              </a:spcBef>
              <a:spcAft>
                <a:spcPts val="0"/>
              </a:spcAft>
            </a:pPr>
            <a:r>
              <a:rPr sz="805" b="0">
                <a:solidFill>
                  <a:srgbClr val="667085"/>
                </a:solidFill>
                <a:latin typeface="Aptos Mono"/>
              </a:rPr>
              <a:t>  },</a:t>
            </a:r>
          </a:p>
          <a:p>
            <a:pPr>
              <a:lnSpc>
                <a:spcPct val="98000"/>
              </a:lnSpc>
              <a:spcBef>
                <a:spcPts val="0"/>
              </a:spcBef>
              <a:spcAft>
                <a:spcPts val="0"/>
              </a:spcAft>
            </a:pPr>
            <a:r>
              <a:rPr sz="805" b="0">
                <a:solidFill>
                  <a:srgbClr val="667085"/>
                </a:solidFill>
                <a:latin typeface="Aptos Mono"/>
              </a:rPr>
              <a:t>  </a:t>
            </a:r>
            <a:r>
              <a:rPr sz="805" b="1">
                <a:solidFill>
                  <a:srgbClr val="1D4ED8"/>
                </a:solidFill>
                <a:latin typeface="Aptos Mono"/>
              </a:rPr>
              <a:t>"tool_choice"</a:t>
            </a:r>
            <a:r>
              <a:rPr sz="805" b="0">
                <a:solidFill>
                  <a:srgbClr val="667085"/>
                </a:solidFill>
                <a:latin typeface="Aptos Mono"/>
              </a:rPr>
              <a:t>: </a:t>
            </a:r>
            <a:r>
              <a:rPr sz="805" b="0">
                <a:solidFill>
                  <a:srgbClr val="172033"/>
                </a:solidFill>
                <a:latin typeface="Aptos Mono"/>
              </a:rPr>
              <a:t>"auto"</a:t>
            </a:r>
          </a:p>
          <a:p>
            <a:pPr>
              <a:lnSpc>
                <a:spcPct val="98000"/>
              </a:lnSpc>
              <a:spcBef>
                <a:spcPts val="0"/>
              </a:spcBef>
              <a:spcAft>
                <a:spcPts val="0"/>
              </a:spcAft>
            </a:pPr>
            <a:r>
              <a:rPr sz="805" b="0">
                <a:solidFill>
                  <a:srgbClr val="667085"/>
                </a:solidFill>
                <a:latin typeface="Aptos Mono"/>
              </a:rPr>
              <a:t>}</a:t>
            </a:r>
          </a:p>
        </p:txBody>
      </p:sp>
      <p:sp xmlns:a="http://schemas.openxmlformats.org/drawingml/2006/main">
        <p:nvSpPr>
          <p:cNvPr id="50" name="TextBox 49"/>
          <p:cNvSpPr txBox="1"/>
          <p:nvPr/>
        </p:nvSpPr>
        <p:spPr>
          <a:xfrm>
            <a:off x="609600" y="5810250"/>
            <a:ext cx="9906000" cy="323850"/>
          </a:xfrm>
          <a:prstGeom prst="rect">
            <a:avLst/>
          </a:prstGeom>
          <a:noFill/>
        </p:spPr>
        <p:txBody>
          <a:bodyPr wrap="square" lIns="0" rIns="0" tIns="0" bIns="0" anchor="t">
            <a:spAutoFit/>
          </a:bodyPr>
          <a:lstStyle/>
          <a:p>
            <a:pPr algn="l"/>
            <a:r>
              <a:rPr sz="1550" b="0">
                <a:solidFill>
                  <a:srgbClr val="334155"/>
                </a:solidFill>
                <a:latin typeface="Aptos"/>
              </a:rPr>
              <a:t>No payload growth | model=Qwen/Qwen2.5-7B-Instruct | tool_choice=auto | request_id=...::baseline_execution</a:t>
            </a:r>
          </a:p>
        </p:txBody>
      </p:sp>
      <p:sp xmlns:a="http://schemas.openxmlformats.org/drawingml/2006/main">
        <p:nvSpPr>
          <p:cNvPr id="51" name="Rectangle 50"/>
          <p:cNvSpPr/>
          <p:nvPr/>
        </p:nvSpPr>
        <p:spPr>
          <a:xfrm>
            <a:off x="609600" y="6324600"/>
            <a:ext cx="10972800" cy="9525"/>
          </a:xfrm>
          <a:prstGeom prst="rect">
            <a:avLst/>
          </a:prstGeom>
          <a:solidFill>
            <a:srgbClr val="D7D1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2" name="TextBox 51"/>
          <p:cNvSpPr txBox="1"/>
          <p:nvPr/>
        </p:nvSpPr>
        <p:spPr>
          <a:xfrm>
            <a:off x="609600" y="6477000"/>
            <a:ext cx="3238500" cy="171450"/>
          </a:xfrm>
          <a:prstGeom prst="rect">
            <a:avLst/>
          </a:prstGeom>
          <a:noFill/>
        </p:spPr>
        <p:txBody>
          <a:bodyPr wrap="square" lIns="0" rIns="0" tIns="0" bIns="0" anchor="t">
            <a:spAutoFit/>
          </a:bodyPr>
          <a:lstStyle/>
          <a:p>
            <a:pPr algn="l"/>
            <a:r>
              <a:rPr sz="1100" b="1">
                <a:solidFill>
                  <a:srgbClr val="667085"/>
                </a:solidFill>
                <a:latin typeface="Aptos"/>
              </a:rPr>
              <a:t>PROMPT EVOLUTION</a:t>
            </a:r>
          </a:p>
        </p:txBody>
      </p:sp>
      <p:sp xmlns:a="http://schemas.openxmlformats.org/drawingml/2006/main">
        <p:nvSpPr>
          <p:cNvPr id="53" name="TextBox 52"/>
          <p:cNvSpPr txBox="1"/>
          <p:nvPr/>
        </p:nvSpPr>
        <p:spPr>
          <a:xfrm>
            <a:off x="11087100" y="6477000"/>
            <a:ext cx="495300" cy="171450"/>
          </a:xfrm>
          <a:prstGeom prst="rect">
            <a:avLst/>
          </a:prstGeom>
          <a:noFill/>
        </p:spPr>
        <p:txBody>
          <a:bodyPr wrap="square" lIns="0" rIns="0" tIns="0" bIns="0" anchor="t">
            <a:spAutoFit/>
          </a:bodyPr>
          <a:lstStyle/>
          <a:p>
            <a:pPr algn="r"/>
            <a:r>
              <a:rPr sz="1100" b="0">
                <a:solidFill>
                  <a:srgbClr val="667085"/>
                </a:solidFill>
                <a:latin typeface="Aptos Mono"/>
              </a:rPr>
              <a:t>09</a:t>
            </a:r>
          </a:p>
        </p:txBody>
      </p:sp>
    </p:spTree>
    <p:extLst>
      <p:ext uri="{BB962C8B-B14F-4D97-AF65-F5344CB8AC3E}">
        <p14:creationId xmlns:p14="http://schemas.microsoft.com/office/powerpoint/2010/main" val="129692675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11D4FC3-C9FD-4C82-91F9-9D370A98435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7067793-9966-4524-9D2A-0BA12492E0DA}"/>
              </a:ext>
            </a:extLst>
          </p:cNvPr>
          <p:cNvSpPr>
            <a:spLocks xmlns:a="http://schemas.openxmlformats.org/drawingml/2006/main" noGrp="1"/>
          </p:cNvSpPr>
          <p:nvPr/>
        </p:nvSpPr>
        <p:spPr>
          <a:xfrm xmlns:a="http://schemas.openxmlformats.org/drawingml/2006/main">
            <a:off x="609600" y="495300"/>
            <a:ext cx="76200" cy="228600"/>
          </a:xfrm>
          <a:prstGeom xmlns:a="http://schemas.openxmlformats.org/drawingml/2006/main" prst="rect">
            <a:avLst/>
          </a:prstGeom>
          <a:solidFill xmlns:a="http://schemas.openxmlformats.org/drawingml/2006/main">
            <a:srgbClr val="6D28D9"/>
          </a:solidFill>
          <a:ln xmlns:a="http://schemas.openxmlformats.org/drawingml/2006/main" w="0">
            <a:solidFill>
              <a:srgbClr val="000000">
                <a:alpha val="0"/>
              </a:srgbClr>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1E8277FD-5D06-460D-BDC9-1E55E45C24B6}"/>
              </a:ext>
            </a:extLst>
          </p:cNvPr>
          <p:cNvSpPr>
            <a:spLocks xmlns:a="http://schemas.openxmlformats.org/drawingml/2006/main" noGrp="1"/>
          </p:cNvSpPr>
          <p:nvPr/>
        </p:nvSpPr>
        <p:spPr>
          <a:xfrm xmlns:a="http://schemas.openxmlformats.org/drawingml/2006/main">
            <a:off x="800100" y="4953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67085"/>
                </a:solidFill>
                <a:latin typeface="Aptos"/>
                <a:ea typeface="Aptos"/>
                <a:cs typeface="Aptos"/>
              </a:defRPr>
            </a:pPr>
            <a:r>
              <a:rPr sz="900" b="1">
                <a:solidFill>
                  <a:srgbClr val="667085"/>
                </a:solidFill>
                <a:latin typeface="Aptos"/>
                <a:ea typeface="Aptos"/>
                <a:cs typeface="Aptos"/>
              </a:rPr>
              <a:t>STEP 3 OF 5 | REQUEST -&gt; AGENT RULES | DEEP AGENTS LAYER</a:t>
            </a:r>
          </a:p>
        </p:txBody>
      </p:sp>
      <p:sp>
        <p:nvSpPr>
          <p:cNvPr id="4" name="">
            <a:extLst xmlns:a="http://schemas.openxmlformats.org/drawingml/2006/main">
              <a:ext uri="{FF2B5EF4-FFF2-40B4-BE49-F238E27FC236}">
                <a16:creationId xmlns:a16="http://schemas.microsoft.com/office/drawing/2014/main" id="{FD2832FD-A172-4A58-8E82-1883119433D3}"/>
              </a:ext>
            </a:extLst>
          </p:cNvPr>
          <p:cNvSpPr>
            <a:spLocks xmlns:a="http://schemas.openxmlformats.org/drawingml/2006/main" noGrp="1"/>
          </p:cNvSpPr>
          <p:nvPr/>
        </p:nvSpPr>
        <p:spPr>
          <a:xfrm xmlns:a="http://schemas.openxmlformats.org/drawingml/2006/main">
            <a:off x="609600" y="819150"/>
            <a:ext cx="100965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01820"/>
                </a:solidFill>
                <a:latin typeface="Aptos Display"/>
                <a:ea typeface="Aptos Display"/>
                <a:cs typeface="Aptos Display"/>
              </a:defRPr>
            </a:pPr>
            <a:r>
              <a:rPr sz="2850" b="1">
                <a:solidFill>
                  <a:srgbClr val="101820"/>
                </a:solidFill>
                <a:latin typeface="Aptos Display"/>
                <a:ea typeface="Aptos Display"/>
                <a:cs typeface="Aptos Display"/>
              </a:rPr>
              <a:t>Then, agent rules are layered into the request.</a:t>
            </a:r>
          </a:p>
        </p:txBody>
      </p:sp>
      <p:sp>
        <p:nvSpPr>
          <p:cNvPr id="5" name="">
            <a:extLst xmlns:a="http://schemas.openxmlformats.org/drawingml/2006/main">
              <a:ext uri="{FF2B5EF4-FFF2-40B4-BE49-F238E27FC236}">
                <a16:creationId xmlns:a16="http://schemas.microsoft.com/office/drawing/2014/main" id="{00C4E2FE-FDE2-40A1-AD5C-835A02EA2604}"/>
              </a:ext>
            </a:extLst>
          </p:cNvPr>
          <p:cNvSpPr>
            <a:spLocks xmlns:a="http://schemas.openxmlformats.org/drawingml/2006/main" noGrp="1"/>
          </p:cNvSpPr>
          <p:nvPr/>
        </p:nvSpPr>
        <p:spPr>
          <a:xfrm xmlns:a="http://schemas.openxmlformats.org/drawingml/2006/main">
            <a:off x="7658100" y="514350"/>
            <a:ext cx="742950" cy="209550"/>
          </a:xfrm>
          <a:prstGeom xmlns:a="http://schemas.openxmlformats.org/drawingml/2006/main" prst="rect">
            <a:avLst/>
          </a:prstGeom>
          <a:solidFill xmlns:a="http://schemas.openxmlformats.org/drawingml/2006/main">
            <a:srgbClr val="000000">
              <a:alpha val="0"/>
            </a:srgbClr>
          </a:solidFill>
          <a:ln xmlns:a="http://schemas.openxmlformats.org/drawingml/2006/main" w="11430">
            <a:solidFill>
              <a:srgbClr val="D8D0C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F8F93E3F-3255-4940-B90A-CD44942F807C}"/>
              </a:ext>
            </a:extLst>
          </p:cNvPr>
          <p:cNvSpPr>
            <a:spLocks xmlns:a="http://schemas.openxmlformats.org/drawingml/2006/main" noGrp="1"/>
          </p:cNvSpPr>
          <p:nvPr/>
        </p:nvSpPr>
        <p:spPr>
          <a:xfrm xmlns:a="http://schemas.openxmlformats.org/drawingml/2006/main">
            <a:off x="7715250" y="571500"/>
            <a:ext cx="6286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667085"/>
                </a:solidFill>
                <a:latin typeface="Aptos"/>
                <a:ea typeface="Aptos"/>
                <a:cs typeface="Aptos"/>
              </a:defRPr>
            </a:pPr>
            <a:r>
              <a:rPr sz="675" b="1">
                <a:solidFill>
                  <a:srgbClr val="667085"/>
                </a:solidFill>
                <a:latin typeface="Aptos"/>
                <a:ea typeface="Aptos"/>
                <a:cs typeface="Aptos"/>
              </a:rPr>
              <a:t>Task</a:t>
            </a:r>
          </a:p>
        </p:txBody>
      </p:sp>
      <p:sp>
        <p:nvSpPr>
          <p:cNvPr id="7" name="">
            <a:extLst xmlns:a="http://schemas.openxmlformats.org/drawingml/2006/main">
              <a:ext uri="{FF2B5EF4-FFF2-40B4-BE49-F238E27FC236}">
                <a16:creationId xmlns:a16="http://schemas.microsoft.com/office/drawing/2014/main" id="{0EA6D818-3017-4E40-9A62-E929A95C0B49}"/>
              </a:ext>
            </a:extLst>
          </p:cNvPr>
          <p:cNvSpPr>
            <a:spLocks xmlns:a="http://schemas.openxmlformats.org/drawingml/2006/main" noGrp="1"/>
          </p:cNvSpPr>
          <p:nvPr/>
        </p:nvSpPr>
        <p:spPr>
          <a:xfrm xmlns:a="http://schemas.openxmlformats.org/drawingml/2006/main">
            <a:off x="8477250" y="514350"/>
            <a:ext cx="742950" cy="209550"/>
          </a:xfrm>
          <a:prstGeom xmlns:a="http://schemas.openxmlformats.org/drawingml/2006/main" prst="rect">
            <a:avLst/>
          </a:prstGeom>
          <a:solidFill xmlns:a="http://schemas.openxmlformats.org/drawingml/2006/main">
            <a:srgbClr val="000000">
              <a:alpha val="0"/>
            </a:srgbClr>
          </a:solidFill>
          <a:ln xmlns:a="http://schemas.openxmlformats.org/drawingml/2006/main" w="11430">
            <a:solidFill>
              <a:srgbClr val="D8D0C7"/>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D40BA479-FA44-4765-ACE9-B1F9C2BE4463}"/>
              </a:ext>
            </a:extLst>
          </p:cNvPr>
          <p:cNvSpPr>
            <a:spLocks xmlns:a="http://schemas.openxmlformats.org/drawingml/2006/main" noGrp="1"/>
          </p:cNvSpPr>
          <p:nvPr/>
        </p:nvSpPr>
        <p:spPr>
          <a:xfrm xmlns:a="http://schemas.openxmlformats.org/drawingml/2006/main">
            <a:off x="8534400" y="571500"/>
            <a:ext cx="6286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667085"/>
                </a:solidFill>
                <a:latin typeface="Aptos"/>
                <a:ea typeface="Aptos"/>
                <a:cs typeface="Aptos"/>
              </a:defRPr>
            </a:pPr>
            <a:r>
              <a:rPr sz="675" b="1">
                <a:solidFill>
                  <a:srgbClr val="667085"/>
                </a:solidFill>
                <a:latin typeface="Aptos"/>
                <a:ea typeface="Aptos"/>
                <a:cs typeface="Aptos"/>
              </a:rPr>
              <a:t>Prompt</a:t>
            </a:r>
          </a:p>
        </p:txBody>
      </p:sp>
      <p:sp>
        <p:nvSpPr>
          <p:cNvPr id="9" name="">
            <a:extLst xmlns:a="http://schemas.openxmlformats.org/drawingml/2006/main">
              <a:ext uri="{FF2B5EF4-FFF2-40B4-BE49-F238E27FC236}">
                <a16:creationId xmlns:a16="http://schemas.microsoft.com/office/drawing/2014/main" id="{F530F078-9BB5-4E59-BFED-D0AE62FE31DE}"/>
              </a:ext>
            </a:extLst>
          </p:cNvPr>
          <p:cNvSpPr>
            <a:spLocks xmlns:a="http://schemas.openxmlformats.org/drawingml/2006/main" noGrp="1"/>
          </p:cNvSpPr>
          <p:nvPr/>
        </p:nvSpPr>
        <p:spPr>
          <a:xfrm xmlns:a="http://schemas.openxmlformats.org/drawingml/2006/main">
            <a:off x="9296400" y="514350"/>
            <a:ext cx="742950" cy="209550"/>
          </a:xfrm>
          <a:prstGeom xmlns:a="http://schemas.openxmlformats.org/drawingml/2006/main" prst="rect">
            <a:avLst/>
          </a:prstGeom>
          <a:solidFill xmlns:a="http://schemas.openxmlformats.org/drawingml/2006/main">
            <a:srgbClr val="1D4ED8"/>
          </a:solidFill>
          <a:ln xmlns:a="http://schemas.openxmlformats.org/drawingml/2006/main" w="11430">
            <a:solidFill>
              <a:srgbClr val="1D4ED8"/>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8C81F9A7-8CD9-4101-A2E3-C351E280A770}"/>
              </a:ext>
            </a:extLst>
          </p:cNvPr>
          <p:cNvSpPr>
            <a:spLocks xmlns:a="http://schemas.openxmlformats.org/drawingml/2006/main" noGrp="1"/>
          </p:cNvSpPr>
          <p:nvPr/>
        </p:nvSpPr>
        <p:spPr>
          <a:xfrm xmlns:a="http://schemas.openxmlformats.org/drawingml/2006/main">
            <a:off x="9353550" y="571500"/>
            <a:ext cx="6286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FFFFFF"/>
                </a:solidFill>
                <a:latin typeface="Aptos"/>
                <a:ea typeface="Aptos"/>
                <a:cs typeface="Aptos"/>
              </a:defRPr>
            </a:pPr>
            <a:r>
              <a:rPr sz="675" b="1">
                <a:solidFill>
                  <a:srgbClr val="FFFFFF"/>
                </a:solidFill>
                <a:latin typeface="Aptos"/>
                <a:ea typeface="Aptos"/>
                <a:cs typeface="Aptos"/>
              </a:rPr>
              <a:t>Request</a:t>
            </a:r>
          </a:p>
        </p:txBody>
      </p:sp>
      <p:sp>
        <p:nvSpPr>
          <p:cNvPr id="11" name="">
            <a:extLst xmlns:a="http://schemas.openxmlformats.org/drawingml/2006/main">
              <a:ext uri="{FF2B5EF4-FFF2-40B4-BE49-F238E27FC236}">
                <a16:creationId xmlns:a16="http://schemas.microsoft.com/office/drawing/2014/main" id="{6D9896E1-3509-40EA-9FCB-F44146A3489B}"/>
              </a:ext>
            </a:extLst>
          </p:cNvPr>
          <p:cNvSpPr>
            <a:spLocks xmlns:a="http://schemas.openxmlformats.org/drawingml/2006/main" noGrp="1"/>
          </p:cNvSpPr>
          <p:nvPr/>
        </p:nvSpPr>
        <p:spPr>
          <a:xfrm xmlns:a="http://schemas.openxmlformats.org/drawingml/2006/main">
            <a:off x="10115550" y="514350"/>
            <a:ext cx="742950" cy="209550"/>
          </a:xfrm>
          <a:prstGeom xmlns:a="http://schemas.openxmlformats.org/drawingml/2006/main" prst="rect">
            <a:avLst/>
          </a:prstGeom>
          <a:solidFill xmlns:a="http://schemas.openxmlformats.org/drawingml/2006/main">
            <a:srgbClr val="000000">
              <a:alpha val="0"/>
            </a:srgbClr>
          </a:solidFill>
          <a:ln xmlns:a="http://schemas.openxmlformats.org/drawingml/2006/main" w="11430">
            <a:solidFill>
              <a:srgbClr val="D8D0C7"/>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B3B02424-C4B6-4AE8-8F8B-439CFB9229A7}"/>
              </a:ext>
            </a:extLst>
          </p:cNvPr>
          <p:cNvSpPr>
            <a:spLocks xmlns:a="http://schemas.openxmlformats.org/drawingml/2006/main" noGrp="1"/>
          </p:cNvSpPr>
          <p:nvPr/>
        </p:nvSpPr>
        <p:spPr>
          <a:xfrm xmlns:a="http://schemas.openxmlformats.org/drawingml/2006/main">
            <a:off x="10172700" y="571500"/>
            <a:ext cx="6286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667085"/>
                </a:solidFill>
                <a:latin typeface="Aptos"/>
                <a:ea typeface="Aptos"/>
                <a:cs typeface="Aptos"/>
              </a:defRPr>
            </a:pPr>
            <a:r>
              <a:rPr sz="675" b="1">
                <a:solidFill>
                  <a:srgbClr val="667085"/>
                </a:solidFill>
                <a:latin typeface="Aptos"/>
                <a:ea typeface="Aptos"/>
                <a:cs typeface="Aptos"/>
              </a:rPr>
              <a:t>Runtime</a:t>
            </a:r>
          </a:p>
        </p:txBody>
      </p:sp>
      <p:sp>
        <p:nvSpPr>
          <p:cNvPr id="13" name="">
            <a:extLst xmlns:a="http://schemas.openxmlformats.org/drawingml/2006/main">
              <a:ext uri="{FF2B5EF4-FFF2-40B4-BE49-F238E27FC236}">
                <a16:creationId xmlns:a16="http://schemas.microsoft.com/office/drawing/2014/main" id="{7B789E81-02A6-4889-9577-7004DC87580F}"/>
              </a:ext>
            </a:extLst>
          </p:cNvPr>
          <p:cNvSpPr>
            <a:spLocks xmlns:a="http://schemas.openxmlformats.org/drawingml/2006/main" noGrp="1"/>
          </p:cNvSpPr>
          <p:nvPr/>
        </p:nvSpPr>
        <p:spPr>
          <a:xfrm xmlns:a="http://schemas.openxmlformats.org/drawingml/2006/main">
            <a:off x="10934700" y="514350"/>
            <a:ext cx="742950" cy="209550"/>
          </a:xfrm>
          <a:prstGeom xmlns:a="http://schemas.openxmlformats.org/drawingml/2006/main" prst="rect">
            <a:avLst/>
          </a:prstGeom>
          <a:solidFill xmlns:a="http://schemas.openxmlformats.org/drawingml/2006/main">
            <a:srgbClr val="000000">
              <a:alpha val="0"/>
            </a:srgbClr>
          </a:solidFill>
          <a:ln xmlns:a="http://schemas.openxmlformats.org/drawingml/2006/main" w="11430">
            <a:solidFill>
              <a:srgbClr val="D8D0C7"/>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C1460361-4957-480D-8BDB-93F7A9B830AE}"/>
              </a:ext>
            </a:extLst>
          </p:cNvPr>
          <p:cNvSpPr>
            <a:spLocks xmlns:a="http://schemas.openxmlformats.org/drawingml/2006/main" noGrp="1"/>
          </p:cNvSpPr>
          <p:nvPr/>
        </p:nvSpPr>
        <p:spPr>
          <a:xfrm xmlns:a="http://schemas.openxmlformats.org/drawingml/2006/main">
            <a:off x="10991850" y="571500"/>
            <a:ext cx="6286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667085"/>
                </a:solidFill>
                <a:latin typeface="Aptos"/>
                <a:ea typeface="Aptos"/>
                <a:cs typeface="Aptos"/>
              </a:defRPr>
            </a:pPr>
            <a:r>
              <a:rPr sz="675" b="1">
                <a:solidFill>
                  <a:srgbClr val="667085"/>
                </a:solidFill>
                <a:latin typeface="Aptos"/>
                <a:ea typeface="Aptos"/>
                <a:cs typeface="Aptos"/>
              </a:rPr>
              <a:t>Behavior</a:t>
            </a:r>
          </a:p>
        </p:txBody>
      </p:sp>
      <p:sp>
        <p:nvSpPr>
          <p:cNvPr id="15" name="">
            <a:extLst xmlns:a="http://schemas.openxmlformats.org/drawingml/2006/main">
              <a:ext uri="{FF2B5EF4-FFF2-40B4-BE49-F238E27FC236}">
                <a16:creationId xmlns:a16="http://schemas.microsoft.com/office/drawing/2014/main" id="{1AF7DF24-5BC6-4B5C-B27B-3428707D48E6}"/>
              </a:ext>
            </a:extLst>
          </p:cNvPr>
          <p:cNvSpPr>
            <a:spLocks xmlns:a="http://schemas.openxmlformats.org/drawingml/2006/main" noGrp="1"/>
          </p:cNvSpPr>
          <p:nvPr/>
        </p:nvSpPr>
        <p:spPr>
          <a:xfrm xmlns:a="http://schemas.openxmlformats.org/drawingml/2006/main">
            <a:off x="609600" y="1866900"/>
            <a:ext cx="10972800" cy="1905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52BDCDDE-F317-417A-B396-FD4FD68C0460}"/>
              </a:ext>
            </a:extLst>
          </p:cNvPr>
          <p:cNvSpPr>
            <a:spLocks xmlns:a="http://schemas.openxmlformats.org/drawingml/2006/main" noGrp="1"/>
          </p:cNvSpPr>
          <p:nvPr/>
        </p:nvSpPr>
        <p:spPr>
          <a:xfrm xmlns:a="http://schemas.openxmlformats.org/drawingml/2006/main">
            <a:off x="609600" y="2457450"/>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ED5052E7-1154-4066-BB85-D079301930D2}"/>
              </a:ext>
            </a:extLst>
          </p:cNvPr>
          <p:cNvSpPr>
            <a:spLocks xmlns:a="http://schemas.openxmlformats.org/drawingml/2006/main" noGrp="1"/>
          </p:cNvSpPr>
          <p:nvPr/>
        </p:nvSpPr>
        <p:spPr>
          <a:xfrm xmlns:a="http://schemas.openxmlformats.org/drawingml/2006/main">
            <a:off x="609600" y="1866900"/>
            <a:ext cx="76200" cy="59055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47635CCC-CBB7-42E4-8742-E001622599C7}"/>
              </a:ext>
            </a:extLst>
          </p:cNvPr>
          <p:cNvSpPr>
            <a:spLocks xmlns:a="http://schemas.openxmlformats.org/drawingml/2006/main" noGrp="1"/>
          </p:cNvSpPr>
          <p:nvPr/>
        </p:nvSpPr>
        <p:spPr>
          <a:xfrm xmlns:a="http://schemas.openxmlformats.org/drawingml/2006/main">
            <a:off x="838200" y="1971675"/>
            <a:ext cx="10477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667085"/>
                </a:solidFill>
                <a:latin typeface="Aptos"/>
                <a:ea typeface="Aptos"/>
                <a:cs typeface="Aptos"/>
              </a:defRPr>
            </a:pPr>
            <a:r>
              <a:rPr sz="735" b="1">
                <a:solidFill>
                  <a:srgbClr val="667085"/>
                </a:solidFill>
                <a:latin typeface="Aptos"/>
                <a:ea typeface="Aptos"/>
                <a:cs typeface="Aptos"/>
              </a:rPr>
              <a:t>What changed</a:t>
            </a:r>
          </a:p>
        </p:txBody>
      </p:sp>
      <p:sp>
        <p:nvSpPr>
          <p:cNvPr id="19" name="">
            <a:extLst xmlns:a="http://schemas.openxmlformats.org/drawingml/2006/main">
              <a:ext uri="{FF2B5EF4-FFF2-40B4-BE49-F238E27FC236}">
                <a16:creationId xmlns:a16="http://schemas.microsoft.com/office/drawing/2014/main" id="{F29E7502-C6D3-4A98-B1EC-FB04491F69BD}"/>
              </a:ext>
            </a:extLst>
          </p:cNvPr>
          <p:cNvSpPr>
            <a:spLocks xmlns:a="http://schemas.openxmlformats.org/drawingml/2006/main" noGrp="1"/>
          </p:cNvSpPr>
          <p:nvPr/>
        </p:nvSpPr>
        <p:spPr>
          <a:xfrm xmlns:a="http://schemas.openxmlformats.org/drawingml/2006/main">
            <a:off x="838200" y="2114550"/>
            <a:ext cx="2571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70" b="0">
                <a:solidFill>
                  <a:srgbClr val="101820"/>
                </a:solidFill>
                <a:latin typeface="Aptos"/>
                <a:ea typeface="Aptos"/>
                <a:cs typeface="Aptos"/>
              </a:defRPr>
            </a:pPr>
            <a:r>
              <a:rPr sz="870" b="0">
                <a:solidFill>
                  <a:srgbClr val="101820"/>
                </a:solidFill>
                <a:latin typeface="Aptos"/>
                <a:ea typeface="Aptos"/>
                <a:cs typeface="Aptos"/>
              </a:rPr>
              <a:t>Coding-agent behavior rules are layered around the request.</a:t>
            </a:r>
          </a:p>
        </p:txBody>
      </p:sp>
      <p:sp>
        <p:nvSpPr>
          <p:cNvPr id="20" name="">
            <a:extLst xmlns:a="http://schemas.openxmlformats.org/drawingml/2006/main">
              <a:ext uri="{FF2B5EF4-FFF2-40B4-BE49-F238E27FC236}">
                <a16:creationId xmlns:a16="http://schemas.microsoft.com/office/drawing/2014/main" id="{DFD02F61-9EC7-4D58-AFED-5B189655940C}"/>
              </a:ext>
            </a:extLst>
          </p:cNvPr>
          <p:cNvSpPr>
            <a:spLocks xmlns:a="http://schemas.openxmlformats.org/drawingml/2006/main" noGrp="1"/>
          </p:cNvSpPr>
          <p:nvPr/>
        </p:nvSpPr>
        <p:spPr>
          <a:xfrm xmlns:a="http://schemas.openxmlformats.org/drawingml/2006/main">
            <a:off x="3676650" y="1971675"/>
            <a:ext cx="10477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667085"/>
                </a:solidFill>
                <a:latin typeface="Aptos"/>
                <a:ea typeface="Aptos"/>
                <a:cs typeface="Aptos"/>
              </a:defRPr>
            </a:pPr>
            <a:r>
              <a:rPr sz="735" b="1">
                <a:solidFill>
                  <a:srgbClr val="667085"/>
                </a:solidFill>
                <a:latin typeface="Aptos"/>
                <a:ea typeface="Aptos"/>
                <a:cs typeface="Aptos"/>
              </a:rPr>
              <a:t>Why it matters</a:t>
            </a:r>
          </a:p>
        </p:txBody>
      </p:sp>
      <p:sp>
        <p:nvSpPr>
          <p:cNvPr id="21" name="">
            <a:extLst xmlns:a="http://schemas.openxmlformats.org/drawingml/2006/main">
              <a:ext uri="{FF2B5EF4-FFF2-40B4-BE49-F238E27FC236}">
                <a16:creationId xmlns:a16="http://schemas.microsoft.com/office/drawing/2014/main" id="{7220401A-A59E-40D9-A781-42710609EA08}"/>
              </a:ext>
            </a:extLst>
          </p:cNvPr>
          <p:cNvSpPr>
            <a:spLocks xmlns:a="http://schemas.openxmlformats.org/drawingml/2006/main" noGrp="1"/>
          </p:cNvSpPr>
          <p:nvPr/>
        </p:nvSpPr>
        <p:spPr>
          <a:xfrm xmlns:a="http://schemas.openxmlformats.org/drawingml/2006/main">
            <a:off x="3676650" y="2114550"/>
            <a:ext cx="2667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70" b="0">
                <a:solidFill>
                  <a:srgbClr val="101820"/>
                </a:solidFill>
                <a:latin typeface="Aptos"/>
                <a:ea typeface="Aptos"/>
                <a:cs typeface="Aptos"/>
              </a:defRPr>
            </a:pPr>
            <a:r>
              <a:rPr sz="870" b="0">
                <a:solidFill>
                  <a:srgbClr val="101820"/>
                </a:solidFill>
                <a:latin typeface="Aptos"/>
                <a:ea typeface="Aptos"/>
                <a:cs typeface="Aptos"/>
              </a:rPr>
              <a:t>They tell the agent how to behave: inspect, use tools, and verify.</a:t>
            </a:r>
          </a:p>
        </p:txBody>
      </p:sp>
      <p:sp>
        <p:nvSpPr>
          <p:cNvPr id="22" name="">
            <a:extLst xmlns:a="http://schemas.openxmlformats.org/drawingml/2006/main">
              <a:ext uri="{FF2B5EF4-FFF2-40B4-BE49-F238E27FC236}">
                <a16:creationId xmlns:a16="http://schemas.microsoft.com/office/drawing/2014/main" id="{5675F80C-BF55-4AFA-A052-5EA24C696946}"/>
              </a:ext>
            </a:extLst>
          </p:cNvPr>
          <p:cNvSpPr>
            <a:spLocks xmlns:a="http://schemas.openxmlformats.org/drawingml/2006/main" noGrp="1"/>
          </p:cNvSpPr>
          <p:nvPr/>
        </p:nvSpPr>
        <p:spPr>
          <a:xfrm xmlns:a="http://schemas.openxmlformats.org/drawingml/2006/main">
            <a:off x="6610350" y="1971675"/>
            <a:ext cx="11430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667085"/>
                </a:solidFill>
                <a:latin typeface="Aptos"/>
                <a:ea typeface="Aptos"/>
                <a:cs typeface="Aptos"/>
              </a:defRPr>
            </a:pPr>
            <a:r>
              <a:rPr sz="735" b="1">
                <a:solidFill>
                  <a:srgbClr val="667085"/>
                </a:solidFill>
                <a:latin typeface="Aptos"/>
                <a:ea typeface="Aptos"/>
                <a:cs typeface="Aptos"/>
              </a:rPr>
              <a:t>What to look at</a:t>
            </a:r>
          </a:p>
        </p:txBody>
      </p:sp>
      <p:sp>
        <p:nvSpPr>
          <p:cNvPr id="23" name="">
            <a:extLst xmlns:a="http://schemas.openxmlformats.org/drawingml/2006/main">
              <a:ext uri="{FF2B5EF4-FFF2-40B4-BE49-F238E27FC236}">
                <a16:creationId xmlns:a16="http://schemas.microsoft.com/office/drawing/2014/main" id="{69AF236D-09D0-42F6-A424-7B35AB119368}"/>
              </a:ext>
            </a:extLst>
          </p:cNvPr>
          <p:cNvSpPr>
            <a:spLocks xmlns:a="http://schemas.openxmlformats.org/drawingml/2006/main" noGrp="1"/>
          </p:cNvSpPr>
          <p:nvPr/>
        </p:nvSpPr>
        <p:spPr>
          <a:xfrm xmlns:a="http://schemas.openxmlformats.org/drawingml/2006/main">
            <a:off x="6610350" y="2114550"/>
            <a:ext cx="3105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70" b="0">
                <a:solidFill>
                  <a:srgbClr val="101820"/>
                </a:solidFill>
                <a:latin typeface="Aptos"/>
                <a:ea typeface="Aptos"/>
                <a:cs typeface="Aptos"/>
              </a:defRPr>
            </a:pPr>
            <a:r>
              <a:rPr sz="870" b="0">
                <a:solidFill>
                  <a:srgbClr val="101820"/>
                </a:solidFill>
                <a:latin typeface="Aptos"/>
                <a:ea typeface="Aptos"/>
                <a:cs typeface="Aptos"/>
              </a:rPr>
              <a:t>New field: system_prompt.</a:t>
            </a:r>
          </a:p>
        </p:txBody>
      </p:sp>
      <p:sp>
        <p:nvSpPr>
          <p:cNvPr id="24" name="">
            <a:extLst xmlns:a="http://schemas.openxmlformats.org/drawingml/2006/main">
              <a:ext uri="{FF2B5EF4-FFF2-40B4-BE49-F238E27FC236}">
                <a16:creationId xmlns:a16="http://schemas.microsoft.com/office/drawing/2014/main" id="{50C36F80-2ADB-4FF8-BFBE-FCF349401BF5}"/>
              </a:ext>
            </a:extLst>
          </p:cNvPr>
          <p:cNvSpPr>
            <a:spLocks xmlns:a="http://schemas.openxmlformats.org/drawingml/2006/main" noGrp="1"/>
          </p:cNvSpPr>
          <p:nvPr/>
        </p:nvSpPr>
        <p:spPr>
          <a:xfrm xmlns:a="http://schemas.openxmlformats.org/drawingml/2006/main">
            <a:off x="10001250" y="1971675"/>
            <a:ext cx="8572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667085"/>
                </a:solidFill>
                <a:latin typeface="Aptos"/>
                <a:ea typeface="Aptos"/>
                <a:cs typeface="Aptos"/>
              </a:defRPr>
            </a:pPr>
            <a:r>
              <a:rPr sz="735" b="1">
                <a:solidFill>
                  <a:srgbClr val="667085"/>
                </a:solidFill>
                <a:latin typeface="Aptos"/>
                <a:ea typeface="Aptos"/>
                <a:cs typeface="Aptos"/>
              </a:rPr>
              <a:t>Component</a:t>
            </a:r>
          </a:p>
        </p:txBody>
      </p:sp>
      <p:sp>
        <p:nvSpPr>
          <p:cNvPr id="25" name="">
            <a:extLst xmlns:a="http://schemas.openxmlformats.org/drawingml/2006/main">
              <a:ext uri="{FF2B5EF4-FFF2-40B4-BE49-F238E27FC236}">
                <a16:creationId xmlns:a16="http://schemas.microsoft.com/office/drawing/2014/main" id="{E3B33FDB-5F72-4167-AD49-E17B755D46C7}"/>
              </a:ext>
            </a:extLst>
          </p:cNvPr>
          <p:cNvSpPr>
            <a:spLocks xmlns:a="http://schemas.openxmlformats.org/drawingml/2006/main" noGrp="1"/>
          </p:cNvSpPr>
          <p:nvPr/>
        </p:nvSpPr>
        <p:spPr>
          <a:xfrm xmlns:a="http://schemas.openxmlformats.org/drawingml/2006/main">
            <a:off x="10001250" y="2114550"/>
            <a:ext cx="13144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40" b="1">
                <a:solidFill>
                  <a:srgbClr val="D97706"/>
                </a:solidFill>
                <a:latin typeface="Aptos"/>
                <a:ea typeface="Aptos"/>
                <a:cs typeface="Aptos"/>
              </a:defRPr>
            </a:pPr>
            <a:r>
              <a:rPr sz="840" b="1">
                <a:solidFill>
                  <a:srgbClr val="D97706"/>
                </a:solidFill>
                <a:latin typeface="Aptos"/>
                <a:ea typeface="Aptos"/>
                <a:cs typeface="Aptos"/>
              </a:rPr>
              <a:t>Deep Agents Layer</a:t>
            </a:r>
          </a:p>
        </p:txBody>
      </p:sp>
      <p:sp>
        <p:nvSpPr>
          <p:cNvPr id="26" name="">
            <a:extLst xmlns:a="http://schemas.openxmlformats.org/drawingml/2006/main">
              <a:ext uri="{FF2B5EF4-FFF2-40B4-BE49-F238E27FC236}">
                <a16:creationId xmlns:a16="http://schemas.microsoft.com/office/drawing/2014/main" id="{FB1D062C-0630-4209-B859-9FEDFF5FB7B2}"/>
              </a:ext>
            </a:extLst>
          </p:cNvPr>
          <p:cNvSpPr>
            <a:spLocks xmlns:a="http://schemas.openxmlformats.org/drawingml/2006/main" noGrp="1"/>
          </p:cNvSpPr>
          <p:nvPr/>
        </p:nvSpPr>
        <p:spPr>
          <a:xfrm xmlns:a="http://schemas.openxmlformats.org/drawingml/2006/main">
            <a:off x="609600" y="2476500"/>
            <a:ext cx="2476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1820"/>
                </a:solidFill>
                <a:latin typeface="Aptos"/>
                <a:ea typeface="Aptos"/>
                <a:cs typeface="Aptos"/>
              </a:defRPr>
            </a:pPr>
            <a:r>
              <a:rPr sz="1350" b="1">
                <a:solidFill>
                  <a:srgbClr val="101820"/>
                </a:solidFill>
                <a:latin typeface="Aptos"/>
                <a:ea typeface="Aptos"/>
                <a:cs typeface="Aptos"/>
              </a:rPr>
              <a:t>Agent Rules Applied</a:t>
            </a:r>
          </a:p>
        </p:txBody>
      </p:sp>
      <p:sp>
        <p:nvSpPr>
          <p:cNvPr id="27" name="">
            <a:extLst xmlns:a="http://schemas.openxmlformats.org/drawingml/2006/main">
              <a:ext uri="{FF2B5EF4-FFF2-40B4-BE49-F238E27FC236}">
                <a16:creationId xmlns:a16="http://schemas.microsoft.com/office/drawing/2014/main" id="{525286A6-7502-4F9B-B794-E1C777588958}"/>
              </a:ext>
            </a:extLst>
          </p:cNvPr>
          <p:cNvSpPr>
            <a:spLocks xmlns:a="http://schemas.openxmlformats.org/drawingml/2006/main" noGrp="1"/>
          </p:cNvSpPr>
          <p:nvPr/>
        </p:nvSpPr>
        <p:spPr>
          <a:xfrm xmlns:a="http://schemas.openxmlformats.org/drawingml/2006/main">
            <a:off x="3257550" y="2495550"/>
            <a:ext cx="12573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667085"/>
                </a:solidFill>
                <a:latin typeface="Aptos"/>
                <a:ea typeface="Aptos"/>
                <a:cs typeface="Aptos"/>
              </a:defRPr>
            </a:pPr>
            <a:r>
              <a:rPr sz="750" b="1">
                <a:solidFill>
                  <a:srgbClr val="667085"/>
                </a:solidFill>
                <a:latin typeface="Aptos"/>
                <a:ea typeface="Aptos"/>
                <a:cs typeface="Aptos"/>
              </a:rPr>
              <a:t>Added in this step</a:t>
            </a:r>
          </a:p>
        </p:txBody>
      </p:sp>
      <p:sp>
        <p:nvSpPr>
          <p:cNvPr id="28" name="">
            <a:extLst xmlns:a="http://schemas.openxmlformats.org/drawingml/2006/main">
              <a:ext uri="{FF2B5EF4-FFF2-40B4-BE49-F238E27FC236}">
                <a16:creationId xmlns:a16="http://schemas.microsoft.com/office/drawing/2014/main" id="{5BFC075E-6D74-414B-9FDF-20672074F6A5}"/>
              </a:ext>
            </a:extLst>
          </p:cNvPr>
          <p:cNvSpPr>
            <a:spLocks xmlns:a="http://schemas.openxmlformats.org/drawingml/2006/main" noGrp="1"/>
          </p:cNvSpPr>
          <p:nvPr/>
        </p:nvSpPr>
        <p:spPr>
          <a:xfrm xmlns:a="http://schemas.openxmlformats.org/drawingml/2006/main">
            <a:off x="4533900" y="2457450"/>
            <a:ext cx="103251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D97706"/>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7583316E-28BD-46EA-A61D-585A74EB526C}"/>
              </a:ext>
            </a:extLst>
          </p:cNvPr>
          <p:cNvSpPr>
            <a:spLocks xmlns:a="http://schemas.openxmlformats.org/drawingml/2006/main" noGrp="1"/>
          </p:cNvSpPr>
          <p:nvPr/>
        </p:nvSpPr>
        <p:spPr>
          <a:xfrm xmlns:a="http://schemas.openxmlformats.org/drawingml/2006/main">
            <a:off x="4619625" y="2505075"/>
            <a:ext cx="86106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system_prompt</a:t>
            </a:r>
          </a:p>
        </p:txBody>
      </p:sp>
      <p:sp>
        <p:nvSpPr>
          <p:cNvPr id="30" name="">
            <a:extLst xmlns:a="http://schemas.openxmlformats.org/drawingml/2006/main">
              <a:ext uri="{FF2B5EF4-FFF2-40B4-BE49-F238E27FC236}">
                <a16:creationId xmlns:a16="http://schemas.microsoft.com/office/drawing/2014/main" id="{CC2FF6F7-EAE6-46F6-B609-7F9BD990FD1D}"/>
              </a:ext>
            </a:extLst>
          </p:cNvPr>
          <p:cNvSpPr>
            <a:spLocks xmlns:a="http://schemas.openxmlformats.org/drawingml/2006/main" noGrp="1"/>
          </p:cNvSpPr>
          <p:nvPr/>
        </p:nvSpPr>
        <p:spPr>
          <a:xfrm xmlns:a="http://schemas.openxmlformats.org/drawingml/2006/main">
            <a:off x="9658350" y="2381250"/>
            <a:ext cx="1924050" cy="400050"/>
          </a:xfrm>
          <a:prstGeom xmlns:a="http://schemas.openxmlformats.org/drawingml/2006/main" prst="rect">
            <a:avLst/>
          </a:prstGeom>
          <a:solidFill xmlns:a="http://schemas.openxmlformats.org/drawingml/2006/main">
            <a:srgbClr val="FFFFFF"/>
          </a:solidFill>
          <a:ln xmlns:a="http://schemas.openxmlformats.org/drawingml/2006/main" w="15240">
            <a:solidFill>
              <a:srgbClr val="667085"/>
            </a:solidFill>
            <a:prstDash val="solid"/>
          </a:ln>
        </p:spPr>
        <p:txBody xmlns:a="http://schemas.openxmlformats.org/drawingml/2006/main">
          <a:bodyPr/>
          <a:p/>
        </p:txBody>
      </p:sp>
      <p:sp>
        <p:nvSpPr>
          <p:cNvPr id="31" name="">
            <a:extLst xmlns:a="http://schemas.openxmlformats.org/drawingml/2006/main">
              <a:ext uri="{FF2B5EF4-FFF2-40B4-BE49-F238E27FC236}">
                <a16:creationId xmlns:a16="http://schemas.microsoft.com/office/drawing/2014/main" id="{A1649EF0-BA93-4F8C-A6DA-084012D7C132}"/>
              </a:ext>
            </a:extLst>
          </p:cNvPr>
          <p:cNvSpPr>
            <a:spLocks xmlns:a="http://schemas.openxmlformats.org/drawingml/2006/main" noGrp="1"/>
          </p:cNvSpPr>
          <p:nvPr/>
        </p:nvSpPr>
        <p:spPr>
          <a:xfrm xmlns:a="http://schemas.openxmlformats.org/drawingml/2006/main">
            <a:off x="9772650" y="2447925"/>
            <a:ext cx="16954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0" b="1">
                <a:solidFill>
                  <a:srgbClr val="667085"/>
                </a:solidFill>
                <a:latin typeface="Aptos"/>
                <a:ea typeface="Aptos"/>
                <a:cs typeface="Aptos"/>
              </a:defRPr>
            </a:pPr>
            <a:r>
              <a:rPr sz="690" b="1">
                <a:solidFill>
                  <a:srgbClr val="667085"/>
                </a:solidFill>
                <a:latin typeface="Aptos"/>
                <a:ea typeface="Aptos"/>
                <a:cs typeface="Aptos"/>
              </a:rPr>
              <a:t>Payload size change</a:t>
            </a:r>
          </a:p>
        </p:txBody>
      </p:sp>
      <p:sp>
        <p:nvSpPr>
          <p:cNvPr id="32" name="">
            <a:extLst xmlns:a="http://schemas.openxmlformats.org/drawingml/2006/main">
              <a:ext uri="{FF2B5EF4-FFF2-40B4-BE49-F238E27FC236}">
                <a16:creationId xmlns:a16="http://schemas.microsoft.com/office/drawing/2014/main" id="{33A81F45-6752-4AE5-B3E6-4406EFDB67F4}"/>
              </a:ext>
            </a:extLst>
          </p:cNvPr>
          <p:cNvSpPr>
            <a:spLocks xmlns:a="http://schemas.openxmlformats.org/drawingml/2006/main" noGrp="1"/>
          </p:cNvSpPr>
          <p:nvPr/>
        </p:nvSpPr>
        <p:spPr>
          <a:xfrm xmlns:a="http://schemas.openxmlformats.org/drawingml/2006/main">
            <a:off x="9772650" y="2571750"/>
            <a:ext cx="1695450" cy="1809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667085"/>
                </a:solidFill>
                <a:latin typeface="Aptos Mono"/>
                <a:ea typeface="Aptos Mono"/>
                <a:cs typeface="Aptos Mono"/>
              </a:defRPr>
            </a:pPr>
            <a:r>
              <a:rPr sz="1238" b="1">
                <a:solidFill>
                  <a:srgbClr val="667085"/>
                </a:solidFill>
                <a:latin typeface="Aptos Mono"/>
                <a:ea typeface="Aptos Mono"/>
                <a:cs typeface="Aptos Mono"/>
              </a:rPr>
              <a:t>0</a:t>
            </a:r>
          </a:p>
        </p:txBody>
      </p:sp>
      <p:sp>
        <p:nvSpPr>
          <p:cNvPr id="33" name="">
            <a:extLst xmlns:a="http://schemas.openxmlformats.org/drawingml/2006/main">
              <a:ext uri="{FF2B5EF4-FFF2-40B4-BE49-F238E27FC236}">
                <a16:creationId xmlns:a16="http://schemas.microsoft.com/office/drawing/2014/main" id="{78DCF01A-3BBB-4343-B1A5-530D02041C27}"/>
              </a:ext>
            </a:extLst>
          </p:cNvPr>
          <p:cNvSpPr>
            <a:spLocks xmlns:a="http://schemas.openxmlformats.org/drawingml/2006/main" noGrp="1"/>
          </p:cNvSpPr>
          <p:nvPr/>
        </p:nvSpPr>
        <p:spPr>
          <a:xfrm xmlns:a="http://schemas.openxmlformats.org/drawingml/2006/main">
            <a:off x="609600" y="2857500"/>
            <a:ext cx="5219700" cy="2914650"/>
          </a:xfrm>
          <a:prstGeom xmlns:a="http://schemas.openxmlformats.org/drawingml/2006/main" prst="rect">
            <a:avLst/>
          </a:prstGeom>
          <a:solidFill xmlns:a="http://schemas.openxmlformats.org/drawingml/2006/main">
            <a:srgbClr val="FFFFFF"/>
          </a:solidFill>
          <a:ln xmlns:a="http://schemas.openxmlformats.org/drawingml/2006/main" w="19050">
            <a:solidFill>
              <a:srgbClr val="8D99A8"/>
            </a:solidFill>
            <a:prstDash val="solid"/>
          </a:ln>
        </p:spPr>
        <p:txBody xmlns:a="http://schemas.openxmlformats.org/drawingml/2006/main">
          <a:bodyPr/>
          <a:p/>
        </p:txBody>
      </p:sp>
      <p:sp>
        <p:nvSpPr>
          <p:cNvPr id="34" name="">
            <a:extLst xmlns:a="http://schemas.openxmlformats.org/drawingml/2006/main">
              <a:ext uri="{FF2B5EF4-FFF2-40B4-BE49-F238E27FC236}">
                <a16:creationId xmlns:a16="http://schemas.microsoft.com/office/drawing/2014/main" id="{C8814BD6-9E41-4AA0-BE60-86AA061FA6F6}"/>
              </a:ext>
            </a:extLst>
          </p:cNvPr>
          <p:cNvSpPr>
            <a:spLocks xmlns:a="http://schemas.openxmlformats.org/drawingml/2006/main" noGrp="1"/>
          </p:cNvSpPr>
          <p:nvPr/>
        </p:nvSpPr>
        <p:spPr>
          <a:xfrm xmlns:a="http://schemas.openxmlformats.org/drawingml/2006/main">
            <a:off x="609600" y="2857500"/>
            <a:ext cx="5219700" cy="400050"/>
          </a:xfrm>
          <a:prstGeom xmlns:a="http://schemas.openxmlformats.org/drawingml/2006/main" prst="rect">
            <a:avLst/>
          </a:prstGeom>
          <a:solidFill xmlns:a="http://schemas.openxmlformats.org/drawingml/2006/main">
            <a:srgbClr val="E9E1D6"/>
          </a:solidFill>
          <a:ln xmlns:a="http://schemas.openxmlformats.org/drawingml/2006/main" w="0">
            <a:solidFill>
              <a:srgbClr val="000000">
                <a:alpha val="0"/>
              </a:srgbClr>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D9B3FB14-EB75-4CBA-AAA9-49C087F8E958}"/>
              </a:ext>
            </a:extLst>
          </p:cNvPr>
          <p:cNvSpPr>
            <a:spLocks xmlns:a="http://schemas.openxmlformats.org/drawingml/2006/main" noGrp="1"/>
          </p:cNvSpPr>
          <p:nvPr/>
        </p:nvSpPr>
        <p:spPr>
          <a:xfrm xmlns:a="http://schemas.openxmlformats.org/drawingml/2006/main">
            <a:off x="781050" y="2962275"/>
            <a:ext cx="48768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90" b="1">
                <a:solidFill>
                  <a:srgbClr val="101820"/>
                </a:solidFill>
                <a:latin typeface="Aptos"/>
                <a:ea typeface="Aptos"/>
                <a:cs typeface="Aptos"/>
              </a:defRPr>
            </a:pPr>
            <a:r>
              <a:rPr sz="990" b="1">
                <a:solidFill>
                  <a:srgbClr val="101820"/>
                </a:solidFill>
                <a:latin typeface="Aptos"/>
                <a:ea typeface="Aptos"/>
                <a:cs typeface="Aptos"/>
              </a:rPr>
              <a:t>Before</a:t>
            </a:r>
          </a:p>
        </p:txBody>
      </p:sp>
      <p:sp>
        <p:nvSpPr>
          <p:cNvPr id="36" name="">
            <a:extLst xmlns:a="http://schemas.openxmlformats.org/drawingml/2006/main">
              <a:ext uri="{FF2B5EF4-FFF2-40B4-BE49-F238E27FC236}">
                <a16:creationId xmlns:a16="http://schemas.microsoft.com/office/drawing/2014/main" id="{783F8DB3-4215-4D3C-8F5C-48EFC326A8D7}"/>
              </a:ext>
            </a:extLst>
          </p:cNvPr>
          <p:cNvSpPr>
            <a:spLocks xmlns:a="http://schemas.openxmlformats.org/drawingml/2006/main" noGrp="1"/>
          </p:cNvSpPr>
          <p:nvPr/>
        </p:nvSpPr>
        <p:spPr>
          <a:xfrm xmlns:a="http://schemas.openxmlformats.org/drawingml/2006/main">
            <a:off x="781050" y="3409950"/>
            <a:ext cx="4876800" cy="2247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"model":"...",</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"messages":[</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"role":"...",</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"content":"..."</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"request_context":{</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"agent_hints":{</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"tool_choice":"..."</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a:t>
            </a:r>
          </a:p>
        </p:txBody>
      </p:sp>
      <p:sp>
        <p:nvSpPr>
          <p:cNvPr id="37" name="">
            <a:extLst xmlns:a="http://schemas.openxmlformats.org/drawingml/2006/main">
              <a:ext uri="{FF2B5EF4-FFF2-40B4-BE49-F238E27FC236}">
                <a16:creationId xmlns:a16="http://schemas.microsoft.com/office/drawing/2014/main" id="{315C9A9E-BA5F-40AB-A057-8DBED4D240EE}"/>
              </a:ext>
            </a:extLst>
          </p:cNvPr>
          <p:cNvSpPr>
            <a:spLocks xmlns:a="http://schemas.openxmlformats.org/drawingml/2006/main" noGrp="1"/>
          </p:cNvSpPr>
          <p:nvPr/>
        </p:nvSpPr>
        <p:spPr>
          <a:xfrm xmlns:a="http://schemas.openxmlformats.org/drawingml/2006/main">
            <a:off x="6362700" y="2857500"/>
            <a:ext cx="5219700" cy="2914650"/>
          </a:xfrm>
          <a:prstGeom xmlns:a="http://schemas.openxmlformats.org/drawingml/2006/main" prst="rect">
            <a:avLst/>
          </a:prstGeom>
          <a:solidFill xmlns:a="http://schemas.openxmlformats.org/drawingml/2006/main">
            <a:srgbClr val="FFFFFF"/>
          </a:solidFill>
          <a:ln xmlns:a="http://schemas.openxmlformats.org/drawingml/2006/main" w="19050">
            <a:solidFill>
              <a:srgbClr val="D97706"/>
            </a:solidFill>
            <a:prstDash val="solid"/>
          </a:ln>
        </p:spPr>
        <p:txBody xmlns:a="http://schemas.openxmlformats.org/drawingml/2006/main">
          <a:bodyPr/>
          <a:p/>
        </p:txBody>
      </p:sp>
      <p:sp>
        <p:nvSpPr>
          <p:cNvPr id="38" name="">
            <a:extLst xmlns:a="http://schemas.openxmlformats.org/drawingml/2006/main">
              <a:ext uri="{FF2B5EF4-FFF2-40B4-BE49-F238E27FC236}">
                <a16:creationId xmlns:a16="http://schemas.microsoft.com/office/drawing/2014/main" id="{AFAE9F64-4009-40F9-B3F3-2A84A8B4CC91}"/>
              </a:ext>
            </a:extLst>
          </p:cNvPr>
          <p:cNvSpPr>
            <a:spLocks xmlns:a="http://schemas.openxmlformats.org/drawingml/2006/main" noGrp="1"/>
          </p:cNvSpPr>
          <p:nvPr/>
        </p:nvSpPr>
        <p:spPr>
          <a:xfrm xmlns:a="http://schemas.openxmlformats.org/drawingml/2006/main">
            <a:off x="6362700" y="2857500"/>
            <a:ext cx="5219700" cy="400050"/>
          </a:xfrm>
          <a:prstGeom xmlns:a="http://schemas.openxmlformats.org/drawingml/2006/main" prst="rect">
            <a:avLst/>
          </a:prstGeom>
          <a:solidFill xmlns:a="http://schemas.openxmlformats.org/drawingml/2006/main">
            <a:srgbClr val="E9E1D6"/>
          </a:solidFill>
          <a:ln xmlns:a="http://schemas.openxmlformats.org/drawingml/2006/main" w="0">
            <a:solidFill>
              <a:srgbClr val="000000">
                <a:alpha val="0"/>
              </a:srgbClr>
            </a:solidFill>
            <a:prstDash val="solid"/>
          </a:ln>
        </p:spPr>
        <p:txBody xmlns:a="http://schemas.openxmlformats.org/drawingml/2006/main">
          <a:bodyPr/>
          <a:p/>
        </p:txBody>
      </p:sp>
      <p:sp>
        <p:nvSpPr>
          <p:cNvPr id="39" name="">
            <a:extLst xmlns:a="http://schemas.openxmlformats.org/drawingml/2006/main">
              <a:ext uri="{FF2B5EF4-FFF2-40B4-BE49-F238E27FC236}">
                <a16:creationId xmlns:a16="http://schemas.microsoft.com/office/drawing/2014/main" id="{9A4658FB-28C7-4435-B8D7-97BB0909B55E}"/>
              </a:ext>
            </a:extLst>
          </p:cNvPr>
          <p:cNvSpPr>
            <a:spLocks xmlns:a="http://schemas.openxmlformats.org/drawingml/2006/main" noGrp="1"/>
          </p:cNvSpPr>
          <p:nvPr/>
        </p:nvSpPr>
        <p:spPr>
          <a:xfrm xmlns:a="http://schemas.openxmlformats.org/drawingml/2006/main">
            <a:off x="6534150" y="2962275"/>
            <a:ext cx="48768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90" b="1">
                <a:solidFill>
                  <a:srgbClr val="101820"/>
                </a:solidFill>
                <a:latin typeface="Aptos"/>
                <a:ea typeface="Aptos"/>
                <a:cs typeface="Aptos"/>
              </a:defRPr>
            </a:pPr>
            <a:r>
              <a:rPr sz="990" b="1">
                <a:solidFill>
                  <a:srgbClr val="101820"/>
                </a:solidFill>
                <a:latin typeface="Aptos"/>
                <a:ea typeface="Aptos"/>
                <a:cs typeface="Aptos"/>
              </a:rPr>
              <a:t>After - added fields are called out above</a:t>
            </a:r>
          </a:p>
        </p:txBody>
      </p:sp>
      <p:sp>
        <p:nvSpPr>
          <p:cNvPr id="40" name="">
            <a:extLst xmlns:a="http://schemas.openxmlformats.org/drawingml/2006/main">
              <a:ext uri="{FF2B5EF4-FFF2-40B4-BE49-F238E27FC236}">
                <a16:creationId xmlns:a16="http://schemas.microsoft.com/office/drawing/2014/main" id="{2000DAEF-7F8B-4C7C-B7D7-E8C0668D4643}"/>
              </a:ext>
            </a:extLst>
          </p:cNvPr>
          <p:cNvSpPr>
            <a:spLocks xmlns:a="http://schemas.openxmlformats.org/drawingml/2006/main" noGrp="1"/>
          </p:cNvSpPr>
          <p:nvPr/>
        </p:nvSpPr>
        <p:spPr>
          <a:xfrm xmlns:a="http://schemas.openxmlformats.org/drawingml/2006/main">
            <a:off x="6534150" y="3409950"/>
            <a:ext cx="4876800" cy="2247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"model":"...",</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"system_prompt":"...",</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"messages":[</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"role":"...",</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"content":"..."</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"request_context":{</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"agent_hints":{</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  "tool_choice":"..."</a:t>
            </a:r>
          </a:p>
          <a:p xmlns:a="http://schemas.openxmlformats.org/drawingml/2006/main">
            <a:pPr algn="l">
              <a:defRPr sz="810" b="0">
                <a:solidFill>
                  <a:srgbClr val="172033"/>
                </a:solidFill>
                <a:latin typeface="Aptos Mono"/>
                <a:ea typeface="Aptos Mono"/>
                <a:cs typeface="Aptos Mono"/>
              </a:defRPr>
            </a:pPr>
            <a:r>
              <a:rPr sz="810" b="0">
                <a:solidFill>
                  <a:srgbClr val="172033"/>
                </a:solidFill>
                <a:latin typeface="Aptos Mono"/>
                <a:ea typeface="Aptos Mono"/>
                <a:cs typeface="Aptos Mono"/>
              </a:rPr>
              <a:t>}</a:t>
            </a:r>
          </a:p>
        </p:txBody>
      </p:sp>
      <p:sp>
        <p:nvSpPr>
          <p:cNvPr id="41" name="">
            <a:extLst xmlns:a="http://schemas.openxmlformats.org/drawingml/2006/main">
              <a:ext uri="{FF2B5EF4-FFF2-40B4-BE49-F238E27FC236}">
                <a16:creationId xmlns:a16="http://schemas.microsoft.com/office/drawing/2014/main" id="{2D93502F-E4E6-48E2-BCA0-FF454456AC34}"/>
              </a:ext>
            </a:extLst>
          </p:cNvPr>
          <p:cNvSpPr>
            <a:spLocks xmlns:a="http://schemas.openxmlformats.org/drawingml/2006/main" noGrp="1"/>
          </p:cNvSpPr>
          <p:nvPr/>
        </p:nvSpPr>
        <p:spPr>
          <a:xfrm xmlns:a="http://schemas.openxmlformats.org/drawingml/2006/main">
            <a:off x="609600" y="5810250"/>
            <a:ext cx="9906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0">
                <a:solidFill>
                  <a:srgbClr val="334155"/>
                </a:solidFill>
                <a:latin typeface="Aptos"/>
                <a:ea typeface="Aptos"/>
                <a:cs typeface="Aptos"/>
              </a:defRPr>
            </a:pPr>
            <a:r>
              <a:rPr sz="1163" b="0">
                <a:solidFill>
                  <a:srgbClr val="334155"/>
                </a:solidFill>
                <a:latin typeface="Aptos"/>
                <a:ea typeface="Aptos"/>
                <a:cs typeface="Aptos"/>
              </a:rPr>
              <a:t>No payload growth | system_prompt_chars=0 | runtime_source=python_environment</a:t>
            </a:r>
          </a:p>
        </p:txBody>
      </p:sp>
      <p:sp>
        <p:nvSpPr>
          <p:cNvPr id="42" name="">
            <a:extLst xmlns:a="http://schemas.openxmlformats.org/drawingml/2006/main">
              <a:ext uri="{FF2B5EF4-FFF2-40B4-BE49-F238E27FC236}">
                <a16:creationId xmlns:a16="http://schemas.microsoft.com/office/drawing/2014/main" id="{95DE6CAF-6071-49D0-BD1D-E3C357E3A8CA}"/>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D1C8"/>
          </a:solidFill>
          <a:ln xmlns:a="http://schemas.openxmlformats.org/drawingml/2006/main" w="0">
            <a:solidFill>
              <a:srgbClr val="000000">
                <a:alpha val="0"/>
              </a:srgbClr>
            </a:solidFill>
            <a:prstDash val="solid"/>
          </a:ln>
        </p:spPr>
        <p:txBody xmlns:a="http://schemas.openxmlformats.org/drawingml/2006/main">
          <a:bodyPr/>
          <a:p/>
        </p:txBody>
      </p:sp>
      <p:sp>
        <p:nvSpPr>
          <p:cNvPr id="43" name="">
            <a:extLst xmlns:a="http://schemas.openxmlformats.org/drawingml/2006/main">
              <a:ext uri="{FF2B5EF4-FFF2-40B4-BE49-F238E27FC236}">
                <a16:creationId xmlns:a16="http://schemas.microsoft.com/office/drawing/2014/main" id="{A7445FA0-92B7-41E5-A55E-1D7E1B449147}"/>
              </a:ext>
            </a:extLst>
          </p:cNvPr>
          <p:cNvSpPr>
            <a:spLocks xmlns:a="http://schemas.openxmlformats.org/drawingml/2006/main" noGrp="1"/>
          </p:cNvSpPr>
          <p:nvPr/>
        </p:nvSpPr>
        <p:spPr>
          <a:xfrm xmlns:a="http://schemas.openxmlformats.org/drawingml/2006/main">
            <a:off x="609600" y="6477000"/>
            <a:ext cx="3238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667085"/>
                </a:solidFill>
                <a:latin typeface="Aptos"/>
                <a:ea typeface="Aptos"/>
                <a:cs typeface="Aptos"/>
              </a:defRPr>
            </a:pPr>
            <a:r>
              <a:rPr sz="825" b="1">
                <a:solidFill>
                  <a:srgbClr val="667085"/>
                </a:solidFill>
                <a:latin typeface="Aptos"/>
                <a:ea typeface="Aptos"/>
                <a:cs typeface="Aptos"/>
              </a:rPr>
              <a:t>PROMPT EVOLUTION</a:t>
            </a:r>
          </a:p>
        </p:txBody>
      </p:sp>
      <p:sp>
        <p:nvSpPr>
          <p:cNvPr id="44" name="">
            <a:extLst xmlns:a="http://schemas.openxmlformats.org/drawingml/2006/main">
              <a:ext uri="{FF2B5EF4-FFF2-40B4-BE49-F238E27FC236}">
                <a16:creationId xmlns:a16="http://schemas.microsoft.com/office/drawing/2014/main" id="{82E39FFD-163A-4781-9251-6D72815B63A9}"/>
              </a:ext>
            </a:extLst>
          </p:cNvPr>
          <p:cNvSpPr>
            <a:spLocks xmlns:a="http://schemas.openxmlformats.org/drawingml/2006/main" noGrp="1"/>
          </p:cNvSpPr>
          <p:nvPr/>
        </p:nvSpPr>
        <p:spPr>
          <a:xfrm xmlns:a="http://schemas.openxmlformats.org/drawingml/2006/main">
            <a:off x="11087100" y="6477000"/>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1">
                <a:solidFill>
                  <a:srgbClr val="334155"/>
                </a:solidFill>
              </a:rPr>
              <a:t>10</a:t>
            </a:r>
          </a:p>
        </p:txBody>
      </p:sp>
    </p:spTree>
    <p:extLst>
      <p:ext uri="{BB962C8B-B14F-4D97-AF65-F5344CB8AC3E}">
        <p14:creationId xmlns:p14="http://schemas.microsoft.com/office/powerpoint/2010/main" val="74869713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950508A-E6B8-4008-857C-182A847F63C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4AA949A-3710-44DF-8E7C-687B15F08433}"/>
              </a:ext>
            </a:extLst>
          </p:cNvPr>
          <p:cNvSpPr>
            <a:spLocks xmlns:a="http://schemas.openxmlformats.org/drawingml/2006/main" noGrp="1"/>
          </p:cNvSpPr>
          <p:nvPr/>
        </p:nvSpPr>
        <p:spPr>
          <a:xfrm xmlns:a="http://schemas.openxmlformats.org/drawingml/2006/main">
            <a:off x="609600" y="495300"/>
            <a:ext cx="76200" cy="228600"/>
          </a:xfrm>
          <a:prstGeom xmlns:a="http://schemas.openxmlformats.org/drawingml/2006/main" prst="rect">
            <a:avLst/>
          </a:prstGeom>
          <a:solidFill xmlns:a="http://schemas.openxmlformats.org/drawingml/2006/main">
            <a:srgbClr val="6D28D9"/>
          </a:solidFill>
          <a:ln xmlns:a="http://schemas.openxmlformats.org/drawingml/2006/main" w="0">
            <a:solidFill>
              <a:srgbClr val="000000">
                <a:alpha val="0"/>
              </a:srgbClr>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31137E85-3CA4-4DD4-8F1C-82E41F2F76E7}"/>
              </a:ext>
            </a:extLst>
          </p:cNvPr>
          <p:cNvSpPr>
            <a:spLocks xmlns:a="http://schemas.openxmlformats.org/drawingml/2006/main" noGrp="1"/>
          </p:cNvSpPr>
          <p:nvPr/>
        </p:nvSpPr>
        <p:spPr>
          <a:xfrm xmlns:a="http://schemas.openxmlformats.org/drawingml/2006/main">
            <a:off x="800100" y="4953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67085"/>
                </a:solidFill>
                <a:latin typeface="Aptos"/>
                <a:ea typeface="Aptos"/>
                <a:cs typeface="Aptos"/>
              </a:defRPr>
            </a:pPr>
            <a:r>
              <a:rPr sz="900" b="1">
                <a:solidFill>
                  <a:srgbClr val="667085"/>
                </a:solidFill>
                <a:latin typeface="Aptos"/>
                <a:ea typeface="Aptos"/>
                <a:cs typeface="Aptos"/>
              </a:rPr>
              <a:t>STEP 4 OF 5 | TOOLS -&gt; RUNTIME PREPARED | DYNAMO RUNTIME LAYER</a:t>
            </a:r>
          </a:p>
        </p:txBody>
      </p:sp>
      <p:sp>
        <p:nvSpPr>
          <p:cNvPr id="4" name="">
            <a:extLst xmlns:a="http://schemas.openxmlformats.org/drawingml/2006/main">
              <a:ext uri="{FF2B5EF4-FFF2-40B4-BE49-F238E27FC236}">
                <a16:creationId xmlns:a16="http://schemas.microsoft.com/office/drawing/2014/main" id="{F9D4360D-D39D-4C0B-A7A2-E03CA5266A0E}"/>
              </a:ext>
            </a:extLst>
          </p:cNvPr>
          <p:cNvSpPr>
            <a:spLocks xmlns:a="http://schemas.openxmlformats.org/drawingml/2006/main" noGrp="1"/>
          </p:cNvSpPr>
          <p:nvPr/>
        </p:nvSpPr>
        <p:spPr>
          <a:xfrm xmlns:a="http://schemas.openxmlformats.org/drawingml/2006/main">
            <a:off x="609600" y="819150"/>
            <a:ext cx="100965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01820"/>
                </a:solidFill>
                <a:latin typeface="Aptos Display"/>
                <a:ea typeface="Aptos Display"/>
                <a:cs typeface="Aptos Display"/>
              </a:defRPr>
            </a:pPr>
            <a:r>
              <a:rPr sz="2850" b="1">
                <a:solidFill>
                  <a:srgbClr val="101820"/>
                </a:solidFill>
                <a:latin typeface="Aptos Display"/>
                <a:ea typeface="Aptos Display"/>
                <a:cs typeface="Aptos Display"/>
              </a:rPr>
              <a:t>Then, runtime adds tool and token context.</a:t>
            </a:r>
          </a:p>
        </p:txBody>
      </p:sp>
      <p:sp>
        <p:nvSpPr>
          <p:cNvPr id="5" name="">
            <a:extLst xmlns:a="http://schemas.openxmlformats.org/drawingml/2006/main">
              <a:ext uri="{FF2B5EF4-FFF2-40B4-BE49-F238E27FC236}">
                <a16:creationId xmlns:a16="http://schemas.microsoft.com/office/drawing/2014/main" id="{6A73F7A8-F305-4B4E-9B8C-CF2E2823EA76}"/>
              </a:ext>
            </a:extLst>
          </p:cNvPr>
          <p:cNvSpPr>
            <a:spLocks xmlns:a="http://schemas.openxmlformats.org/drawingml/2006/main" noGrp="1"/>
          </p:cNvSpPr>
          <p:nvPr/>
        </p:nvSpPr>
        <p:spPr>
          <a:xfrm xmlns:a="http://schemas.openxmlformats.org/drawingml/2006/main">
            <a:off x="7658100" y="514350"/>
            <a:ext cx="742950" cy="209550"/>
          </a:xfrm>
          <a:prstGeom xmlns:a="http://schemas.openxmlformats.org/drawingml/2006/main" prst="rect">
            <a:avLst/>
          </a:prstGeom>
          <a:solidFill xmlns:a="http://schemas.openxmlformats.org/drawingml/2006/main">
            <a:srgbClr val="000000">
              <a:alpha val="0"/>
            </a:srgbClr>
          </a:solidFill>
          <a:ln xmlns:a="http://schemas.openxmlformats.org/drawingml/2006/main" w="11430">
            <a:solidFill>
              <a:srgbClr val="D8D0C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9414D7A4-F1CB-4160-BC85-3D2A15C940DD}"/>
              </a:ext>
            </a:extLst>
          </p:cNvPr>
          <p:cNvSpPr>
            <a:spLocks xmlns:a="http://schemas.openxmlformats.org/drawingml/2006/main" noGrp="1"/>
          </p:cNvSpPr>
          <p:nvPr/>
        </p:nvSpPr>
        <p:spPr>
          <a:xfrm xmlns:a="http://schemas.openxmlformats.org/drawingml/2006/main">
            <a:off x="7715250" y="571500"/>
            <a:ext cx="6286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667085"/>
                </a:solidFill>
                <a:latin typeface="Aptos"/>
                <a:ea typeface="Aptos"/>
                <a:cs typeface="Aptos"/>
              </a:defRPr>
            </a:pPr>
            <a:r>
              <a:rPr sz="675" b="1">
                <a:solidFill>
                  <a:srgbClr val="667085"/>
                </a:solidFill>
                <a:latin typeface="Aptos"/>
                <a:ea typeface="Aptos"/>
                <a:cs typeface="Aptos"/>
              </a:rPr>
              <a:t>Task</a:t>
            </a:r>
          </a:p>
        </p:txBody>
      </p:sp>
      <p:sp>
        <p:nvSpPr>
          <p:cNvPr id="7" name="">
            <a:extLst xmlns:a="http://schemas.openxmlformats.org/drawingml/2006/main">
              <a:ext uri="{FF2B5EF4-FFF2-40B4-BE49-F238E27FC236}">
                <a16:creationId xmlns:a16="http://schemas.microsoft.com/office/drawing/2014/main" id="{14D2D129-A2A0-41D5-9B3A-6F2EE84ADBDE}"/>
              </a:ext>
            </a:extLst>
          </p:cNvPr>
          <p:cNvSpPr>
            <a:spLocks xmlns:a="http://schemas.openxmlformats.org/drawingml/2006/main" noGrp="1"/>
          </p:cNvSpPr>
          <p:nvPr/>
        </p:nvSpPr>
        <p:spPr>
          <a:xfrm xmlns:a="http://schemas.openxmlformats.org/drawingml/2006/main">
            <a:off x="8477250" y="514350"/>
            <a:ext cx="742950" cy="209550"/>
          </a:xfrm>
          <a:prstGeom xmlns:a="http://schemas.openxmlformats.org/drawingml/2006/main" prst="rect">
            <a:avLst/>
          </a:prstGeom>
          <a:solidFill xmlns:a="http://schemas.openxmlformats.org/drawingml/2006/main">
            <a:srgbClr val="000000">
              <a:alpha val="0"/>
            </a:srgbClr>
          </a:solidFill>
          <a:ln xmlns:a="http://schemas.openxmlformats.org/drawingml/2006/main" w="11430">
            <a:solidFill>
              <a:srgbClr val="D8D0C7"/>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823E0297-A039-45E0-9F2D-0C1A443BFCC1}"/>
              </a:ext>
            </a:extLst>
          </p:cNvPr>
          <p:cNvSpPr>
            <a:spLocks xmlns:a="http://schemas.openxmlformats.org/drawingml/2006/main" noGrp="1"/>
          </p:cNvSpPr>
          <p:nvPr/>
        </p:nvSpPr>
        <p:spPr>
          <a:xfrm xmlns:a="http://schemas.openxmlformats.org/drawingml/2006/main">
            <a:off x="8534400" y="571500"/>
            <a:ext cx="6286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667085"/>
                </a:solidFill>
                <a:latin typeface="Aptos"/>
                <a:ea typeface="Aptos"/>
                <a:cs typeface="Aptos"/>
              </a:defRPr>
            </a:pPr>
            <a:r>
              <a:rPr sz="675" b="1">
                <a:solidFill>
                  <a:srgbClr val="667085"/>
                </a:solidFill>
                <a:latin typeface="Aptos"/>
                <a:ea typeface="Aptos"/>
                <a:cs typeface="Aptos"/>
              </a:rPr>
              <a:t>Prompt</a:t>
            </a:r>
          </a:p>
        </p:txBody>
      </p:sp>
      <p:sp>
        <p:nvSpPr>
          <p:cNvPr id="9" name="">
            <a:extLst xmlns:a="http://schemas.openxmlformats.org/drawingml/2006/main">
              <a:ext uri="{FF2B5EF4-FFF2-40B4-BE49-F238E27FC236}">
                <a16:creationId xmlns:a16="http://schemas.microsoft.com/office/drawing/2014/main" id="{2ABFF782-9090-4F9C-8AD7-2FD148F306F0}"/>
              </a:ext>
            </a:extLst>
          </p:cNvPr>
          <p:cNvSpPr>
            <a:spLocks xmlns:a="http://schemas.openxmlformats.org/drawingml/2006/main" noGrp="1"/>
          </p:cNvSpPr>
          <p:nvPr/>
        </p:nvSpPr>
        <p:spPr>
          <a:xfrm xmlns:a="http://schemas.openxmlformats.org/drawingml/2006/main">
            <a:off x="9296400" y="514350"/>
            <a:ext cx="742950" cy="209550"/>
          </a:xfrm>
          <a:prstGeom xmlns:a="http://schemas.openxmlformats.org/drawingml/2006/main" prst="rect">
            <a:avLst/>
          </a:prstGeom>
          <a:solidFill xmlns:a="http://schemas.openxmlformats.org/drawingml/2006/main">
            <a:srgbClr val="000000">
              <a:alpha val="0"/>
            </a:srgbClr>
          </a:solidFill>
          <a:ln xmlns:a="http://schemas.openxmlformats.org/drawingml/2006/main" w="11430">
            <a:solidFill>
              <a:srgbClr val="D8D0C7"/>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8EA3FF7A-A625-464E-8997-F0F97623CC43}"/>
              </a:ext>
            </a:extLst>
          </p:cNvPr>
          <p:cNvSpPr>
            <a:spLocks xmlns:a="http://schemas.openxmlformats.org/drawingml/2006/main" noGrp="1"/>
          </p:cNvSpPr>
          <p:nvPr/>
        </p:nvSpPr>
        <p:spPr>
          <a:xfrm xmlns:a="http://schemas.openxmlformats.org/drawingml/2006/main">
            <a:off x="9353550" y="571500"/>
            <a:ext cx="6286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667085"/>
                </a:solidFill>
                <a:latin typeface="Aptos"/>
                <a:ea typeface="Aptos"/>
                <a:cs typeface="Aptos"/>
              </a:defRPr>
            </a:pPr>
            <a:r>
              <a:rPr sz="675" b="1">
                <a:solidFill>
                  <a:srgbClr val="667085"/>
                </a:solidFill>
                <a:latin typeface="Aptos"/>
                <a:ea typeface="Aptos"/>
                <a:cs typeface="Aptos"/>
              </a:rPr>
              <a:t>Request</a:t>
            </a:r>
          </a:p>
        </p:txBody>
      </p:sp>
      <p:sp>
        <p:nvSpPr>
          <p:cNvPr id="11" name="">
            <a:extLst xmlns:a="http://schemas.openxmlformats.org/drawingml/2006/main">
              <a:ext uri="{FF2B5EF4-FFF2-40B4-BE49-F238E27FC236}">
                <a16:creationId xmlns:a16="http://schemas.microsoft.com/office/drawing/2014/main" id="{3AEA9901-77C6-448B-B7D5-1762FEF85E7D}"/>
              </a:ext>
            </a:extLst>
          </p:cNvPr>
          <p:cNvSpPr>
            <a:spLocks xmlns:a="http://schemas.openxmlformats.org/drawingml/2006/main" noGrp="1"/>
          </p:cNvSpPr>
          <p:nvPr/>
        </p:nvSpPr>
        <p:spPr>
          <a:xfrm xmlns:a="http://schemas.openxmlformats.org/drawingml/2006/main">
            <a:off x="10115550" y="514350"/>
            <a:ext cx="742950" cy="209550"/>
          </a:xfrm>
          <a:prstGeom xmlns:a="http://schemas.openxmlformats.org/drawingml/2006/main" prst="rect">
            <a:avLst/>
          </a:prstGeom>
          <a:solidFill xmlns:a="http://schemas.openxmlformats.org/drawingml/2006/main">
            <a:srgbClr val="0F9F6E"/>
          </a:solidFill>
          <a:ln xmlns:a="http://schemas.openxmlformats.org/drawingml/2006/main" w="11430">
            <a:solidFill>
              <a:srgbClr val="0F9F6E"/>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7492E20F-AC6E-4961-AF10-B601BB9F7993}"/>
              </a:ext>
            </a:extLst>
          </p:cNvPr>
          <p:cNvSpPr>
            <a:spLocks xmlns:a="http://schemas.openxmlformats.org/drawingml/2006/main" noGrp="1"/>
          </p:cNvSpPr>
          <p:nvPr/>
        </p:nvSpPr>
        <p:spPr>
          <a:xfrm xmlns:a="http://schemas.openxmlformats.org/drawingml/2006/main">
            <a:off x="10172700" y="571500"/>
            <a:ext cx="6286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FFFFFF"/>
                </a:solidFill>
                <a:latin typeface="Aptos"/>
                <a:ea typeface="Aptos"/>
                <a:cs typeface="Aptos"/>
              </a:defRPr>
            </a:pPr>
            <a:r>
              <a:rPr sz="675" b="1">
                <a:solidFill>
                  <a:srgbClr val="FFFFFF"/>
                </a:solidFill>
                <a:latin typeface="Aptos"/>
                <a:ea typeface="Aptos"/>
                <a:cs typeface="Aptos"/>
              </a:rPr>
              <a:t>Runtime</a:t>
            </a:r>
          </a:p>
        </p:txBody>
      </p:sp>
      <p:sp>
        <p:nvSpPr>
          <p:cNvPr id="13" name="">
            <a:extLst xmlns:a="http://schemas.openxmlformats.org/drawingml/2006/main">
              <a:ext uri="{FF2B5EF4-FFF2-40B4-BE49-F238E27FC236}">
                <a16:creationId xmlns:a16="http://schemas.microsoft.com/office/drawing/2014/main" id="{D013EC79-5BA6-4DC0-8F6C-2FF148C5AF18}"/>
              </a:ext>
            </a:extLst>
          </p:cNvPr>
          <p:cNvSpPr>
            <a:spLocks xmlns:a="http://schemas.openxmlformats.org/drawingml/2006/main" noGrp="1"/>
          </p:cNvSpPr>
          <p:nvPr/>
        </p:nvSpPr>
        <p:spPr>
          <a:xfrm xmlns:a="http://schemas.openxmlformats.org/drawingml/2006/main">
            <a:off x="10934700" y="514350"/>
            <a:ext cx="742950" cy="209550"/>
          </a:xfrm>
          <a:prstGeom xmlns:a="http://schemas.openxmlformats.org/drawingml/2006/main" prst="rect">
            <a:avLst/>
          </a:prstGeom>
          <a:solidFill xmlns:a="http://schemas.openxmlformats.org/drawingml/2006/main">
            <a:srgbClr val="000000">
              <a:alpha val="0"/>
            </a:srgbClr>
          </a:solidFill>
          <a:ln xmlns:a="http://schemas.openxmlformats.org/drawingml/2006/main" w="11430">
            <a:solidFill>
              <a:srgbClr val="D8D0C7"/>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82CE48E1-1C8A-4472-8C92-C15D2545FE32}"/>
              </a:ext>
            </a:extLst>
          </p:cNvPr>
          <p:cNvSpPr>
            <a:spLocks xmlns:a="http://schemas.openxmlformats.org/drawingml/2006/main" noGrp="1"/>
          </p:cNvSpPr>
          <p:nvPr/>
        </p:nvSpPr>
        <p:spPr>
          <a:xfrm xmlns:a="http://schemas.openxmlformats.org/drawingml/2006/main">
            <a:off x="10991850" y="571500"/>
            <a:ext cx="6286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667085"/>
                </a:solidFill>
                <a:latin typeface="Aptos"/>
                <a:ea typeface="Aptos"/>
                <a:cs typeface="Aptos"/>
              </a:defRPr>
            </a:pPr>
            <a:r>
              <a:rPr sz="675" b="1">
                <a:solidFill>
                  <a:srgbClr val="667085"/>
                </a:solidFill>
                <a:latin typeface="Aptos"/>
                <a:ea typeface="Aptos"/>
                <a:cs typeface="Aptos"/>
              </a:rPr>
              <a:t>Behavior</a:t>
            </a:r>
          </a:p>
        </p:txBody>
      </p:sp>
      <p:sp>
        <p:nvSpPr>
          <p:cNvPr id="15" name="">
            <a:extLst xmlns:a="http://schemas.openxmlformats.org/drawingml/2006/main">
              <a:ext uri="{FF2B5EF4-FFF2-40B4-BE49-F238E27FC236}">
                <a16:creationId xmlns:a16="http://schemas.microsoft.com/office/drawing/2014/main" id="{D6137158-C0E9-405F-AEBF-98A251723073}"/>
              </a:ext>
            </a:extLst>
          </p:cNvPr>
          <p:cNvSpPr>
            <a:spLocks xmlns:a="http://schemas.openxmlformats.org/drawingml/2006/main" noGrp="1"/>
          </p:cNvSpPr>
          <p:nvPr/>
        </p:nvSpPr>
        <p:spPr>
          <a:xfrm xmlns:a="http://schemas.openxmlformats.org/drawingml/2006/main">
            <a:off x="609600" y="1866900"/>
            <a:ext cx="10972800" cy="19050"/>
          </a:xfrm>
          <a:prstGeom xmlns:a="http://schemas.openxmlformats.org/drawingml/2006/main" prst="rect">
            <a:avLst/>
          </a:prstGeom>
          <a:solidFill xmlns:a="http://schemas.openxmlformats.org/drawingml/2006/main">
            <a:srgbClr val="0F9F6E"/>
          </a:solidFill>
          <a:ln xmlns:a="http://schemas.openxmlformats.org/drawingml/2006/main" w="0">
            <a:solidFill>
              <a:srgbClr val="000000">
                <a:alpha val="0"/>
              </a:srgbClr>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51FFD728-CFDB-4D14-A618-0E5214D82D53}"/>
              </a:ext>
            </a:extLst>
          </p:cNvPr>
          <p:cNvSpPr>
            <a:spLocks xmlns:a="http://schemas.openxmlformats.org/drawingml/2006/main" noGrp="1"/>
          </p:cNvSpPr>
          <p:nvPr/>
        </p:nvSpPr>
        <p:spPr>
          <a:xfrm xmlns:a="http://schemas.openxmlformats.org/drawingml/2006/main">
            <a:off x="609600" y="2457450"/>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E3C64FCD-3BAA-4095-AFFD-B9BEA1738C5B}"/>
              </a:ext>
            </a:extLst>
          </p:cNvPr>
          <p:cNvSpPr>
            <a:spLocks xmlns:a="http://schemas.openxmlformats.org/drawingml/2006/main" noGrp="1"/>
          </p:cNvSpPr>
          <p:nvPr/>
        </p:nvSpPr>
        <p:spPr>
          <a:xfrm xmlns:a="http://schemas.openxmlformats.org/drawingml/2006/main">
            <a:off x="609600" y="1866900"/>
            <a:ext cx="76200" cy="590550"/>
          </a:xfrm>
          <a:prstGeom xmlns:a="http://schemas.openxmlformats.org/drawingml/2006/main" prst="rect">
            <a:avLst/>
          </a:prstGeom>
          <a:solidFill xmlns:a="http://schemas.openxmlformats.org/drawingml/2006/main">
            <a:srgbClr val="0F9F6E"/>
          </a:solidFill>
          <a:ln xmlns:a="http://schemas.openxmlformats.org/drawingml/2006/main" w="0">
            <a:solidFill>
              <a:srgbClr val="000000">
                <a:alpha val="0"/>
              </a:srgbClr>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4CE43CF5-806F-415E-BBC6-A95183B7B122}"/>
              </a:ext>
            </a:extLst>
          </p:cNvPr>
          <p:cNvSpPr>
            <a:spLocks xmlns:a="http://schemas.openxmlformats.org/drawingml/2006/main" noGrp="1"/>
          </p:cNvSpPr>
          <p:nvPr/>
        </p:nvSpPr>
        <p:spPr>
          <a:xfrm xmlns:a="http://schemas.openxmlformats.org/drawingml/2006/main">
            <a:off x="838200" y="1971675"/>
            <a:ext cx="10477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667085"/>
                </a:solidFill>
                <a:latin typeface="Aptos"/>
                <a:ea typeface="Aptos"/>
                <a:cs typeface="Aptos"/>
              </a:defRPr>
            </a:pPr>
            <a:r>
              <a:rPr sz="735" b="1">
                <a:solidFill>
                  <a:srgbClr val="667085"/>
                </a:solidFill>
                <a:latin typeface="Aptos"/>
                <a:ea typeface="Aptos"/>
                <a:cs typeface="Aptos"/>
              </a:rPr>
              <a:t>What changed</a:t>
            </a:r>
          </a:p>
        </p:txBody>
      </p:sp>
      <p:sp>
        <p:nvSpPr>
          <p:cNvPr id="19" name="">
            <a:extLst xmlns:a="http://schemas.openxmlformats.org/drawingml/2006/main">
              <a:ext uri="{FF2B5EF4-FFF2-40B4-BE49-F238E27FC236}">
                <a16:creationId xmlns:a16="http://schemas.microsoft.com/office/drawing/2014/main" id="{61C640EF-BBB1-4EC3-80F2-1D88391C0B2E}"/>
              </a:ext>
            </a:extLst>
          </p:cNvPr>
          <p:cNvSpPr>
            <a:spLocks xmlns:a="http://schemas.openxmlformats.org/drawingml/2006/main" noGrp="1"/>
          </p:cNvSpPr>
          <p:nvPr/>
        </p:nvSpPr>
        <p:spPr>
          <a:xfrm xmlns:a="http://schemas.openxmlformats.org/drawingml/2006/main">
            <a:off x="838200" y="2114550"/>
            <a:ext cx="2571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70" b="0">
                <a:solidFill>
                  <a:srgbClr val="101820"/>
                </a:solidFill>
                <a:latin typeface="Aptos"/>
                <a:ea typeface="Aptos"/>
                <a:cs typeface="Aptos"/>
              </a:defRPr>
            </a:pPr>
            <a:r>
              <a:rPr sz="870" b="0">
                <a:solidFill>
                  <a:srgbClr val="101820"/>
                </a:solidFill>
                <a:latin typeface="Aptos"/>
                <a:ea typeface="Aptos"/>
                <a:cs typeface="Aptos"/>
              </a:rPr>
              <a:t>Tool and runtime preparation evidence is attached.</a:t>
            </a:r>
          </a:p>
        </p:txBody>
      </p:sp>
      <p:sp>
        <p:nvSpPr>
          <p:cNvPr id="20" name="">
            <a:extLst xmlns:a="http://schemas.openxmlformats.org/drawingml/2006/main">
              <a:ext uri="{FF2B5EF4-FFF2-40B4-BE49-F238E27FC236}">
                <a16:creationId xmlns:a16="http://schemas.microsoft.com/office/drawing/2014/main" id="{AFA9FF1D-9C1A-4518-8CEA-DB5DF8966BA9}"/>
              </a:ext>
            </a:extLst>
          </p:cNvPr>
          <p:cNvSpPr>
            <a:spLocks xmlns:a="http://schemas.openxmlformats.org/drawingml/2006/main" noGrp="1"/>
          </p:cNvSpPr>
          <p:nvPr/>
        </p:nvSpPr>
        <p:spPr>
          <a:xfrm xmlns:a="http://schemas.openxmlformats.org/drawingml/2006/main">
            <a:off x="3676650" y="1971675"/>
            <a:ext cx="10477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667085"/>
                </a:solidFill>
                <a:latin typeface="Aptos"/>
                <a:ea typeface="Aptos"/>
                <a:cs typeface="Aptos"/>
              </a:defRPr>
            </a:pPr>
            <a:r>
              <a:rPr sz="735" b="1">
                <a:solidFill>
                  <a:srgbClr val="667085"/>
                </a:solidFill>
                <a:latin typeface="Aptos"/>
                <a:ea typeface="Aptos"/>
                <a:cs typeface="Aptos"/>
              </a:rPr>
              <a:t>Why it matters</a:t>
            </a:r>
          </a:p>
        </p:txBody>
      </p:sp>
      <p:sp>
        <p:nvSpPr>
          <p:cNvPr id="21" name="">
            <a:extLst xmlns:a="http://schemas.openxmlformats.org/drawingml/2006/main">
              <a:ext uri="{FF2B5EF4-FFF2-40B4-BE49-F238E27FC236}">
                <a16:creationId xmlns:a16="http://schemas.microsoft.com/office/drawing/2014/main" id="{1EF45305-7DB4-46ED-B56F-6B219495DB42}"/>
              </a:ext>
            </a:extLst>
          </p:cNvPr>
          <p:cNvSpPr>
            <a:spLocks xmlns:a="http://schemas.openxmlformats.org/drawingml/2006/main" noGrp="1"/>
          </p:cNvSpPr>
          <p:nvPr/>
        </p:nvSpPr>
        <p:spPr>
          <a:xfrm xmlns:a="http://schemas.openxmlformats.org/drawingml/2006/main">
            <a:off x="3676650" y="2114550"/>
            <a:ext cx="2667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70" b="0">
                <a:solidFill>
                  <a:srgbClr val="101820"/>
                </a:solidFill>
                <a:latin typeface="Aptos"/>
                <a:ea typeface="Aptos"/>
                <a:cs typeface="Aptos"/>
              </a:defRPr>
            </a:pPr>
            <a:r>
              <a:rPr sz="870" b="0">
                <a:solidFill>
                  <a:srgbClr val="101820"/>
                </a:solidFill>
                <a:latin typeface="Aptos"/>
                <a:ea typeface="Aptos"/>
                <a:cs typeface="Aptos"/>
              </a:rPr>
              <a:t>We can see tools, parser, token counts, and cache signals.</a:t>
            </a:r>
          </a:p>
        </p:txBody>
      </p:sp>
      <p:sp>
        <p:nvSpPr>
          <p:cNvPr id="22" name="">
            <a:extLst xmlns:a="http://schemas.openxmlformats.org/drawingml/2006/main">
              <a:ext uri="{FF2B5EF4-FFF2-40B4-BE49-F238E27FC236}">
                <a16:creationId xmlns:a16="http://schemas.microsoft.com/office/drawing/2014/main" id="{9BDB175D-46DB-4CD3-8249-AAAC22AB60D7}"/>
              </a:ext>
            </a:extLst>
          </p:cNvPr>
          <p:cNvSpPr>
            <a:spLocks xmlns:a="http://schemas.openxmlformats.org/drawingml/2006/main" noGrp="1"/>
          </p:cNvSpPr>
          <p:nvPr/>
        </p:nvSpPr>
        <p:spPr>
          <a:xfrm xmlns:a="http://schemas.openxmlformats.org/drawingml/2006/main">
            <a:off x="6610350" y="1971675"/>
            <a:ext cx="11430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667085"/>
                </a:solidFill>
                <a:latin typeface="Aptos"/>
                <a:ea typeface="Aptos"/>
                <a:cs typeface="Aptos"/>
              </a:defRPr>
            </a:pPr>
            <a:r>
              <a:rPr sz="735" b="1">
                <a:solidFill>
                  <a:srgbClr val="667085"/>
                </a:solidFill>
                <a:latin typeface="Aptos"/>
                <a:ea typeface="Aptos"/>
                <a:cs typeface="Aptos"/>
              </a:rPr>
              <a:t>What to look at</a:t>
            </a:r>
          </a:p>
        </p:txBody>
      </p:sp>
      <p:sp>
        <p:nvSpPr>
          <p:cNvPr id="23" name="">
            <a:extLst xmlns:a="http://schemas.openxmlformats.org/drawingml/2006/main">
              <a:ext uri="{FF2B5EF4-FFF2-40B4-BE49-F238E27FC236}">
                <a16:creationId xmlns:a16="http://schemas.microsoft.com/office/drawing/2014/main" id="{158A7BAF-6DDD-4942-80EC-3D101DEDA8C1}"/>
              </a:ext>
            </a:extLst>
          </p:cNvPr>
          <p:cNvSpPr>
            <a:spLocks xmlns:a="http://schemas.openxmlformats.org/drawingml/2006/main" noGrp="1"/>
          </p:cNvSpPr>
          <p:nvPr/>
        </p:nvSpPr>
        <p:spPr>
          <a:xfrm xmlns:a="http://schemas.openxmlformats.org/drawingml/2006/main">
            <a:off x="6610350" y="2114550"/>
            <a:ext cx="3105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70" b="0">
                <a:solidFill>
                  <a:srgbClr val="101820"/>
                </a:solidFill>
                <a:latin typeface="Aptos"/>
                <a:ea typeface="Aptos"/>
                <a:cs typeface="Aptos"/>
              </a:defRPr>
            </a:pPr>
            <a:r>
              <a:rPr sz="870" b="0">
                <a:solidFill>
                  <a:srgbClr val="101820"/>
                </a:solidFill>
                <a:latin typeface="Aptos"/>
                <a:ea typeface="Aptos"/>
                <a:cs typeface="Aptos"/>
              </a:rPr>
              <a:t>Tool parser plus prompt/cache token fields.</a:t>
            </a:r>
          </a:p>
        </p:txBody>
      </p:sp>
      <p:sp>
        <p:nvSpPr>
          <p:cNvPr id="24" name="">
            <a:extLst xmlns:a="http://schemas.openxmlformats.org/drawingml/2006/main">
              <a:ext uri="{FF2B5EF4-FFF2-40B4-BE49-F238E27FC236}">
                <a16:creationId xmlns:a16="http://schemas.microsoft.com/office/drawing/2014/main" id="{575714BA-A0F9-4F0B-80C6-43E84C9A0860}"/>
              </a:ext>
            </a:extLst>
          </p:cNvPr>
          <p:cNvSpPr>
            <a:spLocks xmlns:a="http://schemas.openxmlformats.org/drawingml/2006/main" noGrp="1"/>
          </p:cNvSpPr>
          <p:nvPr/>
        </p:nvSpPr>
        <p:spPr>
          <a:xfrm xmlns:a="http://schemas.openxmlformats.org/drawingml/2006/main">
            <a:off x="10001250" y="1971675"/>
            <a:ext cx="8572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667085"/>
                </a:solidFill>
                <a:latin typeface="Aptos"/>
                <a:ea typeface="Aptos"/>
                <a:cs typeface="Aptos"/>
              </a:defRPr>
            </a:pPr>
            <a:r>
              <a:rPr sz="735" b="1">
                <a:solidFill>
                  <a:srgbClr val="667085"/>
                </a:solidFill>
                <a:latin typeface="Aptos"/>
                <a:ea typeface="Aptos"/>
                <a:cs typeface="Aptos"/>
              </a:rPr>
              <a:t>Component</a:t>
            </a:r>
          </a:p>
        </p:txBody>
      </p:sp>
      <p:sp>
        <p:nvSpPr>
          <p:cNvPr id="25" name="">
            <a:extLst xmlns:a="http://schemas.openxmlformats.org/drawingml/2006/main">
              <a:ext uri="{FF2B5EF4-FFF2-40B4-BE49-F238E27FC236}">
                <a16:creationId xmlns:a16="http://schemas.microsoft.com/office/drawing/2014/main" id="{AFEE022D-A25D-4D0F-AA24-C98DDC690CBC}"/>
              </a:ext>
            </a:extLst>
          </p:cNvPr>
          <p:cNvSpPr>
            <a:spLocks xmlns:a="http://schemas.openxmlformats.org/drawingml/2006/main" noGrp="1"/>
          </p:cNvSpPr>
          <p:nvPr/>
        </p:nvSpPr>
        <p:spPr>
          <a:xfrm xmlns:a="http://schemas.openxmlformats.org/drawingml/2006/main">
            <a:off x="10001250" y="2114550"/>
            <a:ext cx="13144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40" b="1">
                <a:solidFill>
                  <a:srgbClr val="0F9F6E"/>
                </a:solidFill>
                <a:latin typeface="Aptos"/>
                <a:ea typeface="Aptos"/>
                <a:cs typeface="Aptos"/>
              </a:defRPr>
            </a:pPr>
            <a:r>
              <a:rPr sz="840" b="1">
                <a:solidFill>
                  <a:srgbClr val="0F9F6E"/>
                </a:solidFill>
                <a:latin typeface="Aptos"/>
                <a:ea typeface="Aptos"/>
                <a:cs typeface="Aptos"/>
              </a:rPr>
              <a:t>Dynamo Runtime Layer</a:t>
            </a:r>
          </a:p>
        </p:txBody>
      </p:sp>
      <p:sp>
        <p:nvSpPr>
          <p:cNvPr id="26" name="">
            <a:extLst xmlns:a="http://schemas.openxmlformats.org/drawingml/2006/main">
              <a:ext uri="{FF2B5EF4-FFF2-40B4-BE49-F238E27FC236}">
                <a16:creationId xmlns:a16="http://schemas.microsoft.com/office/drawing/2014/main" id="{7537D28C-3033-47BE-96FF-4363B2EB134F}"/>
              </a:ext>
            </a:extLst>
          </p:cNvPr>
          <p:cNvSpPr>
            <a:spLocks xmlns:a="http://schemas.openxmlformats.org/drawingml/2006/main" noGrp="1"/>
          </p:cNvSpPr>
          <p:nvPr/>
        </p:nvSpPr>
        <p:spPr>
          <a:xfrm xmlns:a="http://schemas.openxmlformats.org/drawingml/2006/main">
            <a:off x="609600" y="2476500"/>
            <a:ext cx="304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01820"/>
                </a:solidFill>
                <a:latin typeface="Aptos"/>
                <a:ea typeface="Aptos"/>
                <a:cs typeface="Aptos"/>
              </a:defRPr>
            </a:pPr>
            <a:r>
              <a:rPr sz="1275" b="1">
                <a:solidFill>
                  <a:srgbClr val="101820"/>
                </a:solidFill>
                <a:latin typeface="Aptos"/>
                <a:ea typeface="Aptos"/>
                <a:cs typeface="Aptos"/>
              </a:rPr>
              <a:t>Tools Attached -&gt; Runtime Prepared</a:t>
            </a:r>
          </a:p>
        </p:txBody>
      </p:sp>
      <p:sp>
        <p:nvSpPr>
          <p:cNvPr id="27" name="">
            <a:extLst xmlns:a="http://schemas.openxmlformats.org/drawingml/2006/main">
              <a:ext uri="{FF2B5EF4-FFF2-40B4-BE49-F238E27FC236}">
                <a16:creationId xmlns:a16="http://schemas.microsoft.com/office/drawing/2014/main" id="{4980599D-DE63-416B-8D14-D0C7C1C727CD}"/>
              </a:ext>
            </a:extLst>
          </p:cNvPr>
          <p:cNvSpPr>
            <a:spLocks xmlns:a="http://schemas.openxmlformats.org/drawingml/2006/main" noGrp="1"/>
          </p:cNvSpPr>
          <p:nvPr/>
        </p:nvSpPr>
        <p:spPr>
          <a:xfrm xmlns:a="http://schemas.openxmlformats.org/drawingml/2006/main">
            <a:off x="3905250" y="2495550"/>
            <a:ext cx="13335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667085"/>
                </a:solidFill>
                <a:latin typeface="Aptos"/>
                <a:ea typeface="Aptos"/>
                <a:cs typeface="Aptos"/>
              </a:defRPr>
            </a:pPr>
            <a:r>
              <a:rPr sz="750" b="1">
                <a:solidFill>
                  <a:srgbClr val="667085"/>
                </a:solidFill>
                <a:latin typeface="Aptos"/>
                <a:ea typeface="Aptos"/>
                <a:cs typeface="Aptos"/>
              </a:rPr>
              <a:t>Added in these steps</a:t>
            </a:r>
          </a:p>
        </p:txBody>
      </p:sp>
      <p:sp>
        <p:nvSpPr>
          <p:cNvPr id="28" name="">
            <a:extLst xmlns:a="http://schemas.openxmlformats.org/drawingml/2006/main">
              <a:ext uri="{FF2B5EF4-FFF2-40B4-BE49-F238E27FC236}">
                <a16:creationId xmlns:a16="http://schemas.microsoft.com/office/drawing/2014/main" id="{7FA789A1-C487-45EE-9639-026597B304E2}"/>
              </a:ext>
            </a:extLst>
          </p:cNvPr>
          <p:cNvSpPr>
            <a:spLocks xmlns:a="http://schemas.openxmlformats.org/drawingml/2006/main" noGrp="1"/>
          </p:cNvSpPr>
          <p:nvPr/>
        </p:nvSpPr>
        <p:spPr>
          <a:xfrm xmlns:a="http://schemas.openxmlformats.org/drawingml/2006/main">
            <a:off x="5314950" y="2457450"/>
            <a:ext cx="161544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0F9F6E"/>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A827ACC4-766D-4CB3-943C-3138C2BF00C3}"/>
              </a:ext>
            </a:extLst>
          </p:cNvPr>
          <p:cNvSpPr>
            <a:spLocks xmlns:a="http://schemas.openxmlformats.org/drawingml/2006/main" noGrp="1"/>
          </p:cNvSpPr>
          <p:nvPr/>
        </p:nvSpPr>
        <p:spPr>
          <a:xfrm xmlns:a="http://schemas.openxmlformats.org/drawingml/2006/main">
            <a:off x="5400675" y="2505075"/>
            <a:ext cx="144399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expected_builtin_tools</a:t>
            </a:r>
          </a:p>
        </p:txBody>
      </p:sp>
      <p:sp>
        <p:nvSpPr>
          <p:cNvPr id="30" name="">
            <a:extLst xmlns:a="http://schemas.openxmlformats.org/drawingml/2006/main">
              <a:ext uri="{FF2B5EF4-FFF2-40B4-BE49-F238E27FC236}">
                <a16:creationId xmlns:a16="http://schemas.microsoft.com/office/drawing/2014/main" id="{B1D6AB2C-39DF-4E04-AE83-19B6A4AAF401}"/>
              </a:ext>
            </a:extLst>
          </p:cNvPr>
          <p:cNvSpPr>
            <a:spLocks xmlns:a="http://schemas.openxmlformats.org/drawingml/2006/main" noGrp="1"/>
          </p:cNvSpPr>
          <p:nvPr/>
        </p:nvSpPr>
        <p:spPr>
          <a:xfrm xmlns:a="http://schemas.openxmlformats.org/drawingml/2006/main">
            <a:off x="6987540" y="2457450"/>
            <a:ext cx="103251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0F9F6E"/>
            </a:solidFill>
            <a:prstDash val="solid"/>
          </a:ln>
        </p:spPr>
        <p:txBody xmlns:a="http://schemas.openxmlformats.org/drawingml/2006/main">
          <a:bodyPr/>
          <a:p/>
        </p:txBody>
      </p:sp>
      <p:sp>
        <p:nvSpPr>
          <p:cNvPr id="31" name="">
            <a:extLst xmlns:a="http://schemas.openxmlformats.org/drawingml/2006/main">
              <a:ext uri="{FF2B5EF4-FFF2-40B4-BE49-F238E27FC236}">
                <a16:creationId xmlns:a16="http://schemas.microsoft.com/office/drawing/2014/main" id="{3E15ADCF-5D60-45B4-8F16-7582E5555C1F}"/>
              </a:ext>
            </a:extLst>
          </p:cNvPr>
          <p:cNvSpPr>
            <a:spLocks xmlns:a="http://schemas.openxmlformats.org/drawingml/2006/main" noGrp="1"/>
          </p:cNvSpPr>
          <p:nvPr/>
        </p:nvSpPr>
        <p:spPr>
          <a:xfrm xmlns:a="http://schemas.openxmlformats.org/drawingml/2006/main">
            <a:off x="7073265" y="2505075"/>
            <a:ext cx="86106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tool_parser_*</a:t>
            </a:r>
          </a:p>
        </p:txBody>
      </p:sp>
      <p:sp>
        <p:nvSpPr>
          <p:cNvPr id="32" name="">
            <a:extLst xmlns:a="http://schemas.openxmlformats.org/drawingml/2006/main">
              <a:ext uri="{FF2B5EF4-FFF2-40B4-BE49-F238E27FC236}">
                <a16:creationId xmlns:a16="http://schemas.microsoft.com/office/drawing/2014/main" id="{42853AEE-F7B7-4312-B559-E9A00B20BE2D}"/>
              </a:ext>
            </a:extLst>
          </p:cNvPr>
          <p:cNvSpPr>
            <a:spLocks xmlns:a="http://schemas.openxmlformats.org/drawingml/2006/main" noGrp="1"/>
          </p:cNvSpPr>
          <p:nvPr/>
        </p:nvSpPr>
        <p:spPr>
          <a:xfrm xmlns:a="http://schemas.openxmlformats.org/drawingml/2006/main">
            <a:off x="5314950" y="2724150"/>
            <a:ext cx="142113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0F9F6E"/>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F211C7C6-EA0E-498F-9D65-D3B8ED53D8BB}"/>
              </a:ext>
            </a:extLst>
          </p:cNvPr>
          <p:cNvSpPr>
            <a:spLocks xmlns:a="http://schemas.openxmlformats.org/drawingml/2006/main" noGrp="1"/>
          </p:cNvSpPr>
          <p:nvPr/>
        </p:nvSpPr>
        <p:spPr>
          <a:xfrm xmlns:a="http://schemas.openxmlformats.org/drawingml/2006/main">
            <a:off x="5400675" y="2771775"/>
            <a:ext cx="124968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prompt/cache tokens</a:t>
            </a:r>
          </a:p>
        </p:txBody>
      </p:sp>
      <p:sp>
        <p:nvSpPr>
          <p:cNvPr id="34" name="">
            <a:extLst xmlns:a="http://schemas.openxmlformats.org/drawingml/2006/main">
              <a:ext uri="{FF2B5EF4-FFF2-40B4-BE49-F238E27FC236}">
                <a16:creationId xmlns:a16="http://schemas.microsoft.com/office/drawing/2014/main" id="{D027AE60-889B-4242-A7A1-22163D65F4BC}"/>
              </a:ext>
            </a:extLst>
          </p:cNvPr>
          <p:cNvSpPr>
            <a:spLocks xmlns:a="http://schemas.openxmlformats.org/drawingml/2006/main" noGrp="1"/>
          </p:cNvSpPr>
          <p:nvPr/>
        </p:nvSpPr>
        <p:spPr>
          <a:xfrm xmlns:a="http://schemas.openxmlformats.org/drawingml/2006/main">
            <a:off x="9658350" y="2381250"/>
            <a:ext cx="1924050" cy="400050"/>
          </a:xfrm>
          <a:prstGeom xmlns:a="http://schemas.openxmlformats.org/drawingml/2006/main" prst="rect">
            <a:avLst/>
          </a:prstGeom>
          <a:solidFill xmlns:a="http://schemas.openxmlformats.org/drawingml/2006/main">
            <a:srgbClr val="FFFFFF"/>
          </a:solidFill>
          <a:ln xmlns:a="http://schemas.openxmlformats.org/drawingml/2006/main" w="15240">
            <a:solidFill>
              <a:srgbClr val="667085"/>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F3847F6B-DADC-47C1-89EA-CF944B9A1732}"/>
              </a:ext>
            </a:extLst>
          </p:cNvPr>
          <p:cNvSpPr>
            <a:spLocks xmlns:a="http://schemas.openxmlformats.org/drawingml/2006/main" noGrp="1"/>
          </p:cNvSpPr>
          <p:nvPr/>
        </p:nvSpPr>
        <p:spPr>
          <a:xfrm xmlns:a="http://schemas.openxmlformats.org/drawingml/2006/main">
            <a:off x="9772650" y="2447925"/>
            <a:ext cx="16954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0" b="1">
                <a:solidFill>
                  <a:srgbClr val="667085"/>
                </a:solidFill>
                <a:latin typeface="Aptos"/>
                <a:ea typeface="Aptos"/>
                <a:cs typeface="Aptos"/>
              </a:defRPr>
            </a:pPr>
            <a:r>
              <a:rPr sz="690" b="1">
                <a:solidFill>
                  <a:srgbClr val="667085"/>
                </a:solidFill>
                <a:latin typeface="Aptos"/>
                <a:ea typeface="Aptos"/>
                <a:cs typeface="Aptos"/>
              </a:rPr>
              <a:t>Payload size change</a:t>
            </a:r>
          </a:p>
        </p:txBody>
      </p:sp>
      <p:sp>
        <p:nvSpPr>
          <p:cNvPr id="36" name="">
            <a:extLst xmlns:a="http://schemas.openxmlformats.org/drawingml/2006/main">
              <a:ext uri="{FF2B5EF4-FFF2-40B4-BE49-F238E27FC236}">
                <a16:creationId xmlns:a16="http://schemas.microsoft.com/office/drawing/2014/main" id="{CC6D526F-7005-41E0-B6F3-8A87AC27F0CD}"/>
              </a:ext>
            </a:extLst>
          </p:cNvPr>
          <p:cNvSpPr>
            <a:spLocks xmlns:a="http://schemas.openxmlformats.org/drawingml/2006/main" noGrp="1"/>
          </p:cNvSpPr>
          <p:nvPr/>
        </p:nvSpPr>
        <p:spPr>
          <a:xfrm xmlns:a="http://schemas.openxmlformats.org/drawingml/2006/main">
            <a:off x="9772650" y="2571750"/>
            <a:ext cx="1695450" cy="1809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667085"/>
                </a:solidFill>
                <a:latin typeface="Aptos Mono"/>
                <a:ea typeface="Aptos Mono"/>
                <a:cs typeface="Aptos Mono"/>
              </a:defRPr>
            </a:pPr>
            <a:r>
              <a:rPr sz="1238" b="1">
                <a:solidFill>
                  <a:srgbClr val="667085"/>
                </a:solidFill>
                <a:latin typeface="Aptos Mono"/>
                <a:ea typeface="Aptos Mono"/>
                <a:cs typeface="Aptos Mono"/>
              </a:rPr>
              <a:t>0</a:t>
            </a:r>
          </a:p>
        </p:txBody>
      </p:sp>
      <p:sp>
        <p:nvSpPr>
          <p:cNvPr id="37" name="">
            <a:extLst xmlns:a="http://schemas.openxmlformats.org/drawingml/2006/main">
              <a:ext uri="{FF2B5EF4-FFF2-40B4-BE49-F238E27FC236}">
                <a16:creationId xmlns:a16="http://schemas.microsoft.com/office/drawing/2014/main" id="{D5F3220A-A7E0-47C0-A535-B1DE53A62889}"/>
              </a:ext>
            </a:extLst>
          </p:cNvPr>
          <p:cNvSpPr>
            <a:spLocks xmlns:a="http://schemas.openxmlformats.org/drawingml/2006/main" noGrp="1"/>
          </p:cNvSpPr>
          <p:nvPr/>
        </p:nvSpPr>
        <p:spPr>
          <a:xfrm xmlns:a="http://schemas.openxmlformats.org/drawingml/2006/main">
            <a:off x="609600" y="2857500"/>
            <a:ext cx="5219700" cy="2914650"/>
          </a:xfrm>
          <a:prstGeom xmlns:a="http://schemas.openxmlformats.org/drawingml/2006/main" prst="rect">
            <a:avLst/>
          </a:prstGeom>
          <a:solidFill xmlns:a="http://schemas.openxmlformats.org/drawingml/2006/main">
            <a:srgbClr val="FFFFFF"/>
          </a:solidFill>
          <a:ln xmlns:a="http://schemas.openxmlformats.org/drawingml/2006/main" w="19050">
            <a:solidFill>
              <a:srgbClr val="0F9F6E"/>
            </a:solidFill>
            <a:prstDash val="solid"/>
          </a:ln>
        </p:spPr>
        <p:txBody xmlns:a="http://schemas.openxmlformats.org/drawingml/2006/main">
          <a:bodyPr/>
          <a:p/>
        </p:txBody>
      </p:sp>
      <p:sp>
        <p:nvSpPr>
          <p:cNvPr id="38" name="">
            <a:extLst xmlns:a="http://schemas.openxmlformats.org/drawingml/2006/main">
              <a:ext uri="{FF2B5EF4-FFF2-40B4-BE49-F238E27FC236}">
                <a16:creationId xmlns:a16="http://schemas.microsoft.com/office/drawing/2014/main" id="{9D07B168-DD4E-4036-B7F2-453322921E64}"/>
              </a:ext>
            </a:extLst>
          </p:cNvPr>
          <p:cNvSpPr>
            <a:spLocks xmlns:a="http://schemas.openxmlformats.org/drawingml/2006/main" noGrp="1"/>
          </p:cNvSpPr>
          <p:nvPr/>
        </p:nvSpPr>
        <p:spPr>
          <a:xfrm xmlns:a="http://schemas.openxmlformats.org/drawingml/2006/main">
            <a:off x="609600" y="2857500"/>
            <a:ext cx="5219700" cy="400050"/>
          </a:xfrm>
          <a:prstGeom xmlns:a="http://schemas.openxmlformats.org/drawingml/2006/main" prst="rect">
            <a:avLst/>
          </a:prstGeom>
          <a:solidFill xmlns:a="http://schemas.openxmlformats.org/drawingml/2006/main">
            <a:srgbClr val="E9E1D6"/>
          </a:solidFill>
          <a:ln xmlns:a="http://schemas.openxmlformats.org/drawingml/2006/main" w="0">
            <a:solidFill>
              <a:srgbClr val="000000">
                <a:alpha val="0"/>
              </a:srgbClr>
            </a:solidFill>
            <a:prstDash val="solid"/>
          </a:ln>
        </p:spPr>
        <p:txBody xmlns:a="http://schemas.openxmlformats.org/drawingml/2006/main">
          <a:bodyPr/>
          <a:p/>
        </p:txBody>
      </p:sp>
      <p:sp>
        <p:nvSpPr>
          <p:cNvPr id="39" name="">
            <a:extLst xmlns:a="http://schemas.openxmlformats.org/drawingml/2006/main">
              <a:ext uri="{FF2B5EF4-FFF2-40B4-BE49-F238E27FC236}">
                <a16:creationId xmlns:a16="http://schemas.microsoft.com/office/drawing/2014/main" id="{A9237962-465B-47A4-BD24-F8DC9EA34EB1}"/>
              </a:ext>
            </a:extLst>
          </p:cNvPr>
          <p:cNvSpPr>
            <a:spLocks xmlns:a="http://schemas.openxmlformats.org/drawingml/2006/main" noGrp="1"/>
          </p:cNvSpPr>
          <p:nvPr/>
        </p:nvSpPr>
        <p:spPr>
          <a:xfrm xmlns:a="http://schemas.openxmlformats.org/drawingml/2006/main">
            <a:off x="781050" y="2962275"/>
            <a:ext cx="48768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90" b="1">
                <a:solidFill>
                  <a:srgbClr val="101820"/>
                </a:solidFill>
                <a:latin typeface="Aptos"/>
                <a:ea typeface="Aptos"/>
                <a:cs typeface="Aptos"/>
              </a:defRPr>
            </a:pPr>
            <a:r>
              <a:rPr sz="990" b="1">
                <a:solidFill>
                  <a:srgbClr val="101820"/>
                </a:solidFill>
                <a:latin typeface="Aptos"/>
                <a:ea typeface="Aptos"/>
                <a:cs typeface="Aptos"/>
              </a:rPr>
              <a:t>After Tools Attached</a:t>
            </a:r>
          </a:p>
        </p:txBody>
      </p:sp>
      <p:sp>
        <p:nvSpPr>
          <p:cNvPr id="40" name="">
            <a:extLst xmlns:a="http://schemas.openxmlformats.org/drawingml/2006/main">
              <a:ext uri="{FF2B5EF4-FFF2-40B4-BE49-F238E27FC236}">
                <a16:creationId xmlns:a16="http://schemas.microsoft.com/office/drawing/2014/main" id="{260ACF34-F40C-4870-A6E5-8171C46D84C2}"/>
              </a:ext>
            </a:extLst>
          </p:cNvPr>
          <p:cNvSpPr>
            <a:spLocks xmlns:a="http://schemas.openxmlformats.org/drawingml/2006/main" noGrp="1"/>
          </p:cNvSpPr>
          <p:nvPr/>
        </p:nvSpPr>
        <p:spPr>
          <a:xfrm xmlns:a="http://schemas.openxmlformats.org/drawingml/2006/main">
            <a:off x="781050" y="3409950"/>
            <a:ext cx="4876800" cy="2247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  "model":"...",</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  "system_prompt":"...",</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  "messages":[</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    {</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  "role":"...",</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  "content":"..."</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  ],</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  "request_context":{</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  ...</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  "agent_hints":{</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  ...</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  "tool_choice":"...",</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  "expected_builtin_tools":[</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    "..."</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  ],</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  "tool_parser_names_seen":[</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    "..."</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  ],</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  "tool_parser_observed":"..."</a:t>
            </a:r>
          </a:p>
          <a:p xmlns:a="http://schemas.openxmlformats.org/drawingml/2006/main">
            <a:pPr algn="l">
              <a:defRPr sz="668" b="0">
                <a:solidFill>
                  <a:srgbClr val="172033"/>
                </a:solidFill>
                <a:latin typeface="Aptos Mono"/>
                <a:ea typeface="Aptos Mono"/>
                <a:cs typeface="Aptos Mono"/>
              </a:defRPr>
            </a:pPr>
            <a:r>
              <a:rPr sz="668" b="0">
                <a:solidFill>
                  <a:srgbClr val="172033"/>
                </a:solidFill>
                <a:latin typeface="Aptos Mono"/>
                <a:ea typeface="Aptos Mono"/>
                <a:cs typeface="Aptos Mono"/>
              </a:rPr>
              <a:t>}</a:t>
            </a:r>
          </a:p>
        </p:txBody>
      </p:sp>
      <p:sp>
        <p:nvSpPr>
          <p:cNvPr id="41" name="">
            <a:extLst xmlns:a="http://schemas.openxmlformats.org/drawingml/2006/main">
              <a:ext uri="{FF2B5EF4-FFF2-40B4-BE49-F238E27FC236}">
                <a16:creationId xmlns:a16="http://schemas.microsoft.com/office/drawing/2014/main" id="{D36B0546-C363-41AE-B093-A9B95A31622D}"/>
              </a:ext>
            </a:extLst>
          </p:cNvPr>
          <p:cNvSpPr>
            <a:spLocks xmlns:a="http://schemas.openxmlformats.org/drawingml/2006/main" noGrp="1"/>
          </p:cNvSpPr>
          <p:nvPr/>
        </p:nvSpPr>
        <p:spPr>
          <a:xfrm xmlns:a="http://schemas.openxmlformats.org/drawingml/2006/main">
            <a:off x="6362700" y="2857500"/>
            <a:ext cx="5219700" cy="2914650"/>
          </a:xfrm>
          <a:prstGeom xmlns:a="http://schemas.openxmlformats.org/drawingml/2006/main" prst="rect">
            <a:avLst/>
          </a:prstGeom>
          <a:solidFill xmlns:a="http://schemas.openxmlformats.org/drawingml/2006/main">
            <a:srgbClr val="FFFFFF"/>
          </a:solidFill>
          <a:ln xmlns:a="http://schemas.openxmlformats.org/drawingml/2006/main" w="19050">
            <a:solidFill>
              <a:srgbClr val="0F9F6E"/>
            </a:solidFill>
            <a:prstDash val="solid"/>
          </a:ln>
        </p:spPr>
        <p:txBody xmlns:a="http://schemas.openxmlformats.org/drawingml/2006/main">
          <a:bodyPr/>
          <a:p/>
        </p:txBody>
      </p:sp>
      <p:sp>
        <p:nvSpPr>
          <p:cNvPr id="42" name="">
            <a:extLst xmlns:a="http://schemas.openxmlformats.org/drawingml/2006/main">
              <a:ext uri="{FF2B5EF4-FFF2-40B4-BE49-F238E27FC236}">
                <a16:creationId xmlns:a16="http://schemas.microsoft.com/office/drawing/2014/main" id="{4579B44B-0412-4604-AA0C-68231E0652CD}"/>
              </a:ext>
            </a:extLst>
          </p:cNvPr>
          <p:cNvSpPr>
            <a:spLocks xmlns:a="http://schemas.openxmlformats.org/drawingml/2006/main" noGrp="1"/>
          </p:cNvSpPr>
          <p:nvPr/>
        </p:nvSpPr>
        <p:spPr>
          <a:xfrm xmlns:a="http://schemas.openxmlformats.org/drawingml/2006/main">
            <a:off x="6362700" y="2857500"/>
            <a:ext cx="5219700" cy="400050"/>
          </a:xfrm>
          <a:prstGeom xmlns:a="http://schemas.openxmlformats.org/drawingml/2006/main" prst="rect">
            <a:avLst/>
          </a:prstGeom>
          <a:solidFill xmlns:a="http://schemas.openxmlformats.org/drawingml/2006/main">
            <a:srgbClr val="E9E1D6"/>
          </a:solidFill>
          <a:ln xmlns:a="http://schemas.openxmlformats.org/drawingml/2006/main" w="0">
            <a:solidFill>
              <a:srgbClr val="000000">
                <a:alpha val="0"/>
              </a:srgbClr>
            </a:solidFill>
            <a:prstDash val="solid"/>
          </a:ln>
        </p:spPr>
        <p:txBody xmlns:a="http://schemas.openxmlformats.org/drawingml/2006/main">
          <a:bodyPr/>
          <a:p/>
        </p:txBody>
      </p:sp>
      <p:sp>
        <p:nvSpPr>
          <p:cNvPr id="43" name="">
            <a:extLst xmlns:a="http://schemas.openxmlformats.org/drawingml/2006/main">
              <a:ext uri="{FF2B5EF4-FFF2-40B4-BE49-F238E27FC236}">
                <a16:creationId xmlns:a16="http://schemas.microsoft.com/office/drawing/2014/main" id="{78454FF0-B1ED-4948-BB4E-F8072C16A587}"/>
              </a:ext>
            </a:extLst>
          </p:cNvPr>
          <p:cNvSpPr>
            <a:spLocks xmlns:a="http://schemas.openxmlformats.org/drawingml/2006/main" noGrp="1"/>
          </p:cNvSpPr>
          <p:nvPr/>
        </p:nvSpPr>
        <p:spPr>
          <a:xfrm xmlns:a="http://schemas.openxmlformats.org/drawingml/2006/main">
            <a:off x="6534150" y="2962275"/>
            <a:ext cx="48768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90" b="1">
                <a:solidFill>
                  <a:srgbClr val="101820"/>
                </a:solidFill>
                <a:latin typeface="Aptos"/>
                <a:ea typeface="Aptos"/>
                <a:cs typeface="Aptos"/>
              </a:defRPr>
            </a:pPr>
            <a:r>
              <a:rPr sz="990" b="1">
                <a:solidFill>
                  <a:srgbClr val="101820"/>
                </a:solidFill>
                <a:latin typeface="Aptos"/>
                <a:ea typeface="Aptos"/>
                <a:cs typeface="Aptos"/>
              </a:rPr>
              <a:t>After Runtime Prepared - added fields called out above</a:t>
            </a:r>
          </a:p>
        </p:txBody>
      </p:sp>
      <p:sp>
        <p:nvSpPr>
          <p:cNvPr id="44" name="">
            <a:extLst xmlns:a="http://schemas.openxmlformats.org/drawingml/2006/main">
              <a:ext uri="{FF2B5EF4-FFF2-40B4-BE49-F238E27FC236}">
                <a16:creationId xmlns:a16="http://schemas.microsoft.com/office/drawing/2014/main" id="{0DE4CA68-389D-4704-96FD-BFF0B20EF859}"/>
              </a:ext>
            </a:extLst>
          </p:cNvPr>
          <p:cNvSpPr>
            <a:spLocks xmlns:a="http://schemas.openxmlformats.org/drawingml/2006/main" noGrp="1"/>
          </p:cNvSpPr>
          <p:nvPr/>
        </p:nvSpPr>
        <p:spPr>
          <a:xfrm xmlns:a="http://schemas.openxmlformats.org/drawingml/2006/main">
            <a:off x="6534150" y="3409950"/>
            <a:ext cx="4876800" cy="2247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"model":"...",</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"system_prompt":"...",</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"messages":[</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"role":"...",</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"content":"..."</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"request_context":{</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"agent_hints":{</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"tool_choice":"...",</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"expected_builtin_tools":[</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"tool_parser_names_seen":[</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"tool_parser_observed":"...",</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"prompt_tokens":"...",</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"cached_prompt_tokens":"...",</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"cached_input_tokens":"..."</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a:t>
            </a:r>
          </a:p>
        </p:txBody>
      </p:sp>
      <p:sp>
        <p:nvSpPr>
          <p:cNvPr id="45" name="">
            <a:extLst xmlns:a="http://schemas.openxmlformats.org/drawingml/2006/main">
              <a:ext uri="{FF2B5EF4-FFF2-40B4-BE49-F238E27FC236}">
                <a16:creationId xmlns:a16="http://schemas.microsoft.com/office/drawing/2014/main" id="{27F564AA-9589-4FB5-801E-0F2319741779}"/>
              </a:ext>
            </a:extLst>
          </p:cNvPr>
          <p:cNvSpPr>
            <a:spLocks xmlns:a="http://schemas.openxmlformats.org/drawingml/2006/main" noGrp="1"/>
          </p:cNvSpPr>
          <p:nvPr/>
        </p:nvSpPr>
        <p:spPr>
          <a:xfrm xmlns:a="http://schemas.openxmlformats.org/drawingml/2006/main">
            <a:off x="609600" y="5810250"/>
            <a:ext cx="9906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0">
                <a:solidFill>
                  <a:srgbClr val="334155"/>
                </a:solidFill>
                <a:latin typeface="Aptos"/>
                <a:ea typeface="Aptos"/>
                <a:cs typeface="Aptos"/>
              </a:defRPr>
            </a:pPr>
            <a:r>
              <a:rPr sz="1163" b="0">
                <a:solidFill>
                  <a:srgbClr val="334155"/>
                </a:solidFill>
                <a:latin typeface="Aptos"/>
                <a:ea typeface="Aptos"/>
                <a:cs typeface="Aptos"/>
              </a:rPr>
              <a:t>No payload growth | parser_observed=True | prompt_tokens=12553 | cached_input_tokens=12544</a:t>
            </a:r>
          </a:p>
        </p:txBody>
      </p:sp>
      <p:sp>
        <p:nvSpPr>
          <p:cNvPr id="46" name="">
            <a:extLst xmlns:a="http://schemas.openxmlformats.org/drawingml/2006/main">
              <a:ext uri="{FF2B5EF4-FFF2-40B4-BE49-F238E27FC236}">
                <a16:creationId xmlns:a16="http://schemas.microsoft.com/office/drawing/2014/main" id="{AF859340-F1DF-4168-B22B-407E6AC06EF1}"/>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D1C8"/>
          </a:solidFill>
          <a:ln xmlns:a="http://schemas.openxmlformats.org/drawingml/2006/main" w="0">
            <a:solidFill>
              <a:srgbClr val="000000">
                <a:alpha val="0"/>
              </a:srgbClr>
            </a:solidFill>
            <a:prstDash val="solid"/>
          </a:ln>
        </p:spPr>
        <p:txBody xmlns:a="http://schemas.openxmlformats.org/drawingml/2006/main">
          <a:bodyPr/>
          <a:p/>
        </p:txBody>
      </p:sp>
      <p:sp>
        <p:nvSpPr>
          <p:cNvPr id="47" name="">
            <a:extLst xmlns:a="http://schemas.openxmlformats.org/drawingml/2006/main">
              <a:ext uri="{FF2B5EF4-FFF2-40B4-BE49-F238E27FC236}">
                <a16:creationId xmlns:a16="http://schemas.microsoft.com/office/drawing/2014/main" id="{AB539338-4DE8-44D8-BBD8-4DF85B328DEB}"/>
              </a:ext>
            </a:extLst>
          </p:cNvPr>
          <p:cNvSpPr>
            <a:spLocks xmlns:a="http://schemas.openxmlformats.org/drawingml/2006/main" noGrp="1"/>
          </p:cNvSpPr>
          <p:nvPr/>
        </p:nvSpPr>
        <p:spPr>
          <a:xfrm xmlns:a="http://schemas.openxmlformats.org/drawingml/2006/main">
            <a:off x="609600" y="6477000"/>
            <a:ext cx="3238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667085"/>
                </a:solidFill>
                <a:latin typeface="Aptos"/>
                <a:ea typeface="Aptos"/>
                <a:cs typeface="Aptos"/>
              </a:defRPr>
            </a:pPr>
            <a:r>
              <a:rPr sz="825" b="1">
                <a:solidFill>
                  <a:srgbClr val="667085"/>
                </a:solidFill>
                <a:latin typeface="Aptos"/>
                <a:ea typeface="Aptos"/>
                <a:cs typeface="Aptos"/>
              </a:rPr>
              <a:t>PROMPT EVOLUTION</a:t>
            </a:r>
          </a:p>
        </p:txBody>
      </p:sp>
      <p:sp>
        <p:nvSpPr>
          <p:cNvPr id="48" name="">
            <a:extLst xmlns:a="http://schemas.openxmlformats.org/drawingml/2006/main">
              <a:ext uri="{FF2B5EF4-FFF2-40B4-BE49-F238E27FC236}">
                <a16:creationId xmlns:a16="http://schemas.microsoft.com/office/drawing/2014/main" id="{ACBED890-2976-462F-BEAA-441DD8473924}"/>
              </a:ext>
            </a:extLst>
          </p:cNvPr>
          <p:cNvSpPr>
            <a:spLocks xmlns:a="http://schemas.openxmlformats.org/drawingml/2006/main" noGrp="1"/>
          </p:cNvSpPr>
          <p:nvPr/>
        </p:nvSpPr>
        <p:spPr>
          <a:xfrm xmlns:a="http://schemas.openxmlformats.org/drawingml/2006/main">
            <a:off x="11087100" y="6477000"/>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1">
                <a:solidFill>
                  <a:srgbClr val="334155"/>
                </a:solidFill>
              </a:rPr>
              <a:t>11</a:t>
            </a:r>
          </a:p>
        </p:txBody>
      </p:sp>
    </p:spTree>
    <p:extLst>
      <p:ext uri="{BB962C8B-B14F-4D97-AF65-F5344CB8AC3E}">
        <p14:creationId xmlns:p14="http://schemas.microsoft.com/office/powerpoint/2010/main" val="209091231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E1BA132-8087-42AF-A38C-A2E20BB5C11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AEAD595-CC07-473F-96AA-577A7564A773}"/>
              </a:ext>
            </a:extLst>
          </p:cNvPr>
          <p:cNvSpPr>
            <a:spLocks xmlns:a="http://schemas.openxmlformats.org/drawingml/2006/main" noGrp="1"/>
          </p:cNvSpPr>
          <p:nvPr/>
        </p:nvSpPr>
        <p:spPr>
          <a:xfrm xmlns:a="http://schemas.openxmlformats.org/drawingml/2006/main">
            <a:off x="609600" y="495300"/>
            <a:ext cx="76200" cy="228600"/>
          </a:xfrm>
          <a:prstGeom xmlns:a="http://schemas.openxmlformats.org/drawingml/2006/main" prst="rect">
            <a:avLst/>
          </a:prstGeom>
          <a:solidFill xmlns:a="http://schemas.openxmlformats.org/drawingml/2006/main">
            <a:srgbClr val="6D28D9"/>
          </a:solidFill>
          <a:ln xmlns:a="http://schemas.openxmlformats.org/drawingml/2006/main" w="0">
            <a:solidFill>
              <a:srgbClr val="000000">
                <a:alpha val="0"/>
              </a:srgbClr>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C3346231-B0E7-47E4-8456-B428A2290A41}"/>
              </a:ext>
            </a:extLst>
          </p:cNvPr>
          <p:cNvSpPr>
            <a:spLocks xmlns:a="http://schemas.openxmlformats.org/drawingml/2006/main" noGrp="1"/>
          </p:cNvSpPr>
          <p:nvPr/>
        </p:nvSpPr>
        <p:spPr>
          <a:xfrm xmlns:a="http://schemas.openxmlformats.org/drawingml/2006/main">
            <a:off x="800100" y="4953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67085"/>
                </a:solidFill>
                <a:latin typeface="Aptos"/>
                <a:ea typeface="Aptos"/>
                <a:cs typeface="Aptos"/>
              </a:defRPr>
            </a:pPr>
            <a:r>
              <a:rPr sz="900" b="1">
                <a:solidFill>
                  <a:srgbClr val="667085"/>
                </a:solidFill>
                <a:latin typeface="Aptos"/>
                <a:ea typeface="Aptos"/>
                <a:cs typeface="Aptos"/>
              </a:rPr>
              <a:t>STEP 5 OF 5 | RUNTIME -&gt; BEHAVIOR | DEEP AGENTS LAYER</a:t>
            </a:r>
          </a:p>
        </p:txBody>
      </p:sp>
      <p:sp>
        <p:nvSpPr>
          <p:cNvPr id="4" name="">
            <a:extLst xmlns:a="http://schemas.openxmlformats.org/drawingml/2006/main">
              <a:ext uri="{FF2B5EF4-FFF2-40B4-BE49-F238E27FC236}">
                <a16:creationId xmlns:a16="http://schemas.microsoft.com/office/drawing/2014/main" id="{A0006395-D85A-4BBF-9EFD-2ADDAA880BA7}"/>
              </a:ext>
            </a:extLst>
          </p:cNvPr>
          <p:cNvSpPr>
            <a:spLocks xmlns:a="http://schemas.openxmlformats.org/drawingml/2006/main" noGrp="1"/>
          </p:cNvSpPr>
          <p:nvPr/>
        </p:nvSpPr>
        <p:spPr>
          <a:xfrm xmlns:a="http://schemas.openxmlformats.org/drawingml/2006/main">
            <a:off x="609600" y="819150"/>
            <a:ext cx="100965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01820"/>
                </a:solidFill>
                <a:latin typeface="Aptos Display"/>
                <a:ea typeface="Aptos Display"/>
                <a:cs typeface="Aptos Display"/>
              </a:defRPr>
            </a:pPr>
            <a:r>
              <a:rPr sz="2850" b="1">
                <a:solidFill>
                  <a:srgbClr val="101820"/>
                </a:solidFill>
                <a:latin typeface="Aptos Display"/>
                <a:ea typeface="Aptos Display"/>
                <a:cs typeface="Aptos Display"/>
              </a:rPr>
              <a:t>Finally, we observe what the model actually did.</a:t>
            </a:r>
          </a:p>
        </p:txBody>
      </p:sp>
      <p:sp>
        <p:nvSpPr>
          <p:cNvPr id="5" name="">
            <a:extLst xmlns:a="http://schemas.openxmlformats.org/drawingml/2006/main">
              <a:ext uri="{FF2B5EF4-FFF2-40B4-BE49-F238E27FC236}">
                <a16:creationId xmlns:a16="http://schemas.microsoft.com/office/drawing/2014/main" id="{89094584-A3E8-4403-9415-0B7CD8D9ACF6}"/>
              </a:ext>
            </a:extLst>
          </p:cNvPr>
          <p:cNvSpPr>
            <a:spLocks xmlns:a="http://schemas.openxmlformats.org/drawingml/2006/main" noGrp="1"/>
          </p:cNvSpPr>
          <p:nvPr/>
        </p:nvSpPr>
        <p:spPr>
          <a:xfrm xmlns:a="http://schemas.openxmlformats.org/drawingml/2006/main">
            <a:off x="7658100" y="514350"/>
            <a:ext cx="742950" cy="209550"/>
          </a:xfrm>
          <a:prstGeom xmlns:a="http://schemas.openxmlformats.org/drawingml/2006/main" prst="rect">
            <a:avLst/>
          </a:prstGeom>
          <a:solidFill xmlns:a="http://schemas.openxmlformats.org/drawingml/2006/main">
            <a:srgbClr val="000000">
              <a:alpha val="0"/>
            </a:srgbClr>
          </a:solidFill>
          <a:ln xmlns:a="http://schemas.openxmlformats.org/drawingml/2006/main" w="11430">
            <a:solidFill>
              <a:srgbClr val="D8D0C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E6BC6FCC-6B23-4390-A22F-F22E08BBF61C}"/>
              </a:ext>
            </a:extLst>
          </p:cNvPr>
          <p:cNvSpPr>
            <a:spLocks xmlns:a="http://schemas.openxmlformats.org/drawingml/2006/main" noGrp="1"/>
          </p:cNvSpPr>
          <p:nvPr/>
        </p:nvSpPr>
        <p:spPr>
          <a:xfrm xmlns:a="http://schemas.openxmlformats.org/drawingml/2006/main">
            <a:off x="7715250" y="571500"/>
            <a:ext cx="6286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667085"/>
                </a:solidFill>
                <a:latin typeface="Aptos"/>
                <a:ea typeface="Aptos"/>
                <a:cs typeface="Aptos"/>
              </a:defRPr>
            </a:pPr>
            <a:r>
              <a:rPr sz="675" b="1">
                <a:solidFill>
                  <a:srgbClr val="667085"/>
                </a:solidFill>
                <a:latin typeface="Aptos"/>
                <a:ea typeface="Aptos"/>
                <a:cs typeface="Aptos"/>
              </a:rPr>
              <a:t>Task</a:t>
            </a:r>
          </a:p>
        </p:txBody>
      </p:sp>
      <p:sp>
        <p:nvSpPr>
          <p:cNvPr id="7" name="">
            <a:extLst xmlns:a="http://schemas.openxmlformats.org/drawingml/2006/main">
              <a:ext uri="{FF2B5EF4-FFF2-40B4-BE49-F238E27FC236}">
                <a16:creationId xmlns:a16="http://schemas.microsoft.com/office/drawing/2014/main" id="{186540E4-2AF1-49FA-B807-502444767F24}"/>
              </a:ext>
            </a:extLst>
          </p:cNvPr>
          <p:cNvSpPr>
            <a:spLocks xmlns:a="http://schemas.openxmlformats.org/drawingml/2006/main" noGrp="1"/>
          </p:cNvSpPr>
          <p:nvPr/>
        </p:nvSpPr>
        <p:spPr>
          <a:xfrm xmlns:a="http://schemas.openxmlformats.org/drawingml/2006/main">
            <a:off x="8477250" y="514350"/>
            <a:ext cx="742950" cy="209550"/>
          </a:xfrm>
          <a:prstGeom xmlns:a="http://schemas.openxmlformats.org/drawingml/2006/main" prst="rect">
            <a:avLst/>
          </a:prstGeom>
          <a:solidFill xmlns:a="http://schemas.openxmlformats.org/drawingml/2006/main">
            <a:srgbClr val="000000">
              <a:alpha val="0"/>
            </a:srgbClr>
          </a:solidFill>
          <a:ln xmlns:a="http://schemas.openxmlformats.org/drawingml/2006/main" w="11430">
            <a:solidFill>
              <a:srgbClr val="D8D0C7"/>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20F057A1-EC1B-467E-ABF5-F1AEE7FF6413}"/>
              </a:ext>
            </a:extLst>
          </p:cNvPr>
          <p:cNvSpPr>
            <a:spLocks xmlns:a="http://schemas.openxmlformats.org/drawingml/2006/main" noGrp="1"/>
          </p:cNvSpPr>
          <p:nvPr/>
        </p:nvSpPr>
        <p:spPr>
          <a:xfrm xmlns:a="http://schemas.openxmlformats.org/drawingml/2006/main">
            <a:off x="8534400" y="571500"/>
            <a:ext cx="6286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667085"/>
                </a:solidFill>
                <a:latin typeface="Aptos"/>
                <a:ea typeface="Aptos"/>
                <a:cs typeface="Aptos"/>
              </a:defRPr>
            </a:pPr>
            <a:r>
              <a:rPr sz="675" b="1">
                <a:solidFill>
                  <a:srgbClr val="667085"/>
                </a:solidFill>
                <a:latin typeface="Aptos"/>
                <a:ea typeface="Aptos"/>
                <a:cs typeface="Aptos"/>
              </a:rPr>
              <a:t>Prompt</a:t>
            </a:r>
          </a:p>
        </p:txBody>
      </p:sp>
      <p:sp>
        <p:nvSpPr>
          <p:cNvPr id="9" name="">
            <a:extLst xmlns:a="http://schemas.openxmlformats.org/drawingml/2006/main">
              <a:ext uri="{FF2B5EF4-FFF2-40B4-BE49-F238E27FC236}">
                <a16:creationId xmlns:a16="http://schemas.microsoft.com/office/drawing/2014/main" id="{B38B08F6-382A-4906-BCC8-3FBFAA1C8CD4}"/>
              </a:ext>
            </a:extLst>
          </p:cNvPr>
          <p:cNvSpPr>
            <a:spLocks xmlns:a="http://schemas.openxmlformats.org/drawingml/2006/main" noGrp="1"/>
          </p:cNvSpPr>
          <p:nvPr/>
        </p:nvSpPr>
        <p:spPr>
          <a:xfrm xmlns:a="http://schemas.openxmlformats.org/drawingml/2006/main">
            <a:off x="9296400" y="514350"/>
            <a:ext cx="742950" cy="209550"/>
          </a:xfrm>
          <a:prstGeom xmlns:a="http://schemas.openxmlformats.org/drawingml/2006/main" prst="rect">
            <a:avLst/>
          </a:prstGeom>
          <a:solidFill xmlns:a="http://schemas.openxmlformats.org/drawingml/2006/main">
            <a:srgbClr val="000000">
              <a:alpha val="0"/>
            </a:srgbClr>
          </a:solidFill>
          <a:ln xmlns:a="http://schemas.openxmlformats.org/drawingml/2006/main" w="11430">
            <a:solidFill>
              <a:srgbClr val="D8D0C7"/>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5238A144-BBB2-4E66-87D3-A3A9DCD10638}"/>
              </a:ext>
            </a:extLst>
          </p:cNvPr>
          <p:cNvSpPr>
            <a:spLocks xmlns:a="http://schemas.openxmlformats.org/drawingml/2006/main" noGrp="1"/>
          </p:cNvSpPr>
          <p:nvPr/>
        </p:nvSpPr>
        <p:spPr>
          <a:xfrm xmlns:a="http://schemas.openxmlformats.org/drawingml/2006/main">
            <a:off x="9353550" y="571500"/>
            <a:ext cx="6286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667085"/>
                </a:solidFill>
                <a:latin typeface="Aptos"/>
                <a:ea typeface="Aptos"/>
                <a:cs typeface="Aptos"/>
              </a:defRPr>
            </a:pPr>
            <a:r>
              <a:rPr sz="675" b="1">
                <a:solidFill>
                  <a:srgbClr val="667085"/>
                </a:solidFill>
                <a:latin typeface="Aptos"/>
                <a:ea typeface="Aptos"/>
                <a:cs typeface="Aptos"/>
              </a:rPr>
              <a:t>Request</a:t>
            </a:r>
          </a:p>
        </p:txBody>
      </p:sp>
      <p:sp>
        <p:nvSpPr>
          <p:cNvPr id="11" name="">
            <a:extLst xmlns:a="http://schemas.openxmlformats.org/drawingml/2006/main">
              <a:ext uri="{FF2B5EF4-FFF2-40B4-BE49-F238E27FC236}">
                <a16:creationId xmlns:a16="http://schemas.microsoft.com/office/drawing/2014/main" id="{DA8ECE9D-86B4-470D-B744-352FD3610218}"/>
              </a:ext>
            </a:extLst>
          </p:cNvPr>
          <p:cNvSpPr>
            <a:spLocks xmlns:a="http://schemas.openxmlformats.org/drawingml/2006/main" noGrp="1"/>
          </p:cNvSpPr>
          <p:nvPr/>
        </p:nvSpPr>
        <p:spPr>
          <a:xfrm xmlns:a="http://schemas.openxmlformats.org/drawingml/2006/main">
            <a:off x="10115550" y="514350"/>
            <a:ext cx="742950" cy="209550"/>
          </a:xfrm>
          <a:prstGeom xmlns:a="http://schemas.openxmlformats.org/drawingml/2006/main" prst="rect">
            <a:avLst/>
          </a:prstGeom>
          <a:solidFill xmlns:a="http://schemas.openxmlformats.org/drawingml/2006/main">
            <a:srgbClr val="000000">
              <a:alpha val="0"/>
            </a:srgbClr>
          </a:solidFill>
          <a:ln xmlns:a="http://schemas.openxmlformats.org/drawingml/2006/main" w="11430">
            <a:solidFill>
              <a:srgbClr val="D8D0C7"/>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97AA09FE-46EB-43DC-A21A-7565405CECF4}"/>
              </a:ext>
            </a:extLst>
          </p:cNvPr>
          <p:cNvSpPr>
            <a:spLocks xmlns:a="http://schemas.openxmlformats.org/drawingml/2006/main" noGrp="1"/>
          </p:cNvSpPr>
          <p:nvPr/>
        </p:nvSpPr>
        <p:spPr>
          <a:xfrm xmlns:a="http://schemas.openxmlformats.org/drawingml/2006/main">
            <a:off x="10172700" y="571500"/>
            <a:ext cx="6286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667085"/>
                </a:solidFill>
                <a:latin typeface="Aptos"/>
                <a:ea typeface="Aptos"/>
                <a:cs typeface="Aptos"/>
              </a:defRPr>
            </a:pPr>
            <a:r>
              <a:rPr sz="675" b="1">
                <a:solidFill>
                  <a:srgbClr val="667085"/>
                </a:solidFill>
                <a:latin typeface="Aptos"/>
                <a:ea typeface="Aptos"/>
                <a:cs typeface="Aptos"/>
              </a:rPr>
              <a:t>Runtime</a:t>
            </a:r>
          </a:p>
        </p:txBody>
      </p:sp>
      <p:sp>
        <p:nvSpPr>
          <p:cNvPr id="13" name="">
            <a:extLst xmlns:a="http://schemas.openxmlformats.org/drawingml/2006/main">
              <a:ext uri="{FF2B5EF4-FFF2-40B4-BE49-F238E27FC236}">
                <a16:creationId xmlns:a16="http://schemas.microsoft.com/office/drawing/2014/main" id="{82E75ABB-EE54-414D-A83A-FD39118A00EB}"/>
              </a:ext>
            </a:extLst>
          </p:cNvPr>
          <p:cNvSpPr>
            <a:spLocks xmlns:a="http://schemas.openxmlformats.org/drawingml/2006/main" noGrp="1"/>
          </p:cNvSpPr>
          <p:nvPr/>
        </p:nvSpPr>
        <p:spPr>
          <a:xfrm xmlns:a="http://schemas.openxmlformats.org/drawingml/2006/main">
            <a:off x="10934700" y="514350"/>
            <a:ext cx="742950" cy="209550"/>
          </a:xfrm>
          <a:prstGeom xmlns:a="http://schemas.openxmlformats.org/drawingml/2006/main" prst="rect">
            <a:avLst/>
          </a:prstGeom>
          <a:solidFill xmlns:a="http://schemas.openxmlformats.org/drawingml/2006/main">
            <a:srgbClr val="BE123C"/>
          </a:solidFill>
          <a:ln xmlns:a="http://schemas.openxmlformats.org/drawingml/2006/main" w="11430">
            <a:solidFill>
              <a:srgbClr val="BE123C"/>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4D4693C4-B5AB-4D97-BB5D-B9C10D18C78A}"/>
              </a:ext>
            </a:extLst>
          </p:cNvPr>
          <p:cNvSpPr>
            <a:spLocks xmlns:a="http://schemas.openxmlformats.org/drawingml/2006/main" noGrp="1"/>
          </p:cNvSpPr>
          <p:nvPr/>
        </p:nvSpPr>
        <p:spPr>
          <a:xfrm xmlns:a="http://schemas.openxmlformats.org/drawingml/2006/main">
            <a:off x="10991850" y="571500"/>
            <a:ext cx="6286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FFFFFF"/>
                </a:solidFill>
                <a:latin typeface="Aptos"/>
                <a:ea typeface="Aptos"/>
                <a:cs typeface="Aptos"/>
              </a:defRPr>
            </a:pPr>
            <a:r>
              <a:rPr sz="675" b="1">
                <a:solidFill>
                  <a:srgbClr val="FFFFFF"/>
                </a:solidFill>
                <a:latin typeface="Aptos"/>
                <a:ea typeface="Aptos"/>
                <a:cs typeface="Aptos"/>
              </a:rPr>
              <a:t>Behavior</a:t>
            </a:r>
          </a:p>
        </p:txBody>
      </p:sp>
      <p:sp>
        <p:nvSpPr>
          <p:cNvPr id="15" name="">
            <a:extLst xmlns:a="http://schemas.openxmlformats.org/drawingml/2006/main">
              <a:ext uri="{FF2B5EF4-FFF2-40B4-BE49-F238E27FC236}">
                <a16:creationId xmlns:a16="http://schemas.microsoft.com/office/drawing/2014/main" id="{0A6BB1C6-DADA-4ED0-A74E-449BA2DEEA81}"/>
              </a:ext>
            </a:extLst>
          </p:cNvPr>
          <p:cNvSpPr>
            <a:spLocks xmlns:a="http://schemas.openxmlformats.org/drawingml/2006/main" noGrp="1"/>
          </p:cNvSpPr>
          <p:nvPr/>
        </p:nvSpPr>
        <p:spPr>
          <a:xfrm xmlns:a="http://schemas.openxmlformats.org/drawingml/2006/main">
            <a:off x="609600" y="1866900"/>
            <a:ext cx="10972800" cy="19050"/>
          </a:xfrm>
          <a:prstGeom xmlns:a="http://schemas.openxmlformats.org/drawingml/2006/main" prst="rect">
            <a:avLst/>
          </a:prstGeom>
          <a:solidFill xmlns:a="http://schemas.openxmlformats.org/drawingml/2006/main">
            <a:srgbClr val="BE123C"/>
          </a:solidFill>
          <a:ln xmlns:a="http://schemas.openxmlformats.org/drawingml/2006/main" w="0">
            <a:solidFill>
              <a:srgbClr val="000000">
                <a:alpha val="0"/>
              </a:srgbClr>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658C67CF-1325-49D7-956E-A7D606DA630C}"/>
              </a:ext>
            </a:extLst>
          </p:cNvPr>
          <p:cNvSpPr>
            <a:spLocks xmlns:a="http://schemas.openxmlformats.org/drawingml/2006/main" noGrp="1"/>
          </p:cNvSpPr>
          <p:nvPr/>
        </p:nvSpPr>
        <p:spPr>
          <a:xfrm xmlns:a="http://schemas.openxmlformats.org/drawingml/2006/main">
            <a:off x="609600" y="2457450"/>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C1647D34-FC5A-4192-9D12-9B382B1BDA5C}"/>
              </a:ext>
            </a:extLst>
          </p:cNvPr>
          <p:cNvSpPr>
            <a:spLocks xmlns:a="http://schemas.openxmlformats.org/drawingml/2006/main" noGrp="1"/>
          </p:cNvSpPr>
          <p:nvPr/>
        </p:nvSpPr>
        <p:spPr>
          <a:xfrm xmlns:a="http://schemas.openxmlformats.org/drawingml/2006/main">
            <a:off x="609600" y="1866900"/>
            <a:ext cx="76200" cy="590550"/>
          </a:xfrm>
          <a:prstGeom xmlns:a="http://schemas.openxmlformats.org/drawingml/2006/main" prst="rect">
            <a:avLst/>
          </a:prstGeom>
          <a:solidFill xmlns:a="http://schemas.openxmlformats.org/drawingml/2006/main">
            <a:srgbClr val="BE123C"/>
          </a:solidFill>
          <a:ln xmlns:a="http://schemas.openxmlformats.org/drawingml/2006/main" w="0">
            <a:solidFill>
              <a:srgbClr val="000000">
                <a:alpha val="0"/>
              </a:srgbClr>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F9756147-0B88-41E6-B756-97C2C6810C24}"/>
              </a:ext>
            </a:extLst>
          </p:cNvPr>
          <p:cNvSpPr>
            <a:spLocks xmlns:a="http://schemas.openxmlformats.org/drawingml/2006/main" noGrp="1"/>
          </p:cNvSpPr>
          <p:nvPr/>
        </p:nvSpPr>
        <p:spPr>
          <a:xfrm xmlns:a="http://schemas.openxmlformats.org/drawingml/2006/main">
            <a:off x="838200" y="1971675"/>
            <a:ext cx="10477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667085"/>
                </a:solidFill>
                <a:latin typeface="Aptos"/>
                <a:ea typeface="Aptos"/>
                <a:cs typeface="Aptos"/>
              </a:defRPr>
            </a:pPr>
            <a:r>
              <a:rPr sz="735" b="1">
                <a:solidFill>
                  <a:srgbClr val="667085"/>
                </a:solidFill>
                <a:latin typeface="Aptos"/>
                <a:ea typeface="Aptos"/>
                <a:cs typeface="Aptos"/>
              </a:rPr>
              <a:t>What changed</a:t>
            </a:r>
          </a:p>
        </p:txBody>
      </p:sp>
      <p:sp>
        <p:nvSpPr>
          <p:cNvPr id="19" name="">
            <a:extLst xmlns:a="http://schemas.openxmlformats.org/drawingml/2006/main">
              <a:ext uri="{FF2B5EF4-FFF2-40B4-BE49-F238E27FC236}">
                <a16:creationId xmlns:a16="http://schemas.microsoft.com/office/drawing/2014/main" id="{BB2E7C5D-242B-4D02-A7DE-524412B2B486}"/>
              </a:ext>
            </a:extLst>
          </p:cNvPr>
          <p:cNvSpPr>
            <a:spLocks xmlns:a="http://schemas.openxmlformats.org/drawingml/2006/main" noGrp="1"/>
          </p:cNvSpPr>
          <p:nvPr/>
        </p:nvSpPr>
        <p:spPr>
          <a:xfrm xmlns:a="http://schemas.openxmlformats.org/drawingml/2006/main">
            <a:off x="838200" y="2114550"/>
            <a:ext cx="2571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70" b="0">
                <a:solidFill>
                  <a:srgbClr val="101820"/>
                </a:solidFill>
                <a:latin typeface="Aptos"/>
                <a:ea typeface="Aptos"/>
                <a:cs typeface="Aptos"/>
              </a:defRPr>
            </a:pPr>
            <a:r>
              <a:rPr sz="870" b="0">
                <a:solidFill>
                  <a:srgbClr val="101820"/>
                </a:solidFill>
                <a:latin typeface="Aptos"/>
                <a:ea typeface="Aptos"/>
                <a:cs typeface="Aptos"/>
              </a:rPr>
              <a:t>The prepared request becomes an observed behavior record.</a:t>
            </a:r>
          </a:p>
        </p:txBody>
      </p:sp>
      <p:sp>
        <p:nvSpPr>
          <p:cNvPr id="20" name="">
            <a:extLst xmlns:a="http://schemas.openxmlformats.org/drawingml/2006/main">
              <a:ext uri="{FF2B5EF4-FFF2-40B4-BE49-F238E27FC236}">
                <a16:creationId xmlns:a16="http://schemas.microsoft.com/office/drawing/2014/main" id="{E819FB67-EB7D-4864-A322-B1FF214E7EC4}"/>
              </a:ext>
            </a:extLst>
          </p:cNvPr>
          <p:cNvSpPr>
            <a:spLocks xmlns:a="http://schemas.openxmlformats.org/drawingml/2006/main" noGrp="1"/>
          </p:cNvSpPr>
          <p:nvPr/>
        </p:nvSpPr>
        <p:spPr>
          <a:xfrm xmlns:a="http://schemas.openxmlformats.org/drawingml/2006/main">
            <a:off x="3676650" y="1971675"/>
            <a:ext cx="10477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667085"/>
                </a:solidFill>
                <a:latin typeface="Aptos"/>
                <a:ea typeface="Aptos"/>
                <a:cs typeface="Aptos"/>
              </a:defRPr>
            </a:pPr>
            <a:r>
              <a:rPr sz="735" b="1">
                <a:solidFill>
                  <a:srgbClr val="667085"/>
                </a:solidFill>
                <a:latin typeface="Aptos"/>
                <a:ea typeface="Aptos"/>
                <a:cs typeface="Aptos"/>
              </a:rPr>
              <a:t>Why it matters</a:t>
            </a:r>
          </a:p>
        </p:txBody>
      </p:sp>
      <p:sp>
        <p:nvSpPr>
          <p:cNvPr id="21" name="">
            <a:extLst xmlns:a="http://schemas.openxmlformats.org/drawingml/2006/main">
              <a:ext uri="{FF2B5EF4-FFF2-40B4-BE49-F238E27FC236}">
                <a16:creationId xmlns:a16="http://schemas.microsoft.com/office/drawing/2014/main" id="{AB341672-2ED9-44A3-8A00-3A7B41462518}"/>
              </a:ext>
            </a:extLst>
          </p:cNvPr>
          <p:cNvSpPr>
            <a:spLocks xmlns:a="http://schemas.openxmlformats.org/drawingml/2006/main" noGrp="1"/>
          </p:cNvSpPr>
          <p:nvPr/>
        </p:nvSpPr>
        <p:spPr>
          <a:xfrm xmlns:a="http://schemas.openxmlformats.org/drawingml/2006/main">
            <a:off x="3676650" y="2114550"/>
            <a:ext cx="2667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70" b="0">
                <a:solidFill>
                  <a:srgbClr val="101820"/>
                </a:solidFill>
                <a:latin typeface="Aptos"/>
                <a:ea typeface="Aptos"/>
                <a:cs typeface="Aptos"/>
              </a:defRPr>
            </a:pPr>
            <a:r>
              <a:rPr sz="870" b="0">
                <a:solidFill>
                  <a:srgbClr val="101820"/>
                </a:solidFill>
                <a:latin typeface="Aptos"/>
                <a:ea typeface="Aptos"/>
                <a:cs typeface="Aptos"/>
              </a:rPr>
              <a:t>We can see what the model actually did, not just what we expected.</a:t>
            </a:r>
          </a:p>
        </p:txBody>
      </p:sp>
      <p:sp>
        <p:nvSpPr>
          <p:cNvPr id="22" name="">
            <a:extLst xmlns:a="http://schemas.openxmlformats.org/drawingml/2006/main">
              <a:ext uri="{FF2B5EF4-FFF2-40B4-BE49-F238E27FC236}">
                <a16:creationId xmlns:a16="http://schemas.microsoft.com/office/drawing/2014/main" id="{98C00439-C54C-4FDF-887A-7BB822BCDA90}"/>
              </a:ext>
            </a:extLst>
          </p:cNvPr>
          <p:cNvSpPr>
            <a:spLocks xmlns:a="http://schemas.openxmlformats.org/drawingml/2006/main" noGrp="1"/>
          </p:cNvSpPr>
          <p:nvPr/>
        </p:nvSpPr>
        <p:spPr>
          <a:xfrm xmlns:a="http://schemas.openxmlformats.org/drawingml/2006/main">
            <a:off x="6610350" y="1971675"/>
            <a:ext cx="11430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667085"/>
                </a:solidFill>
                <a:latin typeface="Aptos"/>
                <a:ea typeface="Aptos"/>
                <a:cs typeface="Aptos"/>
              </a:defRPr>
            </a:pPr>
            <a:r>
              <a:rPr sz="735" b="1">
                <a:solidFill>
                  <a:srgbClr val="667085"/>
                </a:solidFill>
                <a:latin typeface="Aptos"/>
                <a:ea typeface="Aptos"/>
                <a:cs typeface="Aptos"/>
              </a:rPr>
              <a:t>What to look at</a:t>
            </a:r>
          </a:p>
        </p:txBody>
      </p:sp>
      <p:sp>
        <p:nvSpPr>
          <p:cNvPr id="23" name="">
            <a:extLst xmlns:a="http://schemas.openxmlformats.org/drawingml/2006/main">
              <a:ext uri="{FF2B5EF4-FFF2-40B4-BE49-F238E27FC236}">
                <a16:creationId xmlns:a16="http://schemas.microsoft.com/office/drawing/2014/main" id="{4C3FAF63-E012-4464-837D-BFA800825CD9}"/>
              </a:ext>
            </a:extLst>
          </p:cNvPr>
          <p:cNvSpPr>
            <a:spLocks xmlns:a="http://schemas.openxmlformats.org/drawingml/2006/main" noGrp="1"/>
          </p:cNvSpPr>
          <p:nvPr/>
        </p:nvSpPr>
        <p:spPr>
          <a:xfrm xmlns:a="http://schemas.openxmlformats.org/drawingml/2006/main">
            <a:off x="6610350" y="2114550"/>
            <a:ext cx="3105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70" b="0">
                <a:solidFill>
                  <a:srgbClr val="101820"/>
                </a:solidFill>
                <a:latin typeface="Aptos"/>
                <a:ea typeface="Aptos"/>
                <a:cs typeface="Aptos"/>
              </a:defRPr>
            </a:pPr>
            <a:r>
              <a:rPr sz="870" b="0">
                <a:solidFill>
                  <a:srgbClr val="101820"/>
                </a:solidFill>
                <a:latin typeface="Aptos"/>
                <a:ea typeface="Aptos"/>
                <a:cs typeface="Aptos"/>
              </a:rPr>
              <a:t>Tool calls, finish_reason, response_text, workspace_changed.</a:t>
            </a:r>
          </a:p>
        </p:txBody>
      </p:sp>
      <p:sp>
        <p:nvSpPr>
          <p:cNvPr id="24" name="">
            <a:extLst xmlns:a="http://schemas.openxmlformats.org/drawingml/2006/main">
              <a:ext uri="{FF2B5EF4-FFF2-40B4-BE49-F238E27FC236}">
                <a16:creationId xmlns:a16="http://schemas.microsoft.com/office/drawing/2014/main" id="{2BD2F363-A01F-4D02-AF00-DFC121367E35}"/>
              </a:ext>
            </a:extLst>
          </p:cNvPr>
          <p:cNvSpPr>
            <a:spLocks xmlns:a="http://schemas.openxmlformats.org/drawingml/2006/main" noGrp="1"/>
          </p:cNvSpPr>
          <p:nvPr/>
        </p:nvSpPr>
        <p:spPr>
          <a:xfrm xmlns:a="http://schemas.openxmlformats.org/drawingml/2006/main">
            <a:off x="10001250" y="1971675"/>
            <a:ext cx="8572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667085"/>
                </a:solidFill>
                <a:latin typeface="Aptos"/>
                <a:ea typeface="Aptos"/>
                <a:cs typeface="Aptos"/>
              </a:defRPr>
            </a:pPr>
            <a:r>
              <a:rPr sz="735" b="1">
                <a:solidFill>
                  <a:srgbClr val="667085"/>
                </a:solidFill>
                <a:latin typeface="Aptos"/>
                <a:ea typeface="Aptos"/>
                <a:cs typeface="Aptos"/>
              </a:rPr>
              <a:t>Component</a:t>
            </a:r>
          </a:p>
        </p:txBody>
      </p:sp>
      <p:sp>
        <p:nvSpPr>
          <p:cNvPr id="25" name="">
            <a:extLst xmlns:a="http://schemas.openxmlformats.org/drawingml/2006/main">
              <a:ext uri="{FF2B5EF4-FFF2-40B4-BE49-F238E27FC236}">
                <a16:creationId xmlns:a16="http://schemas.microsoft.com/office/drawing/2014/main" id="{E0ED2F14-FA39-4F54-ACE0-8852A391368C}"/>
              </a:ext>
            </a:extLst>
          </p:cNvPr>
          <p:cNvSpPr>
            <a:spLocks xmlns:a="http://schemas.openxmlformats.org/drawingml/2006/main" noGrp="1"/>
          </p:cNvSpPr>
          <p:nvPr/>
        </p:nvSpPr>
        <p:spPr>
          <a:xfrm xmlns:a="http://schemas.openxmlformats.org/drawingml/2006/main">
            <a:off x="10001250" y="2114550"/>
            <a:ext cx="13144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40" b="1">
                <a:solidFill>
                  <a:srgbClr val="BE123C"/>
                </a:solidFill>
                <a:latin typeface="Aptos"/>
                <a:ea typeface="Aptos"/>
                <a:cs typeface="Aptos"/>
              </a:defRPr>
            </a:pPr>
            <a:r>
              <a:rPr sz="840" b="1">
                <a:solidFill>
                  <a:srgbClr val="BE123C"/>
                </a:solidFill>
                <a:latin typeface="Aptos"/>
                <a:ea typeface="Aptos"/>
                <a:cs typeface="Aptos"/>
              </a:rPr>
              <a:t>Deep Agents Layer</a:t>
            </a:r>
          </a:p>
        </p:txBody>
      </p:sp>
      <p:sp>
        <p:nvSpPr>
          <p:cNvPr id="26" name="">
            <a:extLst xmlns:a="http://schemas.openxmlformats.org/drawingml/2006/main">
              <a:ext uri="{FF2B5EF4-FFF2-40B4-BE49-F238E27FC236}">
                <a16:creationId xmlns:a16="http://schemas.microsoft.com/office/drawing/2014/main" id="{F4DA8411-63E2-49B1-9304-0DF98619E0D5}"/>
              </a:ext>
            </a:extLst>
          </p:cNvPr>
          <p:cNvSpPr>
            <a:spLocks xmlns:a="http://schemas.openxmlformats.org/drawingml/2006/main" noGrp="1"/>
          </p:cNvSpPr>
          <p:nvPr/>
        </p:nvSpPr>
        <p:spPr>
          <a:xfrm xmlns:a="http://schemas.openxmlformats.org/drawingml/2006/main">
            <a:off x="609600" y="2476500"/>
            <a:ext cx="2476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01820"/>
                </a:solidFill>
                <a:latin typeface="Aptos"/>
                <a:ea typeface="Aptos"/>
                <a:cs typeface="Aptos"/>
              </a:defRPr>
            </a:pPr>
            <a:r>
              <a:rPr sz="1350" b="1">
                <a:solidFill>
                  <a:srgbClr val="101820"/>
                </a:solidFill>
                <a:latin typeface="Aptos"/>
                <a:ea typeface="Aptos"/>
                <a:cs typeface="Aptos"/>
              </a:rPr>
              <a:t>Behavior Recorded</a:t>
            </a:r>
          </a:p>
        </p:txBody>
      </p:sp>
      <p:sp>
        <p:nvSpPr>
          <p:cNvPr id="27" name="">
            <a:extLst xmlns:a="http://schemas.openxmlformats.org/drawingml/2006/main">
              <a:ext uri="{FF2B5EF4-FFF2-40B4-BE49-F238E27FC236}">
                <a16:creationId xmlns:a16="http://schemas.microsoft.com/office/drawing/2014/main" id="{57C97614-BD14-499B-BEA5-164408DC0BE4}"/>
              </a:ext>
            </a:extLst>
          </p:cNvPr>
          <p:cNvSpPr>
            <a:spLocks xmlns:a="http://schemas.openxmlformats.org/drawingml/2006/main" noGrp="1"/>
          </p:cNvSpPr>
          <p:nvPr/>
        </p:nvSpPr>
        <p:spPr>
          <a:xfrm xmlns:a="http://schemas.openxmlformats.org/drawingml/2006/main">
            <a:off x="3257550" y="2495550"/>
            <a:ext cx="12573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667085"/>
                </a:solidFill>
                <a:latin typeface="Aptos"/>
                <a:ea typeface="Aptos"/>
                <a:cs typeface="Aptos"/>
              </a:defRPr>
            </a:pPr>
            <a:r>
              <a:rPr sz="750" b="1">
                <a:solidFill>
                  <a:srgbClr val="667085"/>
                </a:solidFill>
                <a:latin typeface="Aptos"/>
                <a:ea typeface="Aptos"/>
                <a:cs typeface="Aptos"/>
              </a:rPr>
              <a:t>Added in this step</a:t>
            </a:r>
          </a:p>
        </p:txBody>
      </p:sp>
      <p:sp>
        <p:nvSpPr>
          <p:cNvPr id="28" name="">
            <a:extLst xmlns:a="http://schemas.openxmlformats.org/drawingml/2006/main">
              <a:ext uri="{FF2B5EF4-FFF2-40B4-BE49-F238E27FC236}">
                <a16:creationId xmlns:a16="http://schemas.microsoft.com/office/drawing/2014/main" id="{D499186D-6269-429E-A0BA-F53D714EBEDD}"/>
              </a:ext>
            </a:extLst>
          </p:cNvPr>
          <p:cNvSpPr>
            <a:spLocks xmlns:a="http://schemas.openxmlformats.org/drawingml/2006/main" noGrp="1"/>
          </p:cNvSpPr>
          <p:nvPr/>
        </p:nvSpPr>
        <p:spPr>
          <a:xfrm xmlns:a="http://schemas.openxmlformats.org/drawingml/2006/main">
            <a:off x="4533900" y="2457450"/>
            <a:ext cx="174498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BE123C"/>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431F5352-5269-4C3E-B04C-FFC4F7BF9EBA}"/>
              </a:ext>
            </a:extLst>
          </p:cNvPr>
          <p:cNvSpPr>
            <a:spLocks xmlns:a="http://schemas.openxmlformats.org/drawingml/2006/main" noGrp="1"/>
          </p:cNvSpPr>
          <p:nvPr/>
        </p:nvSpPr>
        <p:spPr>
          <a:xfrm xmlns:a="http://schemas.openxmlformats.org/drawingml/2006/main">
            <a:off x="4619625" y="2505075"/>
            <a:ext cx="157353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observed_tool_call_names</a:t>
            </a:r>
          </a:p>
        </p:txBody>
      </p:sp>
      <p:sp>
        <p:nvSpPr>
          <p:cNvPr id="30" name="">
            <a:extLst xmlns:a="http://schemas.openxmlformats.org/drawingml/2006/main">
              <a:ext uri="{FF2B5EF4-FFF2-40B4-BE49-F238E27FC236}">
                <a16:creationId xmlns:a16="http://schemas.microsoft.com/office/drawing/2014/main" id="{A5BDF7E5-7074-4C51-8DDA-EED9CE0D8326}"/>
              </a:ext>
            </a:extLst>
          </p:cNvPr>
          <p:cNvSpPr>
            <a:spLocks xmlns:a="http://schemas.openxmlformats.org/drawingml/2006/main" noGrp="1"/>
          </p:cNvSpPr>
          <p:nvPr/>
        </p:nvSpPr>
        <p:spPr>
          <a:xfrm xmlns:a="http://schemas.openxmlformats.org/drawingml/2006/main">
            <a:off x="6336030" y="2457450"/>
            <a:ext cx="186690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BE123C"/>
            </a:solidFill>
            <a:prstDash val="solid"/>
          </a:ln>
        </p:spPr>
        <p:txBody xmlns:a="http://schemas.openxmlformats.org/drawingml/2006/main">
          <a:bodyPr/>
          <a:p/>
        </p:txBody>
      </p:sp>
      <p:sp>
        <p:nvSpPr>
          <p:cNvPr id="31" name="">
            <a:extLst xmlns:a="http://schemas.openxmlformats.org/drawingml/2006/main">
              <a:ext uri="{FF2B5EF4-FFF2-40B4-BE49-F238E27FC236}">
                <a16:creationId xmlns:a16="http://schemas.microsoft.com/office/drawing/2014/main" id="{2446100F-AE7F-4737-909A-B3F0CB21DF21}"/>
              </a:ext>
            </a:extLst>
          </p:cNvPr>
          <p:cNvSpPr>
            <a:spLocks xmlns:a="http://schemas.openxmlformats.org/drawingml/2006/main" noGrp="1"/>
          </p:cNvSpPr>
          <p:nvPr/>
        </p:nvSpPr>
        <p:spPr>
          <a:xfrm xmlns:a="http://schemas.openxmlformats.org/drawingml/2006/main">
            <a:off x="6421755" y="2505075"/>
            <a:ext cx="169545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observed_tool_result_names</a:t>
            </a:r>
          </a:p>
        </p:txBody>
      </p:sp>
      <p:sp>
        <p:nvSpPr>
          <p:cNvPr id="32" name="">
            <a:extLst xmlns:a="http://schemas.openxmlformats.org/drawingml/2006/main">
              <a:ext uri="{FF2B5EF4-FFF2-40B4-BE49-F238E27FC236}">
                <a16:creationId xmlns:a16="http://schemas.microsoft.com/office/drawing/2014/main" id="{5674DC7C-933E-4F3D-A5D4-1AABD4DA72A9}"/>
              </a:ext>
            </a:extLst>
          </p:cNvPr>
          <p:cNvSpPr>
            <a:spLocks xmlns:a="http://schemas.openxmlformats.org/drawingml/2006/main" noGrp="1"/>
          </p:cNvSpPr>
          <p:nvPr/>
        </p:nvSpPr>
        <p:spPr>
          <a:xfrm xmlns:a="http://schemas.openxmlformats.org/drawingml/2006/main">
            <a:off x="4533900" y="2724150"/>
            <a:ext cx="103251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BE123C"/>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2F2EA57A-6E0A-4084-A0A8-AB65694517C4}"/>
              </a:ext>
            </a:extLst>
          </p:cNvPr>
          <p:cNvSpPr>
            <a:spLocks xmlns:a="http://schemas.openxmlformats.org/drawingml/2006/main" noGrp="1"/>
          </p:cNvSpPr>
          <p:nvPr/>
        </p:nvSpPr>
        <p:spPr>
          <a:xfrm xmlns:a="http://schemas.openxmlformats.org/drawingml/2006/main">
            <a:off x="4619625" y="2771775"/>
            <a:ext cx="86106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finish_reason</a:t>
            </a:r>
          </a:p>
        </p:txBody>
      </p:sp>
      <p:sp>
        <p:nvSpPr>
          <p:cNvPr id="34" name="">
            <a:extLst xmlns:a="http://schemas.openxmlformats.org/drawingml/2006/main">
              <a:ext uri="{FF2B5EF4-FFF2-40B4-BE49-F238E27FC236}">
                <a16:creationId xmlns:a16="http://schemas.microsoft.com/office/drawing/2014/main" id="{F60D99DD-C904-4221-A8E2-E3FE5A2867B7}"/>
              </a:ext>
            </a:extLst>
          </p:cNvPr>
          <p:cNvSpPr>
            <a:spLocks xmlns:a="http://schemas.openxmlformats.org/drawingml/2006/main" noGrp="1"/>
          </p:cNvSpPr>
          <p:nvPr/>
        </p:nvSpPr>
        <p:spPr>
          <a:xfrm xmlns:a="http://schemas.openxmlformats.org/drawingml/2006/main">
            <a:off x="5623560" y="2724150"/>
            <a:ext cx="103251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BE123C"/>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D0FC5D40-6F60-4F46-B0C7-FD9F810085CF}"/>
              </a:ext>
            </a:extLst>
          </p:cNvPr>
          <p:cNvSpPr>
            <a:spLocks xmlns:a="http://schemas.openxmlformats.org/drawingml/2006/main" noGrp="1"/>
          </p:cNvSpPr>
          <p:nvPr/>
        </p:nvSpPr>
        <p:spPr>
          <a:xfrm xmlns:a="http://schemas.openxmlformats.org/drawingml/2006/main">
            <a:off x="5709285" y="2771775"/>
            <a:ext cx="86106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response_text</a:t>
            </a:r>
          </a:p>
        </p:txBody>
      </p:sp>
      <p:sp>
        <p:nvSpPr>
          <p:cNvPr id="36" name="">
            <a:extLst xmlns:a="http://schemas.openxmlformats.org/drawingml/2006/main">
              <a:ext uri="{FF2B5EF4-FFF2-40B4-BE49-F238E27FC236}">
                <a16:creationId xmlns:a16="http://schemas.microsoft.com/office/drawing/2014/main" id="{CDEEC416-0629-4370-B161-1DFB4B9B8EFC}"/>
              </a:ext>
            </a:extLst>
          </p:cNvPr>
          <p:cNvSpPr>
            <a:spLocks xmlns:a="http://schemas.openxmlformats.org/drawingml/2006/main" noGrp="1"/>
          </p:cNvSpPr>
          <p:nvPr/>
        </p:nvSpPr>
        <p:spPr>
          <a:xfrm xmlns:a="http://schemas.openxmlformats.org/drawingml/2006/main">
            <a:off x="6713220" y="2724150"/>
            <a:ext cx="129159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BE123C"/>
            </a:solidFill>
            <a:prstDash val="solid"/>
          </a:ln>
        </p:spPr>
        <p:txBody xmlns:a="http://schemas.openxmlformats.org/drawingml/2006/main">
          <a:bodyPr/>
          <a:p/>
        </p:txBody>
      </p:sp>
      <p:sp>
        <p:nvSpPr>
          <p:cNvPr id="37" name="">
            <a:extLst xmlns:a="http://schemas.openxmlformats.org/drawingml/2006/main">
              <a:ext uri="{FF2B5EF4-FFF2-40B4-BE49-F238E27FC236}">
                <a16:creationId xmlns:a16="http://schemas.microsoft.com/office/drawing/2014/main" id="{CF6C2E67-BA05-41D2-B358-894049FBCEF1}"/>
              </a:ext>
            </a:extLst>
          </p:cNvPr>
          <p:cNvSpPr>
            <a:spLocks xmlns:a="http://schemas.openxmlformats.org/drawingml/2006/main" noGrp="1"/>
          </p:cNvSpPr>
          <p:nvPr/>
        </p:nvSpPr>
        <p:spPr>
          <a:xfrm xmlns:a="http://schemas.openxmlformats.org/drawingml/2006/main">
            <a:off x="6798945" y="2771775"/>
            <a:ext cx="112014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workspace_changed</a:t>
            </a:r>
          </a:p>
        </p:txBody>
      </p:sp>
      <p:sp>
        <p:nvSpPr>
          <p:cNvPr id="38" name="">
            <a:extLst xmlns:a="http://schemas.openxmlformats.org/drawingml/2006/main">
              <a:ext uri="{FF2B5EF4-FFF2-40B4-BE49-F238E27FC236}">
                <a16:creationId xmlns:a16="http://schemas.microsoft.com/office/drawing/2014/main" id="{6ACBF267-20D3-48CF-A942-5927BD1E8CAB}"/>
              </a:ext>
            </a:extLst>
          </p:cNvPr>
          <p:cNvSpPr>
            <a:spLocks xmlns:a="http://schemas.openxmlformats.org/drawingml/2006/main" noGrp="1"/>
          </p:cNvSpPr>
          <p:nvPr/>
        </p:nvSpPr>
        <p:spPr>
          <a:xfrm xmlns:a="http://schemas.openxmlformats.org/drawingml/2006/main">
            <a:off x="9658350" y="2381250"/>
            <a:ext cx="1924050" cy="400050"/>
          </a:xfrm>
          <a:prstGeom xmlns:a="http://schemas.openxmlformats.org/drawingml/2006/main" prst="rect">
            <a:avLst/>
          </a:prstGeom>
          <a:solidFill xmlns:a="http://schemas.openxmlformats.org/drawingml/2006/main">
            <a:srgbClr val="FFFFFF"/>
          </a:solidFill>
          <a:ln xmlns:a="http://schemas.openxmlformats.org/drawingml/2006/main" w="15240">
            <a:solidFill>
              <a:srgbClr val="BE123C"/>
            </a:solidFill>
            <a:prstDash val="solid"/>
          </a:ln>
        </p:spPr>
        <p:txBody xmlns:a="http://schemas.openxmlformats.org/drawingml/2006/main">
          <a:bodyPr/>
          <a:p/>
        </p:txBody>
      </p:sp>
      <p:sp>
        <p:nvSpPr>
          <p:cNvPr id="39" name="">
            <a:extLst xmlns:a="http://schemas.openxmlformats.org/drawingml/2006/main">
              <a:ext uri="{FF2B5EF4-FFF2-40B4-BE49-F238E27FC236}">
                <a16:creationId xmlns:a16="http://schemas.microsoft.com/office/drawing/2014/main" id="{7964B1CA-607B-4FB5-B417-975D80793BFB}"/>
              </a:ext>
            </a:extLst>
          </p:cNvPr>
          <p:cNvSpPr>
            <a:spLocks xmlns:a="http://schemas.openxmlformats.org/drawingml/2006/main" noGrp="1"/>
          </p:cNvSpPr>
          <p:nvPr/>
        </p:nvSpPr>
        <p:spPr>
          <a:xfrm xmlns:a="http://schemas.openxmlformats.org/drawingml/2006/main">
            <a:off x="9772650" y="2447925"/>
            <a:ext cx="169545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0" b="1">
                <a:solidFill>
                  <a:srgbClr val="667085"/>
                </a:solidFill>
                <a:latin typeface="Aptos"/>
                <a:ea typeface="Aptos"/>
                <a:cs typeface="Aptos"/>
              </a:defRPr>
            </a:pPr>
            <a:r>
              <a:rPr sz="690" b="1">
                <a:solidFill>
                  <a:srgbClr val="667085"/>
                </a:solidFill>
                <a:latin typeface="Aptos"/>
                <a:ea typeface="Aptos"/>
                <a:cs typeface="Aptos"/>
              </a:rPr>
              <a:t>Payload size change</a:t>
            </a:r>
          </a:p>
        </p:txBody>
      </p:sp>
      <p:sp>
        <p:nvSpPr>
          <p:cNvPr id="40" name="">
            <a:extLst xmlns:a="http://schemas.openxmlformats.org/drawingml/2006/main">
              <a:ext uri="{FF2B5EF4-FFF2-40B4-BE49-F238E27FC236}">
                <a16:creationId xmlns:a16="http://schemas.microsoft.com/office/drawing/2014/main" id="{483F2276-6266-417D-98C3-90B470729E30}"/>
              </a:ext>
            </a:extLst>
          </p:cNvPr>
          <p:cNvSpPr>
            <a:spLocks xmlns:a="http://schemas.openxmlformats.org/drawingml/2006/main" noGrp="1"/>
          </p:cNvSpPr>
          <p:nvPr/>
        </p:nvSpPr>
        <p:spPr>
          <a:xfrm xmlns:a="http://schemas.openxmlformats.org/drawingml/2006/main">
            <a:off x="9772650" y="2571750"/>
            <a:ext cx="1695450" cy="1809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38" b="1">
                <a:solidFill>
                  <a:srgbClr val="BE123C"/>
                </a:solidFill>
                <a:latin typeface="Aptos Mono"/>
                <a:ea typeface="Aptos Mono"/>
                <a:cs typeface="Aptos Mono"/>
              </a:defRPr>
            </a:pPr>
            <a:r>
              <a:rPr sz="1238" b="1">
                <a:solidFill>
                  <a:srgbClr val="BE123C"/>
                </a:solidFill>
                <a:latin typeface="Aptos Mono"/>
                <a:ea typeface="Aptos Mono"/>
                <a:cs typeface="Aptos Mono"/>
              </a:rPr>
              <a:t>+2,066</a:t>
            </a:r>
          </a:p>
        </p:txBody>
      </p:sp>
      <p:sp>
        <p:nvSpPr>
          <p:cNvPr id="41" name="">
            <a:extLst xmlns:a="http://schemas.openxmlformats.org/drawingml/2006/main">
              <a:ext uri="{FF2B5EF4-FFF2-40B4-BE49-F238E27FC236}">
                <a16:creationId xmlns:a16="http://schemas.microsoft.com/office/drawing/2014/main" id="{4B25B5B0-E46A-4B7D-84A6-B713890F54DC}"/>
              </a:ext>
            </a:extLst>
          </p:cNvPr>
          <p:cNvSpPr>
            <a:spLocks xmlns:a="http://schemas.openxmlformats.org/drawingml/2006/main" noGrp="1"/>
          </p:cNvSpPr>
          <p:nvPr/>
        </p:nvSpPr>
        <p:spPr>
          <a:xfrm xmlns:a="http://schemas.openxmlformats.org/drawingml/2006/main">
            <a:off x="609600" y="2857500"/>
            <a:ext cx="5219700" cy="2914650"/>
          </a:xfrm>
          <a:prstGeom xmlns:a="http://schemas.openxmlformats.org/drawingml/2006/main" prst="rect">
            <a:avLst/>
          </a:prstGeom>
          <a:solidFill xmlns:a="http://schemas.openxmlformats.org/drawingml/2006/main">
            <a:srgbClr val="FFFFFF"/>
          </a:solidFill>
          <a:ln xmlns:a="http://schemas.openxmlformats.org/drawingml/2006/main" w="19050">
            <a:solidFill>
              <a:srgbClr val="8D99A8"/>
            </a:solidFill>
            <a:prstDash val="solid"/>
          </a:ln>
        </p:spPr>
        <p:txBody xmlns:a="http://schemas.openxmlformats.org/drawingml/2006/main">
          <a:bodyPr/>
          <a:p/>
        </p:txBody>
      </p:sp>
      <p:sp>
        <p:nvSpPr>
          <p:cNvPr id="42" name="">
            <a:extLst xmlns:a="http://schemas.openxmlformats.org/drawingml/2006/main">
              <a:ext uri="{FF2B5EF4-FFF2-40B4-BE49-F238E27FC236}">
                <a16:creationId xmlns:a16="http://schemas.microsoft.com/office/drawing/2014/main" id="{9BDD38C3-C242-415C-A5E5-2E59C36BEB5D}"/>
              </a:ext>
            </a:extLst>
          </p:cNvPr>
          <p:cNvSpPr>
            <a:spLocks xmlns:a="http://schemas.openxmlformats.org/drawingml/2006/main" noGrp="1"/>
          </p:cNvSpPr>
          <p:nvPr/>
        </p:nvSpPr>
        <p:spPr>
          <a:xfrm xmlns:a="http://schemas.openxmlformats.org/drawingml/2006/main">
            <a:off x="609600" y="2857500"/>
            <a:ext cx="5219700" cy="400050"/>
          </a:xfrm>
          <a:prstGeom xmlns:a="http://schemas.openxmlformats.org/drawingml/2006/main" prst="rect">
            <a:avLst/>
          </a:prstGeom>
          <a:solidFill xmlns:a="http://schemas.openxmlformats.org/drawingml/2006/main">
            <a:srgbClr val="E9E1D6"/>
          </a:solidFill>
          <a:ln xmlns:a="http://schemas.openxmlformats.org/drawingml/2006/main" w="0">
            <a:solidFill>
              <a:srgbClr val="000000">
                <a:alpha val="0"/>
              </a:srgbClr>
            </a:solidFill>
            <a:prstDash val="solid"/>
          </a:ln>
        </p:spPr>
        <p:txBody xmlns:a="http://schemas.openxmlformats.org/drawingml/2006/main">
          <a:bodyPr/>
          <a:p/>
        </p:txBody>
      </p:sp>
      <p:sp>
        <p:nvSpPr>
          <p:cNvPr id="43" name="">
            <a:extLst xmlns:a="http://schemas.openxmlformats.org/drawingml/2006/main">
              <a:ext uri="{FF2B5EF4-FFF2-40B4-BE49-F238E27FC236}">
                <a16:creationId xmlns:a16="http://schemas.microsoft.com/office/drawing/2014/main" id="{F30EBF32-FD2A-41B2-B716-6C560E7C760C}"/>
              </a:ext>
            </a:extLst>
          </p:cNvPr>
          <p:cNvSpPr>
            <a:spLocks xmlns:a="http://schemas.openxmlformats.org/drawingml/2006/main" noGrp="1"/>
          </p:cNvSpPr>
          <p:nvPr/>
        </p:nvSpPr>
        <p:spPr>
          <a:xfrm xmlns:a="http://schemas.openxmlformats.org/drawingml/2006/main">
            <a:off x="781050" y="2962275"/>
            <a:ext cx="48768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90" b="1">
                <a:solidFill>
                  <a:srgbClr val="101820"/>
                </a:solidFill>
                <a:latin typeface="Aptos"/>
                <a:ea typeface="Aptos"/>
                <a:cs typeface="Aptos"/>
              </a:defRPr>
            </a:pPr>
            <a:r>
              <a:rPr sz="990" b="1">
                <a:solidFill>
                  <a:srgbClr val="101820"/>
                </a:solidFill>
                <a:latin typeface="Aptos"/>
                <a:ea typeface="Aptos"/>
                <a:cs typeface="Aptos"/>
              </a:rPr>
              <a:t>Before</a:t>
            </a:r>
          </a:p>
        </p:txBody>
      </p:sp>
      <p:sp>
        <p:nvSpPr>
          <p:cNvPr id="44" name="">
            <a:extLst xmlns:a="http://schemas.openxmlformats.org/drawingml/2006/main">
              <a:ext uri="{FF2B5EF4-FFF2-40B4-BE49-F238E27FC236}">
                <a16:creationId xmlns:a16="http://schemas.microsoft.com/office/drawing/2014/main" id="{A9008921-B214-4EB0-BB8F-C01BDCCFE34A}"/>
              </a:ext>
            </a:extLst>
          </p:cNvPr>
          <p:cNvSpPr>
            <a:spLocks xmlns:a="http://schemas.openxmlformats.org/drawingml/2006/main" noGrp="1"/>
          </p:cNvSpPr>
          <p:nvPr/>
        </p:nvSpPr>
        <p:spPr>
          <a:xfrm xmlns:a="http://schemas.openxmlformats.org/drawingml/2006/main">
            <a:off x="781050" y="3409950"/>
            <a:ext cx="4876800" cy="2247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"model":"...",</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"system_prompt":"...",</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"messages":[</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"role":"...",</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"content":"..."</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"request_context":{</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"agent_hints":{</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"tool_choice":"...",</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"expected_builtin_tools":[</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"tool_parser_names_seen":[</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"tool_parser_observed":"...",</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"prompt_tokens":"...",</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"cached_prompt_tokens":"...",</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"cached_input_tokens":"..."</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a:t>
            </a:r>
          </a:p>
        </p:txBody>
      </p:sp>
      <p:sp>
        <p:nvSpPr>
          <p:cNvPr id="45" name="">
            <a:extLst xmlns:a="http://schemas.openxmlformats.org/drawingml/2006/main">
              <a:ext uri="{FF2B5EF4-FFF2-40B4-BE49-F238E27FC236}">
                <a16:creationId xmlns:a16="http://schemas.microsoft.com/office/drawing/2014/main" id="{9C08C0A5-0096-42B9-96A9-C978DEC75213}"/>
              </a:ext>
            </a:extLst>
          </p:cNvPr>
          <p:cNvSpPr>
            <a:spLocks xmlns:a="http://schemas.openxmlformats.org/drawingml/2006/main" noGrp="1"/>
          </p:cNvSpPr>
          <p:nvPr/>
        </p:nvSpPr>
        <p:spPr>
          <a:xfrm xmlns:a="http://schemas.openxmlformats.org/drawingml/2006/main">
            <a:off x="6362700" y="2857500"/>
            <a:ext cx="5219700" cy="2914650"/>
          </a:xfrm>
          <a:prstGeom xmlns:a="http://schemas.openxmlformats.org/drawingml/2006/main" prst="rect">
            <a:avLst/>
          </a:prstGeom>
          <a:solidFill xmlns:a="http://schemas.openxmlformats.org/drawingml/2006/main">
            <a:srgbClr val="FFFFFF"/>
          </a:solidFill>
          <a:ln xmlns:a="http://schemas.openxmlformats.org/drawingml/2006/main" w="19050">
            <a:solidFill>
              <a:srgbClr val="BE123C"/>
            </a:solidFill>
            <a:prstDash val="solid"/>
          </a:ln>
        </p:spPr>
        <p:txBody xmlns:a="http://schemas.openxmlformats.org/drawingml/2006/main">
          <a:bodyPr/>
          <a:p/>
        </p:txBody>
      </p:sp>
      <p:sp>
        <p:nvSpPr>
          <p:cNvPr id="46" name="">
            <a:extLst xmlns:a="http://schemas.openxmlformats.org/drawingml/2006/main">
              <a:ext uri="{FF2B5EF4-FFF2-40B4-BE49-F238E27FC236}">
                <a16:creationId xmlns:a16="http://schemas.microsoft.com/office/drawing/2014/main" id="{4F6BEC20-43D6-43CF-B063-C6BBF3ABD31E}"/>
              </a:ext>
            </a:extLst>
          </p:cNvPr>
          <p:cNvSpPr>
            <a:spLocks xmlns:a="http://schemas.openxmlformats.org/drawingml/2006/main" noGrp="1"/>
          </p:cNvSpPr>
          <p:nvPr/>
        </p:nvSpPr>
        <p:spPr>
          <a:xfrm xmlns:a="http://schemas.openxmlformats.org/drawingml/2006/main">
            <a:off x="6362700" y="2857500"/>
            <a:ext cx="5219700" cy="400050"/>
          </a:xfrm>
          <a:prstGeom xmlns:a="http://schemas.openxmlformats.org/drawingml/2006/main" prst="rect">
            <a:avLst/>
          </a:prstGeom>
          <a:solidFill xmlns:a="http://schemas.openxmlformats.org/drawingml/2006/main">
            <a:srgbClr val="E9E1D6"/>
          </a:solidFill>
          <a:ln xmlns:a="http://schemas.openxmlformats.org/drawingml/2006/main" w="0">
            <a:solidFill>
              <a:srgbClr val="000000">
                <a:alpha val="0"/>
              </a:srgbClr>
            </a:solidFill>
            <a:prstDash val="solid"/>
          </a:ln>
        </p:spPr>
        <p:txBody xmlns:a="http://schemas.openxmlformats.org/drawingml/2006/main">
          <a:bodyPr/>
          <a:p/>
        </p:txBody>
      </p:sp>
      <p:sp>
        <p:nvSpPr>
          <p:cNvPr id="47" name="">
            <a:extLst xmlns:a="http://schemas.openxmlformats.org/drawingml/2006/main">
              <a:ext uri="{FF2B5EF4-FFF2-40B4-BE49-F238E27FC236}">
                <a16:creationId xmlns:a16="http://schemas.microsoft.com/office/drawing/2014/main" id="{72CCB160-2527-40DE-9DC4-CBA6DA00FF03}"/>
              </a:ext>
            </a:extLst>
          </p:cNvPr>
          <p:cNvSpPr>
            <a:spLocks xmlns:a="http://schemas.openxmlformats.org/drawingml/2006/main" noGrp="1"/>
          </p:cNvSpPr>
          <p:nvPr/>
        </p:nvSpPr>
        <p:spPr>
          <a:xfrm xmlns:a="http://schemas.openxmlformats.org/drawingml/2006/main">
            <a:off x="6534150" y="2962275"/>
            <a:ext cx="48768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90" b="1">
                <a:solidFill>
                  <a:srgbClr val="101820"/>
                </a:solidFill>
                <a:latin typeface="Aptos"/>
                <a:ea typeface="Aptos"/>
                <a:cs typeface="Aptos"/>
              </a:defRPr>
            </a:pPr>
            <a:r>
              <a:rPr sz="990" b="1">
                <a:solidFill>
                  <a:srgbClr val="101820"/>
                </a:solidFill>
                <a:latin typeface="Aptos"/>
                <a:ea typeface="Aptos"/>
                <a:cs typeface="Aptos"/>
              </a:rPr>
              <a:t>After - added fields are called out above</a:t>
            </a:r>
          </a:p>
        </p:txBody>
      </p:sp>
      <p:sp>
        <p:nvSpPr>
          <p:cNvPr id="48" name="">
            <a:extLst xmlns:a="http://schemas.openxmlformats.org/drawingml/2006/main">
              <a:ext uri="{FF2B5EF4-FFF2-40B4-BE49-F238E27FC236}">
                <a16:creationId xmlns:a16="http://schemas.microsoft.com/office/drawing/2014/main" id="{FD94296C-3486-490E-A4BF-B1B0CD202AF0}"/>
              </a:ext>
            </a:extLst>
          </p:cNvPr>
          <p:cNvSpPr>
            <a:spLocks xmlns:a="http://schemas.openxmlformats.org/drawingml/2006/main" noGrp="1"/>
          </p:cNvSpPr>
          <p:nvPr/>
        </p:nvSpPr>
        <p:spPr>
          <a:xfrm xmlns:a="http://schemas.openxmlformats.org/drawingml/2006/main">
            <a:off x="6534150" y="3409950"/>
            <a:ext cx="4876800" cy="2247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"messages":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"type":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"name":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"content":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"tool_calls":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"name":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"invalid_tool_calls":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"observed_tool_call_names":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"observed_tool_result_names":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"observed_tool_call_count":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"finish_reason":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"response_text":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  "workspace_changed": "..."</a:t>
            </a:r>
          </a:p>
          <a:p xmlns:a="http://schemas.openxmlformats.org/drawingml/2006/main">
            <a:pPr algn="l">
              <a:defRPr sz="615" b="0">
                <a:solidFill>
                  <a:srgbClr val="172033"/>
                </a:solidFill>
                <a:latin typeface="Aptos Mono"/>
                <a:ea typeface="Aptos Mono"/>
                <a:cs typeface="Aptos Mono"/>
              </a:defRPr>
            </a:pPr>
            <a:r>
              <a:rPr sz="615" b="0">
                <a:solidFill>
                  <a:srgbClr val="172033"/>
                </a:solidFill>
                <a:latin typeface="Aptos Mono"/>
                <a:ea typeface="Aptos Mono"/>
                <a:cs typeface="Aptos Mono"/>
              </a:rPr>
              <a:t>}</a:t>
            </a:r>
          </a:p>
        </p:txBody>
      </p:sp>
      <p:sp>
        <p:nvSpPr>
          <p:cNvPr id="49" name="">
            <a:extLst xmlns:a="http://schemas.openxmlformats.org/drawingml/2006/main">
              <a:ext uri="{FF2B5EF4-FFF2-40B4-BE49-F238E27FC236}">
                <a16:creationId xmlns:a16="http://schemas.microsoft.com/office/drawing/2014/main" id="{D88A4F27-7C9B-45D8-952C-7DE196368991}"/>
              </a:ext>
            </a:extLst>
          </p:cNvPr>
          <p:cNvSpPr>
            <a:spLocks xmlns:a="http://schemas.openxmlformats.org/drawingml/2006/main" noGrp="1"/>
          </p:cNvSpPr>
          <p:nvPr/>
        </p:nvSpPr>
        <p:spPr>
          <a:xfrm xmlns:a="http://schemas.openxmlformats.org/drawingml/2006/main">
            <a:off x="609600" y="5810250"/>
            <a:ext cx="9906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0">
                <a:solidFill>
                  <a:srgbClr val="334155"/>
                </a:solidFill>
                <a:latin typeface="Aptos"/>
                <a:ea typeface="Aptos"/>
                <a:cs typeface="Aptos"/>
              </a:defRPr>
            </a:pPr>
            <a:r>
              <a:rPr sz="1163" b="0">
                <a:solidFill>
                  <a:srgbClr val="334155"/>
                </a:solidFill>
                <a:latin typeface="Aptos"/>
                <a:ea typeface="Aptos"/>
                <a:cs typeface="Aptos"/>
              </a:rPr>
              <a:t>Output record grew | observed_tool_calls=2 | tools_used=ls, read_file | workspace_changed=False</a:t>
            </a:r>
          </a:p>
        </p:txBody>
      </p:sp>
      <p:sp>
        <p:nvSpPr>
          <p:cNvPr id="50" name="">
            <a:extLst xmlns:a="http://schemas.openxmlformats.org/drawingml/2006/main">
              <a:ext uri="{FF2B5EF4-FFF2-40B4-BE49-F238E27FC236}">
                <a16:creationId xmlns:a16="http://schemas.microsoft.com/office/drawing/2014/main" id="{1D49C85F-FE69-48CB-A850-5C1556B0F315}"/>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D1C8"/>
          </a:solidFill>
          <a:ln xmlns:a="http://schemas.openxmlformats.org/drawingml/2006/main" w="0">
            <a:solidFill>
              <a:srgbClr val="000000">
                <a:alpha val="0"/>
              </a:srgbClr>
            </a:solidFill>
            <a:prstDash val="solid"/>
          </a:ln>
        </p:spPr>
        <p:txBody xmlns:a="http://schemas.openxmlformats.org/drawingml/2006/main">
          <a:bodyPr/>
          <a:p/>
        </p:txBody>
      </p:sp>
      <p:sp>
        <p:nvSpPr>
          <p:cNvPr id="51" name="">
            <a:extLst xmlns:a="http://schemas.openxmlformats.org/drawingml/2006/main">
              <a:ext uri="{FF2B5EF4-FFF2-40B4-BE49-F238E27FC236}">
                <a16:creationId xmlns:a16="http://schemas.microsoft.com/office/drawing/2014/main" id="{CF972D44-D454-4BCA-9AD9-0FEBACF9206F}"/>
              </a:ext>
            </a:extLst>
          </p:cNvPr>
          <p:cNvSpPr>
            <a:spLocks xmlns:a="http://schemas.openxmlformats.org/drawingml/2006/main" noGrp="1"/>
          </p:cNvSpPr>
          <p:nvPr/>
        </p:nvSpPr>
        <p:spPr>
          <a:xfrm xmlns:a="http://schemas.openxmlformats.org/drawingml/2006/main">
            <a:off x="609600" y="6477000"/>
            <a:ext cx="3238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667085"/>
                </a:solidFill>
                <a:latin typeface="Aptos"/>
                <a:ea typeface="Aptos"/>
                <a:cs typeface="Aptos"/>
              </a:defRPr>
            </a:pPr>
            <a:r>
              <a:rPr sz="825" b="1">
                <a:solidFill>
                  <a:srgbClr val="667085"/>
                </a:solidFill>
                <a:latin typeface="Aptos"/>
                <a:ea typeface="Aptos"/>
                <a:cs typeface="Aptos"/>
              </a:rPr>
              <a:t>PROMPT EVOLUTION</a:t>
            </a:r>
          </a:p>
        </p:txBody>
      </p:sp>
      <p:sp>
        <p:nvSpPr>
          <p:cNvPr id="52" name="">
            <a:extLst xmlns:a="http://schemas.openxmlformats.org/drawingml/2006/main">
              <a:ext uri="{FF2B5EF4-FFF2-40B4-BE49-F238E27FC236}">
                <a16:creationId xmlns:a16="http://schemas.microsoft.com/office/drawing/2014/main" id="{6FF3FA0F-4B32-47B2-AEFF-536F74702DA0}"/>
              </a:ext>
            </a:extLst>
          </p:cNvPr>
          <p:cNvSpPr>
            <a:spLocks xmlns:a="http://schemas.openxmlformats.org/drawingml/2006/main" noGrp="1"/>
          </p:cNvSpPr>
          <p:nvPr/>
        </p:nvSpPr>
        <p:spPr>
          <a:xfrm xmlns:a="http://schemas.openxmlformats.org/drawingml/2006/main">
            <a:off x="11087100" y="6477000"/>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1">
                <a:solidFill>
                  <a:srgbClr val="334155"/>
                </a:solidFill>
              </a:rPr>
              <a:t>12</a:t>
            </a:r>
          </a:p>
        </p:txBody>
      </p:sp>
    </p:spTree>
    <p:extLst>
      <p:ext uri="{BB962C8B-B14F-4D97-AF65-F5344CB8AC3E}">
        <p14:creationId xmlns:p14="http://schemas.microsoft.com/office/powerpoint/2010/main" val="193112378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8CD5A75-FE81-486D-B954-94C81C5D9F9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07C9AED-82C8-4DAC-A408-8A0895822C7D}"/>
              </a:ext>
            </a:extLst>
          </p:cNvPr>
          <p:cNvSpPr>
            <a:spLocks xmlns:a="http://schemas.openxmlformats.org/drawingml/2006/main" noGrp="1"/>
          </p:cNvSpPr>
          <p:nvPr/>
        </p:nvSpPr>
        <p:spPr>
          <a:xfrm xmlns:a="http://schemas.openxmlformats.org/drawingml/2006/main">
            <a:off x="609600" y="495300"/>
            <a:ext cx="76200" cy="228600"/>
          </a:xfrm>
          <a:prstGeom xmlns:a="http://schemas.openxmlformats.org/drawingml/2006/main" prst="rect">
            <a:avLst/>
          </a:prstGeom>
          <a:solidFill xmlns:a="http://schemas.openxmlformats.org/drawingml/2006/main">
            <a:srgbClr val="6D28D9"/>
          </a:solidFill>
          <a:ln xmlns:a="http://schemas.openxmlformats.org/drawingml/2006/main" w="0">
            <a:solidFill>
              <a:srgbClr val="000000">
                <a:alpha val="0"/>
              </a:srgbClr>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64CC1FE0-BC46-46CA-9B6A-0963F5EB76E7}"/>
              </a:ext>
            </a:extLst>
          </p:cNvPr>
          <p:cNvSpPr>
            <a:spLocks xmlns:a="http://schemas.openxmlformats.org/drawingml/2006/main" noGrp="1"/>
          </p:cNvSpPr>
          <p:nvPr/>
        </p:nvSpPr>
        <p:spPr>
          <a:xfrm xmlns:a="http://schemas.openxmlformats.org/drawingml/2006/main">
            <a:off x="800100" y="4953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67085"/>
                </a:solidFill>
                <a:latin typeface="Aptos"/>
                <a:ea typeface="Aptos"/>
                <a:cs typeface="Aptos"/>
              </a:defRPr>
            </a:pPr>
            <a:r>
              <a:rPr sz="900" b="1">
                <a:solidFill>
                  <a:srgbClr val="667085"/>
                </a:solidFill>
                <a:latin typeface="Aptos"/>
                <a:ea typeface="Aptos"/>
                <a:cs typeface="Aptos"/>
              </a:rPr>
              <a:t>ADDED FIELDS</a:t>
            </a:r>
          </a:p>
        </p:txBody>
      </p:sp>
      <p:sp>
        <p:nvSpPr>
          <p:cNvPr id="4" name="">
            <a:extLst xmlns:a="http://schemas.openxmlformats.org/drawingml/2006/main">
              <a:ext uri="{FF2B5EF4-FFF2-40B4-BE49-F238E27FC236}">
                <a16:creationId xmlns:a16="http://schemas.microsoft.com/office/drawing/2014/main" id="{6E8A4EEE-4E37-4ACA-81CA-4E5610EE88ED}"/>
              </a:ext>
            </a:extLst>
          </p:cNvPr>
          <p:cNvSpPr>
            <a:spLocks xmlns:a="http://schemas.openxmlformats.org/drawingml/2006/main" noGrp="1"/>
          </p:cNvSpPr>
          <p:nvPr/>
        </p:nvSpPr>
        <p:spPr>
          <a:xfrm xmlns:a="http://schemas.openxmlformats.org/drawingml/2006/main">
            <a:off x="609600" y="819150"/>
            <a:ext cx="100965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01820"/>
                </a:solidFill>
                <a:latin typeface="Aptos Display"/>
                <a:ea typeface="Aptos Display"/>
                <a:cs typeface="Aptos Display"/>
              </a:defRPr>
            </a:pPr>
            <a:r>
              <a:rPr sz="2850" b="1">
                <a:solidFill>
                  <a:srgbClr val="101820"/>
                </a:solidFill>
                <a:latin typeface="Aptos Display"/>
                <a:ea typeface="Aptos Display"/>
                <a:cs typeface="Aptos Display"/>
              </a:rPr>
              <a:t>Each stage adds specific fields that explain the handoff.</a:t>
            </a:r>
          </a:p>
        </p:txBody>
      </p:sp>
      <p:sp>
        <p:nvSpPr>
          <p:cNvPr id="5" name="">
            <a:extLst xmlns:a="http://schemas.openxmlformats.org/drawingml/2006/main">
              <a:ext uri="{FF2B5EF4-FFF2-40B4-BE49-F238E27FC236}">
                <a16:creationId xmlns:a16="http://schemas.microsoft.com/office/drawing/2014/main" id="{786A94A8-C73E-413D-8FE0-7699C998D70D}"/>
              </a:ext>
            </a:extLst>
          </p:cNvPr>
          <p:cNvSpPr>
            <a:spLocks xmlns:a="http://schemas.openxmlformats.org/drawingml/2006/main" noGrp="1"/>
          </p:cNvSpPr>
          <p:nvPr/>
        </p:nvSpPr>
        <p:spPr>
          <a:xfrm xmlns:a="http://schemas.openxmlformats.org/drawingml/2006/main">
            <a:off x="609600" y="1885950"/>
            <a:ext cx="88582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34155"/>
                </a:solidFill>
                <a:latin typeface="Aptos"/>
                <a:ea typeface="Aptos"/>
                <a:cs typeface="Aptos"/>
              </a:defRPr>
            </a:pPr>
            <a:r>
              <a:rPr sz="1200" b="0">
                <a:solidFill>
                  <a:srgbClr val="334155"/>
                </a:solidFill>
                <a:latin typeface="Aptos"/>
                <a:ea typeface="Aptos"/>
                <a:cs typeface="Aptos"/>
              </a:rPr>
              <a:t>The easiest way to read this slide: the left column names the step, the middle shows the new fields created at that step, and the right side shows whether the payload grew.</a:t>
            </a:r>
          </a:p>
        </p:txBody>
      </p:sp>
      <p:sp>
        <p:nvSpPr>
          <p:cNvPr id="6" name="">
            <a:extLst xmlns:a="http://schemas.openxmlformats.org/drawingml/2006/main">
              <a:ext uri="{FF2B5EF4-FFF2-40B4-BE49-F238E27FC236}">
                <a16:creationId xmlns:a16="http://schemas.microsoft.com/office/drawing/2014/main" id="{7BAB2234-57DE-4E70-8F19-02EA9471171B}"/>
              </a:ext>
            </a:extLst>
          </p:cNvPr>
          <p:cNvSpPr>
            <a:spLocks xmlns:a="http://schemas.openxmlformats.org/drawingml/2006/main" noGrp="1"/>
          </p:cNvSpPr>
          <p:nvPr/>
        </p:nvSpPr>
        <p:spPr>
          <a:xfrm xmlns:a="http://schemas.openxmlformats.org/drawingml/2006/main">
            <a:off x="609600" y="2266950"/>
            <a:ext cx="1943100" cy="323850"/>
          </a:xfrm>
          <a:prstGeom xmlns:a="http://schemas.openxmlformats.org/drawingml/2006/main" prst="rect">
            <a:avLst/>
          </a:prstGeom>
          <a:solidFill xmlns:a="http://schemas.openxmlformats.org/drawingml/2006/main">
            <a:srgbClr val="E7E0D6"/>
          </a:solidFill>
          <a:ln xmlns:a="http://schemas.openxmlformats.org/drawingml/2006/main" w="0">
            <a:solidFill>
              <a:srgbClr val="000000">
                <a:alpha val="0"/>
              </a:srgbClr>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A4450454-3E28-47AF-B0E6-F822B79E7280}"/>
              </a:ext>
            </a:extLst>
          </p:cNvPr>
          <p:cNvSpPr>
            <a:spLocks xmlns:a="http://schemas.openxmlformats.org/drawingml/2006/main" noGrp="1"/>
          </p:cNvSpPr>
          <p:nvPr/>
        </p:nvSpPr>
        <p:spPr>
          <a:xfrm xmlns:a="http://schemas.openxmlformats.org/drawingml/2006/main">
            <a:off x="704850" y="2343150"/>
            <a:ext cx="17526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70" b="1">
                <a:solidFill>
                  <a:srgbClr val="101820"/>
                </a:solidFill>
                <a:latin typeface="Aptos"/>
                <a:ea typeface="Aptos"/>
                <a:cs typeface="Aptos"/>
              </a:defRPr>
            </a:pPr>
            <a:r>
              <a:rPr sz="870" b="1">
                <a:solidFill>
                  <a:srgbClr val="101820"/>
                </a:solidFill>
                <a:latin typeface="Aptos"/>
                <a:ea typeface="Aptos"/>
                <a:cs typeface="Aptos"/>
              </a:rPr>
              <a:t>Stage</a:t>
            </a:r>
          </a:p>
        </p:txBody>
      </p:sp>
      <p:sp>
        <p:nvSpPr>
          <p:cNvPr id="8" name="">
            <a:extLst xmlns:a="http://schemas.openxmlformats.org/drawingml/2006/main">
              <a:ext uri="{FF2B5EF4-FFF2-40B4-BE49-F238E27FC236}">
                <a16:creationId xmlns:a16="http://schemas.microsoft.com/office/drawing/2014/main" id="{400315AF-10E6-437D-A769-8DB9F1BF1C68}"/>
              </a:ext>
            </a:extLst>
          </p:cNvPr>
          <p:cNvSpPr>
            <a:spLocks xmlns:a="http://schemas.openxmlformats.org/drawingml/2006/main" noGrp="1"/>
          </p:cNvSpPr>
          <p:nvPr/>
        </p:nvSpPr>
        <p:spPr>
          <a:xfrm xmlns:a="http://schemas.openxmlformats.org/drawingml/2006/main">
            <a:off x="2552700" y="2266950"/>
            <a:ext cx="4953000" cy="323850"/>
          </a:xfrm>
          <a:prstGeom xmlns:a="http://schemas.openxmlformats.org/drawingml/2006/main" prst="rect">
            <a:avLst/>
          </a:prstGeom>
          <a:solidFill xmlns:a="http://schemas.openxmlformats.org/drawingml/2006/main">
            <a:srgbClr val="E7E0D6"/>
          </a:solidFill>
          <a:ln xmlns:a="http://schemas.openxmlformats.org/drawingml/2006/main" w="0">
            <a:solidFill>
              <a:srgbClr val="000000">
                <a:alpha val="0"/>
              </a:srgbClr>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BA04E1B8-3B68-47F9-8033-242627A51E3A}"/>
              </a:ext>
            </a:extLst>
          </p:cNvPr>
          <p:cNvSpPr>
            <a:spLocks xmlns:a="http://schemas.openxmlformats.org/drawingml/2006/main" noGrp="1"/>
          </p:cNvSpPr>
          <p:nvPr/>
        </p:nvSpPr>
        <p:spPr>
          <a:xfrm xmlns:a="http://schemas.openxmlformats.org/drawingml/2006/main">
            <a:off x="2647950" y="2343150"/>
            <a:ext cx="476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70" b="1">
                <a:solidFill>
                  <a:srgbClr val="101820"/>
                </a:solidFill>
                <a:latin typeface="Aptos"/>
                <a:ea typeface="Aptos"/>
                <a:cs typeface="Aptos"/>
              </a:defRPr>
            </a:pPr>
            <a:r>
              <a:rPr sz="870" b="1">
                <a:solidFill>
                  <a:srgbClr val="101820"/>
                </a:solidFill>
                <a:latin typeface="Aptos"/>
                <a:ea typeface="Aptos"/>
                <a:cs typeface="Aptos"/>
              </a:rPr>
              <a:t>Fields added here</a:t>
            </a:r>
          </a:p>
        </p:txBody>
      </p:sp>
      <p:sp>
        <p:nvSpPr>
          <p:cNvPr id="10" name="">
            <a:extLst xmlns:a="http://schemas.openxmlformats.org/drawingml/2006/main">
              <a:ext uri="{FF2B5EF4-FFF2-40B4-BE49-F238E27FC236}">
                <a16:creationId xmlns:a16="http://schemas.microsoft.com/office/drawing/2014/main" id="{91D6D995-FECF-4C0E-8B13-CDF40635C8EF}"/>
              </a:ext>
            </a:extLst>
          </p:cNvPr>
          <p:cNvSpPr>
            <a:spLocks xmlns:a="http://schemas.openxmlformats.org/drawingml/2006/main" noGrp="1"/>
          </p:cNvSpPr>
          <p:nvPr/>
        </p:nvSpPr>
        <p:spPr>
          <a:xfrm xmlns:a="http://schemas.openxmlformats.org/drawingml/2006/main">
            <a:off x="7505700" y="2266950"/>
            <a:ext cx="2819400" cy="323850"/>
          </a:xfrm>
          <a:prstGeom xmlns:a="http://schemas.openxmlformats.org/drawingml/2006/main" prst="rect">
            <a:avLst/>
          </a:prstGeom>
          <a:solidFill xmlns:a="http://schemas.openxmlformats.org/drawingml/2006/main">
            <a:srgbClr val="E7E0D6"/>
          </a:solidFill>
          <a:ln xmlns:a="http://schemas.openxmlformats.org/drawingml/2006/main" w="0">
            <a:solidFill>
              <a:srgbClr val="000000">
                <a:alpha val="0"/>
              </a:srgbClr>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950F2834-662E-437D-88B6-AC548EE60A38}"/>
              </a:ext>
            </a:extLst>
          </p:cNvPr>
          <p:cNvSpPr>
            <a:spLocks xmlns:a="http://schemas.openxmlformats.org/drawingml/2006/main" noGrp="1"/>
          </p:cNvSpPr>
          <p:nvPr/>
        </p:nvSpPr>
        <p:spPr>
          <a:xfrm xmlns:a="http://schemas.openxmlformats.org/drawingml/2006/main">
            <a:off x="7600950" y="2343150"/>
            <a:ext cx="26289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70" b="1">
                <a:solidFill>
                  <a:srgbClr val="101820"/>
                </a:solidFill>
                <a:latin typeface="Aptos"/>
                <a:ea typeface="Aptos"/>
                <a:cs typeface="Aptos"/>
              </a:defRPr>
            </a:pPr>
            <a:r>
              <a:rPr sz="870" b="1">
                <a:solidFill>
                  <a:srgbClr val="101820"/>
                </a:solidFill>
                <a:latin typeface="Aptos"/>
                <a:ea typeface="Aptos"/>
                <a:cs typeface="Aptos"/>
              </a:rPr>
              <a:t>Meaning of the change</a:t>
            </a:r>
          </a:p>
        </p:txBody>
      </p:sp>
      <p:sp>
        <p:nvSpPr>
          <p:cNvPr id="12" name="">
            <a:extLst xmlns:a="http://schemas.openxmlformats.org/drawingml/2006/main">
              <a:ext uri="{FF2B5EF4-FFF2-40B4-BE49-F238E27FC236}">
                <a16:creationId xmlns:a16="http://schemas.microsoft.com/office/drawing/2014/main" id="{0A031F8F-206A-4C39-96E5-13FD9127F6B3}"/>
              </a:ext>
            </a:extLst>
          </p:cNvPr>
          <p:cNvSpPr>
            <a:spLocks xmlns:a="http://schemas.openxmlformats.org/drawingml/2006/main" noGrp="1"/>
          </p:cNvSpPr>
          <p:nvPr/>
        </p:nvSpPr>
        <p:spPr>
          <a:xfrm xmlns:a="http://schemas.openxmlformats.org/drawingml/2006/main">
            <a:off x="10325100" y="2266950"/>
            <a:ext cx="1257300" cy="323850"/>
          </a:xfrm>
          <a:prstGeom xmlns:a="http://schemas.openxmlformats.org/drawingml/2006/main" prst="rect">
            <a:avLst/>
          </a:prstGeom>
          <a:solidFill xmlns:a="http://schemas.openxmlformats.org/drawingml/2006/main">
            <a:srgbClr val="E7E0D6"/>
          </a:solidFill>
          <a:ln xmlns:a="http://schemas.openxmlformats.org/drawingml/2006/main" w="0">
            <a:solidFill>
              <a:srgbClr val="000000">
                <a:alpha val="0"/>
              </a:srgbClr>
            </a:solid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F58C1AC9-B97C-4372-9784-CD981C443A24}"/>
              </a:ext>
            </a:extLst>
          </p:cNvPr>
          <p:cNvSpPr>
            <a:spLocks xmlns:a="http://schemas.openxmlformats.org/drawingml/2006/main" noGrp="1"/>
          </p:cNvSpPr>
          <p:nvPr/>
        </p:nvSpPr>
        <p:spPr>
          <a:xfrm xmlns:a="http://schemas.openxmlformats.org/drawingml/2006/main">
            <a:off x="10420350" y="2343150"/>
            <a:ext cx="10668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70" b="1">
                <a:solidFill>
                  <a:srgbClr val="101820"/>
                </a:solidFill>
                <a:latin typeface="Aptos"/>
                <a:ea typeface="Aptos"/>
                <a:cs typeface="Aptos"/>
              </a:defRPr>
            </a:pPr>
            <a:r>
              <a:rPr sz="870" b="1">
                <a:solidFill>
                  <a:srgbClr val="101820"/>
                </a:solidFill>
                <a:latin typeface="Aptos"/>
                <a:ea typeface="Aptos"/>
                <a:cs typeface="Aptos"/>
              </a:rPr>
              <a:t>Size</a:t>
            </a:r>
          </a:p>
        </p:txBody>
      </p:sp>
      <p:sp>
        <p:nvSpPr>
          <p:cNvPr id="14" name="">
            <a:extLst xmlns:a="http://schemas.openxmlformats.org/drawingml/2006/main">
              <a:ext uri="{FF2B5EF4-FFF2-40B4-BE49-F238E27FC236}">
                <a16:creationId xmlns:a16="http://schemas.microsoft.com/office/drawing/2014/main" id="{08B7EF71-A298-4524-B267-055ACB89EDE2}"/>
              </a:ext>
            </a:extLst>
          </p:cNvPr>
          <p:cNvSpPr>
            <a:spLocks xmlns:a="http://schemas.openxmlformats.org/drawingml/2006/main" noGrp="1"/>
          </p:cNvSpPr>
          <p:nvPr/>
        </p:nvSpPr>
        <p:spPr>
          <a:xfrm xmlns:a="http://schemas.openxmlformats.org/drawingml/2006/main">
            <a:off x="609600" y="2590800"/>
            <a:ext cx="10972800" cy="514350"/>
          </a:xfrm>
          <a:prstGeom xmlns:a="http://schemas.openxmlformats.org/drawingml/2006/main" prst="rect">
            <a:avLst/>
          </a:prstGeom>
          <a:solidFill xmlns:a="http://schemas.openxmlformats.org/drawingml/2006/main">
            <a:srgbClr val="FBF8F2"/>
          </a:solidFill>
          <a:ln xmlns:a="http://schemas.openxmlformats.org/drawingml/2006/main" w="0">
            <a:solidFill>
              <a:srgbClr val="000000">
                <a:alpha val="0"/>
              </a:srgbClr>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07501E89-9B2B-414E-92F1-20D54521D458}"/>
              </a:ext>
            </a:extLst>
          </p:cNvPr>
          <p:cNvSpPr>
            <a:spLocks xmlns:a="http://schemas.openxmlformats.org/drawingml/2006/main" noGrp="1"/>
          </p:cNvSpPr>
          <p:nvPr/>
        </p:nvSpPr>
        <p:spPr>
          <a:xfrm xmlns:a="http://schemas.openxmlformats.org/drawingml/2006/main">
            <a:off x="609600" y="2590800"/>
            <a:ext cx="76200" cy="514350"/>
          </a:xfrm>
          <a:prstGeom xmlns:a="http://schemas.openxmlformats.org/drawingml/2006/main" prst="rect">
            <a:avLst/>
          </a:prstGeom>
          <a:solidFill xmlns:a="http://schemas.openxmlformats.org/drawingml/2006/main">
            <a:srgbClr val="6D28D9"/>
          </a:solidFill>
          <a:ln xmlns:a="http://schemas.openxmlformats.org/drawingml/2006/main" w="0">
            <a:solidFill>
              <a:srgbClr val="000000">
                <a:alpha val="0"/>
              </a:srgbClr>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F47774AB-6CA8-473D-98B2-3883D9D9295D}"/>
              </a:ext>
            </a:extLst>
          </p:cNvPr>
          <p:cNvSpPr>
            <a:spLocks xmlns:a="http://schemas.openxmlformats.org/drawingml/2006/main" noGrp="1"/>
          </p:cNvSpPr>
          <p:nvPr/>
        </p:nvSpPr>
        <p:spPr>
          <a:xfrm xmlns:a="http://schemas.openxmlformats.org/drawingml/2006/main">
            <a:off x="781050" y="2657475"/>
            <a:ext cx="1657350" cy="1619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0" b="1">
                <a:solidFill>
                  <a:srgbClr val="101820"/>
                </a:solidFill>
                <a:latin typeface="Aptos"/>
                <a:ea typeface="Aptos"/>
                <a:cs typeface="Aptos"/>
              </a:defRPr>
            </a:pPr>
            <a:r>
              <a:rPr sz="930" b="1">
                <a:solidFill>
                  <a:srgbClr val="101820"/>
                </a:solidFill>
                <a:latin typeface="Aptos"/>
                <a:ea typeface="Aptos"/>
                <a:cs typeface="Aptos"/>
              </a:rPr>
              <a:t>Task Loaded</a:t>
            </a:r>
          </a:p>
        </p:txBody>
      </p:sp>
      <p:sp>
        <p:nvSpPr>
          <p:cNvPr id="17" name="">
            <a:extLst xmlns:a="http://schemas.openxmlformats.org/drawingml/2006/main">
              <a:ext uri="{FF2B5EF4-FFF2-40B4-BE49-F238E27FC236}">
                <a16:creationId xmlns:a16="http://schemas.microsoft.com/office/drawing/2014/main" id="{E5605270-EE0C-4E93-BB44-A2B4D2CA41F3}"/>
              </a:ext>
            </a:extLst>
          </p:cNvPr>
          <p:cNvSpPr>
            <a:spLocks xmlns:a="http://schemas.openxmlformats.org/drawingml/2006/main" noGrp="1"/>
          </p:cNvSpPr>
          <p:nvPr/>
        </p:nvSpPr>
        <p:spPr>
          <a:xfrm xmlns:a="http://schemas.openxmlformats.org/drawingml/2006/main">
            <a:off x="781050" y="2867025"/>
            <a:ext cx="16573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6D28D9"/>
                </a:solidFill>
                <a:latin typeface="Aptos"/>
                <a:ea typeface="Aptos"/>
                <a:cs typeface="Aptos"/>
              </a:defRPr>
            </a:pPr>
            <a:r>
              <a:rPr sz="735" b="1">
                <a:solidFill>
                  <a:srgbClr val="6D28D9"/>
                </a:solidFill>
                <a:latin typeface="Aptos"/>
                <a:ea typeface="Aptos"/>
                <a:cs typeface="Aptos"/>
              </a:rPr>
              <a:t>Benchmark Loader</a:t>
            </a:r>
          </a:p>
        </p:txBody>
      </p:sp>
      <p:sp>
        <p:nvSpPr>
          <p:cNvPr id="18" name="">
            <a:extLst xmlns:a="http://schemas.openxmlformats.org/drawingml/2006/main">
              <a:ext uri="{FF2B5EF4-FFF2-40B4-BE49-F238E27FC236}">
                <a16:creationId xmlns:a16="http://schemas.microsoft.com/office/drawing/2014/main" id="{3A4D1C7B-EB59-4D1E-9489-34E3B31F30F0}"/>
              </a:ext>
            </a:extLst>
          </p:cNvPr>
          <p:cNvSpPr>
            <a:spLocks xmlns:a="http://schemas.openxmlformats.org/drawingml/2006/main" noGrp="1"/>
          </p:cNvSpPr>
          <p:nvPr/>
        </p:nvSpPr>
        <p:spPr>
          <a:xfrm xmlns:a="http://schemas.openxmlformats.org/drawingml/2006/main">
            <a:off x="2667000" y="2686050"/>
            <a:ext cx="55245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6D28D9"/>
            </a:solidFill>
            <a:prstDash val="solid"/>
          </a:ln>
        </p:spPr>
        <p:txBody xmlns:a="http://schemas.openxmlformats.org/drawingml/2006/main">
          <a:bodyPr/>
          <a:p/>
        </p:txBody>
      </p:sp>
      <p:sp>
        <p:nvSpPr>
          <p:cNvPr id="19" name="">
            <a:extLst xmlns:a="http://schemas.openxmlformats.org/drawingml/2006/main">
              <a:ext uri="{FF2B5EF4-FFF2-40B4-BE49-F238E27FC236}">
                <a16:creationId xmlns:a16="http://schemas.microsoft.com/office/drawing/2014/main" id="{C7AA385A-B5DC-45FD-8AD1-4BF7225C61FD}"/>
              </a:ext>
            </a:extLst>
          </p:cNvPr>
          <p:cNvSpPr>
            <a:spLocks xmlns:a="http://schemas.openxmlformats.org/drawingml/2006/main" noGrp="1"/>
          </p:cNvSpPr>
          <p:nvPr/>
        </p:nvSpPr>
        <p:spPr>
          <a:xfrm xmlns:a="http://schemas.openxmlformats.org/drawingml/2006/main">
            <a:off x="2752725" y="2733675"/>
            <a:ext cx="38100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repo</a:t>
            </a:r>
          </a:p>
        </p:txBody>
      </p:sp>
      <p:sp>
        <p:nvSpPr>
          <p:cNvPr id="20" name="">
            <a:extLst xmlns:a="http://schemas.openxmlformats.org/drawingml/2006/main">
              <a:ext uri="{FF2B5EF4-FFF2-40B4-BE49-F238E27FC236}">
                <a16:creationId xmlns:a16="http://schemas.microsoft.com/office/drawing/2014/main" id="{43938528-939C-41F3-8CDD-F824C1300881}"/>
              </a:ext>
            </a:extLst>
          </p:cNvPr>
          <p:cNvSpPr>
            <a:spLocks xmlns:a="http://schemas.openxmlformats.org/drawingml/2006/main" noGrp="1"/>
          </p:cNvSpPr>
          <p:nvPr/>
        </p:nvSpPr>
        <p:spPr>
          <a:xfrm xmlns:a="http://schemas.openxmlformats.org/drawingml/2006/main">
            <a:off x="3276600" y="2686050"/>
            <a:ext cx="90297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6D28D9"/>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5D1F9C6F-AC5B-47B5-AE71-5C90D2A2BC5C}"/>
              </a:ext>
            </a:extLst>
          </p:cNvPr>
          <p:cNvSpPr>
            <a:spLocks xmlns:a="http://schemas.openxmlformats.org/drawingml/2006/main" noGrp="1"/>
          </p:cNvSpPr>
          <p:nvPr/>
        </p:nvSpPr>
        <p:spPr>
          <a:xfrm xmlns:a="http://schemas.openxmlformats.org/drawingml/2006/main">
            <a:off x="3362325" y="2733675"/>
            <a:ext cx="73152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base_commit</a:t>
            </a:r>
          </a:p>
        </p:txBody>
      </p:sp>
      <p:sp>
        <p:nvSpPr>
          <p:cNvPr id="22" name="">
            <a:extLst xmlns:a="http://schemas.openxmlformats.org/drawingml/2006/main">
              <a:ext uri="{FF2B5EF4-FFF2-40B4-BE49-F238E27FC236}">
                <a16:creationId xmlns:a16="http://schemas.microsoft.com/office/drawing/2014/main" id="{AC27805B-4FE6-4B89-A629-625F6E885033}"/>
              </a:ext>
            </a:extLst>
          </p:cNvPr>
          <p:cNvSpPr>
            <a:spLocks xmlns:a="http://schemas.openxmlformats.org/drawingml/2006/main" noGrp="1"/>
          </p:cNvSpPr>
          <p:nvPr/>
        </p:nvSpPr>
        <p:spPr>
          <a:xfrm xmlns:a="http://schemas.openxmlformats.org/drawingml/2006/main">
            <a:off x="4236720" y="2686050"/>
            <a:ext cx="64389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6D28D9"/>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B5BCDC4C-7C12-4062-9DDB-462D9104E56E}"/>
              </a:ext>
            </a:extLst>
          </p:cNvPr>
          <p:cNvSpPr>
            <a:spLocks xmlns:a="http://schemas.openxmlformats.org/drawingml/2006/main" noGrp="1"/>
          </p:cNvSpPr>
          <p:nvPr/>
        </p:nvSpPr>
        <p:spPr>
          <a:xfrm xmlns:a="http://schemas.openxmlformats.org/drawingml/2006/main">
            <a:off x="4322445" y="2733675"/>
            <a:ext cx="47244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+4 more</a:t>
            </a:r>
          </a:p>
        </p:txBody>
      </p:sp>
      <p:sp>
        <p:nvSpPr>
          <p:cNvPr id="24" name="">
            <a:extLst xmlns:a="http://schemas.openxmlformats.org/drawingml/2006/main">
              <a:ext uri="{FF2B5EF4-FFF2-40B4-BE49-F238E27FC236}">
                <a16:creationId xmlns:a16="http://schemas.microsoft.com/office/drawing/2014/main" id="{87F33455-FB2E-4C0E-99E9-DC7BD8FE6E6C}"/>
              </a:ext>
            </a:extLst>
          </p:cNvPr>
          <p:cNvSpPr>
            <a:spLocks xmlns:a="http://schemas.openxmlformats.org/drawingml/2006/main" noGrp="1"/>
          </p:cNvSpPr>
          <p:nvPr/>
        </p:nvSpPr>
        <p:spPr>
          <a:xfrm xmlns:a="http://schemas.openxmlformats.org/drawingml/2006/main">
            <a:off x="7620000" y="2686050"/>
            <a:ext cx="2590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73" b="0">
                <a:solidFill>
                  <a:srgbClr val="334155"/>
                </a:solidFill>
                <a:latin typeface="Aptos"/>
                <a:ea typeface="Aptos"/>
                <a:cs typeface="Aptos"/>
              </a:defRPr>
            </a:pPr>
            <a:r>
              <a:rPr sz="773" b="0">
                <a:solidFill>
                  <a:srgbClr val="334155"/>
                </a:solidFill>
                <a:latin typeface="Aptos"/>
                <a:ea typeface="Aptos"/>
                <a:cs typeface="Aptos"/>
              </a:rPr>
              <a:t>Established the starting task description from dataset fields before any prompt assembly.</a:t>
            </a:r>
          </a:p>
        </p:txBody>
      </p:sp>
      <p:sp>
        <p:nvSpPr>
          <p:cNvPr id="25" name="">
            <a:extLst xmlns:a="http://schemas.openxmlformats.org/drawingml/2006/main">
              <a:ext uri="{FF2B5EF4-FFF2-40B4-BE49-F238E27FC236}">
                <a16:creationId xmlns:a16="http://schemas.microsoft.com/office/drawing/2014/main" id="{F4FF3FC6-841F-4734-B5A8-D875E6A54743}"/>
              </a:ext>
            </a:extLst>
          </p:cNvPr>
          <p:cNvSpPr>
            <a:spLocks xmlns:a="http://schemas.openxmlformats.org/drawingml/2006/main" noGrp="1"/>
          </p:cNvSpPr>
          <p:nvPr/>
        </p:nvSpPr>
        <p:spPr>
          <a:xfrm xmlns:a="http://schemas.openxmlformats.org/drawingml/2006/main">
            <a:off x="10420350" y="2686050"/>
            <a:ext cx="10668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05" b="1">
                <a:solidFill>
                  <a:srgbClr val="BE123C"/>
                </a:solidFill>
                <a:latin typeface="Aptos Mono"/>
                <a:ea typeface="Aptos Mono"/>
                <a:cs typeface="Aptos Mono"/>
              </a:defRPr>
            </a:pPr>
            <a:r>
              <a:rPr sz="1005" b="1">
                <a:solidFill>
                  <a:srgbClr val="BE123C"/>
                </a:solidFill>
                <a:latin typeface="Aptos Mono"/>
                <a:ea typeface="Aptos Mono"/>
                <a:cs typeface="Aptos Mono"/>
              </a:rPr>
              <a:t>+1,330</a:t>
            </a:r>
          </a:p>
        </p:txBody>
      </p:sp>
      <p:sp>
        <p:nvSpPr>
          <p:cNvPr id="26" name="">
            <a:extLst xmlns:a="http://schemas.openxmlformats.org/drawingml/2006/main">
              <a:ext uri="{FF2B5EF4-FFF2-40B4-BE49-F238E27FC236}">
                <a16:creationId xmlns:a16="http://schemas.microsoft.com/office/drawing/2014/main" id="{52383B06-8B74-45E0-945A-2691456C1F2E}"/>
              </a:ext>
            </a:extLst>
          </p:cNvPr>
          <p:cNvSpPr>
            <a:spLocks xmlns:a="http://schemas.openxmlformats.org/drawingml/2006/main" noGrp="1"/>
          </p:cNvSpPr>
          <p:nvPr/>
        </p:nvSpPr>
        <p:spPr>
          <a:xfrm xmlns:a="http://schemas.openxmlformats.org/drawingml/2006/main">
            <a:off x="10420350" y="2867025"/>
            <a:ext cx="10668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667085"/>
                </a:solidFill>
                <a:latin typeface="Aptos"/>
                <a:ea typeface="Aptos"/>
                <a:cs typeface="Aptos"/>
              </a:defRPr>
            </a:pPr>
            <a:r>
              <a:rPr sz="675" b="0">
                <a:solidFill>
                  <a:srgbClr val="667085"/>
                </a:solidFill>
                <a:latin typeface="Aptos"/>
                <a:ea typeface="Aptos"/>
                <a:cs typeface="Aptos"/>
              </a:rPr>
              <a:t>Output record grew</a:t>
            </a:r>
          </a:p>
        </p:txBody>
      </p:sp>
      <p:sp>
        <p:nvSpPr>
          <p:cNvPr id="27" name="">
            <a:extLst xmlns:a="http://schemas.openxmlformats.org/drawingml/2006/main">
              <a:ext uri="{FF2B5EF4-FFF2-40B4-BE49-F238E27FC236}">
                <a16:creationId xmlns:a16="http://schemas.microsoft.com/office/drawing/2014/main" id="{BFCA1EA0-14A0-45C8-A3A6-3C8608CFD6D7}"/>
              </a:ext>
            </a:extLst>
          </p:cNvPr>
          <p:cNvSpPr>
            <a:spLocks xmlns:a="http://schemas.openxmlformats.org/drawingml/2006/main" noGrp="1"/>
          </p:cNvSpPr>
          <p:nvPr/>
        </p:nvSpPr>
        <p:spPr>
          <a:xfrm xmlns:a="http://schemas.openxmlformats.org/drawingml/2006/main">
            <a:off x="609600" y="3095625"/>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28" name="">
            <a:extLst xmlns:a="http://schemas.openxmlformats.org/drawingml/2006/main">
              <a:ext uri="{FF2B5EF4-FFF2-40B4-BE49-F238E27FC236}">
                <a16:creationId xmlns:a16="http://schemas.microsoft.com/office/drawing/2014/main" id="{EFC7B9E8-2628-44AE-889E-C6ECAF9F02F8}"/>
              </a:ext>
            </a:extLst>
          </p:cNvPr>
          <p:cNvSpPr>
            <a:spLocks xmlns:a="http://schemas.openxmlformats.org/drawingml/2006/main" noGrp="1"/>
          </p:cNvSpPr>
          <p:nvPr/>
        </p:nvSpPr>
        <p:spPr>
          <a:xfrm xmlns:a="http://schemas.openxmlformats.org/drawingml/2006/main">
            <a:off x="609600" y="3105150"/>
            <a:ext cx="10972800" cy="514350"/>
          </a:xfrm>
          <a:prstGeom xmlns:a="http://schemas.openxmlformats.org/drawingml/2006/main" prst="rect">
            <a:avLst/>
          </a:prstGeom>
          <a:solidFill xmlns:a="http://schemas.openxmlformats.org/drawingml/2006/main">
            <a:srgbClr val="F1EBE2"/>
          </a:solidFill>
          <a:ln xmlns:a="http://schemas.openxmlformats.org/drawingml/2006/main" w="0">
            <a:solidFill>
              <a:srgbClr val="000000">
                <a:alpha val="0"/>
              </a:srgbClr>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8024F512-7DAC-4796-8CDA-AF241FDD949D}"/>
              </a:ext>
            </a:extLst>
          </p:cNvPr>
          <p:cNvSpPr>
            <a:spLocks xmlns:a="http://schemas.openxmlformats.org/drawingml/2006/main" noGrp="1"/>
          </p:cNvSpPr>
          <p:nvPr/>
        </p:nvSpPr>
        <p:spPr>
          <a:xfrm xmlns:a="http://schemas.openxmlformats.org/drawingml/2006/main">
            <a:off x="609600" y="3105150"/>
            <a:ext cx="76200" cy="514350"/>
          </a:xfrm>
          <a:prstGeom xmlns:a="http://schemas.openxmlformats.org/drawingml/2006/main" prst="rect">
            <a:avLst/>
          </a:prstGeom>
          <a:solidFill xmlns:a="http://schemas.openxmlformats.org/drawingml/2006/main">
            <a:srgbClr val="2563EB"/>
          </a:solidFill>
          <a:ln xmlns:a="http://schemas.openxmlformats.org/drawingml/2006/main" w="0">
            <a:solidFill>
              <a:srgbClr val="000000">
                <a:alpha val="0"/>
              </a:srgbClr>
            </a:solidFill>
            <a:prstDash val="solid"/>
          </a:ln>
        </p:spPr>
        <p:txBody xmlns:a="http://schemas.openxmlformats.org/drawingml/2006/main">
          <a:bodyPr/>
          <a:p/>
        </p:txBody>
      </p:sp>
      <p:sp>
        <p:nvSpPr>
          <p:cNvPr id="30" name="">
            <a:extLst xmlns:a="http://schemas.openxmlformats.org/drawingml/2006/main">
              <a:ext uri="{FF2B5EF4-FFF2-40B4-BE49-F238E27FC236}">
                <a16:creationId xmlns:a16="http://schemas.microsoft.com/office/drawing/2014/main" id="{72C182BF-9078-4106-90B9-B0C9C62E6AE3}"/>
              </a:ext>
            </a:extLst>
          </p:cNvPr>
          <p:cNvSpPr>
            <a:spLocks xmlns:a="http://schemas.openxmlformats.org/drawingml/2006/main" noGrp="1"/>
          </p:cNvSpPr>
          <p:nvPr/>
        </p:nvSpPr>
        <p:spPr>
          <a:xfrm xmlns:a="http://schemas.openxmlformats.org/drawingml/2006/main">
            <a:off x="781050" y="3171825"/>
            <a:ext cx="1657350" cy="1619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0" b="1">
                <a:solidFill>
                  <a:srgbClr val="101820"/>
                </a:solidFill>
                <a:latin typeface="Aptos"/>
                <a:ea typeface="Aptos"/>
                <a:cs typeface="Aptos"/>
              </a:defRPr>
            </a:pPr>
            <a:r>
              <a:rPr sz="930" b="1">
                <a:solidFill>
                  <a:srgbClr val="101820"/>
                </a:solidFill>
                <a:latin typeface="Aptos"/>
                <a:ea typeface="Aptos"/>
                <a:cs typeface="Aptos"/>
              </a:rPr>
              <a:t>Prompt Built</a:t>
            </a:r>
          </a:p>
        </p:txBody>
      </p:sp>
      <p:sp>
        <p:nvSpPr>
          <p:cNvPr id="31" name="">
            <a:extLst xmlns:a="http://schemas.openxmlformats.org/drawingml/2006/main">
              <a:ext uri="{FF2B5EF4-FFF2-40B4-BE49-F238E27FC236}">
                <a16:creationId xmlns:a16="http://schemas.microsoft.com/office/drawing/2014/main" id="{753280C4-BACD-429A-AD84-7FF86BF82E7C}"/>
              </a:ext>
            </a:extLst>
          </p:cNvPr>
          <p:cNvSpPr>
            <a:spLocks xmlns:a="http://schemas.openxmlformats.org/drawingml/2006/main" noGrp="1"/>
          </p:cNvSpPr>
          <p:nvPr/>
        </p:nvSpPr>
        <p:spPr>
          <a:xfrm xmlns:a="http://schemas.openxmlformats.org/drawingml/2006/main">
            <a:off x="781050" y="3381375"/>
            <a:ext cx="16573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wrap="square"/>
          <a:lstStyle xmlns:a="http://schemas.openxmlformats.org/drawingml/2006/main"/>
          <a:p xmlns:a="http://schemas.openxmlformats.org/drawingml/2006/main">
            <a:pPr algn="l">
              <a:defRPr sz="735" b="1">
                <a:solidFill>
                  <a:srgbClr val="2563EB"/>
                </a:solidFill>
                <a:latin typeface="Aptos"/>
                <a:ea typeface="Aptos"/>
                <a:cs typeface="Aptos"/>
              </a:defRPr>
            </a:pPr>
            <a:r>
              <a:rPr sz="665" b="1">
                <a:solidFill>
                  <a:srgbClr val="2563EB"/>
                </a:solidFill>
                <a:latin typeface="Aptos"/>
                <a:ea typeface="Aptos"/>
                <a:cs typeface="Aptos"/>
              </a:rPr>
              <a:t>Prompt Builder (local helper script)</a:t>
            </a:r>
          </a:p>
        </p:txBody>
      </p:sp>
      <p:sp>
        <p:nvSpPr>
          <p:cNvPr id="32" name="">
            <a:extLst xmlns:a="http://schemas.openxmlformats.org/drawingml/2006/main">
              <a:ext uri="{FF2B5EF4-FFF2-40B4-BE49-F238E27FC236}">
                <a16:creationId xmlns:a16="http://schemas.microsoft.com/office/drawing/2014/main" id="{3C5DA3D0-92D4-4B27-81AD-458CE32501FB}"/>
              </a:ext>
            </a:extLst>
          </p:cNvPr>
          <p:cNvSpPr>
            <a:spLocks xmlns:a="http://schemas.openxmlformats.org/drawingml/2006/main" noGrp="1"/>
          </p:cNvSpPr>
          <p:nvPr/>
        </p:nvSpPr>
        <p:spPr>
          <a:xfrm xmlns:a="http://schemas.openxmlformats.org/drawingml/2006/main">
            <a:off x="2667000" y="3200400"/>
            <a:ext cx="57912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2563EB"/>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E174C1A0-4976-49D1-A4D0-348A3CFC0013}"/>
              </a:ext>
            </a:extLst>
          </p:cNvPr>
          <p:cNvSpPr>
            <a:spLocks xmlns:a="http://schemas.openxmlformats.org/drawingml/2006/main" noGrp="1"/>
          </p:cNvSpPr>
          <p:nvPr/>
        </p:nvSpPr>
        <p:spPr>
          <a:xfrm xmlns:a="http://schemas.openxmlformats.org/drawingml/2006/main">
            <a:off x="2752725" y="3248025"/>
            <a:ext cx="40767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prompt</a:t>
            </a:r>
          </a:p>
        </p:txBody>
      </p:sp>
      <p:sp>
        <p:nvSpPr>
          <p:cNvPr id="34" name="">
            <a:extLst xmlns:a="http://schemas.openxmlformats.org/drawingml/2006/main">
              <a:ext uri="{FF2B5EF4-FFF2-40B4-BE49-F238E27FC236}">
                <a16:creationId xmlns:a16="http://schemas.microsoft.com/office/drawing/2014/main" id="{58AC98C2-E4C4-47A8-AFA0-04572C2424BE}"/>
              </a:ext>
            </a:extLst>
          </p:cNvPr>
          <p:cNvSpPr>
            <a:spLocks xmlns:a="http://schemas.openxmlformats.org/drawingml/2006/main" noGrp="1"/>
          </p:cNvSpPr>
          <p:nvPr/>
        </p:nvSpPr>
        <p:spPr>
          <a:xfrm xmlns:a="http://schemas.openxmlformats.org/drawingml/2006/main">
            <a:off x="7620000" y="3200400"/>
            <a:ext cx="2590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73" b="0">
                <a:solidFill>
                  <a:srgbClr val="334155"/>
                </a:solidFill>
                <a:latin typeface="Aptos"/>
                <a:ea typeface="Aptos"/>
                <a:cs typeface="Aptos"/>
              </a:defRPr>
            </a:pPr>
            <a:r>
              <a:rPr sz="773" b="0">
                <a:solidFill>
                  <a:srgbClr val="334155"/>
                </a:solidFill>
                <a:latin typeface="Aptos"/>
                <a:ea typeface="Aptos"/>
                <a:cs typeface="Aptos"/>
              </a:rPr>
              <a:t>problem_statement, requirements, selected tests -&gt; prompt text</a:t>
            </a:r>
          </a:p>
        </p:txBody>
      </p:sp>
      <p:sp>
        <p:nvSpPr>
          <p:cNvPr id="35" name="">
            <a:extLst xmlns:a="http://schemas.openxmlformats.org/drawingml/2006/main">
              <a:ext uri="{FF2B5EF4-FFF2-40B4-BE49-F238E27FC236}">
                <a16:creationId xmlns:a16="http://schemas.microsoft.com/office/drawing/2014/main" id="{B49CF3AF-F379-473C-A31B-CDE78C1044F3}"/>
              </a:ext>
            </a:extLst>
          </p:cNvPr>
          <p:cNvSpPr>
            <a:spLocks xmlns:a="http://schemas.openxmlformats.org/drawingml/2006/main" noGrp="1"/>
          </p:cNvSpPr>
          <p:nvPr/>
        </p:nvSpPr>
        <p:spPr>
          <a:xfrm xmlns:a="http://schemas.openxmlformats.org/drawingml/2006/main">
            <a:off x="10420350" y="3200400"/>
            <a:ext cx="10668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05" b="1">
                <a:solidFill>
                  <a:srgbClr val="2563EB"/>
                </a:solidFill>
                <a:latin typeface="Aptos Mono"/>
                <a:ea typeface="Aptos Mono"/>
                <a:cs typeface="Aptos Mono"/>
              </a:defRPr>
            </a:pPr>
            <a:r>
              <a:rPr sz="1005" b="1">
                <a:solidFill>
                  <a:srgbClr val="2563EB"/>
                </a:solidFill>
                <a:latin typeface="Aptos Mono"/>
                <a:ea typeface="Aptos Mono"/>
                <a:cs typeface="Aptos Mono"/>
              </a:rPr>
              <a:t>+5,576</a:t>
            </a:r>
          </a:p>
        </p:txBody>
      </p:sp>
      <p:sp>
        <p:nvSpPr>
          <p:cNvPr id="36" name="">
            <a:extLst xmlns:a="http://schemas.openxmlformats.org/drawingml/2006/main">
              <a:ext uri="{FF2B5EF4-FFF2-40B4-BE49-F238E27FC236}">
                <a16:creationId xmlns:a16="http://schemas.microsoft.com/office/drawing/2014/main" id="{FA7597FF-65E6-4F21-ACE5-65883A87C451}"/>
              </a:ext>
            </a:extLst>
          </p:cNvPr>
          <p:cNvSpPr>
            <a:spLocks xmlns:a="http://schemas.openxmlformats.org/drawingml/2006/main" noGrp="1"/>
          </p:cNvSpPr>
          <p:nvPr/>
        </p:nvSpPr>
        <p:spPr>
          <a:xfrm xmlns:a="http://schemas.openxmlformats.org/drawingml/2006/main">
            <a:off x="10420350" y="3381375"/>
            <a:ext cx="10668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667085"/>
                </a:solidFill>
                <a:latin typeface="Aptos"/>
                <a:ea typeface="Aptos"/>
                <a:cs typeface="Aptos"/>
              </a:defRPr>
            </a:pPr>
            <a:r>
              <a:rPr sz="675" b="0">
                <a:solidFill>
                  <a:srgbClr val="667085"/>
                </a:solidFill>
                <a:latin typeface="Aptos"/>
                <a:ea typeface="Aptos"/>
                <a:cs typeface="Aptos"/>
              </a:rPr>
              <a:t>Prompt grew here</a:t>
            </a:r>
          </a:p>
        </p:txBody>
      </p:sp>
      <p:sp>
        <p:nvSpPr>
          <p:cNvPr id="37" name="">
            <a:extLst xmlns:a="http://schemas.openxmlformats.org/drawingml/2006/main">
              <a:ext uri="{FF2B5EF4-FFF2-40B4-BE49-F238E27FC236}">
                <a16:creationId xmlns:a16="http://schemas.microsoft.com/office/drawing/2014/main" id="{2605773F-F9E0-4F29-ADA2-74210AB4C4A8}"/>
              </a:ext>
            </a:extLst>
          </p:cNvPr>
          <p:cNvSpPr>
            <a:spLocks xmlns:a="http://schemas.openxmlformats.org/drawingml/2006/main" noGrp="1"/>
          </p:cNvSpPr>
          <p:nvPr/>
        </p:nvSpPr>
        <p:spPr>
          <a:xfrm xmlns:a="http://schemas.openxmlformats.org/drawingml/2006/main">
            <a:off x="609600" y="3609975"/>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38" name="">
            <a:extLst xmlns:a="http://schemas.openxmlformats.org/drawingml/2006/main">
              <a:ext uri="{FF2B5EF4-FFF2-40B4-BE49-F238E27FC236}">
                <a16:creationId xmlns:a16="http://schemas.microsoft.com/office/drawing/2014/main" id="{58B228DE-F70B-4171-96CA-099C7B58065B}"/>
              </a:ext>
            </a:extLst>
          </p:cNvPr>
          <p:cNvSpPr>
            <a:spLocks xmlns:a="http://schemas.openxmlformats.org/drawingml/2006/main" noGrp="1"/>
          </p:cNvSpPr>
          <p:nvPr/>
        </p:nvSpPr>
        <p:spPr>
          <a:xfrm xmlns:a="http://schemas.openxmlformats.org/drawingml/2006/main">
            <a:off x="609600" y="3619500"/>
            <a:ext cx="10972800" cy="514350"/>
          </a:xfrm>
          <a:prstGeom xmlns:a="http://schemas.openxmlformats.org/drawingml/2006/main" prst="rect">
            <a:avLst/>
          </a:prstGeom>
          <a:solidFill xmlns:a="http://schemas.openxmlformats.org/drawingml/2006/main">
            <a:srgbClr val="FBF8F2"/>
          </a:solidFill>
          <a:ln xmlns:a="http://schemas.openxmlformats.org/drawingml/2006/main" w="0">
            <a:solidFill>
              <a:srgbClr val="000000">
                <a:alpha val="0"/>
              </a:srgbClr>
            </a:solidFill>
            <a:prstDash val="solid"/>
          </a:ln>
        </p:spPr>
        <p:txBody xmlns:a="http://schemas.openxmlformats.org/drawingml/2006/main">
          <a:bodyPr/>
          <a:p/>
        </p:txBody>
      </p:sp>
      <p:sp>
        <p:nvSpPr>
          <p:cNvPr id="39" name="">
            <a:extLst xmlns:a="http://schemas.openxmlformats.org/drawingml/2006/main">
              <a:ext uri="{FF2B5EF4-FFF2-40B4-BE49-F238E27FC236}">
                <a16:creationId xmlns:a16="http://schemas.microsoft.com/office/drawing/2014/main" id="{503550AB-609A-4F9A-8DE0-C134C047FCDD}"/>
              </a:ext>
            </a:extLst>
          </p:cNvPr>
          <p:cNvSpPr>
            <a:spLocks xmlns:a="http://schemas.openxmlformats.org/drawingml/2006/main" noGrp="1"/>
          </p:cNvSpPr>
          <p:nvPr/>
        </p:nvSpPr>
        <p:spPr>
          <a:xfrm xmlns:a="http://schemas.openxmlformats.org/drawingml/2006/main">
            <a:off x="609600" y="3619500"/>
            <a:ext cx="76200" cy="514350"/>
          </a:xfrm>
          <a:prstGeom xmlns:a="http://schemas.openxmlformats.org/drawingml/2006/main" prst="rect">
            <a:avLst/>
          </a:prstGeom>
          <a:solidFill xmlns:a="http://schemas.openxmlformats.org/drawingml/2006/main">
            <a:srgbClr val="1D4ED8"/>
          </a:solidFill>
          <a:ln xmlns:a="http://schemas.openxmlformats.org/drawingml/2006/main" w="0">
            <a:solidFill>
              <a:srgbClr val="000000">
                <a:alpha val="0"/>
              </a:srgbClr>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5F9AFE15-0686-416A-92DD-C27DCDDA3F91}"/>
              </a:ext>
            </a:extLst>
          </p:cNvPr>
          <p:cNvSpPr>
            <a:spLocks xmlns:a="http://schemas.openxmlformats.org/drawingml/2006/main" noGrp="1"/>
          </p:cNvSpPr>
          <p:nvPr/>
        </p:nvSpPr>
        <p:spPr>
          <a:xfrm xmlns:a="http://schemas.openxmlformats.org/drawingml/2006/main">
            <a:off x="781050" y="3686175"/>
            <a:ext cx="1657350" cy="1619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0" b="1">
                <a:solidFill>
                  <a:srgbClr val="101820"/>
                </a:solidFill>
                <a:latin typeface="Aptos"/>
                <a:ea typeface="Aptos"/>
                <a:cs typeface="Aptos"/>
              </a:defRPr>
            </a:pPr>
            <a:r>
              <a:rPr sz="930" b="1">
                <a:solidFill>
                  <a:srgbClr val="101820"/>
                </a:solidFill>
                <a:latin typeface="Aptos"/>
                <a:ea typeface="Aptos"/>
                <a:cs typeface="Aptos"/>
              </a:rPr>
              <a:t>Request Packaged</a:t>
            </a:r>
          </a:p>
        </p:txBody>
      </p:sp>
      <p:sp>
        <p:nvSpPr>
          <p:cNvPr id="41" name="">
            <a:extLst xmlns:a="http://schemas.openxmlformats.org/drawingml/2006/main">
              <a:ext uri="{FF2B5EF4-FFF2-40B4-BE49-F238E27FC236}">
                <a16:creationId xmlns:a16="http://schemas.microsoft.com/office/drawing/2014/main" id="{1DE63BDA-4BC0-49AE-B69D-08AA5391B165}"/>
              </a:ext>
            </a:extLst>
          </p:cNvPr>
          <p:cNvSpPr>
            <a:spLocks xmlns:a="http://schemas.openxmlformats.org/drawingml/2006/main" noGrp="1"/>
          </p:cNvSpPr>
          <p:nvPr/>
        </p:nvSpPr>
        <p:spPr>
          <a:xfrm xmlns:a="http://schemas.openxmlformats.org/drawingml/2006/main">
            <a:off x="781050" y="3895725"/>
            <a:ext cx="16573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wrap="square"/>
          <a:lstStyle xmlns:a="http://schemas.openxmlformats.org/drawingml/2006/main"/>
          <a:p xmlns:a="http://schemas.openxmlformats.org/drawingml/2006/main">
            <a:pPr algn="l">
              <a:defRPr sz="735" b="1">
                <a:solidFill>
                  <a:srgbClr val="1D4ED8"/>
                </a:solidFill>
                <a:latin typeface="Aptos"/>
                <a:ea typeface="Aptos"/>
                <a:cs typeface="Aptos"/>
              </a:defRPr>
            </a:pPr>
            <a:r>
              <a:rPr sz="665" b="1">
                <a:solidFill>
                  <a:srgbClr val="1D4ED8"/>
                </a:solidFill>
                <a:latin typeface="Aptos"/>
                <a:ea typeface="Aptos"/>
                <a:cs typeface="Aptos"/>
              </a:rPr>
              <a:t>Request Wrapper (local helper script)</a:t>
            </a:r>
          </a:p>
        </p:txBody>
      </p:sp>
      <p:sp>
        <p:nvSpPr>
          <p:cNvPr id="42" name="">
            <a:extLst xmlns:a="http://schemas.openxmlformats.org/drawingml/2006/main">
              <a:ext uri="{FF2B5EF4-FFF2-40B4-BE49-F238E27FC236}">
                <a16:creationId xmlns:a16="http://schemas.microsoft.com/office/drawing/2014/main" id="{6BE4276F-F3CD-42B5-8D6E-C490100327B3}"/>
              </a:ext>
            </a:extLst>
          </p:cNvPr>
          <p:cNvSpPr>
            <a:spLocks xmlns:a="http://schemas.openxmlformats.org/drawingml/2006/main" noGrp="1"/>
          </p:cNvSpPr>
          <p:nvPr/>
        </p:nvSpPr>
        <p:spPr>
          <a:xfrm xmlns:a="http://schemas.openxmlformats.org/drawingml/2006/main">
            <a:off x="2667000" y="3714750"/>
            <a:ext cx="55245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1D4ED8"/>
            </a:solidFill>
            <a:prstDash val="solid"/>
          </a:ln>
        </p:spPr>
        <p:txBody xmlns:a="http://schemas.openxmlformats.org/drawingml/2006/main">
          <a:bodyPr/>
          <a:p/>
        </p:txBody>
      </p:sp>
      <p:sp>
        <p:nvSpPr>
          <p:cNvPr id="43" name="">
            <a:extLst xmlns:a="http://schemas.openxmlformats.org/drawingml/2006/main">
              <a:ext uri="{FF2B5EF4-FFF2-40B4-BE49-F238E27FC236}">
                <a16:creationId xmlns:a16="http://schemas.microsoft.com/office/drawing/2014/main" id="{75AD27FA-A45A-498C-86DD-71F2700DA746}"/>
              </a:ext>
            </a:extLst>
          </p:cNvPr>
          <p:cNvSpPr>
            <a:spLocks xmlns:a="http://schemas.openxmlformats.org/drawingml/2006/main" noGrp="1"/>
          </p:cNvSpPr>
          <p:nvPr/>
        </p:nvSpPr>
        <p:spPr>
          <a:xfrm xmlns:a="http://schemas.openxmlformats.org/drawingml/2006/main">
            <a:off x="2752725" y="3762375"/>
            <a:ext cx="38100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model</a:t>
            </a:r>
          </a:p>
        </p:txBody>
      </p:sp>
      <p:sp>
        <p:nvSpPr>
          <p:cNvPr id="44" name="">
            <a:extLst xmlns:a="http://schemas.openxmlformats.org/drawingml/2006/main">
              <a:ext uri="{FF2B5EF4-FFF2-40B4-BE49-F238E27FC236}">
                <a16:creationId xmlns:a16="http://schemas.microsoft.com/office/drawing/2014/main" id="{8E890A1A-0DA8-4028-8322-2BB776911B25}"/>
              </a:ext>
            </a:extLst>
          </p:cNvPr>
          <p:cNvSpPr>
            <a:spLocks xmlns:a="http://schemas.openxmlformats.org/drawingml/2006/main" noGrp="1"/>
          </p:cNvSpPr>
          <p:nvPr/>
        </p:nvSpPr>
        <p:spPr>
          <a:xfrm xmlns:a="http://schemas.openxmlformats.org/drawingml/2006/main">
            <a:off x="3276600" y="3714750"/>
            <a:ext cx="70866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1D4ED8"/>
            </a:solidFill>
            <a:prstDash val="solid"/>
          </a:ln>
        </p:spPr>
        <p:txBody xmlns:a="http://schemas.openxmlformats.org/drawingml/2006/main">
          <a:bodyPr/>
          <a:p/>
        </p:txBody>
      </p:sp>
      <p:sp>
        <p:nvSpPr>
          <p:cNvPr id="45" name="">
            <a:extLst xmlns:a="http://schemas.openxmlformats.org/drawingml/2006/main">
              <a:ext uri="{FF2B5EF4-FFF2-40B4-BE49-F238E27FC236}">
                <a16:creationId xmlns:a16="http://schemas.microsoft.com/office/drawing/2014/main" id="{E09E56B4-5FA3-4344-B179-2970C80417B1}"/>
              </a:ext>
            </a:extLst>
          </p:cNvPr>
          <p:cNvSpPr>
            <a:spLocks xmlns:a="http://schemas.openxmlformats.org/drawingml/2006/main" noGrp="1"/>
          </p:cNvSpPr>
          <p:nvPr/>
        </p:nvSpPr>
        <p:spPr>
          <a:xfrm xmlns:a="http://schemas.openxmlformats.org/drawingml/2006/main">
            <a:off x="3362325" y="3762375"/>
            <a:ext cx="53721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messages</a:t>
            </a:r>
          </a:p>
        </p:txBody>
      </p:sp>
      <p:sp>
        <p:nvSpPr>
          <p:cNvPr id="46" name="">
            <a:extLst xmlns:a="http://schemas.openxmlformats.org/drawingml/2006/main">
              <a:ext uri="{FF2B5EF4-FFF2-40B4-BE49-F238E27FC236}">
                <a16:creationId xmlns:a16="http://schemas.microsoft.com/office/drawing/2014/main" id="{00DB0B49-30DB-4FD4-B831-DC5C27D248FA}"/>
              </a:ext>
            </a:extLst>
          </p:cNvPr>
          <p:cNvSpPr>
            <a:spLocks xmlns:a="http://schemas.openxmlformats.org/drawingml/2006/main" noGrp="1"/>
          </p:cNvSpPr>
          <p:nvPr/>
        </p:nvSpPr>
        <p:spPr>
          <a:xfrm xmlns:a="http://schemas.openxmlformats.org/drawingml/2006/main">
            <a:off x="4042410" y="3714750"/>
            <a:ext cx="64389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1D4ED8"/>
            </a:solidFill>
            <a:prstDash val="solid"/>
          </a:ln>
        </p:spPr>
        <p:txBody xmlns:a="http://schemas.openxmlformats.org/drawingml/2006/main">
          <a:bodyPr/>
          <a:p/>
        </p:txBody>
      </p:sp>
      <p:sp>
        <p:nvSpPr>
          <p:cNvPr id="47" name="">
            <a:extLst xmlns:a="http://schemas.openxmlformats.org/drawingml/2006/main">
              <a:ext uri="{FF2B5EF4-FFF2-40B4-BE49-F238E27FC236}">
                <a16:creationId xmlns:a16="http://schemas.microsoft.com/office/drawing/2014/main" id="{447A7A84-D871-4B4D-9207-9963824D53A0}"/>
              </a:ext>
            </a:extLst>
          </p:cNvPr>
          <p:cNvSpPr>
            <a:spLocks xmlns:a="http://schemas.openxmlformats.org/drawingml/2006/main" noGrp="1"/>
          </p:cNvSpPr>
          <p:nvPr/>
        </p:nvSpPr>
        <p:spPr>
          <a:xfrm xmlns:a="http://schemas.openxmlformats.org/drawingml/2006/main">
            <a:off x="4128135" y="3762375"/>
            <a:ext cx="47244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+3 more</a:t>
            </a:r>
          </a:p>
        </p:txBody>
      </p:sp>
      <p:sp>
        <p:nvSpPr>
          <p:cNvPr id="48" name="">
            <a:extLst xmlns:a="http://schemas.openxmlformats.org/drawingml/2006/main">
              <a:ext uri="{FF2B5EF4-FFF2-40B4-BE49-F238E27FC236}">
                <a16:creationId xmlns:a16="http://schemas.microsoft.com/office/drawing/2014/main" id="{4029F8AC-1BBB-4864-8C9F-263D806AEB72}"/>
              </a:ext>
            </a:extLst>
          </p:cNvPr>
          <p:cNvSpPr>
            <a:spLocks xmlns:a="http://schemas.openxmlformats.org/drawingml/2006/main" noGrp="1"/>
          </p:cNvSpPr>
          <p:nvPr/>
        </p:nvSpPr>
        <p:spPr>
          <a:xfrm xmlns:a="http://schemas.openxmlformats.org/drawingml/2006/main">
            <a:off x="7620000" y="3714750"/>
            <a:ext cx="2590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73" b="0">
                <a:solidFill>
                  <a:srgbClr val="334155"/>
                </a:solidFill>
                <a:latin typeface="Aptos"/>
                <a:ea typeface="Aptos"/>
                <a:cs typeface="Aptos"/>
              </a:defRPr>
            </a:pPr>
            <a:r>
              <a:rPr sz="773" b="0">
                <a:solidFill>
                  <a:srgbClr val="334155"/>
                </a:solidFill>
                <a:latin typeface="Aptos"/>
                <a:ea typeface="Aptos"/>
                <a:cs typeface="Aptos"/>
              </a:rPr>
              <a:t>prompt -&gt; messages[0].content</a:t>
            </a:r>
          </a:p>
        </p:txBody>
      </p:sp>
      <p:sp>
        <p:nvSpPr>
          <p:cNvPr id="49" name="">
            <a:extLst xmlns:a="http://schemas.openxmlformats.org/drawingml/2006/main">
              <a:ext uri="{FF2B5EF4-FFF2-40B4-BE49-F238E27FC236}">
                <a16:creationId xmlns:a16="http://schemas.microsoft.com/office/drawing/2014/main" id="{B206DFC7-99D4-4158-BCEE-A85A98FA689B}"/>
              </a:ext>
            </a:extLst>
          </p:cNvPr>
          <p:cNvSpPr>
            <a:spLocks xmlns:a="http://schemas.openxmlformats.org/drawingml/2006/main" noGrp="1"/>
          </p:cNvSpPr>
          <p:nvPr/>
        </p:nvSpPr>
        <p:spPr>
          <a:xfrm xmlns:a="http://schemas.openxmlformats.org/drawingml/2006/main">
            <a:off x="10420350" y="3714750"/>
            <a:ext cx="10668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05" b="1">
                <a:solidFill>
                  <a:srgbClr val="667085"/>
                </a:solidFill>
                <a:latin typeface="Aptos Mono"/>
                <a:ea typeface="Aptos Mono"/>
                <a:cs typeface="Aptos Mono"/>
              </a:defRPr>
            </a:pPr>
            <a:r>
              <a:rPr sz="1005" b="1">
                <a:solidFill>
                  <a:srgbClr val="667085"/>
                </a:solidFill>
                <a:latin typeface="Aptos Mono"/>
                <a:ea typeface="Aptos Mono"/>
                <a:cs typeface="Aptos Mono"/>
              </a:rPr>
              <a:t>0</a:t>
            </a:r>
          </a:p>
        </p:txBody>
      </p:sp>
      <p:sp>
        <p:nvSpPr>
          <p:cNvPr id="50" name="">
            <a:extLst xmlns:a="http://schemas.openxmlformats.org/drawingml/2006/main">
              <a:ext uri="{FF2B5EF4-FFF2-40B4-BE49-F238E27FC236}">
                <a16:creationId xmlns:a16="http://schemas.microsoft.com/office/drawing/2014/main" id="{143B13B2-3567-4B41-87C7-C329C98E696F}"/>
              </a:ext>
            </a:extLst>
          </p:cNvPr>
          <p:cNvSpPr>
            <a:spLocks xmlns:a="http://schemas.openxmlformats.org/drawingml/2006/main" noGrp="1"/>
          </p:cNvSpPr>
          <p:nvPr/>
        </p:nvSpPr>
        <p:spPr>
          <a:xfrm xmlns:a="http://schemas.openxmlformats.org/drawingml/2006/main">
            <a:off x="10420350" y="3895725"/>
            <a:ext cx="10668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667085"/>
                </a:solidFill>
                <a:latin typeface="Aptos"/>
                <a:ea typeface="Aptos"/>
                <a:cs typeface="Aptos"/>
              </a:defRPr>
            </a:pPr>
            <a:r>
              <a:rPr sz="675" b="0">
                <a:solidFill>
                  <a:srgbClr val="667085"/>
                </a:solidFill>
                <a:latin typeface="Aptos"/>
                <a:ea typeface="Aptos"/>
                <a:cs typeface="Aptos"/>
              </a:rPr>
              <a:t>No payload growth</a:t>
            </a:r>
          </a:p>
        </p:txBody>
      </p:sp>
      <p:sp>
        <p:nvSpPr>
          <p:cNvPr id="51" name="">
            <a:extLst xmlns:a="http://schemas.openxmlformats.org/drawingml/2006/main">
              <a:ext uri="{FF2B5EF4-FFF2-40B4-BE49-F238E27FC236}">
                <a16:creationId xmlns:a16="http://schemas.microsoft.com/office/drawing/2014/main" id="{266DCCC2-F79F-4EA9-98B8-F0292062E9ED}"/>
              </a:ext>
            </a:extLst>
          </p:cNvPr>
          <p:cNvSpPr>
            <a:spLocks xmlns:a="http://schemas.openxmlformats.org/drawingml/2006/main" noGrp="1"/>
          </p:cNvSpPr>
          <p:nvPr/>
        </p:nvSpPr>
        <p:spPr>
          <a:xfrm xmlns:a="http://schemas.openxmlformats.org/drawingml/2006/main">
            <a:off x="609600" y="4124325"/>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52" name="">
            <a:extLst xmlns:a="http://schemas.openxmlformats.org/drawingml/2006/main">
              <a:ext uri="{FF2B5EF4-FFF2-40B4-BE49-F238E27FC236}">
                <a16:creationId xmlns:a16="http://schemas.microsoft.com/office/drawing/2014/main" id="{C31F6E79-072F-4B86-8B85-E002FAFDE243}"/>
              </a:ext>
            </a:extLst>
          </p:cNvPr>
          <p:cNvSpPr>
            <a:spLocks xmlns:a="http://schemas.openxmlformats.org/drawingml/2006/main" noGrp="1"/>
          </p:cNvSpPr>
          <p:nvPr/>
        </p:nvSpPr>
        <p:spPr>
          <a:xfrm xmlns:a="http://schemas.openxmlformats.org/drawingml/2006/main">
            <a:off x="609600" y="4133850"/>
            <a:ext cx="10972800" cy="514350"/>
          </a:xfrm>
          <a:prstGeom xmlns:a="http://schemas.openxmlformats.org/drawingml/2006/main" prst="rect">
            <a:avLst/>
          </a:prstGeom>
          <a:solidFill xmlns:a="http://schemas.openxmlformats.org/drawingml/2006/main">
            <a:srgbClr val="F1EBE2"/>
          </a:solidFill>
          <a:ln xmlns:a="http://schemas.openxmlformats.org/drawingml/2006/main" w="0">
            <a:solidFill>
              <a:srgbClr val="000000">
                <a:alpha val="0"/>
              </a:srgbClr>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AB5AA782-5027-4B0A-A828-ECD90A5B6E7C}"/>
              </a:ext>
            </a:extLst>
          </p:cNvPr>
          <p:cNvSpPr>
            <a:spLocks xmlns:a="http://schemas.openxmlformats.org/drawingml/2006/main" noGrp="1"/>
          </p:cNvSpPr>
          <p:nvPr/>
        </p:nvSpPr>
        <p:spPr>
          <a:xfrm xmlns:a="http://schemas.openxmlformats.org/drawingml/2006/main">
            <a:off x="609600" y="4133850"/>
            <a:ext cx="76200" cy="51435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D6434326-D31E-4EFE-8D27-5A865AA9DC73}"/>
              </a:ext>
            </a:extLst>
          </p:cNvPr>
          <p:cNvSpPr>
            <a:spLocks xmlns:a="http://schemas.openxmlformats.org/drawingml/2006/main" noGrp="1"/>
          </p:cNvSpPr>
          <p:nvPr/>
        </p:nvSpPr>
        <p:spPr>
          <a:xfrm xmlns:a="http://schemas.openxmlformats.org/drawingml/2006/main">
            <a:off x="781050" y="4200525"/>
            <a:ext cx="1657350" cy="1619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0" b="1">
                <a:solidFill>
                  <a:srgbClr val="101820"/>
                </a:solidFill>
                <a:latin typeface="Aptos"/>
                <a:ea typeface="Aptos"/>
                <a:cs typeface="Aptos"/>
              </a:defRPr>
            </a:pPr>
            <a:r>
              <a:rPr sz="930" b="1">
                <a:solidFill>
                  <a:srgbClr val="101820"/>
                </a:solidFill>
                <a:latin typeface="Aptos"/>
                <a:ea typeface="Aptos"/>
                <a:cs typeface="Aptos"/>
              </a:rPr>
              <a:t>Agent Rules Applied</a:t>
            </a:r>
          </a:p>
        </p:txBody>
      </p:sp>
      <p:sp>
        <p:nvSpPr>
          <p:cNvPr id="55" name="">
            <a:extLst xmlns:a="http://schemas.openxmlformats.org/drawingml/2006/main">
              <a:ext uri="{FF2B5EF4-FFF2-40B4-BE49-F238E27FC236}">
                <a16:creationId xmlns:a16="http://schemas.microsoft.com/office/drawing/2014/main" id="{91A2B06B-4755-45B6-97A5-41547BD07617}"/>
              </a:ext>
            </a:extLst>
          </p:cNvPr>
          <p:cNvSpPr>
            <a:spLocks xmlns:a="http://schemas.openxmlformats.org/drawingml/2006/main" noGrp="1"/>
          </p:cNvSpPr>
          <p:nvPr/>
        </p:nvSpPr>
        <p:spPr>
          <a:xfrm xmlns:a="http://schemas.openxmlformats.org/drawingml/2006/main">
            <a:off x="781050" y="4410075"/>
            <a:ext cx="16573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D97706"/>
                </a:solidFill>
                <a:latin typeface="Aptos"/>
                <a:ea typeface="Aptos"/>
                <a:cs typeface="Aptos"/>
              </a:defRPr>
            </a:pPr>
            <a:r>
              <a:rPr sz="735" b="1">
                <a:solidFill>
                  <a:srgbClr val="D97706"/>
                </a:solidFill>
                <a:latin typeface="Aptos"/>
                <a:ea typeface="Aptos"/>
                <a:cs typeface="Aptos"/>
              </a:rPr>
              <a:t>Deep Agents Layer</a:t>
            </a:r>
          </a:p>
        </p:txBody>
      </p:sp>
      <p:sp>
        <p:nvSpPr>
          <p:cNvPr id="56" name="">
            <a:extLst xmlns:a="http://schemas.openxmlformats.org/drawingml/2006/main">
              <a:ext uri="{FF2B5EF4-FFF2-40B4-BE49-F238E27FC236}">
                <a16:creationId xmlns:a16="http://schemas.microsoft.com/office/drawing/2014/main" id="{3E5F7564-F912-4FED-90D4-12A9F0658FB1}"/>
              </a:ext>
            </a:extLst>
          </p:cNvPr>
          <p:cNvSpPr>
            <a:spLocks xmlns:a="http://schemas.openxmlformats.org/drawingml/2006/main" noGrp="1"/>
          </p:cNvSpPr>
          <p:nvPr/>
        </p:nvSpPr>
        <p:spPr>
          <a:xfrm xmlns:a="http://schemas.openxmlformats.org/drawingml/2006/main">
            <a:off x="2667000" y="4229100"/>
            <a:ext cx="103251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D97706"/>
            </a:solidFill>
            <a:prstDash val="solid"/>
          </a:ln>
        </p:spPr>
        <p:txBody xmlns:a="http://schemas.openxmlformats.org/drawingml/2006/main">
          <a:bodyPr/>
          <a:p/>
        </p:txBody>
      </p:sp>
      <p:sp>
        <p:nvSpPr>
          <p:cNvPr id="57" name="">
            <a:extLst xmlns:a="http://schemas.openxmlformats.org/drawingml/2006/main">
              <a:ext uri="{FF2B5EF4-FFF2-40B4-BE49-F238E27FC236}">
                <a16:creationId xmlns:a16="http://schemas.microsoft.com/office/drawing/2014/main" id="{DFB5C98E-7CCA-4C07-AAC9-393924D85670}"/>
              </a:ext>
            </a:extLst>
          </p:cNvPr>
          <p:cNvSpPr>
            <a:spLocks xmlns:a="http://schemas.openxmlformats.org/drawingml/2006/main" noGrp="1"/>
          </p:cNvSpPr>
          <p:nvPr/>
        </p:nvSpPr>
        <p:spPr>
          <a:xfrm xmlns:a="http://schemas.openxmlformats.org/drawingml/2006/main">
            <a:off x="2752725" y="4276725"/>
            <a:ext cx="86106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system_prompt</a:t>
            </a:r>
          </a:p>
        </p:txBody>
      </p:sp>
      <p:sp>
        <p:nvSpPr>
          <p:cNvPr id="58" name="">
            <a:extLst xmlns:a="http://schemas.openxmlformats.org/drawingml/2006/main">
              <a:ext uri="{FF2B5EF4-FFF2-40B4-BE49-F238E27FC236}">
                <a16:creationId xmlns:a16="http://schemas.microsoft.com/office/drawing/2014/main" id="{41B38DA0-1DAA-4FE7-BE56-67DF584CA56E}"/>
              </a:ext>
            </a:extLst>
          </p:cNvPr>
          <p:cNvSpPr>
            <a:spLocks xmlns:a="http://schemas.openxmlformats.org/drawingml/2006/main" noGrp="1"/>
          </p:cNvSpPr>
          <p:nvPr/>
        </p:nvSpPr>
        <p:spPr>
          <a:xfrm xmlns:a="http://schemas.openxmlformats.org/drawingml/2006/main">
            <a:off x="7620000" y="4229100"/>
            <a:ext cx="2590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73" b="0">
                <a:solidFill>
                  <a:srgbClr val="334155"/>
                </a:solidFill>
                <a:latin typeface="Aptos"/>
                <a:ea typeface="Aptos"/>
                <a:cs typeface="Aptos"/>
              </a:defRPr>
            </a:pPr>
            <a:r>
              <a:rPr sz="773" b="0">
                <a:solidFill>
                  <a:srgbClr val="334155"/>
                </a:solidFill>
                <a:latin typeface="Aptos"/>
                <a:ea typeface="Aptos"/>
                <a:cs typeface="Aptos"/>
              </a:rPr>
              <a:t>request interpretation now includes system instructions</a:t>
            </a:r>
          </a:p>
        </p:txBody>
      </p:sp>
      <p:sp>
        <p:nvSpPr>
          <p:cNvPr id="59" name="">
            <a:extLst xmlns:a="http://schemas.openxmlformats.org/drawingml/2006/main">
              <a:ext uri="{FF2B5EF4-FFF2-40B4-BE49-F238E27FC236}">
                <a16:creationId xmlns:a16="http://schemas.microsoft.com/office/drawing/2014/main" id="{171B9FBB-30D4-4867-8242-C3C4C8B8BEE4}"/>
              </a:ext>
            </a:extLst>
          </p:cNvPr>
          <p:cNvSpPr>
            <a:spLocks xmlns:a="http://schemas.openxmlformats.org/drawingml/2006/main" noGrp="1"/>
          </p:cNvSpPr>
          <p:nvPr/>
        </p:nvSpPr>
        <p:spPr>
          <a:xfrm xmlns:a="http://schemas.openxmlformats.org/drawingml/2006/main">
            <a:off x="10420350" y="4229100"/>
            <a:ext cx="10668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05" b="1">
                <a:solidFill>
                  <a:srgbClr val="667085"/>
                </a:solidFill>
                <a:latin typeface="Aptos Mono"/>
                <a:ea typeface="Aptos Mono"/>
                <a:cs typeface="Aptos Mono"/>
              </a:defRPr>
            </a:pPr>
            <a:r>
              <a:rPr sz="1005" b="1">
                <a:solidFill>
                  <a:srgbClr val="667085"/>
                </a:solidFill>
                <a:latin typeface="Aptos Mono"/>
                <a:ea typeface="Aptos Mono"/>
                <a:cs typeface="Aptos Mono"/>
              </a:rPr>
              <a:t>0</a:t>
            </a:r>
          </a:p>
        </p:txBody>
      </p:sp>
      <p:sp>
        <p:nvSpPr>
          <p:cNvPr id="60" name="">
            <a:extLst xmlns:a="http://schemas.openxmlformats.org/drawingml/2006/main">
              <a:ext uri="{FF2B5EF4-FFF2-40B4-BE49-F238E27FC236}">
                <a16:creationId xmlns:a16="http://schemas.microsoft.com/office/drawing/2014/main" id="{EB827E48-7E5C-4305-A4A8-7D9C4CD9CDA1}"/>
              </a:ext>
            </a:extLst>
          </p:cNvPr>
          <p:cNvSpPr>
            <a:spLocks xmlns:a="http://schemas.openxmlformats.org/drawingml/2006/main" noGrp="1"/>
          </p:cNvSpPr>
          <p:nvPr/>
        </p:nvSpPr>
        <p:spPr>
          <a:xfrm xmlns:a="http://schemas.openxmlformats.org/drawingml/2006/main">
            <a:off x="10420350" y="4410075"/>
            <a:ext cx="10668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667085"/>
                </a:solidFill>
                <a:latin typeface="Aptos"/>
                <a:ea typeface="Aptos"/>
                <a:cs typeface="Aptos"/>
              </a:defRPr>
            </a:pPr>
            <a:r>
              <a:rPr sz="675" b="0">
                <a:solidFill>
                  <a:srgbClr val="667085"/>
                </a:solidFill>
                <a:latin typeface="Aptos"/>
                <a:ea typeface="Aptos"/>
                <a:cs typeface="Aptos"/>
              </a:rPr>
              <a:t>No payload growth</a:t>
            </a:r>
          </a:p>
        </p:txBody>
      </p:sp>
      <p:sp>
        <p:nvSpPr>
          <p:cNvPr id="61" name="">
            <a:extLst xmlns:a="http://schemas.openxmlformats.org/drawingml/2006/main">
              <a:ext uri="{FF2B5EF4-FFF2-40B4-BE49-F238E27FC236}">
                <a16:creationId xmlns:a16="http://schemas.microsoft.com/office/drawing/2014/main" id="{B1DA0F40-FE8D-4042-9EE2-F19734D8FE2C}"/>
              </a:ext>
            </a:extLst>
          </p:cNvPr>
          <p:cNvSpPr>
            <a:spLocks xmlns:a="http://schemas.openxmlformats.org/drawingml/2006/main" noGrp="1"/>
          </p:cNvSpPr>
          <p:nvPr/>
        </p:nvSpPr>
        <p:spPr>
          <a:xfrm xmlns:a="http://schemas.openxmlformats.org/drawingml/2006/main">
            <a:off x="609600" y="4638675"/>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62" name="">
            <a:extLst xmlns:a="http://schemas.openxmlformats.org/drawingml/2006/main">
              <a:ext uri="{FF2B5EF4-FFF2-40B4-BE49-F238E27FC236}">
                <a16:creationId xmlns:a16="http://schemas.microsoft.com/office/drawing/2014/main" id="{118E4FB5-A784-414D-9292-4F484947DD87}"/>
              </a:ext>
            </a:extLst>
          </p:cNvPr>
          <p:cNvSpPr>
            <a:spLocks xmlns:a="http://schemas.openxmlformats.org/drawingml/2006/main" noGrp="1"/>
          </p:cNvSpPr>
          <p:nvPr/>
        </p:nvSpPr>
        <p:spPr>
          <a:xfrm xmlns:a="http://schemas.openxmlformats.org/drawingml/2006/main">
            <a:off x="609600" y="4648200"/>
            <a:ext cx="10972800" cy="514350"/>
          </a:xfrm>
          <a:prstGeom xmlns:a="http://schemas.openxmlformats.org/drawingml/2006/main" prst="rect">
            <a:avLst/>
          </a:prstGeom>
          <a:solidFill xmlns:a="http://schemas.openxmlformats.org/drawingml/2006/main">
            <a:srgbClr val="FBF8F2"/>
          </a:solidFill>
          <a:ln xmlns:a="http://schemas.openxmlformats.org/drawingml/2006/main" w="0">
            <a:solidFill>
              <a:srgbClr val="000000">
                <a:alpha val="0"/>
              </a:srgbClr>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6D31FD42-4ACF-4157-ADD2-0501D146D404}"/>
              </a:ext>
            </a:extLst>
          </p:cNvPr>
          <p:cNvSpPr>
            <a:spLocks xmlns:a="http://schemas.openxmlformats.org/drawingml/2006/main" noGrp="1"/>
          </p:cNvSpPr>
          <p:nvPr/>
        </p:nvSpPr>
        <p:spPr>
          <a:xfrm xmlns:a="http://schemas.openxmlformats.org/drawingml/2006/main">
            <a:off x="609600" y="4648200"/>
            <a:ext cx="76200" cy="514350"/>
          </a:xfrm>
          <a:prstGeom xmlns:a="http://schemas.openxmlformats.org/drawingml/2006/main" prst="rect">
            <a:avLst/>
          </a:prstGeom>
          <a:solidFill xmlns:a="http://schemas.openxmlformats.org/drawingml/2006/main">
            <a:srgbClr val="0F9F6E"/>
          </a:solidFill>
          <a:ln xmlns:a="http://schemas.openxmlformats.org/drawingml/2006/main" w="0">
            <a:solidFill>
              <a:srgbClr val="000000">
                <a:alpha val="0"/>
              </a:srgbClr>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E22F77D5-F1B1-4B5F-8CB9-08E54510F6E8}"/>
              </a:ext>
            </a:extLst>
          </p:cNvPr>
          <p:cNvSpPr>
            <a:spLocks xmlns:a="http://schemas.openxmlformats.org/drawingml/2006/main" noGrp="1"/>
          </p:cNvSpPr>
          <p:nvPr/>
        </p:nvSpPr>
        <p:spPr>
          <a:xfrm xmlns:a="http://schemas.openxmlformats.org/drawingml/2006/main">
            <a:off x="781050" y="4714875"/>
            <a:ext cx="1657350" cy="1619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0" b="1">
                <a:solidFill>
                  <a:srgbClr val="101820"/>
                </a:solidFill>
                <a:latin typeface="Aptos"/>
                <a:ea typeface="Aptos"/>
                <a:cs typeface="Aptos"/>
              </a:defRPr>
            </a:pPr>
            <a:r>
              <a:rPr sz="930" b="1">
                <a:solidFill>
                  <a:srgbClr val="101820"/>
                </a:solidFill>
                <a:latin typeface="Aptos"/>
                <a:ea typeface="Aptos"/>
                <a:cs typeface="Aptos"/>
              </a:rPr>
              <a:t>Tools Attached</a:t>
            </a:r>
          </a:p>
        </p:txBody>
      </p:sp>
      <p:sp>
        <p:nvSpPr>
          <p:cNvPr id="65" name="">
            <a:extLst xmlns:a="http://schemas.openxmlformats.org/drawingml/2006/main">
              <a:ext uri="{FF2B5EF4-FFF2-40B4-BE49-F238E27FC236}">
                <a16:creationId xmlns:a16="http://schemas.microsoft.com/office/drawing/2014/main" id="{96F18995-7637-4E28-8C19-1B5B463E4DF5}"/>
              </a:ext>
            </a:extLst>
          </p:cNvPr>
          <p:cNvSpPr>
            <a:spLocks xmlns:a="http://schemas.openxmlformats.org/drawingml/2006/main" noGrp="1"/>
          </p:cNvSpPr>
          <p:nvPr/>
        </p:nvSpPr>
        <p:spPr>
          <a:xfrm xmlns:a="http://schemas.openxmlformats.org/drawingml/2006/main">
            <a:off x="781050" y="4924425"/>
            <a:ext cx="16573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0F9F6E"/>
                </a:solidFill>
                <a:latin typeface="Aptos"/>
                <a:ea typeface="Aptos"/>
                <a:cs typeface="Aptos"/>
              </a:defRPr>
            </a:pPr>
            <a:r>
              <a:rPr sz="735" b="1">
                <a:solidFill>
                  <a:srgbClr val="0F9F6E"/>
                </a:solidFill>
                <a:latin typeface="Aptos"/>
                <a:ea typeface="Aptos"/>
                <a:cs typeface="Aptos"/>
              </a:rPr>
              <a:t>Dynamo Runtime Layer</a:t>
            </a:r>
          </a:p>
        </p:txBody>
      </p:sp>
      <p:sp>
        <p:nvSpPr>
          <p:cNvPr id="66" name="">
            <a:extLst xmlns:a="http://schemas.openxmlformats.org/drawingml/2006/main">
              <a:ext uri="{FF2B5EF4-FFF2-40B4-BE49-F238E27FC236}">
                <a16:creationId xmlns:a16="http://schemas.microsoft.com/office/drawing/2014/main" id="{0687480C-DFA9-4155-AD48-9749C4C985CE}"/>
              </a:ext>
            </a:extLst>
          </p:cNvPr>
          <p:cNvSpPr>
            <a:spLocks xmlns:a="http://schemas.openxmlformats.org/drawingml/2006/main" noGrp="1"/>
          </p:cNvSpPr>
          <p:nvPr/>
        </p:nvSpPr>
        <p:spPr>
          <a:xfrm xmlns:a="http://schemas.openxmlformats.org/drawingml/2006/main">
            <a:off x="2667000" y="4743450"/>
            <a:ext cx="161544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0F9F6E"/>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65893884-FE60-45CD-8F96-72825B7DF876}"/>
              </a:ext>
            </a:extLst>
          </p:cNvPr>
          <p:cNvSpPr>
            <a:spLocks xmlns:a="http://schemas.openxmlformats.org/drawingml/2006/main" noGrp="1"/>
          </p:cNvSpPr>
          <p:nvPr/>
        </p:nvSpPr>
        <p:spPr>
          <a:xfrm xmlns:a="http://schemas.openxmlformats.org/drawingml/2006/main">
            <a:off x="2752725" y="4791075"/>
            <a:ext cx="144399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expected_builtin_tools</a:t>
            </a:r>
          </a:p>
        </p:txBody>
      </p:sp>
      <p:sp>
        <p:nvSpPr>
          <p:cNvPr id="68" name="">
            <a:extLst xmlns:a="http://schemas.openxmlformats.org/drawingml/2006/main">
              <a:ext uri="{FF2B5EF4-FFF2-40B4-BE49-F238E27FC236}">
                <a16:creationId xmlns:a16="http://schemas.microsoft.com/office/drawing/2014/main" id="{AED7CD97-87EF-4138-84C7-38FB5369D86F}"/>
              </a:ext>
            </a:extLst>
          </p:cNvPr>
          <p:cNvSpPr>
            <a:spLocks xmlns:a="http://schemas.openxmlformats.org/drawingml/2006/main" noGrp="1"/>
          </p:cNvSpPr>
          <p:nvPr/>
        </p:nvSpPr>
        <p:spPr>
          <a:xfrm xmlns:a="http://schemas.openxmlformats.org/drawingml/2006/main">
            <a:off x="4339590" y="4743450"/>
            <a:ext cx="161544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0F9F6E"/>
            </a:solidFill>
            <a:prstDash val="solid"/>
          </a:ln>
        </p:spPr>
        <p:txBody xmlns:a="http://schemas.openxmlformats.org/drawingml/2006/main">
          <a:bodyPr/>
          <a:p/>
        </p:txBody>
      </p:sp>
      <p:sp>
        <p:nvSpPr>
          <p:cNvPr id="69" name="">
            <a:extLst xmlns:a="http://schemas.openxmlformats.org/drawingml/2006/main">
              <a:ext uri="{FF2B5EF4-FFF2-40B4-BE49-F238E27FC236}">
                <a16:creationId xmlns:a16="http://schemas.microsoft.com/office/drawing/2014/main" id="{6FF51E53-6463-463D-9BD8-7B1D7E860755}"/>
              </a:ext>
            </a:extLst>
          </p:cNvPr>
          <p:cNvSpPr>
            <a:spLocks xmlns:a="http://schemas.openxmlformats.org/drawingml/2006/main" noGrp="1"/>
          </p:cNvSpPr>
          <p:nvPr/>
        </p:nvSpPr>
        <p:spPr>
          <a:xfrm xmlns:a="http://schemas.openxmlformats.org/drawingml/2006/main">
            <a:off x="4425315" y="4791075"/>
            <a:ext cx="144399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tool_parser_names_seen</a:t>
            </a:r>
          </a:p>
        </p:txBody>
      </p:sp>
      <p:sp>
        <p:nvSpPr>
          <p:cNvPr id="70" name="">
            <a:extLst xmlns:a="http://schemas.openxmlformats.org/drawingml/2006/main">
              <a:ext uri="{FF2B5EF4-FFF2-40B4-BE49-F238E27FC236}">
                <a16:creationId xmlns:a16="http://schemas.microsoft.com/office/drawing/2014/main" id="{B19A0ABE-4D74-4E24-93C8-2F654F332F49}"/>
              </a:ext>
            </a:extLst>
          </p:cNvPr>
          <p:cNvSpPr>
            <a:spLocks xmlns:a="http://schemas.openxmlformats.org/drawingml/2006/main" noGrp="1"/>
          </p:cNvSpPr>
          <p:nvPr/>
        </p:nvSpPr>
        <p:spPr>
          <a:xfrm xmlns:a="http://schemas.openxmlformats.org/drawingml/2006/main">
            <a:off x="6012180" y="4743450"/>
            <a:ext cx="64389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0F9F6E"/>
            </a:solidFill>
            <a:prstDash val="solid"/>
          </a:ln>
        </p:spPr>
        <p:txBody xmlns:a="http://schemas.openxmlformats.org/drawingml/2006/main">
          <a:bodyPr/>
          <a:p/>
        </p:txBody>
      </p:sp>
      <p:sp>
        <p:nvSpPr>
          <p:cNvPr id="71" name="">
            <a:extLst xmlns:a="http://schemas.openxmlformats.org/drawingml/2006/main">
              <a:ext uri="{FF2B5EF4-FFF2-40B4-BE49-F238E27FC236}">
                <a16:creationId xmlns:a16="http://schemas.microsoft.com/office/drawing/2014/main" id="{001D2C4E-CD2B-4C95-850D-2463DAA0F339}"/>
              </a:ext>
            </a:extLst>
          </p:cNvPr>
          <p:cNvSpPr>
            <a:spLocks xmlns:a="http://schemas.openxmlformats.org/drawingml/2006/main" noGrp="1"/>
          </p:cNvSpPr>
          <p:nvPr/>
        </p:nvSpPr>
        <p:spPr>
          <a:xfrm xmlns:a="http://schemas.openxmlformats.org/drawingml/2006/main">
            <a:off x="6097905" y="4791075"/>
            <a:ext cx="47244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+1 more</a:t>
            </a:r>
          </a:p>
        </p:txBody>
      </p:sp>
      <p:sp>
        <p:nvSpPr>
          <p:cNvPr id="72" name="">
            <a:extLst xmlns:a="http://schemas.openxmlformats.org/drawingml/2006/main">
              <a:ext uri="{FF2B5EF4-FFF2-40B4-BE49-F238E27FC236}">
                <a16:creationId xmlns:a16="http://schemas.microsoft.com/office/drawing/2014/main" id="{D53B49E4-8E2A-405D-8EBF-549E3AC183C5}"/>
              </a:ext>
            </a:extLst>
          </p:cNvPr>
          <p:cNvSpPr>
            <a:spLocks xmlns:a="http://schemas.openxmlformats.org/drawingml/2006/main" noGrp="1"/>
          </p:cNvSpPr>
          <p:nvPr/>
        </p:nvSpPr>
        <p:spPr>
          <a:xfrm xmlns:a="http://schemas.openxmlformats.org/drawingml/2006/main">
            <a:off x="7620000" y="4743450"/>
            <a:ext cx="2590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73" b="0">
                <a:solidFill>
                  <a:srgbClr val="334155"/>
                </a:solidFill>
                <a:latin typeface="Aptos"/>
                <a:ea typeface="Aptos"/>
                <a:cs typeface="Aptos"/>
              </a:defRPr>
            </a:pPr>
            <a:r>
              <a:rPr sz="773" b="0">
                <a:solidFill>
                  <a:srgbClr val="334155"/>
                </a:solidFill>
                <a:latin typeface="Aptos"/>
                <a:ea typeface="Aptos"/>
                <a:cs typeface="Aptos"/>
              </a:rPr>
              <a:t>runtime view now includes tool surface and parser metadata</a:t>
            </a:r>
          </a:p>
        </p:txBody>
      </p:sp>
      <p:sp>
        <p:nvSpPr>
          <p:cNvPr id="73" name="">
            <a:extLst xmlns:a="http://schemas.openxmlformats.org/drawingml/2006/main">
              <a:ext uri="{FF2B5EF4-FFF2-40B4-BE49-F238E27FC236}">
                <a16:creationId xmlns:a16="http://schemas.microsoft.com/office/drawing/2014/main" id="{51AC7527-D4A5-4930-B6E0-8111DDFF5367}"/>
              </a:ext>
            </a:extLst>
          </p:cNvPr>
          <p:cNvSpPr>
            <a:spLocks xmlns:a="http://schemas.openxmlformats.org/drawingml/2006/main" noGrp="1"/>
          </p:cNvSpPr>
          <p:nvPr/>
        </p:nvSpPr>
        <p:spPr>
          <a:xfrm xmlns:a="http://schemas.openxmlformats.org/drawingml/2006/main">
            <a:off x="10420350" y="4743450"/>
            <a:ext cx="10668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05" b="1">
                <a:solidFill>
                  <a:srgbClr val="667085"/>
                </a:solidFill>
                <a:latin typeface="Aptos Mono"/>
                <a:ea typeface="Aptos Mono"/>
                <a:cs typeface="Aptos Mono"/>
              </a:defRPr>
            </a:pPr>
            <a:r>
              <a:rPr sz="1005" b="1">
                <a:solidFill>
                  <a:srgbClr val="667085"/>
                </a:solidFill>
                <a:latin typeface="Aptos Mono"/>
                <a:ea typeface="Aptos Mono"/>
                <a:cs typeface="Aptos Mono"/>
              </a:rPr>
              <a:t>0</a:t>
            </a:r>
          </a:p>
        </p:txBody>
      </p:sp>
      <p:sp>
        <p:nvSpPr>
          <p:cNvPr id="74" name="">
            <a:extLst xmlns:a="http://schemas.openxmlformats.org/drawingml/2006/main">
              <a:ext uri="{FF2B5EF4-FFF2-40B4-BE49-F238E27FC236}">
                <a16:creationId xmlns:a16="http://schemas.microsoft.com/office/drawing/2014/main" id="{B1EBD797-988E-4E01-AF30-CBC13F6A8464}"/>
              </a:ext>
            </a:extLst>
          </p:cNvPr>
          <p:cNvSpPr>
            <a:spLocks xmlns:a="http://schemas.openxmlformats.org/drawingml/2006/main" noGrp="1"/>
          </p:cNvSpPr>
          <p:nvPr/>
        </p:nvSpPr>
        <p:spPr>
          <a:xfrm xmlns:a="http://schemas.openxmlformats.org/drawingml/2006/main">
            <a:off x="10420350" y="4924425"/>
            <a:ext cx="10668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667085"/>
                </a:solidFill>
                <a:latin typeface="Aptos"/>
                <a:ea typeface="Aptos"/>
                <a:cs typeface="Aptos"/>
              </a:defRPr>
            </a:pPr>
            <a:r>
              <a:rPr sz="675" b="0">
                <a:solidFill>
                  <a:srgbClr val="667085"/>
                </a:solidFill>
                <a:latin typeface="Aptos"/>
                <a:ea typeface="Aptos"/>
                <a:cs typeface="Aptos"/>
              </a:rPr>
              <a:t>No payload growth</a:t>
            </a:r>
          </a:p>
        </p:txBody>
      </p:sp>
      <p:sp>
        <p:nvSpPr>
          <p:cNvPr id="75" name="">
            <a:extLst xmlns:a="http://schemas.openxmlformats.org/drawingml/2006/main">
              <a:ext uri="{FF2B5EF4-FFF2-40B4-BE49-F238E27FC236}">
                <a16:creationId xmlns:a16="http://schemas.microsoft.com/office/drawing/2014/main" id="{8D74A570-2892-4745-8C67-3733B403BB24}"/>
              </a:ext>
            </a:extLst>
          </p:cNvPr>
          <p:cNvSpPr>
            <a:spLocks xmlns:a="http://schemas.openxmlformats.org/drawingml/2006/main" noGrp="1"/>
          </p:cNvSpPr>
          <p:nvPr/>
        </p:nvSpPr>
        <p:spPr>
          <a:xfrm xmlns:a="http://schemas.openxmlformats.org/drawingml/2006/main">
            <a:off x="609600" y="5153025"/>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2B0D9C04-86E2-445F-A6AD-801551BC6E8B}"/>
              </a:ext>
            </a:extLst>
          </p:cNvPr>
          <p:cNvSpPr>
            <a:spLocks xmlns:a="http://schemas.openxmlformats.org/drawingml/2006/main" noGrp="1"/>
          </p:cNvSpPr>
          <p:nvPr/>
        </p:nvSpPr>
        <p:spPr>
          <a:xfrm xmlns:a="http://schemas.openxmlformats.org/drawingml/2006/main">
            <a:off x="609600" y="5162550"/>
            <a:ext cx="10972800" cy="514350"/>
          </a:xfrm>
          <a:prstGeom xmlns:a="http://schemas.openxmlformats.org/drawingml/2006/main" prst="rect">
            <a:avLst/>
          </a:prstGeom>
          <a:solidFill xmlns:a="http://schemas.openxmlformats.org/drawingml/2006/main">
            <a:srgbClr val="F1EBE2"/>
          </a:solidFill>
          <a:ln xmlns:a="http://schemas.openxmlformats.org/drawingml/2006/main" w="0">
            <a:solidFill>
              <a:srgbClr val="000000">
                <a:alpha val="0"/>
              </a:srgbClr>
            </a:solidFill>
            <a:prstDash val="solid"/>
          </a:ln>
        </p:spPr>
        <p:txBody xmlns:a="http://schemas.openxmlformats.org/drawingml/2006/main">
          <a:bodyPr/>
          <a:p/>
        </p:txBody>
      </p:sp>
      <p:sp>
        <p:nvSpPr>
          <p:cNvPr id="77" name="">
            <a:extLst xmlns:a="http://schemas.openxmlformats.org/drawingml/2006/main">
              <a:ext uri="{FF2B5EF4-FFF2-40B4-BE49-F238E27FC236}">
                <a16:creationId xmlns:a16="http://schemas.microsoft.com/office/drawing/2014/main" id="{1007C850-255B-44E7-B6A4-6582391E250A}"/>
              </a:ext>
            </a:extLst>
          </p:cNvPr>
          <p:cNvSpPr>
            <a:spLocks xmlns:a="http://schemas.openxmlformats.org/drawingml/2006/main" noGrp="1"/>
          </p:cNvSpPr>
          <p:nvPr/>
        </p:nvSpPr>
        <p:spPr>
          <a:xfrm xmlns:a="http://schemas.openxmlformats.org/drawingml/2006/main">
            <a:off x="609600" y="5162550"/>
            <a:ext cx="76200" cy="514350"/>
          </a:xfrm>
          <a:prstGeom xmlns:a="http://schemas.openxmlformats.org/drawingml/2006/main" prst="rect">
            <a:avLst/>
          </a:prstGeom>
          <a:solidFill xmlns:a="http://schemas.openxmlformats.org/drawingml/2006/main">
            <a:srgbClr val="0F9F6E"/>
          </a:solidFill>
          <a:ln xmlns:a="http://schemas.openxmlformats.org/drawingml/2006/main" w="0">
            <a:solidFill>
              <a:srgbClr val="000000">
                <a:alpha val="0"/>
              </a:srgbClr>
            </a:solidFill>
            <a:prstDash val="solid"/>
          </a:ln>
        </p:spPr>
        <p:txBody xmlns:a="http://schemas.openxmlformats.org/drawingml/2006/main">
          <a:bodyPr/>
          <a:p/>
        </p:txBody>
      </p:sp>
      <p:sp>
        <p:nvSpPr>
          <p:cNvPr id="78" name="">
            <a:extLst xmlns:a="http://schemas.openxmlformats.org/drawingml/2006/main">
              <a:ext uri="{FF2B5EF4-FFF2-40B4-BE49-F238E27FC236}">
                <a16:creationId xmlns:a16="http://schemas.microsoft.com/office/drawing/2014/main" id="{38184A89-1BDC-4B16-87E8-C1160D256C60}"/>
              </a:ext>
            </a:extLst>
          </p:cNvPr>
          <p:cNvSpPr>
            <a:spLocks xmlns:a="http://schemas.openxmlformats.org/drawingml/2006/main" noGrp="1"/>
          </p:cNvSpPr>
          <p:nvPr/>
        </p:nvSpPr>
        <p:spPr>
          <a:xfrm xmlns:a="http://schemas.openxmlformats.org/drawingml/2006/main">
            <a:off x="781050" y="5229225"/>
            <a:ext cx="1657350" cy="1619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0" b="1">
                <a:solidFill>
                  <a:srgbClr val="101820"/>
                </a:solidFill>
                <a:latin typeface="Aptos"/>
                <a:ea typeface="Aptos"/>
                <a:cs typeface="Aptos"/>
              </a:defRPr>
            </a:pPr>
            <a:r>
              <a:rPr sz="930" b="1">
                <a:solidFill>
                  <a:srgbClr val="101820"/>
                </a:solidFill>
                <a:latin typeface="Aptos"/>
                <a:ea typeface="Aptos"/>
                <a:cs typeface="Aptos"/>
              </a:rPr>
              <a:t>Runtime Prepared</a:t>
            </a:r>
          </a:p>
        </p:txBody>
      </p:sp>
      <p:sp>
        <p:nvSpPr>
          <p:cNvPr id="79" name="">
            <a:extLst xmlns:a="http://schemas.openxmlformats.org/drawingml/2006/main">
              <a:ext uri="{FF2B5EF4-FFF2-40B4-BE49-F238E27FC236}">
                <a16:creationId xmlns:a16="http://schemas.microsoft.com/office/drawing/2014/main" id="{524E3372-3C2C-4DC9-8524-9A1248100DB4}"/>
              </a:ext>
            </a:extLst>
          </p:cNvPr>
          <p:cNvSpPr>
            <a:spLocks xmlns:a="http://schemas.openxmlformats.org/drawingml/2006/main" noGrp="1"/>
          </p:cNvSpPr>
          <p:nvPr/>
        </p:nvSpPr>
        <p:spPr>
          <a:xfrm xmlns:a="http://schemas.openxmlformats.org/drawingml/2006/main">
            <a:off x="781050" y="5438775"/>
            <a:ext cx="16573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0F9F6E"/>
                </a:solidFill>
                <a:latin typeface="Aptos"/>
                <a:ea typeface="Aptos"/>
                <a:cs typeface="Aptos"/>
              </a:defRPr>
            </a:pPr>
            <a:r>
              <a:rPr sz="735" b="1">
                <a:solidFill>
                  <a:srgbClr val="0F9F6E"/>
                </a:solidFill>
                <a:latin typeface="Aptos"/>
                <a:ea typeface="Aptos"/>
                <a:cs typeface="Aptos"/>
              </a:rPr>
              <a:t>Dynamo Runtime Layer</a:t>
            </a:r>
          </a:p>
        </p:txBody>
      </p:sp>
      <p:sp>
        <p:nvSpPr>
          <p:cNvPr id="80" name="">
            <a:extLst xmlns:a="http://schemas.openxmlformats.org/drawingml/2006/main">
              <a:ext uri="{FF2B5EF4-FFF2-40B4-BE49-F238E27FC236}">
                <a16:creationId xmlns:a16="http://schemas.microsoft.com/office/drawing/2014/main" id="{5571C712-9EC0-4E28-A691-6A6DD7982893}"/>
              </a:ext>
            </a:extLst>
          </p:cNvPr>
          <p:cNvSpPr>
            <a:spLocks xmlns:a="http://schemas.openxmlformats.org/drawingml/2006/main" noGrp="1"/>
          </p:cNvSpPr>
          <p:nvPr/>
        </p:nvSpPr>
        <p:spPr>
          <a:xfrm xmlns:a="http://schemas.openxmlformats.org/drawingml/2006/main">
            <a:off x="2667000" y="5257800"/>
            <a:ext cx="103251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0F9F6E"/>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D76BCBC3-367A-4670-9013-DF51FF627526}"/>
              </a:ext>
            </a:extLst>
          </p:cNvPr>
          <p:cNvSpPr>
            <a:spLocks xmlns:a="http://schemas.openxmlformats.org/drawingml/2006/main" noGrp="1"/>
          </p:cNvSpPr>
          <p:nvPr/>
        </p:nvSpPr>
        <p:spPr>
          <a:xfrm xmlns:a="http://schemas.openxmlformats.org/drawingml/2006/main">
            <a:off x="2752725" y="5305425"/>
            <a:ext cx="86106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prompt_tokens</a:t>
            </a:r>
          </a:p>
        </p:txBody>
      </p:sp>
      <p:sp>
        <p:nvSpPr>
          <p:cNvPr id="82" name="">
            <a:extLst xmlns:a="http://schemas.openxmlformats.org/drawingml/2006/main">
              <a:ext uri="{FF2B5EF4-FFF2-40B4-BE49-F238E27FC236}">
                <a16:creationId xmlns:a16="http://schemas.microsoft.com/office/drawing/2014/main" id="{E7574E0E-D123-449B-BD6A-D0EA2C369FB0}"/>
              </a:ext>
            </a:extLst>
          </p:cNvPr>
          <p:cNvSpPr>
            <a:spLocks xmlns:a="http://schemas.openxmlformats.org/drawingml/2006/main" noGrp="1"/>
          </p:cNvSpPr>
          <p:nvPr/>
        </p:nvSpPr>
        <p:spPr>
          <a:xfrm xmlns:a="http://schemas.openxmlformats.org/drawingml/2006/main">
            <a:off x="3756660" y="5257800"/>
            <a:ext cx="148590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0F9F6E"/>
            </a:solidFill>
            <a:prstDash val="solid"/>
          </a:ln>
        </p:spPr>
        <p:txBody xmlns:a="http://schemas.openxmlformats.org/drawingml/2006/main">
          <a:bodyPr/>
          <a:p/>
        </p:txBody>
      </p:sp>
      <p:sp>
        <p:nvSpPr>
          <p:cNvPr id="83" name="">
            <a:extLst xmlns:a="http://schemas.openxmlformats.org/drawingml/2006/main">
              <a:ext uri="{FF2B5EF4-FFF2-40B4-BE49-F238E27FC236}">
                <a16:creationId xmlns:a16="http://schemas.microsoft.com/office/drawing/2014/main" id="{F5B00B10-06BE-4C47-B468-BFADFA32C405}"/>
              </a:ext>
            </a:extLst>
          </p:cNvPr>
          <p:cNvSpPr>
            <a:spLocks xmlns:a="http://schemas.openxmlformats.org/drawingml/2006/main" noGrp="1"/>
          </p:cNvSpPr>
          <p:nvPr/>
        </p:nvSpPr>
        <p:spPr>
          <a:xfrm xmlns:a="http://schemas.openxmlformats.org/drawingml/2006/main">
            <a:off x="3842385" y="5305425"/>
            <a:ext cx="131445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cached_prompt_tokens</a:t>
            </a:r>
          </a:p>
        </p:txBody>
      </p:sp>
      <p:sp>
        <p:nvSpPr>
          <p:cNvPr id="84" name="">
            <a:extLst xmlns:a="http://schemas.openxmlformats.org/drawingml/2006/main">
              <a:ext uri="{FF2B5EF4-FFF2-40B4-BE49-F238E27FC236}">
                <a16:creationId xmlns:a16="http://schemas.microsoft.com/office/drawing/2014/main" id="{ABEE8781-AD82-4B4C-BFD8-E4564245A3EF}"/>
              </a:ext>
            </a:extLst>
          </p:cNvPr>
          <p:cNvSpPr>
            <a:spLocks xmlns:a="http://schemas.openxmlformats.org/drawingml/2006/main" noGrp="1"/>
          </p:cNvSpPr>
          <p:nvPr/>
        </p:nvSpPr>
        <p:spPr>
          <a:xfrm xmlns:a="http://schemas.openxmlformats.org/drawingml/2006/main">
            <a:off x="5299710" y="5257800"/>
            <a:ext cx="64389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0F9F6E"/>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78AC7D38-C66D-4D1C-A1AC-DEEDE50F18FE}"/>
              </a:ext>
            </a:extLst>
          </p:cNvPr>
          <p:cNvSpPr>
            <a:spLocks xmlns:a="http://schemas.openxmlformats.org/drawingml/2006/main" noGrp="1"/>
          </p:cNvSpPr>
          <p:nvPr/>
        </p:nvSpPr>
        <p:spPr>
          <a:xfrm xmlns:a="http://schemas.openxmlformats.org/drawingml/2006/main">
            <a:off x="5385435" y="5305425"/>
            <a:ext cx="47244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+1 more</a:t>
            </a:r>
          </a:p>
        </p:txBody>
      </p:sp>
      <p:sp>
        <p:nvSpPr>
          <p:cNvPr id="86" name="">
            <a:extLst xmlns:a="http://schemas.openxmlformats.org/drawingml/2006/main">
              <a:ext uri="{FF2B5EF4-FFF2-40B4-BE49-F238E27FC236}">
                <a16:creationId xmlns:a16="http://schemas.microsoft.com/office/drawing/2014/main" id="{28B401A5-8F7C-43EC-AF53-A3C25F54B4C9}"/>
              </a:ext>
            </a:extLst>
          </p:cNvPr>
          <p:cNvSpPr>
            <a:spLocks xmlns:a="http://schemas.openxmlformats.org/drawingml/2006/main" noGrp="1"/>
          </p:cNvSpPr>
          <p:nvPr/>
        </p:nvSpPr>
        <p:spPr>
          <a:xfrm xmlns:a="http://schemas.openxmlformats.org/drawingml/2006/main">
            <a:off x="7620000" y="5257800"/>
            <a:ext cx="2590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73" b="0">
                <a:solidFill>
                  <a:srgbClr val="334155"/>
                </a:solidFill>
                <a:latin typeface="Aptos"/>
                <a:ea typeface="Aptos"/>
                <a:cs typeface="Aptos"/>
              </a:defRPr>
            </a:pPr>
            <a:r>
              <a:rPr sz="773" b="0">
                <a:solidFill>
                  <a:srgbClr val="334155"/>
                </a:solidFill>
                <a:latin typeface="Aptos"/>
                <a:ea typeface="Aptos"/>
                <a:cs typeface="Aptos"/>
              </a:rPr>
              <a:t>request now carries observed runtime preprocessing metrics</a:t>
            </a:r>
          </a:p>
        </p:txBody>
      </p:sp>
      <p:sp>
        <p:nvSpPr>
          <p:cNvPr id="87" name="">
            <a:extLst xmlns:a="http://schemas.openxmlformats.org/drawingml/2006/main">
              <a:ext uri="{FF2B5EF4-FFF2-40B4-BE49-F238E27FC236}">
                <a16:creationId xmlns:a16="http://schemas.microsoft.com/office/drawing/2014/main" id="{07F14313-5F9B-4D5B-B33B-2871C1934B9A}"/>
              </a:ext>
            </a:extLst>
          </p:cNvPr>
          <p:cNvSpPr>
            <a:spLocks xmlns:a="http://schemas.openxmlformats.org/drawingml/2006/main" noGrp="1"/>
          </p:cNvSpPr>
          <p:nvPr/>
        </p:nvSpPr>
        <p:spPr>
          <a:xfrm xmlns:a="http://schemas.openxmlformats.org/drawingml/2006/main">
            <a:off x="10420350" y="5257800"/>
            <a:ext cx="10668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05" b="1">
                <a:solidFill>
                  <a:srgbClr val="667085"/>
                </a:solidFill>
                <a:latin typeface="Aptos Mono"/>
                <a:ea typeface="Aptos Mono"/>
                <a:cs typeface="Aptos Mono"/>
              </a:defRPr>
            </a:pPr>
            <a:r>
              <a:rPr sz="1005" b="1">
                <a:solidFill>
                  <a:srgbClr val="667085"/>
                </a:solidFill>
                <a:latin typeface="Aptos Mono"/>
                <a:ea typeface="Aptos Mono"/>
                <a:cs typeface="Aptos Mono"/>
              </a:rPr>
              <a:t>0</a:t>
            </a:r>
          </a:p>
        </p:txBody>
      </p:sp>
      <p:sp>
        <p:nvSpPr>
          <p:cNvPr id="88" name="">
            <a:extLst xmlns:a="http://schemas.openxmlformats.org/drawingml/2006/main">
              <a:ext uri="{FF2B5EF4-FFF2-40B4-BE49-F238E27FC236}">
                <a16:creationId xmlns:a16="http://schemas.microsoft.com/office/drawing/2014/main" id="{8DA57794-5F3A-4841-B18A-2BE3C6F4C669}"/>
              </a:ext>
            </a:extLst>
          </p:cNvPr>
          <p:cNvSpPr>
            <a:spLocks xmlns:a="http://schemas.openxmlformats.org/drawingml/2006/main" noGrp="1"/>
          </p:cNvSpPr>
          <p:nvPr/>
        </p:nvSpPr>
        <p:spPr>
          <a:xfrm xmlns:a="http://schemas.openxmlformats.org/drawingml/2006/main">
            <a:off x="10420350" y="5438775"/>
            <a:ext cx="10668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667085"/>
                </a:solidFill>
                <a:latin typeface="Aptos"/>
                <a:ea typeface="Aptos"/>
                <a:cs typeface="Aptos"/>
              </a:defRPr>
            </a:pPr>
            <a:r>
              <a:rPr sz="675" b="0">
                <a:solidFill>
                  <a:srgbClr val="667085"/>
                </a:solidFill>
                <a:latin typeface="Aptos"/>
                <a:ea typeface="Aptos"/>
                <a:cs typeface="Aptos"/>
              </a:rPr>
              <a:t>No payload growth</a:t>
            </a:r>
          </a:p>
        </p:txBody>
      </p:sp>
      <p:sp>
        <p:nvSpPr>
          <p:cNvPr id="89" name="">
            <a:extLst xmlns:a="http://schemas.openxmlformats.org/drawingml/2006/main">
              <a:ext uri="{FF2B5EF4-FFF2-40B4-BE49-F238E27FC236}">
                <a16:creationId xmlns:a16="http://schemas.microsoft.com/office/drawing/2014/main" id="{9AB5AC82-9C5A-4F17-BA4B-A66594493051}"/>
              </a:ext>
            </a:extLst>
          </p:cNvPr>
          <p:cNvSpPr>
            <a:spLocks xmlns:a="http://schemas.openxmlformats.org/drawingml/2006/main" noGrp="1"/>
          </p:cNvSpPr>
          <p:nvPr/>
        </p:nvSpPr>
        <p:spPr>
          <a:xfrm xmlns:a="http://schemas.openxmlformats.org/drawingml/2006/main">
            <a:off x="609600" y="5667375"/>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959B285D-2ECA-4555-A511-E415FC515C7B}"/>
              </a:ext>
            </a:extLst>
          </p:cNvPr>
          <p:cNvSpPr>
            <a:spLocks xmlns:a="http://schemas.openxmlformats.org/drawingml/2006/main" noGrp="1"/>
          </p:cNvSpPr>
          <p:nvPr/>
        </p:nvSpPr>
        <p:spPr>
          <a:xfrm xmlns:a="http://schemas.openxmlformats.org/drawingml/2006/main">
            <a:off x="609600" y="5676900"/>
            <a:ext cx="10972800" cy="514350"/>
          </a:xfrm>
          <a:prstGeom xmlns:a="http://schemas.openxmlformats.org/drawingml/2006/main" prst="rect">
            <a:avLst/>
          </a:prstGeom>
          <a:solidFill xmlns:a="http://schemas.openxmlformats.org/drawingml/2006/main">
            <a:srgbClr val="FBF8F2"/>
          </a:solidFill>
          <a:ln xmlns:a="http://schemas.openxmlformats.org/drawingml/2006/main" w="0">
            <a:solidFill>
              <a:srgbClr val="000000">
                <a:alpha val="0"/>
              </a:srgbClr>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8106C792-58FE-4AA7-8C8A-F63118C114D5}"/>
              </a:ext>
            </a:extLst>
          </p:cNvPr>
          <p:cNvSpPr>
            <a:spLocks xmlns:a="http://schemas.openxmlformats.org/drawingml/2006/main" noGrp="1"/>
          </p:cNvSpPr>
          <p:nvPr/>
        </p:nvSpPr>
        <p:spPr>
          <a:xfrm xmlns:a="http://schemas.openxmlformats.org/drawingml/2006/main">
            <a:off x="609600" y="5676900"/>
            <a:ext cx="76200" cy="514350"/>
          </a:xfrm>
          <a:prstGeom xmlns:a="http://schemas.openxmlformats.org/drawingml/2006/main" prst="rect">
            <a:avLst/>
          </a:prstGeom>
          <a:solidFill xmlns:a="http://schemas.openxmlformats.org/drawingml/2006/main">
            <a:srgbClr val="BE123C"/>
          </a:solidFill>
          <a:ln xmlns:a="http://schemas.openxmlformats.org/drawingml/2006/main" w="0">
            <a:solidFill>
              <a:srgbClr val="000000">
                <a:alpha val="0"/>
              </a:srgbClr>
            </a:solidFill>
            <a:prstDash val="solid"/>
          </a:ln>
        </p:spPr>
        <p:txBody xmlns:a="http://schemas.openxmlformats.org/drawingml/2006/main">
          <a:bodyPr/>
          <a:p/>
        </p:txBody>
      </p:sp>
      <p:sp>
        <p:nvSpPr>
          <p:cNvPr id="92" name="">
            <a:extLst xmlns:a="http://schemas.openxmlformats.org/drawingml/2006/main">
              <a:ext uri="{FF2B5EF4-FFF2-40B4-BE49-F238E27FC236}">
                <a16:creationId xmlns:a16="http://schemas.microsoft.com/office/drawing/2014/main" id="{AA185714-B282-4F09-AFA1-8A38023EB11F}"/>
              </a:ext>
            </a:extLst>
          </p:cNvPr>
          <p:cNvSpPr>
            <a:spLocks xmlns:a="http://schemas.openxmlformats.org/drawingml/2006/main" noGrp="1"/>
          </p:cNvSpPr>
          <p:nvPr/>
        </p:nvSpPr>
        <p:spPr>
          <a:xfrm xmlns:a="http://schemas.openxmlformats.org/drawingml/2006/main">
            <a:off x="781050" y="5743575"/>
            <a:ext cx="1657350" cy="1619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0" b="1">
                <a:solidFill>
                  <a:srgbClr val="101820"/>
                </a:solidFill>
                <a:latin typeface="Aptos"/>
                <a:ea typeface="Aptos"/>
                <a:cs typeface="Aptos"/>
              </a:defRPr>
            </a:pPr>
            <a:r>
              <a:rPr sz="930" b="1">
                <a:solidFill>
                  <a:srgbClr val="101820"/>
                </a:solidFill>
                <a:latin typeface="Aptos"/>
                <a:ea typeface="Aptos"/>
                <a:cs typeface="Aptos"/>
              </a:rPr>
              <a:t>Behavior Recorded</a:t>
            </a:r>
          </a:p>
        </p:txBody>
      </p:sp>
      <p:sp>
        <p:nvSpPr>
          <p:cNvPr id="93" name="">
            <a:extLst xmlns:a="http://schemas.openxmlformats.org/drawingml/2006/main">
              <a:ext uri="{FF2B5EF4-FFF2-40B4-BE49-F238E27FC236}">
                <a16:creationId xmlns:a16="http://schemas.microsoft.com/office/drawing/2014/main" id="{D1044BCA-CC2A-4F47-A607-04813337B2B3}"/>
              </a:ext>
            </a:extLst>
          </p:cNvPr>
          <p:cNvSpPr>
            <a:spLocks xmlns:a="http://schemas.openxmlformats.org/drawingml/2006/main" noGrp="1"/>
          </p:cNvSpPr>
          <p:nvPr/>
        </p:nvSpPr>
        <p:spPr>
          <a:xfrm xmlns:a="http://schemas.openxmlformats.org/drawingml/2006/main">
            <a:off x="781050" y="5953125"/>
            <a:ext cx="16573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BE123C"/>
                </a:solidFill>
                <a:latin typeface="Aptos"/>
                <a:ea typeface="Aptos"/>
                <a:cs typeface="Aptos"/>
              </a:defRPr>
            </a:pPr>
            <a:r>
              <a:rPr sz="735" b="1">
                <a:solidFill>
                  <a:srgbClr val="BE123C"/>
                </a:solidFill>
                <a:latin typeface="Aptos"/>
                <a:ea typeface="Aptos"/>
                <a:cs typeface="Aptos"/>
              </a:rPr>
              <a:t>Deep Agents Layer</a:t>
            </a:r>
          </a:p>
        </p:txBody>
      </p:sp>
      <p:sp>
        <p:nvSpPr>
          <p:cNvPr id="94" name="">
            <a:extLst xmlns:a="http://schemas.openxmlformats.org/drawingml/2006/main">
              <a:ext uri="{FF2B5EF4-FFF2-40B4-BE49-F238E27FC236}">
                <a16:creationId xmlns:a16="http://schemas.microsoft.com/office/drawing/2014/main" id="{E543A90E-6B52-49DD-A0AC-49385ED1441B}"/>
              </a:ext>
            </a:extLst>
          </p:cNvPr>
          <p:cNvSpPr>
            <a:spLocks xmlns:a="http://schemas.openxmlformats.org/drawingml/2006/main" noGrp="1"/>
          </p:cNvSpPr>
          <p:nvPr/>
        </p:nvSpPr>
        <p:spPr>
          <a:xfrm xmlns:a="http://schemas.openxmlformats.org/drawingml/2006/main">
            <a:off x="2667000" y="5772150"/>
            <a:ext cx="174498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BE123C"/>
            </a:solidFill>
            <a:prstDash val="solid"/>
          </a:ln>
        </p:spPr>
        <p:txBody xmlns:a="http://schemas.openxmlformats.org/drawingml/2006/main">
          <a:bodyPr/>
          <a:p/>
        </p:txBody>
      </p:sp>
      <p:sp>
        <p:nvSpPr>
          <p:cNvPr id="95" name="">
            <a:extLst xmlns:a="http://schemas.openxmlformats.org/drawingml/2006/main">
              <a:ext uri="{FF2B5EF4-FFF2-40B4-BE49-F238E27FC236}">
                <a16:creationId xmlns:a16="http://schemas.microsoft.com/office/drawing/2014/main" id="{664EB2A7-0CB1-4DE1-83DA-ECFF070BFA08}"/>
              </a:ext>
            </a:extLst>
          </p:cNvPr>
          <p:cNvSpPr>
            <a:spLocks xmlns:a="http://schemas.openxmlformats.org/drawingml/2006/main" noGrp="1"/>
          </p:cNvSpPr>
          <p:nvPr/>
        </p:nvSpPr>
        <p:spPr>
          <a:xfrm xmlns:a="http://schemas.openxmlformats.org/drawingml/2006/main">
            <a:off x="2752725" y="5819775"/>
            <a:ext cx="157353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observed_tool_call_names</a:t>
            </a:r>
          </a:p>
        </p:txBody>
      </p:sp>
      <p:sp>
        <p:nvSpPr>
          <p:cNvPr id="96" name="">
            <a:extLst xmlns:a="http://schemas.openxmlformats.org/drawingml/2006/main">
              <a:ext uri="{FF2B5EF4-FFF2-40B4-BE49-F238E27FC236}">
                <a16:creationId xmlns:a16="http://schemas.microsoft.com/office/drawing/2014/main" id="{3014298E-688C-4353-BFF0-8E8A0A84EAA2}"/>
              </a:ext>
            </a:extLst>
          </p:cNvPr>
          <p:cNvSpPr>
            <a:spLocks xmlns:a="http://schemas.openxmlformats.org/drawingml/2006/main" noGrp="1"/>
          </p:cNvSpPr>
          <p:nvPr/>
        </p:nvSpPr>
        <p:spPr>
          <a:xfrm xmlns:a="http://schemas.openxmlformats.org/drawingml/2006/main">
            <a:off x="4469130" y="5772150"/>
            <a:ext cx="186690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BE123C"/>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8689E39A-681D-439A-B05C-4B48887ED9AB}"/>
              </a:ext>
            </a:extLst>
          </p:cNvPr>
          <p:cNvSpPr>
            <a:spLocks xmlns:a="http://schemas.openxmlformats.org/drawingml/2006/main" noGrp="1"/>
          </p:cNvSpPr>
          <p:nvPr/>
        </p:nvSpPr>
        <p:spPr>
          <a:xfrm xmlns:a="http://schemas.openxmlformats.org/drawingml/2006/main">
            <a:off x="4554855" y="5819775"/>
            <a:ext cx="169545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observed_tool_result_names</a:t>
            </a:r>
          </a:p>
        </p:txBody>
      </p:sp>
      <p:sp>
        <p:nvSpPr>
          <p:cNvPr id="98" name="">
            <a:extLst xmlns:a="http://schemas.openxmlformats.org/drawingml/2006/main">
              <a:ext uri="{FF2B5EF4-FFF2-40B4-BE49-F238E27FC236}">
                <a16:creationId xmlns:a16="http://schemas.microsoft.com/office/drawing/2014/main" id="{A7418A5A-1400-4952-9E4A-1E8443298091}"/>
              </a:ext>
            </a:extLst>
          </p:cNvPr>
          <p:cNvSpPr>
            <a:spLocks xmlns:a="http://schemas.openxmlformats.org/drawingml/2006/main" noGrp="1"/>
          </p:cNvSpPr>
          <p:nvPr/>
        </p:nvSpPr>
        <p:spPr>
          <a:xfrm xmlns:a="http://schemas.openxmlformats.org/drawingml/2006/main">
            <a:off x="6393180" y="5772150"/>
            <a:ext cx="643890" cy="209550"/>
          </a:xfrm>
          <a:prstGeom xmlns:a="http://schemas.openxmlformats.org/drawingml/2006/main" prst="rect">
            <a:avLst/>
          </a:prstGeom>
          <a:solidFill xmlns:a="http://schemas.openxmlformats.org/drawingml/2006/main">
            <a:srgbClr val="FFFFFF"/>
          </a:solidFill>
          <a:ln xmlns:a="http://schemas.openxmlformats.org/drawingml/2006/main" w="11430">
            <a:solidFill>
              <a:srgbClr val="BE123C"/>
            </a:solidFill>
            <a:prstDash val="solid"/>
          </a:ln>
        </p:spPr>
        <p:txBody xmlns:a="http://schemas.openxmlformats.org/drawingml/2006/main">
          <a:bodyPr/>
          <a:p/>
        </p:txBody>
      </p:sp>
      <p:sp>
        <p:nvSpPr>
          <p:cNvPr id="99" name="">
            <a:extLst xmlns:a="http://schemas.openxmlformats.org/drawingml/2006/main">
              <a:ext uri="{FF2B5EF4-FFF2-40B4-BE49-F238E27FC236}">
                <a16:creationId xmlns:a16="http://schemas.microsoft.com/office/drawing/2014/main" id="{528F581C-1DC0-48D3-9D55-6731F0D1FB99}"/>
              </a:ext>
            </a:extLst>
          </p:cNvPr>
          <p:cNvSpPr>
            <a:spLocks xmlns:a="http://schemas.openxmlformats.org/drawingml/2006/main" noGrp="1"/>
          </p:cNvSpPr>
          <p:nvPr/>
        </p:nvSpPr>
        <p:spPr>
          <a:xfrm xmlns:a="http://schemas.openxmlformats.org/drawingml/2006/main">
            <a:off x="6478905" y="5819775"/>
            <a:ext cx="472440" cy="1047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82" b="1">
                <a:solidFill>
                  <a:srgbClr val="334155"/>
                </a:solidFill>
                <a:latin typeface="Aptos"/>
                <a:ea typeface="Aptos"/>
                <a:cs typeface="Aptos"/>
              </a:defRPr>
            </a:pPr>
            <a:r>
              <a:rPr sz="682" b="1">
                <a:solidFill>
                  <a:srgbClr val="334155"/>
                </a:solidFill>
                <a:latin typeface="Aptos"/>
                <a:ea typeface="Aptos"/>
                <a:cs typeface="Aptos"/>
              </a:rPr>
              <a:t>+3 more</a:t>
            </a:r>
          </a:p>
        </p:txBody>
      </p:sp>
      <p:sp>
        <p:nvSpPr>
          <p:cNvPr id="100" name="">
            <a:extLst xmlns:a="http://schemas.openxmlformats.org/drawingml/2006/main">
              <a:ext uri="{FF2B5EF4-FFF2-40B4-BE49-F238E27FC236}">
                <a16:creationId xmlns:a16="http://schemas.microsoft.com/office/drawing/2014/main" id="{254C866D-2A35-4669-82DA-048103375DDC}"/>
              </a:ext>
            </a:extLst>
          </p:cNvPr>
          <p:cNvSpPr>
            <a:spLocks xmlns:a="http://schemas.openxmlformats.org/drawingml/2006/main" noGrp="1"/>
          </p:cNvSpPr>
          <p:nvPr/>
        </p:nvSpPr>
        <p:spPr>
          <a:xfrm xmlns:a="http://schemas.openxmlformats.org/drawingml/2006/main">
            <a:off x="7620000" y="5772150"/>
            <a:ext cx="2590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73" b="0">
                <a:solidFill>
                  <a:srgbClr val="334155"/>
                </a:solidFill>
                <a:latin typeface="Aptos"/>
                <a:ea typeface="Aptos"/>
                <a:cs typeface="Aptos"/>
              </a:defRPr>
            </a:pPr>
            <a:r>
              <a:rPr sz="773" b="0">
                <a:solidFill>
                  <a:srgbClr val="334155"/>
                </a:solidFill>
                <a:latin typeface="Aptos"/>
                <a:ea typeface="Aptos"/>
                <a:cs typeface="Aptos"/>
              </a:rPr>
              <a:t>request state -&gt; response and outcome state</a:t>
            </a:r>
          </a:p>
        </p:txBody>
      </p:sp>
      <p:sp>
        <p:nvSpPr>
          <p:cNvPr id="101" name="">
            <a:extLst xmlns:a="http://schemas.openxmlformats.org/drawingml/2006/main">
              <a:ext uri="{FF2B5EF4-FFF2-40B4-BE49-F238E27FC236}">
                <a16:creationId xmlns:a16="http://schemas.microsoft.com/office/drawing/2014/main" id="{252635A6-CB89-4ABF-9A42-D1636C08163B}"/>
              </a:ext>
            </a:extLst>
          </p:cNvPr>
          <p:cNvSpPr>
            <a:spLocks xmlns:a="http://schemas.openxmlformats.org/drawingml/2006/main" noGrp="1"/>
          </p:cNvSpPr>
          <p:nvPr/>
        </p:nvSpPr>
        <p:spPr>
          <a:xfrm xmlns:a="http://schemas.openxmlformats.org/drawingml/2006/main">
            <a:off x="10420350" y="5772150"/>
            <a:ext cx="10668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05" b="1">
                <a:solidFill>
                  <a:srgbClr val="BE123C"/>
                </a:solidFill>
                <a:latin typeface="Aptos Mono"/>
                <a:ea typeface="Aptos Mono"/>
                <a:cs typeface="Aptos Mono"/>
              </a:defRPr>
            </a:pPr>
            <a:r>
              <a:rPr sz="1005" b="1">
                <a:solidFill>
                  <a:srgbClr val="BE123C"/>
                </a:solidFill>
                <a:latin typeface="Aptos Mono"/>
                <a:ea typeface="Aptos Mono"/>
                <a:cs typeface="Aptos Mono"/>
              </a:rPr>
              <a:t>+2,066</a:t>
            </a:r>
          </a:p>
        </p:txBody>
      </p:sp>
      <p:sp>
        <p:nvSpPr>
          <p:cNvPr id="102" name="">
            <a:extLst xmlns:a="http://schemas.openxmlformats.org/drawingml/2006/main">
              <a:ext uri="{FF2B5EF4-FFF2-40B4-BE49-F238E27FC236}">
                <a16:creationId xmlns:a16="http://schemas.microsoft.com/office/drawing/2014/main" id="{ED2E33EF-EC3C-48A3-9638-35659C29A6A3}"/>
              </a:ext>
            </a:extLst>
          </p:cNvPr>
          <p:cNvSpPr>
            <a:spLocks xmlns:a="http://schemas.openxmlformats.org/drawingml/2006/main" noGrp="1"/>
          </p:cNvSpPr>
          <p:nvPr/>
        </p:nvSpPr>
        <p:spPr>
          <a:xfrm xmlns:a="http://schemas.openxmlformats.org/drawingml/2006/main">
            <a:off x="10420350" y="5953125"/>
            <a:ext cx="10668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667085"/>
                </a:solidFill>
                <a:latin typeface="Aptos"/>
                <a:ea typeface="Aptos"/>
                <a:cs typeface="Aptos"/>
              </a:defRPr>
            </a:pPr>
            <a:r>
              <a:rPr sz="675" b="0">
                <a:solidFill>
                  <a:srgbClr val="667085"/>
                </a:solidFill>
                <a:latin typeface="Aptos"/>
                <a:ea typeface="Aptos"/>
                <a:cs typeface="Aptos"/>
              </a:rPr>
              <a:t>Output record grew</a:t>
            </a:r>
          </a:p>
        </p:txBody>
      </p:sp>
      <p:sp>
        <p:nvSpPr>
          <p:cNvPr id="103" name="">
            <a:extLst xmlns:a="http://schemas.openxmlformats.org/drawingml/2006/main">
              <a:ext uri="{FF2B5EF4-FFF2-40B4-BE49-F238E27FC236}">
                <a16:creationId xmlns:a16="http://schemas.microsoft.com/office/drawing/2014/main" id="{F7367036-6157-4F40-AFEF-750B6965C1FA}"/>
              </a:ext>
            </a:extLst>
          </p:cNvPr>
          <p:cNvSpPr>
            <a:spLocks xmlns:a="http://schemas.openxmlformats.org/drawingml/2006/main" noGrp="1"/>
          </p:cNvSpPr>
          <p:nvPr/>
        </p:nvSpPr>
        <p:spPr>
          <a:xfrm xmlns:a="http://schemas.openxmlformats.org/drawingml/2006/main">
            <a:off x="609600" y="6181725"/>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6430CB38-238D-4C99-A58F-9192A9228330}"/>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D1C8"/>
          </a:solidFill>
          <a:ln xmlns:a="http://schemas.openxmlformats.org/drawingml/2006/main" w="0">
            <a:solidFill>
              <a:srgbClr val="000000">
                <a:alpha val="0"/>
              </a:srgbClr>
            </a:solidFill>
            <a:prstDash val="solid"/>
          </a:ln>
        </p:spPr>
        <p:txBody xmlns:a="http://schemas.openxmlformats.org/drawingml/2006/main">
          <a:bodyPr/>
          <a:p/>
        </p:txBody>
      </p:sp>
      <p:sp>
        <p:nvSpPr>
          <p:cNvPr id="105" name="">
            <a:extLst xmlns:a="http://schemas.openxmlformats.org/drawingml/2006/main">
              <a:ext uri="{FF2B5EF4-FFF2-40B4-BE49-F238E27FC236}">
                <a16:creationId xmlns:a16="http://schemas.microsoft.com/office/drawing/2014/main" id="{276FF085-95E6-4756-9B61-551AD365B3EC}"/>
              </a:ext>
            </a:extLst>
          </p:cNvPr>
          <p:cNvSpPr>
            <a:spLocks xmlns:a="http://schemas.openxmlformats.org/drawingml/2006/main" noGrp="1"/>
          </p:cNvSpPr>
          <p:nvPr/>
        </p:nvSpPr>
        <p:spPr>
          <a:xfrm xmlns:a="http://schemas.openxmlformats.org/drawingml/2006/main">
            <a:off x="609600" y="6477000"/>
            <a:ext cx="3238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667085"/>
                </a:solidFill>
                <a:latin typeface="Aptos"/>
                <a:ea typeface="Aptos"/>
                <a:cs typeface="Aptos"/>
              </a:defRPr>
            </a:pPr>
            <a:r>
              <a:rPr sz="825" b="1">
                <a:solidFill>
                  <a:srgbClr val="667085"/>
                </a:solidFill>
                <a:latin typeface="Aptos"/>
                <a:ea typeface="Aptos"/>
                <a:cs typeface="Aptos"/>
              </a:rPr>
              <a:t>PROMPT EVOLUTION</a:t>
            </a:r>
          </a:p>
        </p:txBody>
      </p:sp>
      <p:sp>
        <p:nvSpPr>
          <p:cNvPr id="106" name="">
            <a:extLst xmlns:a="http://schemas.openxmlformats.org/drawingml/2006/main">
              <a:ext uri="{FF2B5EF4-FFF2-40B4-BE49-F238E27FC236}">
                <a16:creationId xmlns:a16="http://schemas.microsoft.com/office/drawing/2014/main" id="{70344681-D314-48AF-9C40-D584BAB81B55}"/>
              </a:ext>
            </a:extLst>
          </p:cNvPr>
          <p:cNvSpPr>
            <a:spLocks xmlns:a="http://schemas.openxmlformats.org/drawingml/2006/main" noGrp="1"/>
          </p:cNvSpPr>
          <p:nvPr/>
        </p:nvSpPr>
        <p:spPr>
          <a:xfrm xmlns:a="http://schemas.openxmlformats.org/drawingml/2006/main">
            <a:off x="11087100" y="6477000"/>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1">
                <a:solidFill>
                  <a:srgbClr val="334155"/>
                </a:solidFill>
              </a:rPr>
              <a:t>13</a:t>
            </a:r>
          </a:p>
        </p:txBody>
      </p:sp>
    </p:spTree>
    <p:extLst>
      <p:ext uri="{BB962C8B-B14F-4D97-AF65-F5344CB8AC3E}">
        <p14:creationId xmlns:p14="http://schemas.microsoft.com/office/powerpoint/2010/main" val="209158192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8C25783-100F-4C9B-83B2-29E0744041B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7A3FDAE-209A-4DAC-A15A-75C6AFB916F1}"/>
              </a:ext>
            </a:extLst>
          </p:cNvPr>
          <p:cNvSpPr>
            <a:spLocks xmlns:a="http://schemas.openxmlformats.org/drawingml/2006/main" noGrp="1"/>
          </p:cNvSpPr>
          <p:nvPr/>
        </p:nvSpPr>
        <p:spPr>
          <a:xfrm xmlns:a="http://schemas.openxmlformats.org/drawingml/2006/main">
            <a:off x="609600" y="495300"/>
            <a:ext cx="76200" cy="228600"/>
          </a:xfrm>
          <a:prstGeom xmlns:a="http://schemas.openxmlformats.org/drawingml/2006/main" prst="rect">
            <a:avLst/>
          </a:prstGeom>
          <a:solidFill xmlns:a="http://schemas.openxmlformats.org/drawingml/2006/main">
            <a:srgbClr val="6D28D9"/>
          </a:solidFill>
          <a:ln xmlns:a="http://schemas.openxmlformats.org/drawingml/2006/main" w="0">
            <a:solidFill>
              <a:srgbClr val="000000">
                <a:alpha val="0"/>
              </a:srgbClr>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BB04D302-6F31-4AE5-ADF6-F45953652656}"/>
              </a:ext>
            </a:extLst>
          </p:cNvPr>
          <p:cNvSpPr>
            <a:spLocks xmlns:a="http://schemas.openxmlformats.org/drawingml/2006/main" noGrp="1"/>
          </p:cNvSpPr>
          <p:nvPr/>
        </p:nvSpPr>
        <p:spPr>
          <a:xfrm xmlns:a="http://schemas.openxmlformats.org/drawingml/2006/main">
            <a:off x="800100" y="4953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67085"/>
                </a:solidFill>
                <a:latin typeface="Aptos"/>
                <a:ea typeface="Aptos"/>
                <a:cs typeface="Aptos"/>
              </a:defRPr>
            </a:pPr>
            <a:r>
              <a:rPr sz="900" b="1">
                <a:solidFill>
                  <a:srgbClr val="667085"/>
                </a:solidFill>
                <a:latin typeface="Aptos"/>
                <a:ea typeface="Aptos"/>
                <a:cs typeface="Aptos"/>
              </a:rPr>
              <a:t>EVIDENCE SUMMARY</a:t>
            </a:r>
          </a:p>
        </p:txBody>
      </p:sp>
      <p:sp>
        <p:nvSpPr>
          <p:cNvPr id="4" name="">
            <a:extLst xmlns:a="http://schemas.openxmlformats.org/drawingml/2006/main">
              <a:ext uri="{FF2B5EF4-FFF2-40B4-BE49-F238E27FC236}">
                <a16:creationId xmlns:a16="http://schemas.microsoft.com/office/drawing/2014/main" id="{3DAA7791-03AB-4CEE-BEB3-1464F6DFB815}"/>
              </a:ext>
            </a:extLst>
          </p:cNvPr>
          <p:cNvSpPr>
            <a:spLocks xmlns:a="http://schemas.openxmlformats.org/drawingml/2006/main" noGrp="1"/>
          </p:cNvSpPr>
          <p:nvPr/>
        </p:nvSpPr>
        <p:spPr>
          <a:xfrm xmlns:a="http://schemas.openxmlformats.org/drawingml/2006/main">
            <a:off x="609600" y="819150"/>
            <a:ext cx="100965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01820"/>
                </a:solidFill>
                <a:latin typeface="Aptos Display"/>
                <a:ea typeface="Aptos Display"/>
                <a:cs typeface="Aptos Display"/>
              </a:defRPr>
            </a:pPr>
            <a:r>
              <a:rPr sz="2850" b="1">
                <a:solidFill>
                  <a:srgbClr val="101820"/>
                </a:solidFill>
                <a:latin typeface="Aptos Display"/>
                <a:ea typeface="Aptos Display"/>
                <a:cs typeface="Aptos Display"/>
              </a:rPr>
              <a:t>Each stage leaves a short proof trail executives can inspect.</a:t>
            </a:r>
          </a:p>
        </p:txBody>
      </p:sp>
      <p:sp>
        <p:nvSpPr>
          <p:cNvPr id="5" name="">
            <a:extLst xmlns:a="http://schemas.openxmlformats.org/drawingml/2006/main">
              <a:ext uri="{FF2B5EF4-FFF2-40B4-BE49-F238E27FC236}">
                <a16:creationId xmlns:a16="http://schemas.microsoft.com/office/drawing/2014/main" id="{6404870B-E1E8-4EEB-8FC6-F44972F38B0A}"/>
              </a:ext>
            </a:extLst>
          </p:cNvPr>
          <p:cNvSpPr>
            <a:spLocks xmlns:a="http://schemas.openxmlformats.org/drawingml/2006/main" noGrp="1"/>
          </p:cNvSpPr>
          <p:nvPr/>
        </p:nvSpPr>
        <p:spPr>
          <a:xfrm xmlns:a="http://schemas.openxmlformats.org/drawingml/2006/main">
            <a:off x="609600" y="1847850"/>
            <a:ext cx="32766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DAD4CB"/>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57BD66F-CCE0-48F7-B828-6EBAC0757365}"/>
              </a:ext>
            </a:extLst>
          </p:cNvPr>
          <p:cNvSpPr>
            <a:spLocks xmlns:a="http://schemas.openxmlformats.org/drawingml/2006/main" noGrp="1"/>
          </p:cNvSpPr>
          <p:nvPr/>
        </p:nvSpPr>
        <p:spPr>
          <a:xfrm xmlns:a="http://schemas.openxmlformats.org/drawingml/2006/main">
            <a:off x="781050" y="1981200"/>
            <a:ext cx="29337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2563EB"/>
                </a:solidFill>
                <a:latin typeface="Aptos Display"/>
                <a:ea typeface="Aptos Display"/>
                <a:cs typeface="Aptos Display"/>
              </a:defRPr>
            </a:pPr>
            <a:r>
              <a:rPr sz="2250" b="1">
                <a:solidFill>
                  <a:srgbClr val="2563EB"/>
                </a:solidFill>
                <a:latin typeface="Aptos Display"/>
                <a:ea typeface="Aptos Display"/>
                <a:cs typeface="Aptos Display"/>
              </a:rPr>
              <a:t>+5,576</a:t>
            </a:r>
          </a:p>
        </p:txBody>
      </p:sp>
      <p:sp>
        <p:nvSpPr>
          <p:cNvPr id="7" name="">
            <a:extLst xmlns:a="http://schemas.openxmlformats.org/drawingml/2006/main">
              <a:ext uri="{FF2B5EF4-FFF2-40B4-BE49-F238E27FC236}">
                <a16:creationId xmlns:a16="http://schemas.microsoft.com/office/drawing/2014/main" id="{4A8CDE57-B044-4A7A-9750-36EF21DBADA8}"/>
              </a:ext>
            </a:extLst>
          </p:cNvPr>
          <p:cNvSpPr>
            <a:spLocks xmlns:a="http://schemas.openxmlformats.org/drawingml/2006/main" noGrp="1"/>
          </p:cNvSpPr>
          <p:nvPr/>
        </p:nvSpPr>
        <p:spPr>
          <a:xfrm xmlns:a="http://schemas.openxmlformats.org/drawingml/2006/main">
            <a:off x="781050" y="2362200"/>
            <a:ext cx="2933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wrap="square"/>
          <a:lstStyle xmlns:a="http://schemas.openxmlformats.org/drawingml/2006/main"/>
          <a:p xmlns:a="http://schemas.openxmlformats.org/drawingml/2006/main">
            <a:pPr algn="l">
              <a:defRPr sz="990" b="1">
                <a:solidFill>
                  <a:srgbClr val="334155"/>
                </a:solidFill>
                <a:latin typeface="Aptos"/>
                <a:ea typeface="Aptos"/>
                <a:cs typeface="Aptos"/>
              </a:defRPr>
            </a:pPr>
            <a:r>
              <a:rPr sz="870" b="1">
                <a:solidFill>
                  <a:srgbClr val="334155"/>
                </a:solidFill>
                <a:latin typeface="Aptos"/>
                <a:ea typeface="Aptos"/>
                <a:cs typeface="Aptos"/>
              </a:rPr>
              <a:t>Prompt Builder (local helper script)</a:t>
            </a:r>
          </a:p>
        </p:txBody>
      </p:sp>
      <p:sp>
        <p:nvSpPr>
          <p:cNvPr id="8" name="">
            <a:extLst xmlns:a="http://schemas.openxmlformats.org/drawingml/2006/main">
              <a:ext uri="{FF2B5EF4-FFF2-40B4-BE49-F238E27FC236}">
                <a16:creationId xmlns:a16="http://schemas.microsoft.com/office/drawing/2014/main" id="{06113357-2B59-44BF-917C-5958F4325B48}"/>
              </a:ext>
            </a:extLst>
          </p:cNvPr>
          <p:cNvSpPr>
            <a:spLocks xmlns:a="http://schemas.openxmlformats.org/drawingml/2006/main" noGrp="1"/>
          </p:cNvSpPr>
          <p:nvPr/>
        </p:nvSpPr>
        <p:spPr>
          <a:xfrm xmlns:a="http://schemas.openxmlformats.org/drawingml/2006/main">
            <a:off x="781050" y="2571750"/>
            <a:ext cx="29337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67085"/>
                </a:solidFill>
                <a:latin typeface="Aptos"/>
                <a:ea typeface="Aptos"/>
                <a:cs typeface="Aptos"/>
              </a:defRPr>
            </a:pPr>
            <a:r>
              <a:rPr sz="863" b="0">
                <a:solidFill>
                  <a:srgbClr val="667085"/>
                </a:solidFill>
                <a:latin typeface="Aptos"/>
                <a:ea typeface="Aptos"/>
                <a:cs typeface="Aptos"/>
              </a:rPr>
              <a:t>largest growth: raw task becomes prompt</a:t>
            </a:r>
          </a:p>
        </p:txBody>
      </p:sp>
      <p:sp>
        <p:nvSpPr>
          <p:cNvPr id="9" name="">
            <a:extLst xmlns:a="http://schemas.openxmlformats.org/drawingml/2006/main">
              <a:ext uri="{FF2B5EF4-FFF2-40B4-BE49-F238E27FC236}">
                <a16:creationId xmlns:a16="http://schemas.microsoft.com/office/drawing/2014/main" id="{16CFC89E-BC5D-46F2-A11F-B4F2215AE6AC}"/>
              </a:ext>
            </a:extLst>
          </p:cNvPr>
          <p:cNvSpPr>
            <a:spLocks xmlns:a="http://schemas.openxmlformats.org/drawingml/2006/main" noGrp="1"/>
          </p:cNvSpPr>
          <p:nvPr/>
        </p:nvSpPr>
        <p:spPr>
          <a:xfrm xmlns:a="http://schemas.openxmlformats.org/drawingml/2006/main">
            <a:off x="4457700" y="1847850"/>
            <a:ext cx="32766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DAD4CB"/>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41F12E41-BDED-4526-8B36-4C56E0DB6FCE}"/>
              </a:ext>
            </a:extLst>
          </p:cNvPr>
          <p:cNvSpPr>
            <a:spLocks xmlns:a="http://schemas.openxmlformats.org/drawingml/2006/main" noGrp="1"/>
          </p:cNvSpPr>
          <p:nvPr/>
        </p:nvSpPr>
        <p:spPr>
          <a:xfrm xmlns:a="http://schemas.openxmlformats.org/drawingml/2006/main">
            <a:off x="4629150" y="1981200"/>
            <a:ext cx="29337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F9F6E"/>
                </a:solidFill>
                <a:latin typeface="Aptos Display"/>
                <a:ea typeface="Aptos Display"/>
                <a:cs typeface="Aptos Display"/>
              </a:defRPr>
            </a:pPr>
            <a:r>
              <a:rPr sz="2250" b="1">
                <a:solidFill>
                  <a:srgbClr val="0F9F6E"/>
                </a:solidFill>
                <a:latin typeface="Aptos Display"/>
                <a:ea typeface="Aptos Display"/>
                <a:cs typeface="Aptos Display"/>
              </a:rPr>
              <a:t>0</a:t>
            </a:r>
          </a:p>
        </p:txBody>
      </p:sp>
      <p:sp>
        <p:nvSpPr>
          <p:cNvPr id="11" name="">
            <a:extLst xmlns:a="http://schemas.openxmlformats.org/drawingml/2006/main">
              <a:ext uri="{FF2B5EF4-FFF2-40B4-BE49-F238E27FC236}">
                <a16:creationId xmlns:a16="http://schemas.microsoft.com/office/drawing/2014/main" id="{BF6F6062-1404-4EF0-8BAB-006447B3E262}"/>
              </a:ext>
            </a:extLst>
          </p:cNvPr>
          <p:cNvSpPr>
            <a:spLocks xmlns:a="http://schemas.openxmlformats.org/drawingml/2006/main" noGrp="1"/>
          </p:cNvSpPr>
          <p:nvPr/>
        </p:nvSpPr>
        <p:spPr>
          <a:xfrm xmlns:a="http://schemas.openxmlformats.org/drawingml/2006/main">
            <a:off x="4629150" y="2362200"/>
            <a:ext cx="2933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90" b="1">
                <a:solidFill>
                  <a:srgbClr val="334155"/>
                </a:solidFill>
                <a:latin typeface="Aptos"/>
                <a:ea typeface="Aptos"/>
                <a:cs typeface="Aptos"/>
              </a:defRPr>
            </a:pPr>
            <a:r>
              <a:rPr sz="990" b="1">
                <a:solidFill>
                  <a:srgbClr val="334155"/>
                </a:solidFill>
                <a:latin typeface="Aptos"/>
                <a:ea typeface="Aptos"/>
                <a:cs typeface="Aptos"/>
              </a:rPr>
              <a:t>Runtime Preparation</a:t>
            </a:r>
          </a:p>
        </p:txBody>
      </p:sp>
      <p:sp>
        <p:nvSpPr>
          <p:cNvPr id="12" name="">
            <a:extLst xmlns:a="http://schemas.openxmlformats.org/drawingml/2006/main">
              <a:ext uri="{FF2B5EF4-FFF2-40B4-BE49-F238E27FC236}">
                <a16:creationId xmlns:a16="http://schemas.microsoft.com/office/drawing/2014/main" id="{5F415100-7ECA-4F62-8B11-2FD6C57FF550}"/>
              </a:ext>
            </a:extLst>
          </p:cNvPr>
          <p:cNvSpPr>
            <a:spLocks xmlns:a="http://schemas.openxmlformats.org/drawingml/2006/main" noGrp="1"/>
          </p:cNvSpPr>
          <p:nvPr/>
        </p:nvSpPr>
        <p:spPr>
          <a:xfrm xmlns:a="http://schemas.openxmlformats.org/drawingml/2006/main">
            <a:off x="4629150" y="2571750"/>
            <a:ext cx="29337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67085"/>
                </a:solidFill>
                <a:latin typeface="Aptos"/>
                <a:ea typeface="Aptos"/>
                <a:cs typeface="Aptos"/>
              </a:defRPr>
            </a:pPr>
            <a:r>
              <a:rPr sz="863" b="0">
                <a:solidFill>
                  <a:srgbClr val="667085"/>
                </a:solidFill>
                <a:latin typeface="Aptos"/>
                <a:ea typeface="Aptos"/>
                <a:cs typeface="Aptos"/>
              </a:rPr>
              <a:t>same request, more runtime evidence</a:t>
            </a:r>
          </a:p>
        </p:txBody>
      </p:sp>
      <p:sp>
        <p:nvSpPr>
          <p:cNvPr id="13" name="">
            <a:extLst xmlns:a="http://schemas.openxmlformats.org/drawingml/2006/main">
              <a:ext uri="{FF2B5EF4-FFF2-40B4-BE49-F238E27FC236}">
                <a16:creationId xmlns:a16="http://schemas.microsoft.com/office/drawing/2014/main" id="{798105C2-623B-410E-B361-D6B8BB36E7E6}"/>
              </a:ext>
            </a:extLst>
          </p:cNvPr>
          <p:cNvSpPr>
            <a:spLocks xmlns:a="http://schemas.openxmlformats.org/drawingml/2006/main" noGrp="1"/>
          </p:cNvSpPr>
          <p:nvPr/>
        </p:nvSpPr>
        <p:spPr>
          <a:xfrm xmlns:a="http://schemas.openxmlformats.org/drawingml/2006/main">
            <a:off x="8305800" y="1847850"/>
            <a:ext cx="32766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DAD4CB"/>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551AC4E3-135B-471B-9A49-059914B8042E}"/>
              </a:ext>
            </a:extLst>
          </p:cNvPr>
          <p:cNvSpPr>
            <a:spLocks xmlns:a="http://schemas.openxmlformats.org/drawingml/2006/main" noGrp="1"/>
          </p:cNvSpPr>
          <p:nvPr/>
        </p:nvSpPr>
        <p:spPr>
          <a:xfrm xmlns:a="http://schemas.openxmlformats.org/drawingml/2006/main">
            <a:off x="8477250" y="1981200"/>
            <a:ext cx="29337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BE123C"/>
                </a:solidFill>
                <a:latin typeface="Aptos Display"/>
                <a:ea typeface="Aptos Display"/>
                <a:cs typeface="Aptos Display"/>
              </a:defRPr>
            </a:pPr>
            <a:r>
              <a:rPr sz="2250" b="1">
                <a:solidFill>
                  <a:srgbClr val="BE123C"/>
                </a:solidFill>
                <a:latin typeface="Aptos Display"/>
                <a:ea typeface="Aptos Display"/>
                <a:cs typeface="Aptos Display"/>
              </a:rPr>
              <a:t>+2,066</a:t>
            </a:r>
          </a:p>
        </p:txBody>
      </p:sp>
      <p:sp>
        <p:nvSpPr>
          <p:cNvPr id="15" name="">
            <a:extLst xmlns:a="http://schemas.openxmlformats.org/drawingml/2006/main">
              <a:ext uri="{FF2B5EF4-FFF2-40B4-BE49-F238E27FC236}">
                <a16:creationId xmlns:a16="http://schemas.microsoft.com/office/drawing/2014/main" id="{F959A322-321E-4566-BD5E-ACA32DBBE252}"/>
              </a:ext>
            </a:extLst>
          </p:cNvPr>
          <p:cNvSpPr>
            <a:spLocks xmlns:a="http://schemas.openxmlformats.org/drawingml/2006/main" noGrp="1"/>
          </p:cNvSpPr>
          <p:nvPr/>
        </p:nvSpPr>
        <p:spPr>
          <a:xfrm xmlns:a="http://schemas.openxmlformats.org/drawingml/2006/main">
            <a:off x="8477250" y="2362200"/>
            <a:ext cx="2933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90" b="1">
                <a:solidFill>
                  <a:srgbClr val="334155"/>
                </a:solidFill>
                <a:latin typeface="Aptos"/>
                <a:ea typeface="Aptos"/>
                <a:cs typeface="Aptos"/>
              </a:defRPr>
            </a:pPr>
            <a:r>
              <a:rPr sz="990" b="1">
                <a:solidFill>
                  <a:srgbClr val="334155"/>
                </a:solidFill>
                <a:latin typeface="Aptos"/>
                <a:ea typeface="Aptos"/>
                <a:cs typeface="Aptos"/>
              </a:rPr>
              <a:t>Behavior Record</a:t>
            </a:r>
          </a:p>
        </p:txBody>
      </p:sp>
      <p:sp>
        <p:nvSpPr>
          <p:cNvPr id="16" name="">
            <a:extLst xmlns:a="http://schemas.openxmlformats.org/drawingml/2006/main">
              <a:ext uri="{FF2B5EF4-FFF2-40B4-BE49-F238E27FC236}">
                <a16:creationId xmlns:a16="http://schemas.microsoft.com/office/drawing/2014/main" id="{A9F48A60-AB62-43D8-B065-B95958F78015}"/>
              </a:ext>
            </a:extLst>
          </p:cNvPr>
          <p:cNvSpPr>
            <a:spLocks xmlns:a="http://schemas.openxmlformats.org/drawingml/2006/main" noGrp="1"/>
          </p:cNvSpPr>
          <p:nvPr/>
        </p:nvSpPr>
        <p:spPr>
          <a:xfrm xmlns:a="http://schemas.openxmlformats.org/drawingml/2006/main">
            <a:off x="8477250" y="2571750"/>
            <a:ext cx="29337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67085"/>
                </a:solidFill>
                <a:latin typeface="Aptos"/>
                <a:ea typeface="Aptos"/>
                <a:cs typeface="Aptos"/>
              </a:defRPr>
            </a:pPr>
            <a:r>
              <a:rPr sz="863" b="0">
                <a:solidFill>
                  <a:srgbClr val="667085"/>
                </a:solidFill>
                <a:latin typeface="Aptos"/>
                <a:ea typeface="Aptos"/>
                <a:cs typeface="Aptos"/>
              </a:rPr>
              <a:t>response and tool outcome are added</a:t>
            </a:r>
          </a:p>
        </p:txBody>
      </p:sp>
      <p:sp>
        <p:nvSpPr>
          <p:cNvPr id="17" name="">
            <a:extLst xmlns:a="http://schemas.openxmlformats.org/drawingml/2006/main">
              <a:ext uri="{FF2B5EF4-FFF2-40B4-BE49-F238E27FC236}">
                <a16:creationId xmlns:a16="http://schemas.microsoft.com/office/drawing/2014/main" id="{5A5CCE0A-EA8F-4AAD-A078-DC203876AD98}"/>
              </a:ext>
            </a:extLst>
          </p:cNvPr>
          <p:cNvSpPr>
            <a:spLocks xmlns:a="http://schemas.openxmlformats.org/drawingml/2006/main" noGrp="1"/>
          </p:cNvSpPr>
          <p:nvPr/>
        </p:nvSpPr>
        <p:spPr>
          <a:xfrm xmlns:a="http://schemas.openxmlformats.org/drawingml/2006/main">
            <a:off x="609600" y="3105150"/>
            <a:ext cx="1752600" cy="304800"/>
          </a:xfrm>
          <a:prstGeom xmlns:a="http://schemas.openxmlformats.org/drawingml/2006/main" prst="rect">
            <a:avLst/>
          </a:prstGeom>
          <a:solidFill xmlns:a="http://schemas.openxmlformats.org/drawingml/2006/main">
            <a:srgbClr val="E7E0D6"/>
          </a:solidFill>
          <a:ln xmlns:a="http://schemas.openxmlformats.org/drawingml/2006/main" w="0">
            <a:solidFill>
              <a:srgbClr val="000000">
                <a:alpha val="0"/>
              </a:srgbClr>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E955A8CB-ABF9-4193-A1C8-87ECBE9E6057}"/>
              </a:ext>
            </a:extLst>
          </p:cNvPr>
          <p:cNvSpPr>
            <a:spLocks xmlns:a="http://schemas.openxmlformats.org/drawingml/2006/main" noGrp="1"/>
          </p:cNvSpPr>
          <p:nvPr/>
        </p:nvSpPr>
        <p:spPr>
          <a:xfrm xmlns:a="http://schemas.openxmlformats.org/drawingml/2006/main">
            <a:off x="704850" y="3171825"/>
            <a:ext cx="15621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01820"/>
                </a:solidFill>
                <a:latin typeface="Aptos"/>
                <a:ea typeface="Aptos"/>
                <a:cs typeface="Aptos"/>
              </a:defRPr>
            </a:pPr>
            <a:r>
              <a:rPr sz="863" b="1">
                <a:solidFill>
                  <a:srgbClr val="101820"/>
                </a:solidFill>
                <a:latin typeface="Aptos"/>
                <a:ea typeface="Aptos"/>
                <a:cs typeface="Aptos"/>
              </a:rPr>
              <a:t>Stage</a:t>
            </a:r>
          </a:p>
        </p:txBody>
      </p:sp>
      <p:sp>
        <p:nvSpPr>
          <p:cNvPr id="19" name="">
            <a:extLst xmlns:a="http://schemas.openxmlformats.org/drawingml/2006/main">
              <a:ext uri="{FF2B5EF4-FFF2-40B4-BE49-F238E27FC236}">
                <a16:creationId xmlns:a16="http://schemas.microsoft.com/office/drawing/2014/main" id="{F8D6B5A8-7B56-4DBD-9B18-8250EB45DE23}"/>
              </a:ext>
            </a:extLst>
          </p:cNvPr>
          <p:cNvSpPr>
            <a:spLocks xmlns:a="http://schemas.openxmlformats.org/drawingml/2006/main" noGrp="1"/>
          </p:cNvSpPr>
          <p:nvPr/>
        </p:nvSpPr>
        <p:spPr>
          <a:xfrm xmlns:a="http://schemas.openxmlformats.org/drawingml/2006/main">
            <a:off x="2362200" y="3105150"/>
            <a:ext cx="3638550" cy="304800"/>
          </a:xfrm>
          <a:prstGeom xmlns:a="http://schemas.openxmlformats.org/drawingml/2006/main" prst="rect">
            <a:avLst/>
          </a:prstGeom>
          <a:solidFill xmlns:a="http://schemas.openxmlformats.org/drawingml/2006/main">
            <a:srgbClr val="E7E0D6"/>
          </a:solidFill>
          <a:ln xmlns:a="http://schemas.openxmlformats.org/drawingml/2006/main" w="0">
            <a:solidFill>
              <a:srgbClr val="000000">
                <a:alpha val="0"/>
              </a:srgbClr>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F197FAAE-45FD-462E-8156-7024C6FEB893}"/>
              </a:ext>
            </a:extLst>
          </p:cNvPr>
          <p:cNvSpPr>
            <a:spLocks xmlns:a="http://schemas.openxmlformats.org/drawingml/2006/main" noGrp="1"/>
          </p:cNvSpPr>
          <p:nvPr/>
        </p:nvSpPr>
        <p:spPr>
          <a:xfrm xmlns:a="http://schemas.openxmlformats.org/drawingml/2006/main">
            <a:off x="2457450" y="3171825"/>
            <a:ext cx="34480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01820"/>
                </a:solidFill>
                <a:latin typeface="Aptos"/>
                <a:ea typeface="Aptos"/>
                <a:cs typeface="Aptos"/>
              </a:defRPr>
            </a:pPr>
            <a:r>
              <a:rPr sz="863" b="1">
                <a:solidFill>
                  <a:srgbClr val="101820"/>
                </a:solidFill>
                <a:latin typeface="Aptos"/>
                <a:ea typeface="Aptos"/>
                <a:cs typeface="Aptos"/>
              </a:rPr>
              <a:t>Key facts</a:t>
            </a:r>
          </a:p>
        </p:txBody>
      </p:sp>
      <p:sp>
        <p:nvSpPr>
          <p:cNvPr id="21" name="">
            <a:extLst xmlns:a="http://schemas.openxmlformats.org/drawingml/2006/main">
              <a:ext uri="{FF2B5EF4-FFF2-40B4-BE49-F238E27FC236}">
                <a16:creationId xmlns:a16="http://schemas.microsoft.com/office/drawing/2014/main" id="{9D1F509F-49C5-4792-AF7E-05DC22728CA5}"/>
              </a:ext>
            </a:extLst>
          </p:cNvPr>
          <p:cNvSpPr>
            <a:spLocks xmlns:a="http://schemas.openxmlformats.org/drawingml/2006/main" noGrp="1"/>
          </p:cNvSpPr>
          <p:nvPr/>
        </p:nvSpPr>
        <p:spPr>
          <a:xfrm xmlns:a="http://schemas.openxmlformats.org/drawingml/2006/main">
            <a:off x="6000750" y="3105150"/>
            <a:ext cx="4057650" cy="304800"/>
          </a:xfrm>
          <a:prstGeom xmlns:a="http://schemas.openxmlformats.org/drawingml/2006/main" prst="rect">
            <a:avLst/>
          </a:prstGeom>
          <a:solidFill xmlns:a="http://schemas.openxmlformats.org/drawingml/2006/main">
            <a:srgbClr val="E7E0D6"/>
          </a:solidFill>
          <a:ln xmlns:a="http://schemas.openxmlformats.org/drawingml/2006/main" w="0">
            <a:solidFill>
              <a:srgbClr val="000000">
                <a:alpha val="0"/>
              </a:srgbClr>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E71BED5E-6A0C-4855-BC9C-8413E07817B5}"/>
              </a:ext>
            </a:extLst>
          </p:cNvPr>
          <p:cNvSpPr>
            <a:spLocks xmlns:a="http://schemas.openxmlformats.org/drawingml/2006/main" noGrp="1"/>
          </p:cNvSpPr>
          <p:nvPr/>
        </p:nvSpPr>
        <p:spPr>
          <a:xfrm xmlns:a="http://schemas.openxmlformats.org/drawingml/2006/main">
            <a:off x="6096000" y="3171825"/>
            <a:ext cx="38671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01820"/>
                </a:solidFill>
                <a:latin typeface="Aptos"/>
                <a:ea typeface="Aptos"/>
                <a:cs typeface="Aptos"/>
              </a:defRPr>
            </a:pPr>
            <a:r>
              <a:rPr sz="863" b="1">
                <a:solidFill>
                  <a:srgbClr val="101820"/>
                </a:solidFill>
                <a:latin typeface="Aptos"/>
                <a:ea typeface="Aptos"/>
                <a:cs typeface="Aptos"/>
              </a:rPr>
              <a:t>Outcome</a:t>
            </a:r>
          </a:p>
        </p:txBody>
      </p:sp>
      <p:sp>
        <p:nvSpPr>
          <p:cNvPr id="23" name="">
            <a:extLst xmlns:a="http://schemas.openxmlformats.org/drawingml/2006/main">
              <a:ext uri="{FF2B5EF4-FFF2-40B4-BE49-F238E27FC236}">
                <a16:creationId xmlns:a16="http://schemas.microsoft.com/office/drawing/2014/main" id="{570CC4F3-EEEF-4876-8E32-B1D9C4797E83}"/>
              </a:ext>
            </a:extLst>
          </p:cNvPr>
          <p:cNvSpPr>
            <a:spLocks xmlns:a="http://schemas.openxmlformats.org/drawingml/2006/main" noGrp="1"/>
          </p:cNvSpPr>
          <p:nvPr/>
        </p:nvSpPr>
        <p:spPr>
          <a:xfrm xmlns:a="http://schemas.openxmlformats.org/drawingml/2006/main">
            <a:off x="10058400" y="3105150"/>
            <a:ext cx="1524000" cy="304800"/>
          </a:xfrm>
          <a:prstGeom xmlns:a="http://schemas.openxmlformats.org/drawingml/2006/main" prst="rect">
            <a:avLst/>
          </a:prstGeom>
          <a:solidFill xmlns:a="http://schemas.openxmlformats.org/drawingml/2006/main">
            <a:srgbClr val="E7E0D6"/>
          </a:solidFill>
          <a:ln xmlns:a="http://schemas.openxmlformats.org/drawingml/2006/main" w="0">
            <a:solidFill>
              <a:srgbClr val="000000">
                <a:alpha val="0"/>
              </a:srgbClr>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05E9B5CC-1ED0-43A3-8A70-4481F15C6B39}"/>
              </a:ext>
            </a:extLst>
          </p:cNvPr>
          <p:cNvSpPr>
            <a:spLocks xmlns:a="http://schemas.openxmlformats.org/drawingml/2006/main" noGrp="1"/>
          </p:cNvSpPr>
          <p:nvPr/>
        </p:nvSpPr>
        <p:spPr>
          <a:xfrm xmlns:a="http://schemas.openxmlformats.org/drawingml/2006/main">
            <a:off x="10153650" y="3171825"/>
            <a:ext cx="1333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01820"/>
                </a:solidFill>
                <a:latin typeface="Aptos"/>
                <a:ea typeface="Aptos"/>
                <a:cs typeface="Aptos"/>
              </a:defRPr>
            </a:pPr>
            <a:r>
              <a:rPr sz="863" b="1">
                <a:solidFill>
                  <a:srgbClr val="101820"/>
                </a:solidFill>
                <a:latin typeface="Aptos"/>
                <a:ea typeface="Aptos"/>
                <a:cs typeface="Aptos"/>
              </a:rPr>
              <a:t>Size signal</a:t>
            </a:r>
          </a:p>
        </p:txBody>
      </p:sp>
      <p:sp>
        <p:nvSpPr>
          <p:cNvPr id="25" name="">
            <a:extLst xmlns:a="http://schemas.openxmlformats.org/drawingml/2006/main">
              <a:ext uri="{FF2B5EF4-FFF2-40B4-BE49-F238E27FC236}">
                <a16:creationId xmlns:a16="http://schemas.microsoft.com/office/drawing/2014/main" id="{6B9D9E94-B965-4E5F-BBC4-7A8EED729E91}"/>
              </a:ext>
            </a:extLst>
          </p:cNvPr>
          <p:cNvSpPr>
            <a:spLocks xmlns:a="http://schemas.openxmlformats.org/drawingml/2006/main" noGrp="1"/>
          </p:cNvSpPr>
          <p:nvPr/>
        </p:nvSpPr>
        <p:spPr>
          <a:xfrm xmlns:a="http://schemas.openxmlformats.org/drawingml/2006/main">
            <a:off x="609600" y="3409950"/>
            <a:ext cx="10972800" cy="409575"/>
          </a:xfrm>
          <a:prstGeom xmlns:a="http://schemas.openxmlformats.org/drawingml/2006/main" prst="rect">
            <a:avLst/>
          </a:prstGeom>
          <a:solidFill xmlns:a="http://schemas.openxmlformats.org/drawingml/2006/main">
            <a:srgbClr val="FBF8F2"/>
          </a:solidFill>
          <a:ln xmlns:a="http://schemas.openxmlformats.org/drawingml/2006/main" w="0">
            <a:solidFill>
              <a:srgbClr val="000000">
                <a:alpha val="0"/>
              </a:srgbClr>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F34943E0-0F6C-49BA-9EB0-75EF51836C7F}"/>
              </a:ext>
            </a:extLst>
          </p:cNvPr>
          <p:cNvSpPr>
            <a:spLocks xmlns:a="http://schemas.openxmlformats.org/drawingml/2006/main" noGrp="1"/>
          </p:cNvSpPr>
          <p:nvPr/>
        </p:nvSpPr>
        <p:spPr>
          <a:xfrm xmlns:a="http://schemas.openxmlformats.org/drawingml/2006/main">
            <a:off x="609600" y="3409950"/>
            <a:ext cx="57150" cy="409575"/>
          </a:xfrm>
          <a:prstGeom xmlns:a="http://schemas.openxmlformats.org/drawingml/2006/main" prst="rect">
            <a:avLst/>
          </a:prstGeom>
          <a:solidFill xmlns:a="http://schemas.openxmlformats.org/drawingml/2006/main">
            <a:srgbClr val="6D28D9"/>
          </a:solidFill>
          <a:ln xmlns:a="http://schemas.openxmlformats.org/drawingml/2006/main" w="0">
            <a:solidFill>
              <a:srgbClr val="000000">
                <a:alpha val="0"/>
              </a:srgbClr>
            </a:solidFill>
            <a:prstDash val="solid"/>
          </a:ln>
        </p:spPr>
        <p:txBody xmlns:a="http://schemas.openxmlformats.org/drawingml/2006/main">
          <a:bodyPr/>
          <a:p/>
        </p:txBody>
      </p:sp>
      <p:sp>
        <p:nvSpPr>
          <p:cNvPr id="27" name="">
            <a:extLst xmlns:a="http://schemas.openxmlformats.org/drawingml/2006/main">
              <a:ext uri="{FF2B5EF4-FFF2-40B4-BE49-F238E27FC236}">
                <a16:creationId xmlns:a16="http://schemas.microsoft.com/office/drawing/2014/main" id="{FDFFEA51-69D9-46A3-BA82-0AFD9E36D746}"/>
              </a:ext>
            </a:extLst>
          </p:cNvPr>
          <p:cNvSpPr>
            <a:spLocks xmlns:a="http://schemas.openxmlformats.org/drawingml/2006/main" noGrp="1"/>
          </p:cNvSpPr>
          <p:nvPr/>
        </p:nvSpPr>
        <p:spPr>
          <a:xfrm xmlns:a="http://schemas.openxmlformats.org/drawingml/2006/main">
            <a:off x="762000" y="3476625"/>
            <a:ext cx="14859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10" b="1">
                <a:solidFill>
                  <a:srgbClr val="101820"/>
                </a:solidFill>
                <a:latin typeface="Aptos"/>
                <a:ea typeface="Aptos"/>
                <a:cs typeface="Aptos"/>
              </a:defRPr>
            </a:pPr>
            <a:r>
              <a:rPr sz="810" b="1">
                <a:solidFill>
                  <a:srgbClr val="101820"/>
                </a:solidFill>
                <a:latin typeface="Aptos"/>
                <a:ea typeface="Aptos"/>
                <a:cs typeface="Aptos"/>
              </a:rPr>
              <a:t>Task Loaded</a:t>
            </a:r>
          </a:p>
        </p:txBody>
      </p:sp>
      <p:sp>
        <p:nvSpPr>
          <p:cNvPr id="28" name="">
            <a:extLst xmlns:a="http://schemas.openxmlformats.org/drawingml/2006/main">
              <a:ext uri="{FF2B5EF4-FFF2-40B4-BE49-F238E27FC236}">
                <a16:creationId xmlns:a16="http://schemas.microsoft.com/office/drawing/2014/main" id="{E8674397-8D85-43F7-8250-60672353C4A0}"/>
              </a:ext>
            </a:extLst>
          </p:cNvPr>
          <p:cNvSpPr>
            <a:spLocks xmlns:a="http://schemas.openxmlformats.org/drawingml/2006/main" noGrp="1"/>
          </p:cNvSpPr>
          <p:nvPr/>
        </p:nvSpPr>
        <p:spPr>
          <a:xfrm xmlns:a="http://schemas.openxmlformats.org/drawingml/2006/main">
            <a:off x="2457450" y="3476625"/>
            <a:ext cx="3448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0">
                <a:solidFill>
                  <a:srgbClr val="334155"/>
                </a:solidFill>
                <a:latin typeface="Aptos"/>
                <a:ea typeface="Aptos"/>
                <a:cs typeface="Aptos"/>
              </a:defRPr>
            </a:pPr>
            <a:r>
              <a:rPr sz="735" b="0">
                <a:solidFill>
                  <a:srgbClr val="334155"/>
                </a:solidFill>
                <a:latin typeface="Aptos"/>
                <a:ea typeface="Aptos"/>
                <a:cs typeface="Aptos"/>
              </a:rPr>
              <a:t>repo=NodeBB/NodeBB | base_commit=1e137b07052bc3ea0da44ed201702c94055b8ad2 | tests...</a:t>
            </a:r>
          </a:p>
        </p:txBody>
      </p:sp>
      <p:sp>
        <p:nvSpPr>
          <p:cNvPr id="29" name="">
            <a:extLst xmlns:a="http://schemas.openxmlformats.org/drawingml/2006/main">
              <a:ext uri="{FF2B5EF4-FFF2-40B4-BE49-F238E27FC236}">
                <a16:creationId xmlns:a16="http://schemas.microsoft.com/office/drawing/2014/main" id="{99EE517C-CAF4-4FD2-BE0F-995C10C76A7C}"/>
              </a:ext>
            </a:extLst>
          </p:cNvPr>
          <p:cNvSpPr>
            <a:spLocks xmlns:a="http://schemas.openxmlformats.org/drawingml/2006/main" noGrp="1"/>
          </p:cNvSpPr>
          <p:nvPr/>
        </p:nvSpPr>
        <p:spPr>
          <a:xfrm xmlns:a="http://schemas.openxmlformats.org/drawingml/2006/main">
            <a:off x="6096000" y="3476625"/>
            <a:ext cx="3867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0">
                <a:solidFill>
                  <a:srgbClr val="334155"/>
                </a:solidFill>
                <a:latin typeface="Aptos"/>
                <a:ea typeface="Aptos"/>
                <a:cs typeface="Aptos"/>
              </a:defRPr>
            </a:pPr>
            <a:r>
              <a:rPr sz="735" b="0">
                <a:solidFill>
                  <a:srgbClr val="334155"/>
                </a:solidFill>
                <a:latin typeface="Aptos"/>
                <a:ea typeface="Aptos"/>
                <a:cs typeface="Aptos"/>
              </a:rPr>
              <a:t>repo=NodeBB/NodeBB | base_commit=1e137b07052bc3ea0da44ed201702c94055b8ad2 | tests=["test/...</a:t>
            </a:r>
          </a:p>
        </p:txBody>
      </p:sp>
      <p:sp>
        <p:nvSpPr>
          <p:cNvPr id="30" name="">
            <a:extLst xmlns:a="http://schemas.openxmlformats.org/drawingml/2006/main">
              <a:ext uri="{FF2B5EF4-FFF2-40B4-BE49-F238E27FC236}">
                <a16:creationId xmlns:a16="http://schemas.microsoft.com/office/drawing/2014/main" id="{062A132F-D534-4D32-B9C8-61C09C185592}"/>
              </a:ext>
            </a:extLst>
          </p:cNvPr>
          <p:cNvSpPr>
            <a:spLocks xmlns:a="http://schemas.openxmlformats.org/drawingml/2006/main" noGrp="1"/>
          </p:cNvSpPr>
          <p:nvPr/>
        </p:nvSpPr>
        <p:spPr>
          <a:xfrm xmlns:a="http://schemas.openxmlformats.org/drawingml/2006/main">
            <a:off x="10153650" y="3486150"/>
            <a:ext cx="1333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BE123C"/>
                </a:solidFill>
                <a:latin typeface="Aptos"/>
                <a:ea typeface="Aptos"/>
                <a:cs typeface="Aptos"/>
              </a:defRPr>
            </a:pPr>
            <a:r>
              <a:rPr sz="713" b="1">
                <a:solidFill>
                  <a:srgbClr val="BE123C"/>
                </a:solidFill>
                <a:latin typeface="Aptos"/>
                <a:ea typeface="Aptos"/>
                <a:cs typeface="Aptos"/>
              </a:rPr>
              <a:t>+1,330 | Output record grew</a:t>
            </a:r>
          </a:p>
        </p:txBody>
      </p:sp>
      <p:sp>
        <p:nvSpPr>
          <p:cNvPr id="31" name="">
            <a:extLst xmlns:a="http://schemas.openxmlformats.org/drawingml/2006/main">
              <a:ext uri="{FF2B5EF4-FFF2-40B4-BE49-F238E27FC236}">
                <a16:creationId xmlns:a16="http://schemas.microsoft.com/office/drawing/2014/main" id="{146CDFFD-5758-4792-AE6A-5EE7BF37189D}"/>
              </a:ext>
            </a:extLst>
          </p:cNvPr>
          <p:cNvSpPr>
            <a:spLocks xmlns:a="http://schemas.openxmlformats.org/drawingml/2006/main" noGrp="1"/>
          </p:cNvSpPr>
          <p:nvPr/>
        </p:nvSpPr>
        <p:spPr>
          <a:xfrm xmlns:a="http://schemas.openxmlformats.org/drawingml/2006/main">
            <a:off x="609600" y="3810000"/>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32" name="">
            <a:extLst xmlns:a="http://schemas.openxmlformats.org/drawingml/2006/main">
              <a:ext uri="{FF2B5EF4-FFF2-40B4-BE49-F238E27FC236}">
                <a16:creationId xmlns:a16="http://schemas.microsoft.com/office/drawing/2014/main" id="{79E07EF7-958C-4E86-AA6F-D802C6BA69B5}"/>
              </a:ext>
            </a:extLst>
          </p:cNvPr>
          <p:cNvSpPr>
            <a:spLocks xmlns:a="http://schemas.openxmlformats.org/drawingml/2006/main" noGrp="1"/>
          </p:cNvSpPr>
          <p:nvPr/>
        </p:nvSpPr>
        <p:spPr>
          <a:xfrm xmlns:a="http://schemas.openxmlformats.org/drawingml/2006/main">
            <a:off x="609600" y="3819525"/>
            <a:ext cx="10972800" cy="409575"/>
          </a:xfrm>
          <a:prstGeom xmlns:a="http://schemas.openxmlformats.org/drawingml/2006/main" prst="rect">
            <a:avLst/>
          </a:prstGeom>
          <a:solidFill xmlns:a="http://schemas.openxmlformats.org/drawingml/2006/main">
            <a:srgbClr val="F1EBE2"/>
          </a:solidFill>
          <a:ln xmlns:a="http://schemas.openxmlformats.org/drawingml/2006/main" w="0">
            <a:solidFill>
              <a:srgbClr val="000000">
                <a:alpha val="0"/>
              </a:srgbClr>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A94B985E-C481-4CA3-B4E0-232A809F2570}"/>
              </a:ext>
            </a:extLst>
          </p:cNvPr>
          <p:cNvSpPr>
            <a:spLocks xmlns:a="http://schemas.openxmlformats.org/drawingml/2006/main" noGrp="1"/>
          </p:cNvSpPr>
          <p:nvPr/>
        </p:nvSpPr>
        <p:spPr>
          <a:xfrm xmlns:a="http://schemas.openxmlformats.org/drawingml/2006/main">
            <a:off x="609600" y="3819525"/>
            <a:ext cx="57150" cy="409575"/>
          </a:xfrm>
          <a:prstGeom xmlns:a="http://schemas.openxmlformats.org/drawingml/2006/main" prst="rect">
            <a:avLst/>
          </a:prstGeom>
          <a:solidFill xmlns:a="http://schemas.openxmlformats.org/drawingml/2006/main">
            <a:srgbClr val="2563EB"/>
          </a:solidFill>
          <a:ln xmlns:a="http://schemas.openxmlformats.org/drawingml/2006/main" w="0">
            <a:solidFill>
              <a:srgbClr val="000000">
                <a:alpha val="0"/>
              </a:srgbClr>
            </a:solidFill>
            <a:prstDash val="solid"/>
          </a:ln>
        </p:spPr>
        <p:txBody xmlns:a="http://schemas.openxmlformats.org/drawingml/2006/main">
          <a:bodyPr/>
          <a:p/>
        </p:txBody>
      </p:sp>
      <p:sp>
        <p:nvSpPr>
          <p:cNvPr id="34" name="">
            <a:extLst xmlns:a="http://schemas.openxmlformats.org/drawingml/2006/main">
              <a:ext uri="{FF2B5EF4-FFF2-40B4-BE49-F238E27FC236}">
                <a16:creationId xmlns:a16="http://schemas.microsoft.com/office/drawing/2014/main" id="{BA376A86-6060-4338-8B7A-2BE4C6F85D93}"/>
              </a:ext>
            </a:extLst>
          </p:cNvPr>
          <p:cNvSpPr>
            <a:spLocks xmlns:a="http://schemas.openxmlformats.org/drawingml/2006/main" noGrp="1"/>
          </p:cNvSpPr>
          <p:nvPr/>
        </p:nvSpPr>
        <p:spPr>
          <a:xfrm xmlns:a="http://schemas.openxmlformats.org/drawingml/2006/main">
            <a:off x="762000" y="3886200"/>
            <a:ext cx="14859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10" b="1">
                <a:solidFill>
                  <a:srgbClr val="101820"/>
                </a:solidFill>
                <a:latin typeface="Aptos"/>
                <a:ea typeface="Aptos"/>
                <a:cs typeface="Aptos"/>
              </a:defRPr>
            </a:pPr>
            <a:r>
              <a:rPr sz="810" b="1">
                <a:solidFill>
                  <a:srgbClr val="101820"/>
                </a:solidFill>
                <a:latin typeface="Aptos"/>
                <a:ea typeface="Aptos"/>
                <a:cs typeface="Aptos"/>
              </a:rPr>
              <a:t>Prompt Built</a:t>
            </a:r>
          </a:p>
        </p:txBody>
      </p:sp>
      <p:sp>
        <p:nvSpPr>
          <p:cNvPr id="35" name="">
            <a:extLst xmlns:a="http://schemas.openxmlformats.org/drawingml/2006/main">
              <a:ext uri="{FF2B5EF4-FFF2-40B4-BE49-F238E27FC236}">
                <a16:creationId xmlns:a16="http://schemas.microsoft.com/office/drawing/2014/main" id="{F3A87392-5608-42E0-94BA-127752877519}"/>
              </a:ext>
            </a:extLst>
          </p:cNvPr>
          <p:cNvSpPr>
            <a:spLocks xmlns:a="http://schemas.openxmlformats.org/drawingml/2006/main" noGrp="1"/>
          </p:cNvSpPr>
          <p:nvPr/>
        </p:nvSpPr>
        <p:spPr>
          <a:xfrm xmlns:a="http://schemas.openxmlformats.org/drawingml/2006/main">
            <a:off x="2457450" y="3886200"/>
            <a:ext cx="3448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0">
                <a:solidFill>
                  <a:srgbClr val="334155"/>
                </a:solidFill>
                <a:latin typeface="Aptos"/>
                <a:ea typeface="Aptos"/>
                <a:cs typeface="Aptos"/>
              </a:defRPr>
            </a:pPr>
            <a:r>
              <a:rPr sz="735" b="0">
                <a:solidFill>
                  <a:srgbClr val="334155"/>
                </a:solidFill>
                <a:latin typeface="Aptos"/>
                <a:ea typeface="Aptos"/>
                <a:cs typeface="Aptos"/>
              </a:rPr>
              <a:t>prompt_lines=114 | prompt_chars=6906</a:t>
            </a:r>
          </a:p>
        </p:txBody>
      </p:sp>
      <p:sp>
        <p:nvSpPr>
          <p:cNvPr id="36" name="">
            <a:extLst xmlns:a="http://schemas.openxmlformats.org/drawingml/2006/main">
              <a:ext uri="{FF2B5EF4-FFF2-40B4-BE49-F238E27FC236}">
                <a16:creationId xmlns:a16="http://schemas.microsoft.com/office/drawing/2014/main" id="{7E65BFF7-6372-4865-BFB7-C4196D525654}"/>
              </a:ext>
            </a:extLst>
          </p:cNvPr>
          <p:cNvSpPr>
            <a:spLocks xmlns:a="http://schemas.openxmlformats.org/drawingml/2006/main" noGrp="1"/>
          </p:cNvSpPr>
          <p:nvPr/>
        </p:nvSpPr>
        <p:spPr>
          <a:xfrm xmlns:a="http://schemas.openxmlformats.org/drawingml/2006/main">
            <a:off x="6096000" y="3886200"/>
            <a:ext cx="3867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0">
                <a:solidFill>
                  <a:srgbClr val="334155"/>
                </a:solidFill>
                <a:latin typeface="Aptos"/>
                <a:ea typeface="Aptos"/>
                <a:cs typeface="Aptos"/>
              </a:defRPr>
            </a:pPr>
            <a:r>
              <a:rPr sz="735" b="0">
                <a:solidFill>
                  <a:srgbClr val="334155"/>
                </a:solidFill>
                <a:latin typeface="Aptos"/>
                <a:ea typeface="Aptos"/>
                <a:cs typeface="Aptos"/>
              </a:rPr>
              <a:t>user_prompt_lines=114 | user_prompt_chars=6906</a:t>
            </a:r>
          </a:p>
        </p:txBody>
      </p:sp>
      <p:sp>
        <p:nvSpPr>
          <p:cNvPr id="37" name="">
            <a:extLst xmlns:a="http://schemas.openxmlformats.org/drawingml/2006/main">
              <a:ext uri="{FF2B5EF4-FFF2-40B4-BE49-F238E27FC236}">
                <a16:creationId xmlns:a16="http://schemas.microsoft.com/office/drawing/2014/main" id="{EE27EDE1-B61F-4816-8EDC-DE767976C792}"/>
              </a:ext>
            </a:extLst>
          </p:cNvPr>
          <p:cNvSpPr>
            <a:spLocks xmlns:a="http://schemas.openxmlformats.org/drawingml/2006/main" noGrp="1"/>
          </p:cNvSpPr>
          <p:nvPr/>
        </p:nvSpPr>
        <p:spPr>
          <a:xfrm xmlns:a="http://schemas.openxmlformats.org/drawingml/2006/main">
            <a:off x="10153650" y="3895725"/>
            <a:ext cx="1333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2563EB"/>
                </a:solidFill>
                <a:latin typeface="Aptos"/>
                <a:ea typeface="Aptos"/>
                <a:cs typeface="Aptos"/>
              </a:defRPr>
            </a:pPr>
            <a:r>
              <a:rPr sz="713" b="1">
                <a:solidFill>
                  <a:srgbClr val="2563EB"/>
                </a:solidFill>
                <a:latin typeface="Aptos"/>
                <a:ea typeface="Aptos"/>
                <a:cs typeface="Aptos"/>
              </a:rPr>
              <a:t>+5,576 | Prompt grew here</a:t>
            </a:r>
          </a:p>
        </p:txBody>
      </p:sp>
      <p:sp>
        <p:nvSpPr>
          <p:cNvPr id="38" name="">
            <a:extLst xmlns:a="http://schemas.openxmlformats.org/drawingml/2006/main">
              <a:ext uri="{FF2B5EF4-FFF2-40B4-BE49-F238E27FC236}">
                <a16:creationId xmlns:a16="http://schemas.microsoft.com/office/drawing/2014/main" id="{3141465E-C7F2-4E9E-AAF5-8FA51FD0F662}"/>
              </a:ext>
            </a:extLst>
          </p:cNvPr>
          <p:cNvSpPr>
            <a:spLocks xmlns:a="http://schemas.openxmlformats.org/drawingml/2006/main" noGrp="1"/>
          </p:cNvSpPr>
          <p:nvPr/>
        </p:nvSpPr>
        <p:spPr>
          <a:xfrm xmlns:a="http://schemas.openxmlformats.org/drawingml/2006/main">
            <a:off x="609600" y="4219575"/>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39" name="">
            <a:extLst xmlns:a="http://schemas.openxmlformats.org/drawingml/2006/main">
              <a:ext uri="{FF2B5EF4-FFF2-40B4-BE49-F238E27FC236}">
                <a16:creationId xmlns:a16="http://schemas.microsoft.com/office/drawing/2014/main" id="{A1AD12F0-4171-440E-89D3-EF10EAD35D68}"/>
              </a:ext>
            </a:extLst>
          </p:cNvPr>
          <p:cNvSpPr>
            <a:spLocks xmlns:a="http://schemas.openxmlformats.org/drawingml/2006/main" noGrp="1"/>
          </p:cNvSpPr>
          <p:nvPr/>
        </p:nvSpPr>
        <p:spPr>
          <a:xfrm xmlns:a="http://schemas.openxmlformats.org/drawingml/2006/main">
            <a:off x="609600" y="4229100"/>
            <a:ext cx="10972800" cy="409575"/>
          </a:xfrm>
          <a:prstGeom xmlns:a="http://schemas.openxmlformats.org/drawingml/2006/main" prst="rect">
            <a:avLst/>
          </a:prstGeom>
          <a:solidFill xmlns:a="http://schemas.openxmlformats.org/drawingml/2006/main">
            <a:srgbClr val="FBF8F2"/>
          </a:solidFill>
          <a:ln xmlns:a="http://schemas.openxmlformats.org/drawingml/2006/main" w="0">
            <a:solidFill>
              <a:srgbClr val="000000">
                <a:alpha val="0"/>
              </a:srgbClr>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E8131C31-8E06-40C5-8F5E-FD8903EF0DB8}"/>
              </a:ext>
            </a:extLst>
          </p:cNvPr>
          <p:cNvSpPr>
            <a:spLocks xmlns:a="http://schemas.openxmlformats.org/drawingml/2006/main" noGrp="1"/>
          </p:cNvSpPr>
          <p:nvPr/>
        </p:nvSpPr>
        <p:spPr>
          <a:xfrm xmlns:a="http://schemas.openxmlformats.org/drawingml/2006/main">
            <a:off x="609600" y="4229100"/>
            <a:ext cx="57150" cy="409575"/>
          </a:xfrm>
          <a:prstGeom xmlns:a="http://schemas.openxmlformats.org/drawingml/2006/main" prst="rect">
            <a:avLst/>
          </a:prstGeom>
          <a:solidFill xmlns:a="http://schemas.openxmlformats.org/drawingml/2006/main">
            <a:srgbClr val="1D4ED8"/>
          </a:solidFill>
          <a:ln xmlns:a="http://schemas.openxmlformats.org/drawingml/2006/main" w="0">
            <a:solidFill>
              <a:srgbClr val="000000">
                <a:alpha val="0"/>
              </a:srgbClr>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860573B9-95A1-4447-9AE5-6E61318FA350}"/>
              </a:ext>
            </a:extLst>
          </p:cNvPr>
          <p:cNvSpPr>
            <a:spLocks xmlns:a="http://schemas.openxmlformats.org/drawingml/2006/main" noGrp="1"/>
          </p:cNvSpPr>
          <p:nvPr/>
        </p:nvSpPr>
        <p:spPr>
          <a:xfrm xmlns:a="http://schemas.openxmlformats.org/drawingml/2006/main">
            <a:off x="762000" y="4295775"/>
            <a:ext cx="14859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10" b="1">
                <a:solidFill>
                  <a:srgbClr val="101820"/>
                </a:solidFill>
                <a:latin typeface="Aptos"/>
                <a:ea typeface="Aptos"/>
                <a:cs typeface="Aptos"/>
              </a:defRPr>
            </a:pPr>
            <a:r>
              <a:rPr sz="810" b="1">
                <a:solidFill>
                  <a:srgbClr val="101820"/>
                </a:solidFill>
                <a:latin typeface="Aptos"/>
                <a:ea typeface="Aptos"/>
                <a:cs typeface="Aptos"/>
              </a:rPr>
              <a:t>Request Packaged</a:t>
            </a:r>
          </a:p>
        </p:txBody>
      </p:sp>
      <p:sp>
        <p:nvSpPr>
          <p:cNvPr id="42" name="">
            <a:extLst xmlns:a="http://schemas.openxmlformats.org/drawingml/2006/main">
              <a:ext uri="{FF2B5EF4-FFF2-40B4-BE49-F238E27FC236}">
                <a16:creationId xmlns:a16="http://schemas.microsoft.com/office/drawing/2014/main" id="{93A858CE-2D05-4F68-B5F9-D1F95FCB3222}"/>
              </a:ext>
            </a:extLst>
          </p:cNvPr>
          <p:cNvSpPr>
            <a:spLocks xmlns:a="http://schemas.openxmlformats.org/drawingml/2006/main" noGrp="1"/>
          </p:cNvSpPr>
          <p:nvPr/>
        </p:nvSpPr>
        <p:spPr>
          <a:xfrm xmlns:a="http://schemas.openxmlformats.org/drawingml/2006/main">
            <a:off x="2457450" y="4295775"/>
            <a:ext cx="3448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0">
                <a:solidFill>
                  <a:srgbClr val="334155"/>
                </a:solidFill>
                <a:latin typeface="Aptos"/>
                <a:ea typeface="Aptos"/>
                <a:cs typeface="Aptos"/>
              </a:defRPr>
            </a:pPr>
            <a:r>
              <a:rPr sz="735" b="0">
                <a:solidFill>
                  <a:srgbClr val="334155"/>
                </a:solidFill>
                <a:latin typeface="Aptos"/>
                <a:ea typeface="Aptos"/>
                <a:cs typeface="Aptos"/>
              </a:rPr>
              <a:t>model=Qwen/Qwen2.5-7B-Instruct | frontend=http://127.0.0.1:8000/v1/chat/completio...</a:t>
            </a:r>
          </a:p>
        </p:txBody>
      </p:sp>
      <p:sp>
        <p:nvSpPr>
          <p:cNvPr id="43" name="">
            <a:extLst xmlns:a="http://schemas.openxmlformats.org/drawingml/2006/main">
              <a:ext uri="{FF2B5EF4-FFF2-40B4-BE49-F238E27FC236}">
                <a16:creationId xmlns:a16="http://schemas.microsoft.com/office/drawing/2014/main" id="{1D1AA652-2E29-4D63-81D3-1EA3F13EB31D}"/>
              </a:ext>
            </a:extLst>
          </p:cNvPr>
          <p:cNvSpPr>
            <a:spLocks xmlns:a="http://schemas.openxmlformats.org/drawingml/2006/main" noGrp="1"/>
          </p:cNvSpPr>
          <p:nvPr/>
        </p:nvSpPr>
        <p:spPr>
          <a:xfrm xmlns:a="http://schemas.openxmlformats.org/drawingml/2006/main">
            <a:off x="6096000" y="4295775"/>
            <a:ext cx="3867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0">
                <a:solidFill>
                  <a:srgbClr val="334155"/>
                </a:solidFill>
                <a:latin typeface="Aptos"/>
                <a:ea typeface="Aptos"/>
                <a:cs typeface="Aptos"/>
              </a:defRPr>
            </a:pPr>
            <a:r>
              <a:rPr sz="735" b="0">
                <a:solidFill>
                  <a:srgbClr val="334155"/>
                </a:solidFill>
                <a:latin typeface="Aptos"/>
                <a:ea typeface="Aptos"/>
                <a:cs typeface="Aptos"/>
              </a:rPr>
              <a:t>model=Qwen/Qwen2.5-7B-Instruct | frontend=http://127.0.0.1:8000/v1/chat/completions | too...</a:t>
            </a:r>
          </a:p>
        </p:txBody>
      </p:sp>
      <p:sp>
        <p:nvSpPr>
          <p:cNvPr id="44" name="">
            <a:extLst xmlns:a="http://schemas.openxmlformats.org/drawingml/2006/main">
              <a:ext uri="{FF2B5EF4-FFF2-40B4-BE49-F238E27FC236}">
                <a16:creationId xmlns:a16="http://schemas.microsoft.com/office/drawing/2014/main" id="{A568912A-1266-4F80-BAA6-33E8B6E5B989}"/>
              </a:ext>
            </a:extLst>
          </p:cNvPr>
          <p:cNvSpPr>
            <a:spLocks xmlns:a="http://schemas.openxmlformats.org/drawingml/2006/main" noGrp="1"/>
          </p:cNvSpPr>
          <p:nvPr/>
        </p:nvSpPr>
        <p:spPr>
          <a:xfrm xmlns:a="http://schemas.openxmlformats.org/drawingml/2006/main">
            <a:off x="10153650" y="4305300"/>
            <a:ext cx="1333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667085"/>
                </a:solidFill>
                <a:latin typeface="Aptos"/>
                <a:ea typeface="Aptos"/>
                <a:cs typeface="Aptos"/>
              </a:defRPr>
            </a:pPr>
            <a:r>
              <a:rPr sz="713" b="1">
                <a:solidFill>
                  <a:srgbClr val="667085"/>
                </a:solidFill>
                <a:latin typeface="Aptos"/>
                <a:ea typeface="Aptos"/>
                <a:cs typeface="Aptos"/>
              </a:rPr>
              <a:t>0 | No payload growth</a:t>
            </a:r>
          </a:p>
        </p:txBody>
      </p:sp>
      <p:sp>
        <p:nvSpPr>
          <p:cNvPr id="45" name="">
            <a:extLst xmlns:a="http://schemas.openxmlformats.org/drawingml/2006/main">
              <a:ext uri="{FF2B5EF4-FFF2-40B4-BE49-F238E27FC236}">
                <a16:creationId xmlns:a16="http://schemas.microsoft.com/office/drawing/2014/main" id="{F43D6A28-BAC5-4C28-929C-E63F02195010}"/>
              </a:ext>
            </a:extLst>
          </p:cNvPr>
          <p:cNvSpPr>
            <a:spLocks xmlns:a="http://schemas.openxmlformats.org/drawingml/2006/main" noGrp="1"/>
          </p:cNvSpPr>
          <p:nvPr/>
        </p:nvSpPr>
        <p:spPr>
          <a:xfrm xmlns:a="http://schemas.openxmlformats.org/drawingml/2006/main">
            <a:off x="609600" y="4629150"/>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46" name="">
            <a:extLst xmlns:a="http://schemas.openxmlformats.org/drawingml/2006/main">
              <a:ext uri="{FF2B5EF4-FFF2-40B4-BE49-F238E27FC236}">
                <a16:creationId xmlns:a16="http://schemas.microsoft.com/office/drawing/2014/main" id="{3612D056-23C2-40DD-A97C-90C824C42D24}"/>
              </a:ext>
            </a:extLst>
          </p:cNvPr>
          <p:cNvSpPr>
            <a:spLocks xmlns:a="http://schemas.openxmlformats.org/drawingml/2006/main" noGrp="1"/>
          </p:cNvSpPr>
          <p:nvPr/>
        </p:nvSpPr>
        <p:spPr>
          <a:xfrm xmlns:a="http://schemas.openxmlformats.org/drawingml/2006/main">
            <a:off x="609600" y="4638675"/>
            <a:ext cx="10972800" cy="409575"/>
          </a:xfrm>
          <a:prstGeom xmlns:a="http://schemas.openxmlformats.org/drawingml/2006/main" prst="rect">
            <a:avLst/>
          </a:prstGeom>
          <a:solidFill xmlns:a="http://schemas.openxmlformats.org/drawingml/2006/main">
            <a:srgbClr val="F1EBE2"/>
          </a:solidFill>
          <a:ln xmlns:a="http://schemas.openxmlformats.org/drawingml/2006/main" w="0">
            <a:solidFill>
              <a:srgbClr val="000000">
                <a:alpha val="0"/>
              </a:srgbClr>
            </a:solidFill>
            <a:prstDash val="solid"/>
          </a:ln>
        </p:spPr>
        <p:txBody xmlns:a="http://schemas.openxmlformats.org/drawingml/2006/main">
          <a:bodyPr/>
          <a:p/>
        </p:txBody>
      </p:sp>
      <p:sp>
        <p:nvSpPr>
          <p:cNvPr id="47" name="">
            <a:extLst xmlns:a="http://schemas.openxmlformats.org/drawingml/2006/main">
              <a:ext uri="{FF2B5EF4-FFF2-40B4-BE49-F238E27FC236}">
                <a16:creationId xmlns:a16="http://schemas.microsoft.com/office/drawing/2014/main" id="{682D96D6-8731-4FA0-9E95-49333CDD5156}"/>
              </a:ext>
            </a:extLst>
          </p:cNvPr>
          <p:cNvSpPr>
            <a:spLocks xmlns:a="http://schemas.openxmlformats.org/drawingml/2006/main" noGrp="1"/>
          </p:cNvSpPr>
          <p:nvPr/>
        </p:nvSpPr>
        <p:spPr>
          <a:xfrm xmlns:a="http://schemas.openxmlformats.org/drawingml/2006/main">
            <a:off x="609600" y="4638675"/>
            <a:ext cx="57150" cy="409575"/>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txBody xmlns:a="http://schemas.openxmlformats.org/drawingml/2006/main">
          <a:bodyPr/>
          <a:p/>
        </p:txBody>
      </p:sp>
      <p:sp>
        <p:nvSpPr>
          <p:cNvPr id="48" name="">
            <a:extLst xmlns:a="http://schemas.openxmlformats.org/drawingml/2006/main">
              <a:ext uri="{FF2B5EF4-FFF2-40B4-BE49-F238E27FC236}">
                <a16:creationId xmlns:a16="http://schemas.microsoft.com/office/drawing/2014/main" id="{87F913DE-9273-420F-9B09-A91B21A45E3D}"/>
              </a:ext>
            </a:extLst>
          </p:cNvPr>
          <p:cNvSpPr>
            <a:spLocks xmlns:a="http://schemas.openxmlformats.org/drawingml/2006/main" noGrp="1"/>
          </p:cNvSpPr>
          <p:nvPr/>
        </p:nvSpPr>
        <p:spPr>
          <a:xfrm xmlns:a="http://schemas.openxmlformats.org/drawingml/2006/main">
            <a:off x="762000" y="4705350"/>
            <a:ext cx="14859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10" b="1">
                <a:solidFill>
                  <a:srgbClr val="101820"/>
                </a:solidFill>
                <a:latin typeface="Aptos"/>
                <a:ea typeface="Aptos"/>
                <a:cs typeface="Aptos"/>
              </a:defRPr>
            </a:pPr>
            <a:r>
              <a:rPr sz="810" b="1">
                <a:solidFill>
                  <a:srgbClr val="101820"/>
                </a:solidFill>
                <a:latin typeface="Aptos"/>
                <a:ea typeface="Aptos"/>
                <a:cs typeface="Aptos"/>
              </a:rPr>
              <a:t>Agent Rules Applied</a:t>
            </a:r>
          </a:p>
        </p:txBody>
      </p:sp>
      <p:sp>
        <p:nvSpPr>
          <p:cNvPr id="49" name="">
            <a:extLst xmlns:a="http://schemas.openxmlformats.org/drawingml/2006/main">
              <a:ext uri="{FF2B5EF4-FFF2-40B4-BE49-F238E27FC236}">
                <a16:creationId xmlns:a16="http://schemas.microsoft.com/office/drawing/2014/main" id="{98A05A91-0D28-465A-BDBE-CC8FA2D0B8C4}"/>
              </a:ext>
            </a:extLst>
          </p:cNvPr>
          <p:cNvSpPr>
            <a:spLocks xmlns:a="http://schemas.openxmlformats.org/drawingml/2006/main" noGrp="1"/>
          </p:cNvSpPr>
          <p:nvPr/>
        </p:nvSpPr>
        <p:spPr>
          <a:xfrm xmlns:a="http://schemas.openxmlformats.org/drawingml/2006/main">
            <a:off x="2457450" y="4705350"/>
            <a:ext cx="3448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0">
                <a:solidFill>
                  <a:srgbClr val="334155"/>
                </a:solidFill>
                <a:latin typeface="Aptos"/>
                <a:ea typeface="Aptos"/>
                <a:cs typeface="Aptos"/>
              </a:defRPr>
            </a:pPr>
            <a:r>
              <a:rPr sz="735" b="0">
                <a:solidFill>
                  <a:srgbClr val="334155"/>
                </a:solidFill>
                <a:latin typeface="Aptos"/>
                <a:ea typeface="Aptos"/>
                <a:cs typeface="Aptos"/>
              </a:rPr>
              <a:t>system_prompt_chars=0 | runtime_source=python_environment</a:t>
            </a:r>
          </a:p>
        </p:txBody>
      </p:sp>
      <p:sp>
        <p:nvSpPr>
          <p:cNvPr id="50" name="">
            <a:extLst xmlns:a="http://schemas.openxmlformats.org/drawingml/2006/main">
              <a:ext uri="{FF2B5EF4-FFF2-40B4-BE49-F238E27FC236}">
                <a16:creationId xmlns:a16="http://schemas.microsoft.com/office/drawing/2014/main" id="{3AAC5F6F-C05F-4B9E-9850-002BE305AEC1}"/>
              </a:ext>
            </a:extLst>
          </p:cNvPr>
          <p:cNvSpPr>
            <a:spLocks xmlns:a="http://schemas.openxmlformats.org/drawingml/2006/main" noGrp="1"/>
          </p:cNvSpPr>
          <p:nvPr/>
        </p:nvSpPr>
        <p:spPr>
          <a:xfrm xmlns:a="http://schemas.openxmlformats.org/drawingml/2006/main">
            <a:off x="6096000" y="4705350"/>
            <a:ext cx="3867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0">
                <a:solidFill>
                  <a:srgbClr val="334155"/>
                </a:solidFill>
                <a:latin typeface="Aptos"/>
                <a:ea typeface="Aptos"/>
                <a:cs typeface="Aptos"/>
              </a:defRPr>
            </a:pPr>
            <a:r>
              <a:rPr sz="735" b="0">
                <a:solidFill>
                  <a:srgbClr val="334155"/>
                </a:solidFill>
                <a:latin typeface="Aptos"/>
                <a:ea typeface="Aptos"/>
                <a:cs typeface="Aptos"/>
              </a:rPr>
              <a:t>system_prompt_chars=0 | runtime_source=python_environment</a:t>
            </a:r>
          </a:p>
        </p:txBody>
      </p:sp>
      <p:sp>
        <p:nvSpPr>
          <p:cNvPr id="51" name="">
            <a:extLst xmlns:a="http://schemas.openxmlformats.org/drawingml/2006/main">
              <a:ext uri="{FF2B5EF4-FFF2-40B4-BE49-F238E27FC236}">
                <a16:creationId xmlns:a16="http://schemas.microsoft.com/office/drawing/2014/main" id="{0CE4F68A-E77C-43AB-956F-04AE77F25A69}"/>
              </a:ext>
            </a:extLst>
          </p:cNvPr>
          <p:cNvSpPr>
            <a:spLocks xmlns:a="http://schemas.openxmlformats.org/drawingml/2006/main" noGrp="1"/>
          </p:cNvSpPr>
          <p:nvPr/>
        </p:nvSpPr>
        <p:spPr>
          <a:xfrm xmlns:a="http://schemas.openxmlformats.org/drawingml/2006/main">
            <a:off x="10153650" y="4714875"/>
            <a:ext cx="1333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667085"/>
                </a:solidFill>
                <a:latin typeface="Aptos"/>
                <a:ea typeface="Aptos"/>
                <a:cs typeface="Aptos"/>
              </a:defRPr>
            </a:pPr>
            <a:r>
              <a:rPr sz="713" b="1">
                <a:solidFill>
                  <a:srgbClr val="667085"/>
                </a:solidFill>
                <a:latin typeface="Aptos"/>
                <a:ea typeface="Aptos"/>
                <a:cs typeface="Aptos"/>
              </a:rPr>
              <a:t>0 | No payload growth</a:t>
            </a:r>
          </a:p>
        </p:txBody>
      </p:sp>
      <p:sp>
        <p:nvSpPr>
          <p:cNvPr id="52" name="">
            <a:extLst xmlns:a="http://schemas.openxmlformats.org/drawingml/2006/main">
              <a:ext uri="{FF2B5EF4-FFF2-40B4-BE49-F238E27FC236}">
                <a16:creationId xmlns:a16="http://schemas.microsoft.com/office/drawing/2014/main" id="{F738CD65-A965-4090-B56D-EFC2BDB49B2F}"/>
              </a:ext>
            </a:extLst>
          </p:cNvPr>
          <p:cNvSpPr>
            <a:spLocks xmlns:a="http://schemas.openxmlformats.org/drawingml/2006/main" noGrp="1"/>
          </p:cNvSpPr>
          <p:nvPr/>
        </p:nvSpPr>
        <p:spPr>
          <a:xfrm xmlns:a="http://schemas.openxmlformats.org/drawingml/2006/main">
            <a:off x="609600" y="5038725"/>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84919940-CCD2-4CE3-BB2B-0AC39B405CAD}"/>
              </a:ext>
            </a:extLst>
          </p:cNvPr>
          <p:cNvSpPr>
            <a:spLocks xmlns:a="http://schemas.openxmlformats.org/drawingml/2006/main" noGrp="1"/>
          </p:cNvSpPr>
          <p:nvPr/>
        </p:nvSpPr>
        <p:spPr>
          <a:xfrm xmlns:a="http://schemas.openxmlformats.org/drawingml/2006/main">
            <a:off x="609600" y="5048250"/>
            <a:ext cx="10972800" cy="409575"/>
          </a:xfrm>
          <a:prstGeom xmlns:a="http://schemas.openxmlformats.org/drawingml/2006/main" prst="rect">
            <a:avLst/>
          </a:prstGeom>
          <a:solidFill xmlns:a="http://schemas.openxmlformats.org/drawingml/2006/main">
            <a:srgbClr val="FBF8F2"/>
          </a:solidFill>
          <a:ln xmlns:a="http://schemas.openxmlformats.org/drawingml/2006/main" w="0">
            <a:solidFill>
              <a:srgbClr val="000000">
                <a:alpha val="0"/>
              </a:srgbClr>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E195FBA7-231E-457B-8656-D6FFC15DFCEA}"/>
              </a:ext>
            </a:extLst>
          </p:cNvPr>
          <p:cNvSpPr>
            <a:spLocks xmlns:a="http://schemas.openxmlformats.org/drawingml/2006/main" noGrp="1"/>
          </p:cNvSpPr>
          <p:nvPr/>
        </p:nvSpPr>
        <p:spPr>
          <a:xfrm xmlns:a="http://schemas.openxmlformats.org/drawingml/2006/main">
            <a:off x="609600" y="5048250"/>
            <a:ext cx="57150" cy="409575"/>
          </a:xfrm>
          <a:prstGeom xmlns:a="http://schemas.openxmlformats.org/drawingml/2006/main" prst="rect">
            <a:avLst/>
          </a:prstGeom>
          <a:solidFill xmlns:a="http://schemas.openxmlformats.org/drawingml/2006/main">
            <a:srgbClr val="0F9F6E"/>
          </a:solidFill>
          <a:ln xmlns:a="http://schemas.openxmlformats.org/drawingml/2006/main" w="0">
            <a:solidFill>
              <a:srgbClr val="000000">
                <a:alpha val="0"/>
              </a:srgbClr>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82E42859-D924-4425-B239-43F4EB7DB1D0}"/>
              </a:ext>
            </a:extLst>
          </p:cNvPr>
          <p:cNvSpPr>
            <a:spLocks xmlns:a="http://schemas.openxmlformats.org/drawingml/2006/main" noGrp="1"/>
          </p:cNvSpPr>
          <p:nvPr/>
        </p:nvSpPr>
        <p:spPr>
          <a:xfrm xmlns:a="http://schemas.openxmlformats.org/drawingml/2006/main">
            <a:off x="762000" y="5114925"/>
            <a:ext cx="14859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10" b="1">
                <a:solidFill>
                  <a:srgbClr val="101820"/>
                </a:solidFill>
                <a:latin typeface="Aptos"/>
                <a:ea typeface="Aptos"/>
                <a:cs typeface="Aptos"/>
              </a:defRPr>
            </a:pPr>
            <a:r>
              <a:rPr sz="810" b="1">
                <a:solidFill>
                  <a:srgbClr val="101820"/>
                </a:solidFill>
                <a:latin typeface="Aptos"/>
                <a:ea typeface="Aptos"/>
                <a:cs typeface="Aptos"/>
              </a:rPr>
              <a:t>Tools Attached</a:t>
            </a:r>
          </a:p>
        </p:txBody>
      </p:sp>
      <p:sp>
        <p:nvSpPr>
          <p:cNvPr id="56" name="">
            <a:extLst xmlns:a="http://schemas.openxmlformats.org/drawingml/2006/main">
              <a:ext uri="{FF2B5EF4-FFF2-40B4-BE49-F238E27FC236}">
                <a16:creationId xmlns:a16="http://schemas.microsoft.com/office/drawing/2014/main" id="{B25E8EEB-F2FC-4682-B769-F5943B09FA0E}"/>
              </a:ext>
            </a:extLst>
          </p:cNvPr>
          <p:cNvSpPr>
            <a:spLocks xmlns:a="http://schemas.openxmlformats.org/drawingml/2006/main" noGrp="1"/>
          </p:cNvSpPr>
          <p:nvPr/>
        </p:nvSpPr>
        <p:spPr>
          <a:xfrm xmlns:a="http://schemas.openxmlformats.org/drawingml/2006/main">
            <a:off x="2457450" y="5114925"/>
            <a:ext cx="3448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0">
                <a:solidFill>
                  <a:srgbClr val="334155"/>
                </a:solidFill>
                <a:latin typeface="Aptos"/>
                <a:ea typeface="Aptos"/>
                <a:cs typeface="Aptos"/>
              </a:defRPr>
            </a:pPr>
            <a:r>
              <a:rPr sz="735" b="0">
                <a:solidFill>
                  <a:srgbClr val="334155"/>
                </a:solidFill>
                <a:latin typeface="Aptos"/>
                <a:ea typeface="Aptos"/>
                <a:cs typeface="Aptos"/>
              </a:rPr>
              <a:t>expected_tools=write_todos, ls, read_file, write_file, edit_file, glob, grep, exe...</a:t>
            </a:r>
          </a:p>
        </p:txBody>
      </p:sp>
      <p:sp>
        <p:nvSpPr>
          <p:cNvPr id="57" name="">
            <a:extLst xmlns:a="http://schemas.openxmlformats.org/drawingml/2006/main">
              <a:ext uri="{FF2B5EF4-FFF2-40B4-BE49-F238E27FC236}">
                <a16:creationId xmlns:a16="http://schemas.microsoft.com/office/drawing/2014/main" id="{6671947B-3333-4C64-A9EA-C0549E8B75E9}"/>
              </a:ext>
            </a:extLst>
          </p:cNvPr>
          <p:cNvSpPr>
            <a:spLocks xmlns:a="http://schemas.openxmlformats.org/drawingml/2006/main" noGrp="1"/>
          </p:cNvSpPr>
          <p:nvPr/>
        </p:nvSpPr>
        <p:spPr>
          <a:xfrm xmlns:a="http://schemas.openxmlformats.org/drawingml/2006/main">
            <a:off x="6096000" y="5114925"/>
            <a:ext cx="3867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0">
                <a:solidFill>
                  <a:srgbClr val="334155"/>
                </a:solidFill>
                <a:latin typeface="Aptos"/>
                <a:ea typeface="Aptos"/>
                <a:cs typeface="Aptos"/>
              </a:defRPr>
            </a:pPr>
            <a:r>
              <a:rPr sz="735" b="0">
                <a:solidFill>
                  <a:srgbClr val="334155"/>
                </a:solidFill>
                <a:latin typeface="Aptos"/>
                <a:ea typeface="Aptos"/>
                <a:cs typeface="Aptos"/>
              </a:rPr>
              <a:t>expected_tools=write_todos, ls, read_file, write_file, edit_file, glob, grep, execute, ta...</a:t>
            </a:r>
          </a:p>
        </p:txBody>
      </p:sp>
      <p:sp>
        <p:nvSpPr>
          <p:cNvPr id="58" name="">
            <a:extLst xmlns:a="http://schemas.openxmlformats.org/drawingml/2006/main">
              <a:ext uri="{FF2B5EF4-FFF2-40B4-BE49-F238E27FC236}">
                <a16:creationId xmlns:a16="http://schemas.microsoft.com/office/drawing/2014/main" id="{C794262E-71AD-42DE-95D6-4C0DEAA61DEF}"/>
              </a:ext>
            </a:extLst>
          </p:cNvPr>
          <p:cNvSpPr>
            <a:spLocks xmlns:a="http://schemas.openxmlformats.org/drawingml/2006/main" noGrp="1"/>
          </p:cNvSpPr>
          <p:nvPr/>
        </p:nvSpPr>
        <p:spPr>
          <a:xfrm xmlns:a="http://schemas.openxmlformats.org/drawingml/2006/main">
            <a:off x="10153650" y="5124450"/>
            <a:ext cx="1333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667085"/>
                </a:solidFill>
                <a:latin typeface="Aptos"/>
                <a:ea typeface="Aptos"/>
                <a:cs typeface="Aptos"/>
              </a:defRPr>
            </a:pPr>
            <a:r>
              <a:rPr sz="713" b="1">
                <a:solidFill>
                  <a:srgbClr val="667085"/>
                </a:solidFill>
                <a:latin typeface="Aptos"/>
                <a:ea typeface="Aptos"/>
                <a:cs typeface="Aptos"/>
              </a:rPr>
              <a:t>0 | No payload growth</a:t>
            </a:r>
          </a:p>
        </p:txBody>
      </p:sp>
      <p:sp>
        <p:nvSpPr>
          <p:cNvPr id="59" name="">
            <a:extLst xmlns:a="http://schemas.openxmlformats.org/drawingml/2006/main">
              <a:ext uri="{FF2B5EF4-FFF2-40B4-BE49-F238E27FC236}">
                <a16:creationId xmlns:a16="http://schemas.microsoft.com/office/drawing/2014/main" id="{09528132-FBE6-4A02-8575-A69B1A3DED8F}"/>
              </a:ext>
            </a:extLst>
          </p:cNvPr>
          <p:cNvSpPr>
            <a:spLocks xmlns:a="http://schemas.openxmlformats.org/drawingml/2006/main" noGrp="1"/>
          </p:cNvSpPr>
          <p:nvPr/>
        </p:nvSpPr>
        <p:spPr>
          <a:xfrm xmlns:a="http://schemas.openxmlformats.org/drawingml/2006/main">
            <a:off x="609600" y="5448300"/>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60" name="">
            <a:extLst xmlns:a="http://schemas.openxmlformats.org/drawingml/2006/main">
              <a:ext uri="{FF2B5EF4-FFF2-40B4-BE49-F238E27FC236}">
                <a16:creationId xmlns:a16="http://schemas.microsoft.com/office/drawing/2014/main" id="{73B5632C-F037-4C52-AE9F-B7DCF113DF16}"/>
              </a:ext>
            </a:extLst>
          </p:cNvPr>
          <p:cNvSpPr>
            <a:spLocks xmlns:a="http://schemas.openxmlformats.org/drawingml/2006/main" noGrp="1"/>
          </p:cNvSpPr>
          <p:nvPr/>
        </p:nvSpPr>
        <p:spPr>
          <a:xfrm xmlns:a="http://schemas.openxmlformats.org/drawingml/2006/main">
            <a:off x="609600" y="5457825"/>
            <a:ext cx="10972800" cy="409575"/>
          </a:xfrm>
          <a:prstGeom xmlns:a="http://schemas.openxmlformats.org/drawingml/2006/main" prst="rect">
            <a:avLst/>
          </a:prstGeom>
          <a:solidFill xmlns:a="http://schemas.openxmlformats.org/drawingml/2006/main">
            <a:srgbClr val="F1EBE2"/>
          </a:solidFill>
          <a:ln xmlns:a="http://schemas.openxmlformats.org/drawingml/2006/main" w="0">
            <a:solidFill>
              <a:srgbClr val="000000">
                <a:alpha val="0"/>
              </a:srgbClr>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777A9119-B9AA-4700-886C-607DDF5D0169}"/>
              </a:ext>
            </a:extLst>
          </p:cNvPr>
          <p:cNvSpPr>
            <a:spLocks xmlns:a="http://schemas.openxmlformats.org/drawingml/2006/main" noGrp="1"/>
          </p:cNvSpPr>
          <p:nvPr/>
        </p:nvSpPr>
        <p:spPr>
          <a:xfrm xmlns:a="http://schemas.openxmlformats.org/drawingml/2006/main">
            <a:off x="609600" y="5457825"/>
            <a:ext cx="57150" cy="409575"/>
          </a:xfrm>
          <a:prstGeom xmlns:a="http://schemas.openxmlformats.org/drawingml/2006/main" prst="rect">
            <a:avLst/>
          </a:prstGeom>
          <a:solidFill xmlns:a="http://schemas.openxmlformats.org/drawingml/2006/main">
            <a:srgbClr val="0F9F6E"/>
          </a:solidFill>
          <a:ln xmlns:a="http://schemas.openxmlformats.org/drawingml/2006/main" w="0">
            <a:solidFill>
              <a:srgbClr val="000000">
                <a:alpha val="0"/>
              </a:srgbClr>
            </a:solidFill>
            <a:prstDash val="solid"/>
          </a:ln>
        </p:spPr>
        <p:txBody xmlns:a="http://schemas.openxmlformats.org/drawingml/2006/main">
          <a:bodyPr/>
          <a:p/>
        </p:txBody>
      </p:sp>
      <p:sp>
        <p:nvSpPr>
          <p:cNvPr id="62" name="">
            <a:extLst xmlns:a="http://schemas.openxmlformats.org/drawingml/2006/main">
              <a:ext uri="{FF2B5EF4-FFF2-40B4-BE49-F238E27FC236}">
                <a16:creationId xmlns:a16="http://schemas.microsoft.com/office/drawing/2014/main" id="{2B936ABF-D4E2-43E6-96EE-E244B288128D}"/>
              </a:ext>
            </a:extLst>
          </p:cNvPr>
          <p:cNvSpPr>
            <a:spLocks xmlns:a="http://schemas.openxmlformats.org/drawingml/2006/main" noGrp="1"/>
          </p:cNvSpPr>
          <p:nvPr/>
        </p:nvSpPr>
        <p:spPr>
          <a:xfrm xmlns:a="http://schemas.openxmlformats.org/drawingml/2006/main">
            <a:off x="762000" y="5524500"/>
            <a:ext cx="14859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10" b="1">
                <a:solidFill>
                  <a:srgbClr val="101820"/>
                </a:solidFill>
                <a:latin typeface="Aptos"/>
                <a:ea typeface="Aptos"/>
                <a:cs typeface="Aptos"/>
              </a:defRPr>
            </a:pPr>
            <a:r>
              <a:rPr sz="810" b="1">
                <a:solidFill>
                  <a:srgbClr val="101820"/>
                </a:solidFill>
                <a:latin typeface="Aptos"/>
                <a:ea typeface="Aptos"/>
                <a:cs typeface="Aptos"/>
              </a:rPr>
              <a:t>Runtime Prepared</a:t>
            </a:r>
          </a:p>
        </p:txBody>
      </p:sp>
      <p:sp>
        <p:nvSpPr>
          <p:cNvPr id="63" name="">
            <a:extLst xmlns:a="http://schemas.openxmlformats.org/drawingml/2006/main">
              <a:ext uri="{FF2B5EF4-FFF2-40B4-BE49-F238E27FC236}">
                <a16:creationId xmlns:a16="http://schemas.microsoft.com/office/drawing/2014/main" id="{B1E5240E-6075-479E-A561-C2B146A08BEC}"/>
              </a:ext>
            </a:extLst>
          </p:cNvPr>
          <p:cNvSpPr>
            <a:spLocks xmlns:a="http://schemas.openxmlformats.org/drawingml/2006/main" noGrp="1"/>
          </p:cNvSpPr>
          <p:nvPr/>
        </p:nvSpPr>
        <p:spPr>
          <a:xfrm xmlns:a="http://schemas.openxmlformats.org/drawingml/2006/main">
            <a:off x="2457450" y="5524500"/>
            <a:ext cx="3448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0">
                <a:solidFill>
                  <a:srgbClr val="334155"/>
                </a:solidFill>
                <a:latin typeface="Aptos"/>
                <a:ea typeface="Aptos"/>
                <a:cs typeface="Aptos"/>
              </a:defRPr>
            </a:pPr>
            <a:r>
              <a:rPr sz="735" b="0">
                <a:solidFill>
                  <a:srgbClr val="334155"/>
                </a:solidFill>
                <a:latin typeface="Aptos"/>
                <a:ea typeface="Aptos"/>
                <a:cs typeface="Aptos"/>
              </a:rPr>
              <a:t>parser_observed=True | prompt_tokens=12553 | cached_input_tokens=12544</a:t>
            </a:r>
          </a:p>
        </p:txBody>
      </p:sp>
      <p:sp>
        <p:nvSpPr>
          <p:cNvPr id="64" name="">
            <a:extLst xmlns:a="http://schemas.openxmlformats.org/drawingml/2006/main">
              <a:ext uri="{FF2B5EF4-FFF2-40B4-BE49-F238E27FC236}">
                <a16:creationId xmlns:a16="http://schemas.microsoft.com/office/drawing/2014/main" id="{D10C2EA3-BA25-46E0-A7BB-9F3B3FDCE0B5}"/>
              </a:ext>
            </a:extLst>
          </p:cNvPr>
          <p:cNvSpPr>
            <a:spLocks xmlns:a="http://schemas.openxmlformats.org/drawingml/2006/main" noGrp="1"/>
          </p:cNvSpPr>
          <p:nvPr/>
        </p:nvSpPr>
        <p:spPr>
          <a:xfrm xmlns:a="http://schemas.openxmlformats.org/drawingml/2006/main">
            <a:off x="6096000" y="5524500"/>
            <a:ext cx="3867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0">
                <a:solidFill>
                  <a:srgbClr val="334155"/>
                </a:solidFill>
                <a:latin typeface="Aptos"/>
                <a:ea typeface="Aptos"/>
                <a:cs typeface="Aptos"/>
              </a:defRPr>
            </a:pPr>
            <a:r>
              <a:rPr sz="735" b="0">
                <a:solidFill>
                  <a:srgbClr val="334155"/>
                </a:solidFill>
                <a:latin typeface="Aptos"/>
                <a:ea typeface="Aptos"/>
                <a:cs typeface="Aptos"/>
              </a:rPr>
              <a:t>parser_observed=True | prompt_tokens=12553 | cached_input_tokens=12544</a:t>
            </a:r>
          </a:p>
        </p:txBody>
      </p:sp>
      <p:sp>
        <p:nvSpPr>
          <p:cNvPr id="65" name="">
            <a:extLst xmlns:a="http://schemas.openxmlformats.org/drawingml/2006/main">
              <a:ext uri="{FF2B5EF4-FFF2-40B4-BE49-F238E27FC236}">
                <a16:creationId xmlns:a16="http://schemas.microsoft.com/office/drawing/2014/main" id="{B7EEDDDD-AD28-447B-B3BB-3CBB16AF9E79}"/>
              </a:ext>
            </a:extLst>
          </p:cNvPr>
          <p:cNvSpPr>
            <a:spLocks xmlns:a="http://schemas.openxmlformats.org/drawingml/2006/main" noGrp="1"/>
          </p:cNvSpPr>
          <p:nvPr/>
        </p:nvSpPr>
        <p:spPr>
          <a:xfrm xmlns:a="http://schemas.openxmlformats.org/drawingml/2006/main">
            <a:off x="10153650" y="5534025"/>
            <a:ext cx="1333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667085"/>
                </a:solidFill>
                <a:latin typeface="Aptos"/>
                <a:ea typeface="Aptos"/>
                <a:cs typeface="Aptos"/>
              </a:defRPr>
            </a:pPr>
            <a:r>
              <a:rPr sz="713" b="1">
                <a:solidFill>
                  <a:srgbClr val="667085"/>
                </a:solidFill>
                <a:latin typeface="Aptos"/>
                <a:ea typeface="Aptos"/>
                <a:cs typeface="Aptos"/>
              </a:rPr>
              <a:t>0 | No payload growth</a:t>
            </a:r>
          </a:p>
        </p:txBody>
      </p:sp>
      <p:sp>
        <p:nvSpPr>
          <p:cNvPr id="66" name="">
            <a:extLst xmlns:a="http://schemas.openxmlformats.org/drawingml/2006/main">
              <a:ext uri="{FF2B5EF4-FFF2-40B4-BE49-F238E27FC236}">
                <a16:creationId xmlns:a16="http://schemas.microsoft.com/office/drawing/2014/main" id="{F1ABE275-F097-474F-BD56-EAF097549B9C}"/>
              </a:ext>
            </a:extLst>
          </p:cNvPr>
          <p:cNvSpPr>
            <a:spLocks xmlns:a="http://schemas.openxmlformats.org/drawingml/2006/main" noGrp="1"/>
          </p:cNvSpPr>
          <p:nvPr/>
        </p:nvSpPr>
        <p:spPr>
          <a:xfrm xmlns:a="http://schemas.openxmlformats.org/drawingml/2006/main">
            <a:off x="609600" y="5857875"/>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243EA0DE-E2C7-4443-97CB-055F619A59A9}"/>
              </a:ext>
            </a:extLst>
          </p:cNvPr>
          <p:cNvSpPr>
            <a:spLocks xmlns:a="http://schemas.openxmlformats.org/drawingml/2006/main" noGrp="1"/>
          </p:cNvSpPr>
          <p:nvPr/>
        </p:nvSpPr>
        <p:spPr>
          <a:xfrm xmlns:a="http://schemas.openxmlformats.org/drawingml/2006/main">
            <a:off x="609600" y="5867400"/>
            <a:ext cx="10972800" cy="409575"/>
          </a:xfrm>
          <a:prstGeom xmlns:a="http://schemas.openxmlformats.org/drawingml/2006/main" prst="rect">
            <a:avLst/>
          </a:prstGeom>
          <a:solidFill xmlns:a="http://schemas.openxmlformats.org/drawingml/2006/main">
            <a:srgbClr val="FBF8F2"/>
          </a:solidFill>
          <a:ln xmlns:a="http://schemas.openxmlformats.org/drawingml/2006/main" w="0">
            <a:solidFill>
              <a:srgbClr val="000000">
                <a:alpha val="0"/>
              </a:srgbClr>
            </a:solidFill>
            <a:prstDash val="solid"/>
          </a:ln>
        </p:spPr>
        <p:txBody xmlns:a="http://schemas.openxmlformats.org/drawingml/2006/main">
          <a:bodyPr/>
          <a:p/>
        </p:txBody>
      </p:sp>
      <p:sp>
        <p:nvSpPr>
          <p:cNvPr id="68" name="">
            <a:extLst xmlns:a="http://schemas.openxmlformats.org/drawingml/2006/main">
              <a:ext uri="{FF2B5EF4-FFF2-40B4-BE49-F238E27FC236}">
                <a16:creationId xmlns:a16="http://schemas.microsoft.com/office/drawing/2014/main" id="{4324B2E8-F55B-49D3-8C19-A22B4E69500E}"/>
              </a:ext>
            </a:extLst>
          </p:cNvPr>
          <p:cNvSpPr>
            <a:spLocks xmlns:a="http://schemas.openxmlformats.org/drawingml/2006/main" noGrp="1"/>
          </p:cNvSpPr>
          <p:nvPr/>
        </p:nvSpPr>
        <p:spPr>
          <a:xfrm xmlns:a="http://schemas.openxmlformats.org/drawingml/2006/main">
            <a:off x="609600" y="5867400"/>
            <a:ext cx="57150" cy="409575"/>
          </a:xfrm>
          <a:prstGeom xmlns:a="http://schemas.openxmlformats.org/drawingml/2006/main" prst="rect">
            <a:avLst/>
          </a:prstGeom>
          <a:solidFill xmlns:a="http://schemas.openxmlformats.org/drawingml/2006/main">
            <a:srgbClr val="BE123C"/>
          </a:solidFill>
          <a:ln xmlns:a="http://schemas.openxmlformats.org/drawingml/2006/main" w="0">
            <a:solidFill>
              <a:srgbClr val="000000">
                <a:alpha val="0"/>
              </a:srgbClr>
            </a:solidFill>
            <a:prstDash val="solid"/>
          </a:ln>
        </p:spPr>
        <p:txBody xmlns:a="http://schemas.openxmlformats.org/drawingml/2006/main">
          <a:bodyPr/>
          <a:p/>
        </p:txBody>
      </p:sp>
      <p:sp>
        <p:nvSpPr>
          <p:cNvPr id="69" name="">
            <a:extLst xmlns:a="http://schemas.openxmlformats.org/drawingml/2006/main">
              <a:ext uri="{FF2B5EF4-FFF2-40B4-BE49-F238E27FC236}">
                <a16:creationId xmlns:a16="http://schemas.microsoft.com/office/drawing/2014/main" id="{C4E451E1-7728-463D-AE3E-2E798B000F5E}"/>
              </a:ext>
            </a:extLst>
          </p:cNvPr>
          <p:cNvSpPr>
            <a:spLocks xmlns:a="http://schemas.openxmlformats.org/drawingml/2006/main" noGrp="1"/>
          </p:cNvSpPr>
          <p:nvPr/>
        </p:nvSpPr>
        <p:spPr>
          <a:xfrm xmlns:a="http://schemas.openxmlformats.org/drawingml/2006/main">
            <a:off x="762000" y="5934075"/>
            <a:ext cx="14859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10" b="1">
                <a:solidFill>
                  <a:srgbClr val="101820"/>
                </a:solidFill>
                <a:latin typeface="Aptos"/>
                <a:ea typeface="Aptos"/>
                <a:cs typeface="Aptos"/>
              </a:defRPr>
            </a:pPr>
            <a:r>
              <a:rPr sz="810" b="1">
                <a:solidFill>
                  <a:srgbClr val="101820"/>
                </a:solidFill>
                <a:latin typeface="Aptos"/>
                <a:ea typeface="Aptos"/>
                <a:cs typeface="Aptos"/>
              </a:rPr>
              <a:t>Behavior Recorded</a:t>
            </a:r>
          </a:p>
        </p:txBody>
      </p:sp>
      <p:sp>
        <p:nvSpPr>
          <p:cNvPr id="70" name="">
            <a:extLst xmlns:a="http://schemas.openxmlformats.org/drawingml/2006/main">
              <a:ext uri="{FF2B5EF4-FFF2-40B4-BE49-F238E27FC236}">
                <a16:creationId xmlns:a16="http://schemas.microsoft.com/office/drawing/2014/main" id="{FB8393F4-49B7-47EF-A669-1B0C1F8F331F}"/>
              </a:ext>
            </a:extLst>
          </p:cNvPr>
          <p:cNvSpPr>
            <a:spLocks xmlns:a="http://schemas.openxmlformats.org/drawingml/2006/main" noGrp="1"/>
          </p:cNvSpPr>
          <p:nvPr/>
        </p:nvSpPr>
        <p:spPr>
          <a:xfrm xmlns:a="http://schemas.openxmlformats.org/drawingml/2006/main">
            <a:off x="2457450" y="5934075"/>
            <a:ext cx="3448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0">
                <a:solidFill>
                  <a:srgbClr val="334155"/>
                </a:solidFill>
                <a:latin typeface="Aptos"/>
                <a:ea typeface="Aptos"/>
                <a:cs typeface="Aptos"/>
              </a:defRPr>
            </a:pPr>
            <a:r>
              <a:rPr sz="735" b="0">
                <a:solidFill>
                  <a:srgbClr val="334155"/>
                </a:solidFill>
                <a:latin typeface="Aptos"/>
                <a:ea typeface="Aptos"/>
                <a:cs typeface="Aptos"/>
              </a:rPr>
              <a:t>observed_tool_calls=2 | tools_used=ls, read_file | finish_reason=length | workspa...</a:t>
            </a:r>
          </a:p>
        </p:txBody>
      </p:sp>
      <p:sp>
        <p:nvSpPr>
          <p:cNvPr id="71" name="">
            <a:extLst xmlns:a="http://schemas.openxmlformats.org/drawingml/2006/main">
              <a:ext uri="{FF2B5EF4-FFF2-40B4-BE49-F238E27FC236}">
                <a16:creationId xmlns:a16="http://schemas.microsoft.com/office/drawing/2014/main" id="{003084B5-B494-41BA-807F-D710E634203B}"/>
              </a:ext>
            </a:extLst>
          </p:cNvPr>
          <p:cNvSpPr>
            <a:spLocks xmlns:a="http://schemas.openxmlformats.org/drawingml/2006/main" noGrp="1"/>
          </p:cNvSpPr>
          <p:nvPr/>
        </p:nvSpPr>
        <p:spPr>
          <a:xfrm xmlns:a="http://schemas.openxmlformats.org/drawingml/2006/main">
            <a:off x="6096000" y="5934075"/>
            <a:ext cx="3867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0">
                <a:solidFill>
                  <a:srgbClr val="334155"/>
                </a:solidFill>
                <a:latin typeface="Aptos"/>
                <a:ea typeface="Aptos"/>
                <a:cs typeface="Aptos"/>
              </a:defRPr>
            </a:pPr>
            <a:r>
              <a:rPr sz="735" b="0">
                <a:solidFill>
                  <a:srgbClr val="334155"/>
                </a:solidFill>
                <a:latin typeface="Aptos"/>
                <a:ea typeface="Aptos"/>
                <a:cs typeface="Aptos"/>
              </a:rPr>
              <a:t>observed_tool_calls=2 | tools_used=ls, read_file | workspace_changed=False</a:t>
            </a:r>
          </a:p>
        </p:txBody>
      </p:sp>
      <p:sp>
        <p:nvSpPr>
          <p:cNvPr id="72" name="">
            <a:extLst xmlns:a="http://schemas.openxmlformats.org/drawingml/2006/main">
              <a:ext uri="{FF2B5EF4-FFF2-40B4-BE49-F238E27FC236}">
                <a16:creationId xmlns:a16="http://schemas.microsoft.com/office/drawing/2014/main" id="{E1AB28DC-3949-4DEB-8921-8A99FFBD6E5E}"/>
              </a:ext>
            </a:extLst>
          </p:cNvPr>
          <p:cNvSpPr>
            <a:spLocks xmlns:a="http://schemas.openxmlformats.org/drawingml/2006/main" noGrp="1"/>
          </p:cNvSpPr>
          <p:nvPr/>
        </p:nvSpPr>
        <p:spPr>
          <a:xfrm xmlns:a="http://schemas.openxmlformats.org/drawingml/2006/main">
            <a:off x="10153650" y="5943600"/>
            <a:ext cx="1333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BE123C"/>
                </a:solidFill>
                <a:latin typeface="Aptos"/>
                <a:ea typeface="Aptos"/>
                <a:cs typeface="Aptos"/>
              </a:defRPr>
            </a:pPr>
            <a:r>
              <a:rPr sz="713" b="1">
                <a:solidFill>
                  <a:srgbClr val="BE123C"/>
                </a:solidFill>
                <a:latin typeface="Aptos"/>
                <a:ea typeface="Aptos"/>
                <a:cs typeface="Aptos"/>
              </a:rPr>
              <a:t>+2,066 | Output record grew</a:t>
            </a:r>
          </a:p>
        </p:txBody>
      </p:sp>
      <p:sp>
        <p:nvSpPr>
          <p:cNvPr id="73" name="">
            <a:extLst xmlns:a="http://schemas.openxmlformats.org/drawingml/2006/main">
              <a:ext uri="{FF2B5EF4-FFF2-40B4-BE49-F238E27FC236}">
                <a16:creationId xmlns:a16="http://schemas.microsoft.com/office/drawing/2014/main" id="{CED53AB2-97A2-4395-B4DB-F416D9E12BA0}"/>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0C7"/>
          </a:solidFill>
          <a:ln xmlns:a="http://schemas.openxmlformats.org/drawingml/2006/main" w="0">
            <a:solidFill>
              <a:srgbClr val="000000">
                <a:alpha val="0"/>
              </a:srgbClr>
            </a:solidFill>
            <a:prstDash val="solid"/>
          </a:ln>
        </p:spPr>
        <p:txBody xmlns:a="http://schemas.openxmlformats.org/drawingml/2006/main">
          <a:bodyPr/>
          <a:p/>
        </p:txBody>
      </p:sp>
      <p:sp>
        <p:nvSpPr>
          <p:cNvPr id="74" name="">
            <a:extLst xmlns:a="http://schemas.openxmlformats.org/drawingml/2006/main">
              <a:ext uri="{FF2B5EF4-FFF2-40B4-BE49-F238E27FC236}">
                <a16:creationId xmlns:a16="http://schemas.microsoft.com/office/drawing/2014/main" id="{94D0E517-839C-4FC9-B9C7-0488EE579EE1}"/>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D1C8"/>
          </a:solidFill>
          <a:ln xmlns:a="http://schemas.openxmlformats.org/drawingml/2006/main" w="0">
            <a:solidFill>
              <a:srgbClr val="000000">
                <a:alpha val="0"/>
              </a:srgbClr>
            </a:solidFill>
            <a:prstDash val="solid"/>
          </a:ln>
        </p:spPr>
        <p:txBody xmlns:a="http://schemas.openxmlformats.org/drawingml/2006/main">
          <a:bodyPr/>
          <a:p/>
        </p:txBody>
      </p:sp>
      <p:sp>
        <p:nvSpPr>
          <p:cNvPr id="75" name="">
            <a:extLst xmlns:a="http://schemas.openxmlformats.org/drawingml/2006/main">
              <a:ext uri="{FF2B5EF4-FFF2-40B4-BE49-F238E27FC236}">
                <a16:creationId xmlns:a16="http://schemas.microsoft.com/office/drawing/2014/main" id="{97282040-9769-41DF-9EAC-C8A86BF238D4}"/>
              </a:ext>
            </a:extLst>
          </p:cNvPr>
          <p:cNvSpPr>
            <a:spLocks xmlns:a="http://schemas.openxmlformats.org/drawingml/2006/main" noGrp="1"/>
          </p:cNvSpPr>
          <p:nvPr/>
        </p:nvSpPr>
        <p:spPr>
          <a:xfrm xmlns:a="http://schemas.openxmlformats.org/drawingml/2006/main">
            <a:off x="609600" y="6477000"/>
            <a:ext cx="3238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667085"/>
                </a:solidFill>
                <a:latin typeface="Aptos"/>
                <a:ea typeface="Aptos"/>
                <a:cs typeface="Aptos"/>
              </a:defRPr>
            </a:pPr>
            <a:r>
              <a:rPr sz="825" b="1">
                <a:solidFill>
                  <a:srgbClr val="667085"/>
                </a:solidFill>
                <a:latin typeface="Aptos"/>
                <a:ea typeface="Aptos"/>
                <a:cs typeface="Aptos"/>
              </a:rPr>
              <a:t>PROMPT EVOLUTION</a:t>
            </a:r>
          </a:p>
        </p:txBody>
      </p:sp>
      <p:sp>
        <p:nvSpPr>
          <p:cNvPr id="76" name="">
            <a:extLst xmlns:a="http://schemas.openxmlformats.org/drawingml/2006/main">
              <a:ext uri="{FF2B5EF4-FFF2-40B4-BE49-F238E27FC236}">
                <a16:creationId xmlns:a16="http://schemas.microsoft.com/office/drawing/2014/main" id="{F03A68C9-45EE-483D-9357-28C0F389B9DD}"/>
              </a:ext>
            </a:extLst>
          </p:cNvPr>
          <p:cNvSpPr>
            <a:spLocks xmlns:a="http://schemas.openxmlformats.org/drawingml/2006/main" noGrp="1"/>
          </p:cNvSpPr>
          <p:nvPr/>
        </p:nvSpPr>
        <p:spPr>
          <a:xfrm xmlns:a="http://schemas.openxmlformats.org/drawingml/2006/main">
            <a:off x="11087100" y="6477000"/>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1">
                <a:solidFill>
                  <a:srgbClr val="334155"/>
                </a:solidFill>
              </a:rPr>
              <a:t>14</a:t>
            </a:r>
          </a:p>
        </p:txBody>
      </p:sp>
    </p:spTree>
    <p:extLst>
      <p:ext uri="{BB962C8B-B14F-4D97-AF65-F5344CB8AC3E}">
        <p14:creationId xmlns:p14="http://schemas.microsoft.com/office/powerpoint/2010/main" val="148766609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12C6526-A0DA-4873-8170-CD0B151E2FB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5987912-D235-470C-9332-DA53D84109D1}"/>
              </a:ext>
            </a:extLst>
          </p:cNvPr>
          <p:cNvSpPr>
            <a:spLocks xmlns:a="http://schemas.openxmlformats.org/drawingml/2006/main" noGrp="1"/>
          </p:cNvSpPr>
          <p:nvPr/>
        </p:nvSpPr>
        <p:spPr>
          <a:xfrm xmlns:a="http://schemas.openxmlformats.org/drawingml/2006/main">
            <a:off x="609600" y="495300"/>
            <a:ext cx="76200" cy="228600"/>
          </a:xfrm>
          <a:prstGeom xmlns:a="http://schemas.openxmlformats.org/drawingml/2006/main" prst="rect">
            <a:avLst/>
          </a:prstGeom>
          <a:solidFill xmlns:a="http://schemas.openxmlformats.org/drawingml/2006/main">
            <a:srgbClr val="6D28D9"/>
          </a:solidFill>
          <a:ln xmlns:a="http://schemas.openxmlformats.org/drawingml/2006/main" w="0">
            <a:solidFill>
              <a:srgbClr val="000000">
                <a:alpha val="0"/>
              </a:srgbClr>
            </a:solid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1E6DA9CE-C8AA-4028-B9A9-48173BA9B499}"/>
              </a:ext>
            </a:extLst>
          </p:cNvPr>
          <p:cNvSpPr>
            <a:spLocks xmlns:a="http://schemas.openxmlformats.org/drawingml/2006/main" noGrp="1"/>
          </p:cNvSpPr>
          <p:nvPr/>
        </p:nvSpPr>
        <p:spPr>
          <a:xfrm xmlns:a="http://schemas.openxmlformats.org/drawingml/2006/main">
            <a:off x="800100" y="4953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67085"/>
                </a:solidFill>
                <a:latin typeface="Aptos"/>
                <a:ea typeface="Aptos"/>
                <a:cs typeface="Aptos"/>
              </a:defRPr>
            </a:pPr>
            <a:r>
              <a:rPr sz="900" b="1">
                <a:solidFill>
                  <a:srgbClr val="667085"/>
                </a:solidFill>
                <a:latin typeface="Aptos"/>
                <a:ea typeface="Aptos"/>
                <a:cs typeface="Aptos"/>
              </a:rPr>
              <a:t>FINAL SUMMARY</a:t>
            </a:r>
          </a:p>
        </p:txBody>
      </p:sp>
      <p:sp>
        <p:nvSpPr>
          <p:cNvPr id="4" name="">
            <a:extLst xmlns:a="http://schemas.openxmlformats.org/drawingml/2006/main">
              <a:ext uri="{FF2B5EF4-FFF2-40B4-BE49-F238E27FC236}">
                <a16:creationId xmlns:a16="http://schemas.microsoft.com/office/drawing/2014/main" id="{9AA5B18D-F3C4-4204-B0A4-83C0C3EA0744}"/>
              </a:ext>
            </a:extLst>
          </p:cNvPr>
          <p:cNvSpPr>
            <a:spLocks xmlns:a="http://schemas.openxmlformats.org/drawingml/2006/main" noGrp="1"/>
          </p:cNvSpPr>
          <p:nvPr/>
        </p:nvSpPr>
        <p:spPr>
          <a:xfrm xmlns:a="http://schemas.openxmlformats.org/drawingml/2006/main">
            <a:off x="609600" y="819150"/>
            <a:ext cx="100965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01820"/>
                </a:solidFill>
                <a:latin typeface="Aptos Display"/>
                <a:ea typeface="Aptos Display"/>
                <a:cs typeface="Aptos Display"/>
              </a:defRPr>
            </a:pPr>
            <a:r>
              <a:rPr sz="2850" b="1">
                <a:solidFill>
                  <a:srgbClr val="101820"/>
                </a:solidFill>
                <a:latin typeface="Aptos Display"/>
                <a:ea typeface="Aptos Display"/>
                <a:cs typeface="Aptos Display"/>
              </a:rPr>
              <a:t>We can now explain how one real engineering task becomes model behavior.</a:t>
            </a:r>
          </a:p>
        </p:txBody>
      </p:sp>
      <p:sp>
        <p:nvSpPr>
          <p:cNvPr id="5" name="">
            <a:extLst xmlns:a="http://schemas.openxmlformats.org/drawingml/2006/main">
              <a:ext uri="{FF2B5EF4-FFF2-40B4-BE49-F238E27FC236}">
                <a16:creationId xmlns:a16="http://schemas.microsoft.com/office/drawing/2014/main" id="{D79EB452-0734-4C67-A19C-C877A8C1E661}"/>
              </a:ext>
            </a:extLst>
          </p:cNvPr>
          <p:cNvSpPr>
            <a:spLocks xmlns:a="http://schemas.openxmlformats.org/drawingml/2006/main" noGrp="1"/>
          </p:cNvSpPr>
          <p:nvPr/>
        </p:nvSpPr>
        <p:spPr>
          <a:xfrm xmlns:a="http://schemas.openxmlformats.org/drawingml/2006/main">
            <a:off x="609600" y="1809750"/>
            <a:ext cx="9334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90" b="0">
                <a:solidFill>
                  <a:srgbClr val="334155"/>
                </a:solidFill>
                <a:latin typeface="Aptos"/>
                <a:ea typeface="Aptos"/>
                <a:cs typeface="Aptos"/>
              </a:defRPr>
            </a:pPr>
            <a:r>
              <a:rPr sz="1290" b="0">
                <a:solidFill>
                  <a:srgbClr val="334155"/>
                </a:solidFill>
                <a:latin typeface="Aptos"/>
                <a:ea typeface="Aptos"/>
                <a:cs typeface="Aptos"/>
              </a:rPr>
              <a:t>This experiment followed a NodeBB SWE-bench Pro task through the prompt pipeline: task intake, prompt construction, model request packaging, runtime preparation, and observed behavior.</a:t>
            </a:r>
          </a:p>
        </p:txBody>
      </p:sp>
      <p:sp>
        <p:nvSpPr>
          <p:cNvPr id="6" name="">
            <a:extLst xmlns:a="http://schemas.openxmlformats.org/drawingml/2006/main">
              <a:ext uri="{FF2B5EF4-FFF2-40B4-BE49-F238E27FC236}">
                <a16:creationId xmlns:a16="http://schemas.microsoft.com/office/drawing/2014/main" id="{E35FCF53-EFAE-4E7E-A5E3-8249545CA3AB}"/>
              </a:ext>
            </a:extLst>
          </p:cNvPr>
          <p:cNvSpPr>
            <a:spLocks xmlns:a="http://schemas.openxmlformats.org/drawingml/2006/main" noGrp="1"/>
          </p:cNvSpPr>
          <p:nvPr/>
        </p:nvSpPr>
        <p:spPr>
          <a:xfrm xmlns:a="http://schemas.openxmlformats.org/drawingml/2006/main">
            <a:off x="609600" y="2590800"/>
            <a:ext cx="2400300" cy="1790700"/>
          </a:xfrm>
          <a:prstGeom xmlns:a="http://schemas.openxmlformats.org/drawingml/2006/main" prst="rect">
            <a:avLst/>
          </a:prstGeom>
          <a:solidFill xmlns:a="http://schemas.openxmlformats.org/drawingml/2006/main">
            <a:srgbClr val="FFFFFF"/>
          </a:solidFill>
          <a:ln xmlns:a="http://schemas.openxmlformats.org/drawingml/2006/main" w="19050">
            <a:solidFill>
              <a:srgbClr val="2563EB"/>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D775818A-86A9-4612-B8F7-38D59A98C761}"/>
              </a:ext>
            </a:extLst>
          </p:cNvPr>
          <p:cNvSpPr>
            <a:spLocks xmlns:a="http://schemas.openxmlformats.org/drawingml/2006/main" noGrp="1"/>
          </p:cNvSpPr>
          <p:nvPr/>
        </p:nvSpPr>
        <p:spPr>
          <a:xfrm xmlns:a="http://schemas.openxmlformats.org/drawingml/2006/main">
            <a:off x="609600" y="2590800"/>
            <a:ext cx="2400300" cy="76200"/>
          </a:xfrm>
          <a:prstGeom xmlns:a="http://schemas.openxmlformats.org/drawingml/2006/main" prst="rect">
            <a:avLst/>
          </a:prstGeom>
          <a:solidFill xmlns:a="http://schemas.openxmlformats.org/drawingml/2006/main">
            <a:srgbClr val="2563EB"/>
          </a:solidFill>
          <a:ln xmlns:a="http://schemas.openxmlformats.org/drawingml/2006/main" w="0">
            <a:solidFill>
              <a:srgbClr val="000000">
                <a:alpha val="0"/>
              </a:srgbClr>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7A0B1C79-BBD1-4816-A57A-6018623C2D71}"/>
              </a:ext>
            </a:extLst>
          </p:cNvPr>
          <p:cNvSpPr>
            <a:spLocks xmlns:a="http://schemas.openxmlformats.org/drawingml/2006/main" noGrp="1"/>
          </p:cNvSpPr>
          <p:nvPr/>
        </p:nvSpPr>
        <p:spPr>
          <a:xfrm xmlns:a="http://schemas.openxmlformats.org/drawingml/2006/main">
            <a:off x="819150" y="2895600"/>
            <a:ext cx="16192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667085"/>
                </a:solidFill>
                <a:latin typeface="Aptos"/>
                <a:ea typeface="Aptos"/>
                <a:cs typeface="Aptos"/>
              </a:defRPr>
            </a:pPr>
            <a:r>
              <a:rPr sz="735" b="1">
                <a:solidFill>
                  <a:srgbClr val="667085"/>
                </a:solidFill>
                <a:latin typeface="Aptos"/>
                <a:ea typeface="Aptos"/>
                <a:cs typeface="Aptos"/>
              </a:rPr>
              <a:t>WHAT WENT IN</a:t>
            </a:r>
          </a:p>
        </p:txBody>
      </p:sp>
      <p:sp>
        <p:nvSpPr>
          <p:cNvPr id="9" name="">
            <a:extLst xmlns:a="http://schemas.openxmlformats.org/drawingml/2006/main">
              <a:ext uri="{FF2B5EF4-FFF2-40B4-BE49-F238E27FC236}">
                <a16:creationId xmlns:a16="http://schemas.microsoft.com/office/drawing/2014/main" id="{0C38D140-B1A2-4B9E-A086-F29EA9154CEF}"/>
              </a:ext>
            </a:extLst>
          </p:cNvPr>
          <p:cNvSpPr>
            <a:spLocks xmlns:a="http://schemas.openxmlformats.org/drawingml/2006/main" noGrp="1"/>
          </p:cNvSpPr>
          <p:nvPr/>
        </p:nvSpPr>
        <p:spPr>
          <a:xfrm xmlns:a="http://schemas.openxmlformats.org/drawingml/2006/main">
            <a:off x="819150" y="3143250"/>
            <a:ext cx="1905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2563EB"/>
                </a:solidFill>
                <a:latin typeface="Aptos Display"/>
                <a:ea typeface="Aptos Display"/>
                <a:cs typeface="Aptos Display"/>
              </a:defRPr>
            </a:pPr>
            <a:r>
              <a:rPr sz="1650" b="1">
                <a:solidFill>
                  <a:srgbClr val="2563EB"/>
                </a:solidFill>
                <a:latin typeface="Aptos Display"/>
                <a:ea typeface="Aptos Display"/>
                <a:cs typeface="Aptos Display"/>
              </a:rPr>
              <a:t>Real NodeBB task</a:t>
            </a:r>
          </a:p>
        </p:txBody>
      </p:sp>
      <p:sp>
        <p:nvSpPr>
          <p:cNvPr id="10" name="">
            <a:extLst xmlns:a="http://schemas.openxmlformats.org/drawingml/2006/main">
              <a:ext uri="{FF2B5EF4-FFF2-40B4-BE49-F238E27FC236}">
                <a16:creationId xmlns:a16="http://schemas.microsoft.com/office/drawing/2014/main" id="{0800E207-77D6-4E27-A06E-53A91B58A181}"/>
              </a:ext>
            </a:extLst>
          </p:cNvPr>
          <p:cNvSpPr>
            <a:spLocks xmlns:a="http://schemas.openxmlformats.org/drawingml/2006/main" noGrp="1"/>
          </p:cNvSpPr>
          <p:nvPr/>
        </p:nvSpPr>
        <p:spPr>
          <a:xfrm xmlns:a="http://schemas.openxmlformats.org/drawingml/2006/main">
            <a:off x="819150" y="3638550"/>
            <a:ext cx="19240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45" b="0">
                <a:solidFill>
                  <a:srgbClr val="334155"/>
                </a:solidFill>
                <a:latin typeface="Aptos"/>
                <a:ea typeface="Aptos"/>
                <a:cs typeface="Aptos"/>
              </a:defRPr>
            </a:pPr>
            <a:r>
              <a:rPr sz="945" b="0">
                <a:solidFill>
                  <a:srgbClr val="334155"/>
                </a:solidFill>
                <a:latin typeface="Aptos"/>
                <a:ea typeface="Aptos"/>
                <a:cs typeface="Aptos"/>
              </a:rPr>
              <a:t>A concrete email-validation bug with repo context, requirements, selected tests, and a target workspace.</a:t>
            </a:r>
          </a:p>
        </p:txBody>
      </p:sp>
      <p:sp>
        <p:nvSpPr>
          <p:cNvPr id="11" name="">
            <a:extLst xmlns:a="http://schemas.openxmlformats.org/drawingml/2006/main">
              <a:ext uri="{FF2B5EF4-FFF2-40B4-BE49-F238E27FC236}">
                <a16:creationId xmlns:a16="http://schemas.microsoft.com/office/drawing/2014/main" id="{8AAD7438-12C5-40FF-87BF-1CA82B8AEFF2}"/>
              </a:ext>
            </a:extLst>
          </p:cNvPr>
          <p:cNvSpPr>
            <a:spLocks xmlns:a="http://schemas.openxmlformats.org/drawingml/2006/main" noGrp="1"/>
          </p:cNvSpPr>
          <p:nvPr/>
        </p:nvSpPr>
        <p:spPr>
          <a:xfrm xmlns:a="http://schemas.openxmlformats.org/drawingml/2006/main">
            <a:off x="3390900" y="2590800"/>
            <a:ext cx="2400300" cy="1790700"/>
          </a:xfrm>
          <a:prstGeom xmlns:a="http://schemas.openxmlformats.org/drawingml/2006/main" prst="rect">
            <a:avLst/>
          </a:prstGeom>
          <a:solidFill xmlns:a="http://schemas.openxmlformats.org/drawingml/2006/main">
            <a:srgbClr val="FFFFFF"/>
          </a:solidFill>
          <a:ln xmlns:a="http://schemas.openxmlformats.org/drawingml/2006/main" w="19050">
            <a:solidFill>
              <a:srgbClr val="6D28D9"/>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3212D6B9-1B54-4C8E-B824-F8C6DA0E811F}"/>
              </a:ext>
            </a:extLst>
          </p:cNvPr>
          <p:cNvSpPr>
            <a:spLocks xmlns:a="http://schemas.openxmlformats.org/drawingml/2006/main" noGrp="1"/>
          </p:cNvSpPr>
          <p:nvPr/>
        </p:nvSpPr>
        <p:spPr>
          <a:xfrm xmlns:a="http://schemas.openxmlformats.org/drawingml/2006/main">
            <a:off x="3390900" y="2590800"/>
            <a:ext cx="2400300" cy="76200"/>
          </a:xfrm>
          <a:prstGeom xmlns:a="http://schemas.openxmlformats.org/drawingml/2006/main" prst="rect">
            <a:avLst/>
          </a:prstGeom>
          <a:solidFill xmlns:a="http://schemas.openxmlformats.org/drawingml/2006/main">
            <a:srgbClr val="6D28D9"/>
          </a:solidFill>
          <a:ln xmlns:a="http://schemas.openxmlformats.org/drawingml/2006/main" w="0">
            <a:solidFill>
              <a:srgbClr val="000000">
                <a:alpha val="0"/>
              </a:srgbClr>
            </a:solid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BF4C8AF7-BA80-4C80-A853-CFF85291FE9F}"/>
              </a:ext>
            </a:extLst>
          </p:cNvPr>
          <p:cNvSpPr>
            <a:spLocks xmlns:a="http://schemas.openxmlformats.org/drawingml/2006/main" noGrp="1"/>
          </p:cNvSpPr>
          <p:nvPr/>
        </p:nvSpPr>
        <p:spPr>
          <a:xfrm xmlns:a="http://schemas.openxmlformats.org/drawingml/2006/main">
            <a:off x="3600450" y="2895600"/>
            <a:ext cx="16192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667085"/>
                </a:solidFill>
                <a:latin typeface="Aptos"/>
                <a:ea typeface="Aptos"/>
                <a:cs typeface="Aptos"/>
              </a:defRPr>
            </a:pPr>
            <a:r>
              <a:rPr sz="735" b="1">
                <a:solidFill>
                  <a:srgbClr val="667085"/>
                </a:solidFill>
                <a:latin typeface="Aptos"/>
                <a:ea typeface="Aptos"/>
                <a:cs typeface="Aptos"/>
              </a:rPr>
              <a:t>WHAT CHANGED</a:t>
            </a:r>
          </a:p>
        </p:txBody>
      </p:sp>
      <p:sp>
        <p:nvSpPr>
          <p:cNvPr id="14" name="">
            <a:extLst xmlns:a="http://schemas.openxmlformats.org/drawingml/2006/main">
              <a:ext uri="{FF2B5EF4-FFF2-40B4-BE49-F238E27FC236}">
                <a16:creationId xmlns:a16="http://schemas.microsoft.com/office/drawing/2014/main" id="{8133ECF5-0AFF-4BFC-9899-FA70B46B72E1}"/>
              </a:ext>
            </a:extLst>
          </p:cNvPr>
          <p:cNvSpPr>
            <a:spLocks xmlns:a="http://schemas.openxmlformats.org/drawingml/2006/main" noGrp="1"/>
          </p:cNvSpPr>
          <p:nvPr/>
        </p:nvSpPr>
        <p:spPr>
          <a:xfrm xmlns:a="http://schemas.openxmlformats.org/drawingml/2006/main">
            <a:off x="3600450" y="3143250"/>
            <a:ext cx="1905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6D28D9"/>
                </a:solidFill>
                <a:latin typeface="Aptos Display"/>
                <a:ea typeface="Aptos Display"/>
                <a:cs typeface="Aptos Display"/>
              </a:defRPr>
            </a:pPr>
            <a:r>
              <a:rPr sz="1950" b="1">
                <a:solidFill>
                  <a:srgbClr val="6D28D9"/>
                </a:solidFill>
                <a:latin typeface="Aptos Display"/>
                <a:ea typeface="Aptos Display"/>
                <a:cs typeface="Aptos Display"/>
              </a:rPr>
              <a:t>+5,576 chars</a:t>
            </a:r>
          </a:p>
        </p:txBody>
      </p:sp>
      <p:sp>
        <p:nvSpPr>
          <p:cNvPr id="15" name="">
            <a:extLst xmlns:a="http://schemas.openxmlformats.org/drawingml/2006/main">
              <a:ext uri="{FF2B5EF4-FFF2-40B4-BE49-F238E27FC236}">
                <a16:creationId xmlns:a16="http://schemas.microsoft.com/office/drawing/2014/main" id="{4F96BF31-2F06-4DAE-B9FD-8BCBA47D0344}"/>
              </a:ext>
            </a:extLst>
          </p:cNvPr>
          <p:cNvSpPr>
            <a:spLocks xmlns:a="http://schemas.openxmlformats.org/drawingml/2006/main" noGrp="1"/>
          </p:cNvSpPr>
          <p:nvPr/>
        </p:nvSpPr>
        <p:spPr>
          <a:xfrm xmlns:a="http://schemas.openxmlformats.org/drawingml/2006/main">
            <a:off x="3600450" y="3638550"/>
            <a:ext cx="19240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45" b="0">
                <a:solidFill>
                  <a:srgbClr val="334155"/>
                </a:solidFill>
                <a:latin typeface="Aptos"/>
                <a:ea typeface="Aptos"/>
                <a:cs typeface="Aptos"/>
              </a:defRPr>
            </a:pPr>
            <a:r>
              <a:rPr sz="945" b="0">
                <a:solidFill>
                  <a:srgbClr val="334155"/>
                </a:solidFill>
                <a:latin typeface="Aptos"/>
                <a:ea typeface="Aptos"/>
                <a:cs typeface="Aptos"/>
              </a:rPr>
              <a:t>The largest transformation happened when raw task fields became one runnable agent prompt.</a:t>
            </a:r>
          </a:p>
        </p:txBody>
      </p:sp>
      <p:sp>
        <p:nvSpPr>
          <p:cNvPr id="16" name="">
            <a:extLst xmlns:a="http://schemas.openxmlformats.org/drawingml/2006/main">
              <a:ext uri="{FF2B5EF4-FFF2-40B4-BE49-F238E27FC236}">
                <a16:creationId xmlns:a16="http://schemas.microsoft.com/office/drawing/2014/main" id="{948D83AE-B1AF-47A2-8868-9DB42853FF41}"/>
              </a:ext>
            </a:extLst>
          </p:cNvPr>
          <p:cNvSpPr>
            <a:spLocks xmlns:a="http://schemas.openxmlformats.org/drawingml/2006/main" noGrp="1"/>
          </p:cNvSpPr>
          <p:nvPr/>
        </p:nvSpPr>
        <p:spPr>
          <a:xfrm xmlns:a="http://schemas.openxmlformats.org/drawingml/2006/main">
            <a:off x="6172200" y="2590800"/>
            <a:ext cx="2400300" cy="1790700"/>
          </a:xfrm>
          <a:prstGeom xmlns:a="http://schemas.openxmlformats.org/drawingml/2006/main" prst="rect">
            <a:avLst/>
          </a:prstGeom>
          <a:solidFill xmlns:a="http://schemas.openxmlformats.org/drawingml/2006/main">
            <a:srgbClr val="FFFFFF"/>
          </a:solidFill>
          <a:ln xmlns:a="http://schemas.openxmlformats.org/drawingml/2006/main" w="19050">
            <a:solidFill>
              <a:srgbClr val="0F9F6E"/>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8C798D4A-CB3B-4403-B8FC-5CD8C6493DB1}"/>
              </a:ext>
            </a:extLst>
          </p:cNvPr>
          <p:cNvSpPr>
            <a:spLocks xmlns:a="http://schemas.openxmlformats.org/drawingml/2006/main" noGrp="1"/>
          </p:cNvSpPr>
          <p:nvPr/>
        </p:nvSpPr>
        <p:spPr>
          <a:xfrm xmlns:a="http://schemas.openxmlformats.org/drawingml/2006/main">
            <a:off x="6172200" y="2590800"/>
            <a:ext cx="2400300" cy="76200"/>
          </a:xfrm>
          <a:prstGeom xmlns:a="http://schemas.openxmlformats.org/drawingml/2006/main" prst="rect">
            <a:avLst/>
          </a:prstGeom>
          <a:solidFill xmlns:a="http://schemas.openxmlformats.org/drawingml/2006/main">
            <a:srgbClr val="0F9F6E"/>
          </a:solidFill>
          <a:ln xmlns:a="http://schemas.openxmlformats.org/drawingml/2006/main" w="0">
            <a:solidFill>
              <a:srgbClr val="000000">
                <a:alpha val="0"/>
              </a:srgbClr>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3A417BC3-F285-4A65-9699-93A9F7E32D8C}"/>
              </a:ext>
            </a:extLst>
          </p:cNvPr>
          <p:cNvSpPr>
            <a:spLocks xmlns:a="http://schemas.openxmlformats.org/drawingml/2006/main" noGrp="1"/>
          </p:cNvSpPr>
          <p:nvPr/>
        </p:nvSpPr>
        <p:spPr>
          <a:xfrm xmlns:a="http://schemas.openxmlformats.org/drawingml/2006/main">
            <a:off x="6381750" y="2895600"/>
            <a:ext cx="16192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667085"/>
                </a:solidFill>
                <a:latin typeface="Aptos"/>
                <a:ea typeface="Aptos"/>
                <a:cs typeface="Aptos"/>
              </a:defRPr>
            </a:pPr>
            <a:r>
              <a:rPr sz="735" b="1">
                <a:solidFill>
                  <a:srgbClr val="667085"/>
                </a:solidFill>
                <a:latin typeface="Aptos"/>
                <a:ea typeface="Aptos"/>
                <a:cs typeface="Aptos"/>
              </a:rPr>
              <a:t>WHAT RAN</a:t>
            </a:r>
          </a:p>
        </p:txBody>
      </p:sp>
      <p:sp>
        <p:nvSpPr>
          <p:cNvPr id="19" name="">
            <a:extLst xmlns:a="http://schemas.openxmlformats.org/drawingml/2006/main">
              <a:ext uri="{FF2B5EF4-FFF2-40B4-BE49-F238E27FC236}">
                <a16:creationId xmlns:a16="http://schemas.microsoft.com/office/drawing/2014/main" id="{20D2AD64-3599-48E4-B0E8-27CCE1416DB6}"/>
              </a:ext>
            </a:extLst>
          </p:cNvPr>
          <p:cNvSpPr>
            <a:spLocks xmlns:a="http://schemas.openxmlformats.org/drawingml/2006/main" noGrp="1"/>
          </p:cNvSpPr>
          <p:nvPr/>
        </p:nvSpPr>
        <p:spPr>
          <a:xfrm xmlns:a="http://schemas.openxmlformats.org/drawingml/2006/main">
            <a:off x="6381750" y="3143250"/>
            <a:ext cx="1905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0F9F6E"/>
                </a:solidFill>
                <a:latin typeface="Aptos Display"/>
                <a:ea typeface="Aptos Display"/>
                <a:cs typeface="Aptos Display"/>
              </a:defRPr>
            </a:pPr>
            <a:r>
              <a:rPr sz="1950" b="1">
                <a:solidFill>
                  <a:srgbClr val="0F9F6E"/>
                </a:solidFill>
                <a:latin typeface="Aptos Display"/>
                <a:ea typeface="Aptos Display"/>
                <a:cs typeface="Aptos Display"/>
              </a:rPr>
              <a:t>Qwen 2.5 7B</a:t>
            </a:r>
          </a:p>
        </p:txBody>
      </p:sp>
      <p:sp>
        <p:nvSpPr>
          <p:cNvPr id="20" name="">
            <a:extLst xmlns:a="http://schemas.openxmlformats.org/drawingml/2006/main">
              <a:ext uri="{FF2B5EF4-FFF2-40B4-BE49-F238E27FC236}">
                <a16:creationId xmlns:a16="http://schemas.microsoft.com/office/drawing/2014/main" id="{C87F0662-03D6-4DAD-B807-50BB1C8D1C89}"/>
              </a:ext>
            </a:extLst>
          </p:cNvPr>
          <p:cNvSpPr>
            <a:spLocks xmlns:a="http://schemas.openxmlformats.org/drawingml/2006/main" noGrp="1"/>
          </p:cNvSpPr>
          <p:nvPr/>
        </p:nvSpPr>
        <p:spPr>
          <a:xfrm xmlns:a="http://schemas.openxmlformats.org/drawingml/2006/main">
            <a:off x="6381750" y="3638550"/>
            <a:ext cx="19240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45" b="0">
                <a:solidFill>
                  <a:srgbClr val="334155"/>
                </a:solidFill>
                <a:latin typeface="Aptos"/>
                <a:ea typeface="Aptos"/>
                <a:cs typeface="Aptos"/>
              </a:defRPr>
            </a:pPr>
            <a:r>
              <a:rPr sz="945" b="0">
                <a:solidFill>
                  <a:srgbClr val="334155"/>
                </a:solidFill>
                <a:latin typeface="Aptos"/>
                <a:ea typeface="Aptos"/>
                <a:cs typeface="Aptos"/>
              </a:rPr>
              <a:t>The prompt was packaged and sent through the stack using Qwen/Qwen2.5-7B-Instruct.</a:t>
            </a:r>
          </a:p>
        </p:txBody>
      </p:sp>
      <p:sp>
        <p:nvSpPr>
          <p:cNvPr id="21" name="">
            <a:extLst xmlns:a="http://schemas.openxmlformats.org/drawingml/2006/main">
              <a:ext uri="{FF2B5EF4-FFF2-40B4-BE49-F238E27FC236}">
                <a16:creationId xmlns:a16="http://schemas.microsoft.com/office/drawing/2014/main" id="{57E9D39D-F933-44CE-A4D2-5D9E18B7D16E}"/>
              </a:ext>
            </a:extLst>
          </p:cNvPr>
          <p:cNvSpPr>
            <a:spLocks xmlns:a="http://schemas.openxmlformats.org/drawingml/2006/main" noGrp="1"/>
          </p:cNvSpPr>
          <p:nvPr/>
        </p:nvSpPr>
        <p:spPr>
          <a:xfrm xmlns:a="http://schemas.openxmlformats.org/drawingml/2006/main">
            <a:off x="8953500" y="2590800"/>
            <a:ext cx="2400300" cy="1790700"/>
          </a:xfrm>
          <a:prstGeom xmlns:a="http://schemas.openxmlformats.org/drawingml/2006/main" prst="rect">
            <a:avLst/>
          </a:prstGeom>
          <a:solidFill xmlns:a="http://schemas.openxmlformats.org/drawingml/2006/main">
            <a:srgbClr val="FFFFFF"/>
          </a:solidFill>
          <a:ln xmlns:a="http://schemas.openxmlformats.org/drawingml/2006/main" w="19050">
            <a:solidFill>
              <a:srgbClr val="BE123C"/>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3DEC4175-DB93-4FBD-9DAE-F9474CA63664}"/>
              </a:ext>
            </a:extLst>
          </p:cNvPr>
          <p:cNvSpPr>
            <a:spLocks xmlns:a="http://schemas.openxmlformats.org/drawingml/2006/main" noGrp="1"/>
          </p:cNvSpPr>
          <p:nvPr/>
        </p:nvSpPr>
        <p:spPr>
          <a:xfrm xmlns:a="http://schemas.openxmlformats.org/drawingml/2006/main">
            <a:off x="8953500" y="2590800"/>
            <a:ext cx="2400300" cy="76200"/>
          </a:xfrm>
          <a:prstGeom xmlns:a="http://schemas.openxmlformats.org/drawingml/2006/main" prst="rect">
            <a:avLst/>
          </a:prstGeom>
          <a:solidFill xmlns:a="http://schemas.openxmlformats.org/drawingml/2006/main">
            <a:srgbClr val="BE123C"/>
          </a:solidFill>
          <a:ln xmlns:a="http://schemas.openxmlformats.org/drawingml/2006/main" w="0">
            <a:solidFill>
              <a:srgbClr val="000000">
                <a:alpha val="0"/>
              </a:srgbClr>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E8214C2C-2F26-4980-A1FA-9D32D498418E}"/>
              </a:ext>
            </a:extLst>
          </p:cNvPr>
          <p:cNvSpPr>
            <a:spLocks xmlns:a="http://schemas.openxmlformats.org/drawingml/2006/main" noGrp="1"/>
          </p:cNvSpPr>
          <p:nvPr/>
        </p:nvSpPr>
        <p:spPr>
          <a:xfrm xmlns:a="http://schemas.openxmlformats.org/drawingml/2006/main">
            <a:off x="9163050" y="2895600"/>
            <a:ext cx="16192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35" b="1">
                <a:solidFill>
                  <a:srgbClr val="667085"/>
                </a:solidFill>
                <a:latin typeface="Aptos"/>
                <a:ea typeface="Aptos"/>
                <a:cs typeface="Aptos"/>
              </a:defRPr>
            </a:pPr>
            <a:r>
              <a:rPr sz="735" b="1">
                <a:solidFill>
                  <a:srgbClr val="667085"/>
                </a:solidFill>
                <a:latin typeface="Aptos"/>
                <a:ea typeface="Aptos"/>
                <a:cs typeface="Aptos"/>
              </a:rPr>
              <a:t>WHAT CAME OUT</a:t>
            </a:r>
          </a:p>
        </p:txBody>
      </p:sp>
      <p:sp>
        <p:nvSpPr>
          <p:cNvPr id="24" name="">
            <a:extLst xmlns:a="http://schemas.openxmlformats.org/drawingml/2006/main">
              <a:ext uri="{FF2B5EF4-FFF2-40B4-BE49-F238E27FC236}">
                <a16:creationId xmlns:a16="http://schemas.microsoft.com/office/drawing/2014/main" id="{E8D00490-1695-4C7E-BC49-87BD0B5475F7}"/>
              </a:ext>
            </a:extLst>
          </p:cNvPr>
          <p:cNvSpPr>
            <a:spLocks xmlns:a="http://schemas.openxmlformats.org/drawingml/2006/main" noGrp="1"/>
          </p:cNvSpPr>
          <p:nvPr/>
        </p:nvSpPr>
        <p:spPr>
          <a:xfrm xmlns:a="http://schemas.openxmlformats.org/drawingml/2006/main">
            <a:off x="9163050" y="3143250"/>
            <a:ext cx="1905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BE123C"/>
                </a:solidFill>
                <a:latin typeface="Aptos Display"/>
                <a:ea typeface="Aptos Display"/>
                <a:cs typeface="Aptos Display"/>
              </a:defRPr>
            </a:pPr>
            <a:r>
              <a:rPr sz="1650" b="1">
                <a:solidFill>
                  <a:srgbClr val="BE123C"/>
                </a:solidFill>
                <a:latin typeface="Aptos Display"/>
                <a:ea typeface="Aptos Display"/>
                <a:cs typeface="Aptos Display"/>
              </a:rPr>
              <a:t>Behavior trace</a:t>
            </a:r>
          </a:p>
        </p:txBody>
      </p:sp>
      <p:sp>
        <p:nvSpPr>
          <p:cNvPr id="25" name="">
            <a:extLst xmlns:a="http://schemas.openxmlformats.org/drawingml/2006/main">
              <a:ext uri="{FF2B5EF4-FFF2-40B4-BE49-F238E27FC236}">
                <a16:creationId xmlns:a16="http://schemas.microsoft.com/office/drawing/2014/main" id="{85CDD5A4-AF83-451F-A31C-248064DF3E82}"/>
              </a:ext>
            </a:extLst>
          </p:cNvPr>
          <p:cNvSpPr>
            <a:spLocks xmlns:a="http://schemas.openxmlformats.org/drawingml/2006/main" noGrp="1"/>
          </p:cNvSpPr>
          <p:nvPr/>
        </p:nvSpPr>
        <p:spPr>
          <a:xfrm xmlns:a="http://schemas.openxmlformats.org/drawingml/2006/main">
            <a:off x="9163050" y="3638550"/>
            <a:ext cx="19240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45" b="0">
                <a:solidFill>
                  <a:srgbClr val="334155"/>
                </a:solidFill>
                <a:latin typeface="Aptos"/>
                <a:ea typeface="Aptos"/>
                <a:cs typeface="Aptos"/>
              </a:defRPr>
            </a:pPr>
            <a:r>
              <a:rPr sz="945" b="0">
                <a:solidFill>
                  <a:srgbClr val="334155"/>
                </a:solidFill>
                <a:latin typeface="Aptos"/>
                <a:ea typeface="Aptos"/>
                <a:cs typeface="Aptos"/>
              </a:rPr>
              <a:t>The final record shows tool calls, response status, and whether the workspace changed.</a:t>
            </a:r>
          </a:p>
        </p:txBody>
      </p:sp>
      <p:sp>
        <p:nvSpPr>
          <p:cNvPr id="26" name="">
            <a:extLst xmlns:a="http://schemas.openxmlformats.org/drawingml/2006/main">
              <a:ext uri="{FF2B5EF4-FFF2-40B4-BE49-F238E27FC236}">
                <a16:creationId xmlns:a16="http://schemas.microsoft.com/office/drawing/2014/main" id="{60D537D3-7168-4190-8E9F-90B6BB623D2C}"/>
              </a:ext>
            </a:extLst>
          </p:cNvPr>
          <p:cNvSpPr>
            <a:spLocks xmlns:a="http://schemas.openxmlformats.org/drawingml/2006/main" noGrp="1"/>
          </p:cNvSpPr>
          <p:nvPr/>
        </p:nvSpPr>
        <p:spPr>
          <a:xfrm xmlns:a="http://schemas.openxmlformats.org/drawingml/2006/main">
            <a:off x="609600" y="4838700"/>
            <a:ext cx="10972800" cy="800100"/>
          </a:xfrm>
          <a:prstGeom xmlns:a="http://schemas.openxmlformats.org/drawingml/2006/main" prst="rect">
            <a:avLst/>
          </a:prstGeom>
          <a:solidFill xmlns:a="http://schemas.openxmlformats.org/drawingml/2006/main">
            <a:srgbClr val="FBF8F2"/>
          </a:solidFill>
          <a:ln xmlns:a="http://schemas.openxmlformats.org/drawingml/2006/main" w="17145">
            <a:solidFill>
              <a:srgbClr val="D97706"/>
            </a:solidFill>
            <a:prstDash val="solid"/>
          </a:ln>
        </p:spPr>
        <p:txBody xmlns:a="http://schemas.openxmlformats.org/drawingml/2006/main">
          <a:bodyPr/>
          <a:p/>
        </p:txBody>
      </p:sp>
      <p:sp>
        <p:nvSpPr>
          <p:cNvPr id="27" name="">
            <a:extLst xmlns:a="http://schemas.openxmlformats.org/drawingml/2006/main">
              <a:ext uri="{FF2B5EF4-FFF2-40B4-BE49-F238E27FC236}">
                <a16:creationId xmlns:a16="http://schemas.microsoft.com/office/drawing/2014/main" id="{19605D06-50D5-4E9F-B7D3-FEAE342B2D56}"/>
              </a:ext>
            </a:extLst>
          </p:cNvPr>
          <p:cNvSpPr>
            <a:spLocks xmlns:a="http://schemas.openxmlformats.org/drawingml/2006/main" noGrp="1"/>
          </p:cNvSpPr>
          <p:nvPr/>
        </p:nvSpPr>
        <p:spPr>
          <a:xfrm xmlns:a="http://schemas.openxmlformats.org/drawingml/2006/main">
            <a:off x="609600" y="4838700"/>
            <a:ext cx="76200" cy="800100"/>
          </a:xfrm>
          <a:prstGeom xmlns:a="http://schemas.openxmlformats.org/drawingml/2006/main" prst="rect">
            <a:avLst/>
          </a:prstGeom>
          <a:solidFill xmlns:a="http://schemas.openxmlformats.org/drawingml/2006/main">
            <a:srgbClr val="D97706"/>
          </a:solidFill>
          <a:ln xmlns:a="http://schemas.openxmlformats.org/drawingml/2006/main" w="0">
            <a:solidFill>
              <a:srgbClr val="000000">
                <a:alpha val="0"/>
              </a:srgbClr>
            </a:solidFill>
            <a:prstDash val="solid"/>
          </a:ln>
        </p:spPr>
        <p:txBody xmlns:a="http://schemas.openxmlformats.org/drawingml/2006/main">
          <a:bodyPr/>
          <a:p/>
        </p:txBody>
      </p:sp>
      <p:sp>
        <p:nvSpPr>
          <p:cNvPr id="28" name="">
            <a:extLst xmlns:a="http://schemas.openxmlformats.org/drawingml/2006/main">
              <a:ext uri="{FF2B5EF4-FFF2-40B4-BE49-F238E27FC236}">
                <a16:creationId xmlns:a16="http://schemas.microsoft.com/office/drawing/2014/main" id="{8F6AC883-3564-4B77-9210-792EAA890847}"/>
              </a:ext>
            </a:extLst>
          </p:cNvPr>
          <p:cNvSpPr>
            <a:spLocks xmlns:a="http://schemas.openxmlformats.org/drawingml/2006/main" noGrp="1"/>
          </p:cNvSpPr>
          <p:nvPr/>
        </p:nvSpPr>
        <p:spPr>
          <a:xfrm xmlns:a="http://schemas.openxmlformats.org/drawingml/2006/main">
            <a:off x="914400" y="5048250"/>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15" b="1">
                <a:solidFill>
                  <a:srgbClr val="D97706"/>
                </a:solidFill>
                <a:latin typeface="Aptos"/>
                <a:ea typeface="Aptos"/>
                <a:cs typeface="Aptos"/>
              </a:defRPr>
            </a:pPr>
            <a:r>
              <a:rPr sz="915" b="1">
                <a:solidFill>
                  <a:srgbClr val="D97706"/>
                </a:solidFill>
                <a:latin typeface="Aptos"/>
                <a:ea typeface="Aptos"/>
                <a:cs typeface="Aptos"/>
              </a:rPr>
              <a:t>Simple takeaway</a:t>
            </a:r>
          </a:p>
        </p:txBody>
      </p:sp>
      <p:sp>
        <p:nvSpPr>
          <p:cNvPr id="29" name="">
            <a:extLst xmlns:a="http://schemas.openxmlformats.org/drawingml/2006/main">
              <a:ext uri="{FF2B5EF4-FFF2-40B4-BE49-F238E27FC236}">
                <a16:creationId xmlns:a16="http://schemas.microsoft.com/office/drawing/2014/main" id="{12A24B0C-F116-467E-94D9-B37F1332982F}"/>
              </a:ext>
            </a:extLst>
          </p:cNvPr>
          <p:cNvSpPr>
            <a:spLocks xmlns:a="http://schemas.openxmlformats.org/drawingml/2006/main" noGrp="1"/>
          </p:cNvSpPr>
          <p:nvPr/>
        </p:nvSpPr>
        <p:spPr>
          <a:xfrm xmlns:a="http://schemas.openxmlformats.org/drawingml/2006/main">
            <a:off x="914400" y="5219700"/>
            <a:ext cx="9715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60" b="1">
                <a:solidFill>
                  <a:srgbClr val="101820"/>
                </a:solidFill>
                <a:latin typeface="Aptos"/>
                <a:ea typeface="Aptos"/>
                <a:cs typeface="Aptos"/>
              </a:defRPr>
            </a:pPr>
            <a:r>
              <a:rPr sz="1260" b="1">
                <a:solidFill>
                  <a:srgbClr val="101820"/>
                </a:solidFill>
                <a:latin typeface="Aptos"/>
                <a:ea typeface="Aptos"/>
                <a:cs typeface="Aptos"/>
              </a:rPr>
              <a:t>The prompt pipeline is now explainable stage by stage: we can see the structure before and after each handoff, the fields each layer adds, and the evidence produced by the run.</a:t>
            </a:r>
          </a:p>
        </p:txBody>
      </p:sp>
      <p:sp>
        <p:nvSpPr>
          <p:cNvPr id="30" name="">
            <a:extLst xmlns:a="http://schemas.openxmlformats.org/drawingml/2006/main">
              <a:ext uri="{FF2B5EF4-FFF2-40B4-BE49-F238E27FC236}">
                <a16:creationId xmlns:a16="http://schemas.microsoft.com/office/drawing/2014/main" id="{48AE1CA9-9A70-4DAF-82D0-56337D03B3F0}"/>
              </a:ext>
            </a:extLst>
          </p:cNvPr>
          <p:cNvSpPr>
            <a:spLocks xmlns:a="http://schemas.openxmlformats.org/drawingml/2006/main" noGrp="1"/>
          </p:cNvSpPr>
          <p:nvPr/>
        </p:nvSpPr>
        <p:spPr>
          <a:xfrm xmlns:a="http://schemas.openxmlformats.org/drawingml/2006/main">
            <a:off x="609600" y="6324600"/>
            <a:ext cx="10972800" cy="9525"/>
          </a:xfrm>
          <a:prstGeom xmlns:a="http://schemas.openxmlformats.org/drawingml/2006/main" prst="rect">
            <a:avLst/>
          </a:prstGeom>
          <a:solidFill xmlns:a="http://schemas.openxmlformats.org/drawingml/2006/main">
            <a:srgbClr val="D7D1C8"/>
          </a:solidFill>
          <a:ln xmlns:a="http://schemas.openxmlformats.org/drawingml/2006/main" w="0">
            <a:solidFill>
              <a:srgbClr val="000000">
                <a:alpha val="0"/>
              </a:srgbClr>
            </a:solidFill>
            <a:prstDash val="solid"/>
          </a:ln>
        </p:spPr>
        <p:txBody xmlns:a="http://schemas.openxmlformats.org/drawingml/2006/main">
          <a:bodyPr/>
          <a:p/>
        </p:txBody>
      </p:sp>
      <p:sp>
        <p:nvSpPr>
          <p:cNvPr id="31" name="">
            <a:extLst xmlns:a="http://schemas.openxmlformats.org/drawingml/2006/main">
              <a:ext uri="{FF2B5EF4-FFF2-40B4-BE49-F238E27FC236}">
                <a16:creationId xmlns:a16="http://schemas.microsoft.com/office/drawing/2014/main" id="{55424765-EF67-4039-87B6-04FBAC07562C}"/>
              </a:ext>
            </a:extLst>
          </p:cNvPr>
          <p:cNvSpPr>
            <a:spLocks xmlns:a="http://schemas.openxmlformats.org/drawingml/2006/main" noGrp="1"/>
          </p:cNvSpPr>
          <p:nvPr/>
        </p:nvSpPr>
        <p:spPr>
          <a:xfrm xmlns:a="http://schemas.openxmlformats.org/drawingml/2006/main">
            <a:off x="609600" y="6477000"/>
            <a:ext cx="3238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667085"/>
                </a:solidFill>
                <a:latin typeface="Aptos"/>
                <a:ea typeface="Aptos"/>
                <a:cs typeface="Aptos"/>
              </a:defRPr>
            </a:pPr>
            <a:r>
              <a:rPr sz="825" b="1">
                <a:solidFill>
                  <a:srgbClr val="667085"/>
                </a:solidFill>
                <a:latin typeface="Aptos"/>
                <a:ea typeface="Aptos"/>
                <a:cs typeface="Aptos"/>
              </a:rPr>
              <a:t>PROMPT EVOLUTION</a:t>
            </a:r>
          </a:p>
        </p:txBody>
      </p:sp>
      <p:sp>
        <p:nvSpPr>
          <p:cNvPr id="32" name="">
            <a:extLst xmlns:a="http://schemas.openxmlformats.org/drawingml/2006/main">
              <a:ext uri="{FF2B5EF4-FFF2-40B4-BE49-F238E27FC236}">
                <a16:creationId xmlns:a16="http://schemas.microsoft.com/office/drawing/2014/main" id="{30881258-F645-44D1-B076-4C4FFF20C0F3}"/>
              </a:ext>
            </a:extLst>
          </p:cNvPr>
          <p:cNvSpPr>
            <a:spLocks xmlns:a="http://schemas.openxmlformats.org/drawingml/2006/main" noGrp="1"/>
          </p:cNvSpPr>
          <p:nvPr/>
        </p:nvSpPr>
        <p:spPr>
          <a:xfrm xmlns:a="http://schemas.openxmlformats.org/drawingml/2006/main">
            <a:off x="11087100" y="6477000"/>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rPr sz="1050" b="1">
                <a:solidFill>
                  <a:srgbClr val="334155"/>
                </a:solidFill>
              </a:rPr>
              <a:t>15</a:t>
            </a:r>
          </a:p>
        </p:txBody>
      </p:sp>
    </p:spTree>
    <p:extLst>
      <p:ext uri="{BB962C8B-B14F-4D97-AF65-F5344CB8AC3E}">
        <p14:creationId xmlns:p14="http://schemas.microsoft.com/office/powerpoint/2010/main" val="8306240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2026-05-18T19:45:15.8280000Z</dcterms:created>
  <dcterms:modified xsi:type="dcterms:W3CDTF">2026-05-18T19:45:15.8280000Z</dcterms:modified>
</coreProperties>
</file>