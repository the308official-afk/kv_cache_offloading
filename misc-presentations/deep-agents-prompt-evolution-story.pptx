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2" r:id="rId7"/>
    <p:sldId id="285" r:id="rId8"/>
    <p:sldId id="270" r:id="rId9"/>
    <p:sldId id="271" r:id="rId10"/>
    <p:sldId id="263" r:id="rId11"/>
    <p:sldId id="272" r:id="rId12"/>
    <p:sldId id="273" r:id="rId13"/>
    <p:sldId id="264" r:id="rId14"/>
    <p:sldId id="274" r:id="rId15"/>
    <p:sldId id="265" r:id="rId16"/>
    <p:sldId id="275" r:id="rId17"/>
    <p:sldId id="276" r:id="rId18"/>
    <p:sldId id="278" r:id="rId19"/>
    <p:sldId id="266" r:id="rId20"/>
    <p:sldId id="277" r:id="rId21"/>
    <p:sldId id="280" r:id="rId22"/>
    <p:sldId id="281" r:id="rId23"/>
    <p:sldId id="267" r:id="rId24"/>
    <p:sldId id="268" r:id="rId25"/>
    <p:sldId id="269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8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C3F499F0-7CD8-4D07-AB20-B8DD6A5883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D584C-1FB9-415F-B4DC-96ACC667259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3992E-6D3E-47AB-8B8A-29EACE88B244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PLAIN-ENGLISH 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23F055-F305-4FB2-90E4-6EB81EADEA2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This setup traces how one task changes as it moves through the agent system.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C85824-5C85-48E8-892C-FD76CEDFB05F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Think of it like tracking a package: we see what entered the system, how it was repackaged at each handoff, and what came out at the end.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02A2BA-850D-4A03-BD1F-A743B4AF38B1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6477000" cy="45720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C66384-7771-4581-997D-CFC192AFFFF4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323850" cy="32385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0A452C-8EB7-450C-AC59-51454DF71DCA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442F26-2FFC-4B6F-ABA7-02BD6C39898E}"/>
              </a:ext>
            </a:extLst>
          </p:cNvPr>
          <p:cNvSpPr>
            <a:spLocks noGrp="1"/>
          </p:cNvSpPr>
          <p:nvPr/>
        </p:nvSpPr>
        <p:spPr>
          <a:xfrm>
            <a:off x="1104900" y="275272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Raw task enters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D63808-92FB-4888-BD3B-61707F0FF094}"/>
              </a:ext>
            </a:extLst>
          </p:cNvPr>
          <p:cNvSpPr>
            <a:spLocks noGrp="1"/>
          </p:cNvSpPr>
          <p:nvPr/>
        </p:nvSpPr>
        <p:spPr>
          <a:xfrm>
            <a:off x="3219450" y="275272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Repo, bug report, tests, and workspace are loaded.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A96A12-055F-492B-98DB-D5BDEB94584E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6477000" cy="457200"/>
          </a:xfrm>
          <a:prstGeom prst="rect">
            <a:avLst/>
          </a:prstGeom>
          <a:solidFill>
            <a:srgbClr val="F2E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AF8F63-B324-4069-A7D9-59A54EA83FB0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323850" cy="3238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D174DF-4A8E-48E4-9028-EA7CCFBA040F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6D7518-C0DD-4F0A-B2AC-B68B93DE753C}"/>
              </a:ext>
            </a:extLst>
          </p:cNvPr>
          <p:cNvSpPr>
            <a:spLocks noGrp="1"/>
          </p:cNvSpPr>
          <p:nvPr/>
        </p:nvSpPr>
        <p:spPr>
          <a:xfrm>
            <a:off x="1104900" y="334327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becomes a prompt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BDB818-B387-4947-9AFC-20724C3FA8DD}"/>
              </a:ext>
            </a:extLst>
          </p:cNvPr>
          <p:cNvSpPr>
            <a:spLocks noGrp="1"/>
          </p:cNvSpPr>
          <p:nvPr/>
        </p:nvSpPr>
        <p:spPr>
          <a:xfrm>
            <a:off x="3219450" y="334327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scattered task details become one instruction message.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3B40FC-5465-4192-81A0-0E9EC4F39FCE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6477000" cy="45720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0C3C7F-A5F1-4DF7-A0B1-872D59C60F2A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323850" cy="32385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F8BACD-74D4-4525-90D9-6A12333693E3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996C06-0D40-4BCB-A706-849861FC126B}"/>
              </a:ext>
            </a:extLst>
          </p:cNvPr>
          <p:cNvSpPr>
            <a:spLocks noGrp="1"/>
          </p:cNvSpPr>
          <p:nvPr/>
        </p:nvSpPr>
        <p:spPr>
          <a:xfrm>
            <a:off x="1104900" y="393382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becomes a request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D86A5C-3A8E-4A9C-A08C-4D5395325F1A}"/>
              </a:ext>
            </a:extLst>
          </p:cNvPr>
          <p:cNvSpPr>
            <a:spLocks noGrp="1"/>
          </p:cNvSpPr>
          <p:nvPr/>
        </p:nvSpPr>
        <p:spPr>
          <a:xfrm>
            <a:off x="3219450" y="393382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message is wrapped with model, context, and tool settings.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115F13-8E4C-43F8-89CE-70F465BBA79D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6477000" cy="457200"/>
          </a:xfrm>
          <a:prstGeom prst="rect">
            <a:avLst/>
          </a:prstGeom>
          <a:solidFill>
            <a:srgbClr val="F2E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2A4874-5D47-4E98-B94A-04094B3CA60C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323850" cy="3238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3E6B35-A37D-4DE3-822A-83EDE0CD076B}"/>
              </a:ext>
            </a:extLst>
          </p:cNvPr>
          <p:cNvSpPr>
            <a:spLocks noGrp="1"/>
          </p:cNvSpPr>
          <p:nvPr/>
        </p:nvSpPr>
        <p:spPr>
          <a:xfrm>
            <a:off x="609600" y="45339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6037AB-1253-4B50-89DB-341663978872}"/>
              </a:ext>
            </a:extLst>
          </p:cNvPr>
          <p:cNvSpPr>
            <a:spLocks noGrp="1"/>
          </p:cNvSpPr>
          <p:nvPr/>
        </p:nvSpPr>
        <p:spPr>
          <a:xfrm>
            <a:off x="1104900" y="452437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context is attached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5473E5-C93E-4469-97E9-8633D8045A79}"/>
              </a:ext>
            </a:extLst>
          </p:cNvPr>
          <p:cNvSpPr>
            <a:spLocks noGrp="1"/>
          </p:cNvSpPr>
          <p:nvPr/>
        </p:nvSpPr>
        <p:spPr>
          <a:xfrm>
            <a:off x="3219450" y="452437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Tools, parser, token counts, and cache signals are recorded.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B6D225-8D7D-424D-B48A-01FAA73485FD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6477000" cy="45720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4BC3A1-FFE5-4C4C-85D3-C3BB923D14C2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323850" cy="3238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F15658-5A7F-47E4-8BDE-D3DEDA0B4F7F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88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BABE0E-8BA4-4A8D-8E5E-4F5A51B9F863}"/>
              </a:ext>
            </a:extLst>
          </p:cNvPr>
          <p:cNvSpPr>
            <a:spLocks noGrp="1"/>
          </p:cNvSpPr>
          <p:nvPr/>
        </p:nvSpPr>
        <p:spPr>
          <a:xfrm>
            <a:off x="1104900" y="511492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is recorded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D53AA3-9847-43BC-9B7C-8FE2F543DF43}"/>
              </a:ext>
            </a:extLst>
          </p:cNvPr>
          <p:cNvSpPr>
            <a:spLocks noGrp="1"/>
          </p:cNvSpPr>
          <p:nvPr/>
        </p:nvSpPr>
        <p:spPr>
          <a:xfrm>
            <a:off x="3219450" y="5114925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final trace shows tool calls, response, and workspace outcome.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DB9934-7D00-4348-A21E-C9723B9ECBA4}"/>
              </a:ext>
            </a:extLst>
          </p:cNvPr>
          <p:cNvSpPr>
            <a:spLocks noGrp="1"/>
          </p:cNvSpPr>
          <p:nvPr/>
        </p:nvSpPr>
        <p:spPr>
          <a:xfrm>
            <a:off x="7562850" y="2038350"/>
            <a:ext cx="3905250" cy="36195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CA3EB8-7424-413F-9DB5-FE0DEBE3548C}"/>
              </a:ext>
            </a:extLst>
          </p:cNvPr>
          <p:cNvSpPr>
            <a:spLocks noGrp="1"/>
          </p:cNvSpPr>
          <p:nvPr/>
        </p:nvSpPr>
        <p:spPr>
          <a:xfrm>
            <a:off x="7562850" y="2038350"/>
            <a:ext cx="3905250" cy="762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AC7BAD-D809-4912-A748-09F38CE47C42}"/>
              </a:ext>
            </a:extLst>
          </p:cNvPr>
          <p:cNvSpPr>
            <a:spLocks noGrp="1"/>
          </p:cNvSpPr>
          <p:nvPr/>
        </p:nvSpPr>
        <p:spPr>
          <a:xfrm>
            <a:off x="7829550" y="23241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Who Is Involved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58BE6B1-DBC7-4548-BDF7-15D72E517401}"/>
              </a:ext>
            </a:extLst>
          </p:cNvPr>
          <p:cNvSpPr>
            <a:spLocks noGrp="1"/>
          </p:cNvSpPr>
          <p:nvPr/>
        </p:nvSpPr>
        <p:spPr>
          <a:xfrm>
            <a:off x="7829550" y="28575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A16534-8BB9-4AAF-8597-64CCDA7A7BC3}"/>
              </a:ext>
            </a:extLst>
          </p:cNvPr>
          <p:cNvSpPr>
            <a:spLocks noGrp="1"/>
          </p:cNvSpPr>
          <p:nvPr/>
        </p:nvSpPr>
        <p:spPr>
          <a:xfrm>
            <a:off x="9467850" y="2857500"/>
            <a:ext cx="167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loads the task and workspace.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9331CDA-4754-4DA2-8599-E9B6F26299B0}"/>
              </a:ext>
            </a:extLst>
          </p:cNvPr>
          <p:cNvSpPr>
            <a:spLocks noGrp="1"/>
          </p:cNvSpPr>
          <p:nvPr/>
        </p:nvSpPr>
        <p:spPr>
          <a:xfrm>
            <a:off x="7829550" y="33528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5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3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26D2C8-FF38-448A-9C0D-49B55EAA9FB4}"/>
              </a:ext>
            </a:extLst>
          </p:cNvPr>
          <p:cNvSpPr>
            <a:spLocks noGrp="1"/>
          </p:cNvSpPr>
          <p:nvPr/>
        </p:nvSpPr>
        <p:spPr>
          <a:xfrm>
            <a:off x="9467850" y="3352800"/>
            <a:ext cx="167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writes the agent instructions.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D29DFE8-4C98-4638-87B3-959C751A9C28}"/>
              </a:ext>
            </a:extLst>
          </p:cNvPr>
          <p:cNvSpPr>
            <a:spLocks noGrp="1"/>
          </p:cNvSpPr>
          <p:nvPr/>
        </p:nvSpPr>
        <p:spPr>
          <a:xfrm>
            <a:off x="7829550" y="38481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53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33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 (local helper script)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2E726A-01A2-428F-B1D1-D001D676B7C7}"/>
              </a:ext>
            </a:extLst>
          </p:cNvPr>
          <p:cNvSpPr>
            <a:spLocks noGrp="1"/>
          </p:cNvSpPr>
          <p:nvPr/>
        </p:nvSpPr>
        <p:spPr>
          <a:xfrm>
            <a:off x="9467850" y="3848100"/>
            <a:ext cx="167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packages the model request.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829928-67D7-45E7-AB14-17EF397133E6}"/>
              </a:ext>
            </a:extLst>
          </p:cNvPr>
          <p:cNvSpPr>
            <a:spLocks noGrp="1"/>
          </p:cNvSpPr>
          <p:nvPr/>
        </p:nvSpPr>
        <p:spPr>
          <a:xfrm>
            <a:off x="7829550" y="43434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0B3A5D-B147-49E0-B7D8-DCCC09F56F4F}"/>
              </a:ext>
            </a:extLst>
          </p:cNvPr>
          <p:cNvSpPr>
            <a:spLocks noGrp="1"/>
          </p:cNvSpPr>
          <p:nvPr/>
        </p:nvSpPr>
        <p:spPr>
          <a:xfrm>
            <a:off x="9467850" y="4343400"/>
            <a:ext cx="167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adds behavior rules and records behavior.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AEDB8B-0EF9-4F86-90CD-C6B346B784ED}"/>
              </a:ext>
            </a:extLst>
          </p:cNvPr>
          <p:cNvSpPr>
            <a:spLocks noGrp="1"/>
          </p:cNvSpPr>
          <p:nvPr/>
        </p:nvSpPr>
        <p:spPr>
          <a:xfrm>
            <a:off x="7829550" y="4838700"/>
            <a:ext cx="1485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3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742543A-D1C9-43ED-BFB1-85E62016DDF3}"/>
              </a:ext>
            </a:extLst>
          </p:cNvPr>
          <p:cNvSpPr>
            <a:spLocks noGrp="1"/>
          </p:cNvSpPr>
          <p:nvPr/>
        </p:nvSpPr>
        <p:spPr>
          <a:xfrm>
            <a:off x="9467850" y="4838700"/>
            <a:ext cx="167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prepares tools, parser, and runtime state.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C62120-1664-4E0C-A5CC-90A2BCF38ACF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9DBB4FE-0472-4592-B306-F351F3E457C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63D3F3B-1FBB-417A-B5BA-505FBA38CFA9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542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53AE63CA-FB1C-4F8F-8CB7-7A808E59D0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D868ED-8959-4E5F-8126-37515146550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C24611-9AFA-4542-B682-0FD5C868974D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5785F1-14E4-4944-A576-7ED4AA8BFA24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layer has a clear job in the prompt pipeline.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2BAB7F-0E43-4997-BE0A-DD4B2A1B5E49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028700" cy="70485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FDDA63-E40F-4BCF-87A9-8190B08D56D4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028700" cy="66675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A8C366-B84B-43B3-8C57-29BFDF5E1574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SWE-bench Pro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289630-A11B-44D1-BA8E-279ECC3F561B}"/>
              </a:ext>
            </a:extLst>
          </p:cNvPr>
          <p:cNvSpPr>
            <a:spLocks noGrp="1"/>
          </p:cNvSpPr>
          <p:nvPr/>
        </p:nvSpPr>
        <p:spPr>
          <a:xfrm>
            <a:off x="704850" y="23717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real coding task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B445FA-6BFE-4322-8CBB-EDB023ACE34C}"/>
              </a:ext>
            </a:extLst>
          </p:cNvPr>
          <p:cNvSpPr>
            <a:spLocks noGrp="1"/>
          </p:cNvSpPr>
          <p:nvPr/>
        </p:nvSpPr>
        <p:spPr>
          <a:xfrm>
            <a:off x="1628775" y="22383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9BF2F-268B-4911-B387-E743E41C892D}"/>
              </a:ext>
            </a:extLst>
          </p:cNvPr>
          <p:cNvSpPr>
            <a:spLocks noGrp="1"/>
          </p:cNvSpPr>
          <p:nvPr/>
        </p:nvSpPr>
        <p:spPr>
          <a:xfrm>
            <a:off x="1733550" y="1962150"/>
            <a:ext cx="1028700" cy="70485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969148-F1F0-4D86-9414-16B5E240899B}"/>
              </a:ext>
            </a:extLst>
          </p:cNvPr>
          <p:cNvSpPr>
            <a:spLocks noGrp="1"/>
          </p:cNvSpPr>
          <p:nvPr/>
        </p:nvSpPr>
        <p:spPr>
          <a:xfrm>
            <a:off x="1733550" y="1962150"/>
            <a:ext cx="1028700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E051AF-AB48-489E-B6B4-695ACCEB52BA}"/>
              </a:ext>
            </a:extLst>
          </p:cNvPr>
          <p:cNvSpPr>
            <a:spLocks noGrp="1"/>
          </p:cNvSpPr>
          <p:nvPr/>
        </p:nvSpPr>
        <p:spPr>
          <a:xfrm>
            <a:off x="1828800" y="2133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AgentBench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5FC35D-B2CB-4C4C-9867-B3597BF5834D}"/>
              </a:ext>
            </a:extLst>
          </p:cNvPr>
          <p:cNvSpPr>
            <a:spLocks noGrp="1"/>
          </p:cNvSpPr>
          <p:nvPr/>
        </p:nvSpPr>
        <p:spPr>
          <a:xfrm>
            <a:off x="1828800" y="23717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loads task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B95218-A0A2-41BA-A75B-DBB9AABCC634}"/>
              </a:ext>
            </a:extLst>
          </p:cNvPr>
          <p:cNvSpPr>
            <a:spLocks noGrp="1"/>
          </p:cNvSpPr>
          <p:nvPr/>
        </p:nvSpPr>
        <p:spPr>
          <a:xfrm>
            <a:off x="2752725" y="22383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CDC57A-40FB-4848-AB2D-C34DFE066361}"/>
              </a:ext>
            </a:extLst>
          </p:cNvPr>
          <p:cNvSpPr>
            <a:spLocks noGrp="1"/>
          </p:cNvSpPr>
          <p:nvPr/>
        </p:nvSpPr>
        <p:spPr>
          <a:xfrm>
            <a:off x="2857500" y="1962150"/>
            <a:ext cx="1028700" cy="70485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8B8B13-B880-48B9-B131-87459F594A78}"/>
              </a:ext>
            </a:extLst>
          </p:cNvPr>
          <p:cNvSpPr>
            <a:spLocks noGrp="1"/>
          </p:cNvSpPr>
          <p:nvPr/>
        </p:nvSpPr>
        <p:spPr>
          <a:xfrm>
            <a:off x="2857500" y="1962150"/>
            <a:ext cx="1028700" cy="66675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B7CE75-5EE1-49B8-B0DD-BD3E585A77C5}"/>
              </a:ext>
            </a:extLst>
          </p:cNvPr>
          <p:cNvSpPr>
            <a:spLocks noGrp="1"/>
          </p:cNvSpPr>
          <p:nvPr/>
        </p:nvSpPr>
        <p:spPr>
          <a:xfrm>
            <a:off x="2952750" y="2133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77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0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E92004-A49B-491B-BF9D-D5074543E8E9}"/>
              </a:ext>
            </a:extLst>
          </p:cNvPr>
          <p:cNvSpPr>
            <a:spLocks noGrp="1"/>
          </p:cNvSpPr>
          <p:nvPr/>
        </p:nvSpPr>
        <p:spPr>
          <a:xfrm>
            <a:off x="2952750" y="23717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writes prompt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F9094C-69D3-47C2-B013-D4BA103D63BF}"/>
              </a:ext>
            </a:extLst>
          </p:cNvPr>
          <p:cNvSpPr>
            <a:spLocks noGrp="1"/>
          </p:cNvSpPr>
          <p:nvPr/>
        </p:nvSpPr>
        <p:spPr>
          <a:xfrm>
            <a:off x="3876675" y="22383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D4ED8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D4ED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CAC7D7-24B9-4ACC-B373-2D6AEB7A615E}"/>
              </a:ext>
            </a:extLst>
          </p:cNvPr>
          <p:cNvSpPr>
            <a:spLocks noGrp="1"/>
          </p:cNvSpPr>
          <p:nvPr/>
        </p:nvSpPr>
        <p:spPr>
          <a:xfrm>
            <a:off x="3981450" y="1962150"/>
            <a:ext cx="1028700" cy="70485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EBF90C-C4BF-4E16-BE1A-92FD3ED4617E}"/>
              </a:ext>
            </a:extLst>
          </p:cNvPr>
          <p:cNvSpPr>
            <a:spLocks noGrp="1"/>
          </p:cNvSpPr>
          <p:nvPr/>
        </p:nvSpPr>
        <p:spPr>
          <a:xfrm>
            <a:off x="3981450" y="1962150"/>
            <a:ext cx="1028700" cy="6667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AD2146-D969-41B0-9F46-137F6EAC6816}"/>
              </a:ext>
            </a:extLst>
          </p:cNvPr>
          <p:cNvSpPr>
            <a:spLocks noGrp="1"/>
          </p:cNvSpPr>
          <p:nvPr/>
        </p:nvSpPr>
        <p:spPr>
          <a:xfrm>
            <a:off x="4076700" y="2133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Deep Agents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0A0AE9-28E7-4024-B3D4-6C366F8087E8}"/>
              </a:ext>
            </a:extLst>
          </p:cNvPr>
          <p:cNvSpPr>
            <a:spLocks noGrp="1"/>
          </p:cNvSpPr>
          <p:nvPr/>
        </p:nvSpPr>
        <p:spPr>
          <a:xfrm>
            <a:off x="4076700" y="23717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 behavior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940536-4854-414F-98AC-B1E5D2FDC8D8}"/>
              </a:ext>
            </a:extLst>
          </p:cNvPr>
          <p:cNvSpPr>
            <a:spLocks noGrp="1"/>
          </p:cNvSpPr>
          <p:nvPr/>
        </p:nvSpPr>
        <p:spPr>
          <a:xfrm>
            <a:off x="5000625" y="22383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5E0773-2D44-431F-9003-382F0B45FC48}"/>
              </a:ext>
            </a:extLst>
          </p:cNvPr>
          <p:cNvSpPr>
            <a:spLocks noGrp="1"/>
          </p:cNvSpPr>
          <p:nvPr/>
        </p:nvSpPr>
        <p:spPr>
          <a:xfrm>
            <a:off x="5105400" y="1962150"/>
            <a:ext cx="1028700" cy="704850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22E934-9E79-42D7-A224-385484AEFE24}"/>
              </a:ext>
            </a:extLst>
          </p:cNvPr>
          <p:cNvSpPr>
            <a:spLocks noGrp="1"/>
          </p:cNvSpPr>
          <p:nvPr/>
        </p:nvSpPr>
        <p:spPr>
          <a:xfrm>
            <a:off x="5105400" y="1962150"/>
            <a:ext cx="1028700" cy="66675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FDB612-75BB-406A-B6A1-1B6DD73D77E6}"/>
              </a:ext>
            </a:extLst>
          </p:cNvPr>
          <p:cNvSpPr>
            <a:spLocks noGrp="1"/>
          </p:cNvSpPr>
          <p:nvPr/>
        </p:nvSpPr>
        <p:spPr>
          <a:xfrm>
            <a:off x="5200650" y="2133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Dynamo Frontend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83EF6E-87AF-4ED4-B422-F4CAFFBF92C9}"/>
              </a:ext>
            </a:extLst>
          </p:cNvPr>
          <p:cNvSpPr>
            <a:spLocks noGrp="1"/>
          </p:cNvSpPr>
          <p:nvPr/>
        </p:nvSpPr>
        <p:spPr>
          <a:xfrm>
            <a:off x="5200650" y="23717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prepares request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B2345D-0E00-4154-8FE7-FB186445DC4D}"/>
              </a:ext>
            </a:extLst>
          </p:cNvPr>
          <p:cNvSpPr>
            <a:spLocks noGrp="1"/>
          </p:cNvSpPr>
          <p:nvPr/>
        </p:nvSpPr>
        <p:spPr>
          <a:xfrm>
            <a:off x="6124575" y="22383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A9DE1F-2A4A-47DB-85BE-B229A3396A9D}"/>
              </a:ext>
            </a:extLst>
          </p:cNvPr>
          <p:cNvSpPr>
            <a:spLocks noGrp="1"/>
          </p:cNvSpPr>
          <p:nvPr/>
        </p:nvSpPr>
        <p:spPr>
          <a:xfrm>
            <a:off x="6229350" y="1962150"/>
            <a:ext cx="1028700" cy="704850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062C51-AFF4-4492-95A3-58D1668A4637}"/>
              </a:ext>
            </a:extLst>
          </p:cNvPr>
          <p:cNvSpPr>
            <a:spLocks noGrp="1"/>
          </p:cNvSpPr>
          <p:nvPr/>
        </p:nvSpPr>
        <p:spPr>
          <a:xfrm>
            <a:off x="6229350" y="1962150"/>
            <a:ext cx="1028700" cy="66675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506B86-11DC-4053-AB0F-5E9C30955870}"/>
              </a:ext>
            </a:extLst>
          </p:cNvPr>
          <p:cNvSpPr>
            <a:spLocks noGrp="1"/>
          </p:cNvSpPr>
          <p:nvPr/>
        </p:nvSpPr>
        <p:spPr>
          <a:xfrm>
            <a:off x="6324600" y="2133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SGLang Worker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4ADDE5-3D05-4AAC-9438-AB12BF4905CC}"/>
              </a:ext>
            </a:extLst>
          </p:cNvPr>
          <p:cNvSpPr>
            <a:spLocks noGrp="1"/>
          </p:cNvSpPr>
          <p:nvPr/>
        </p:nvSpPr>
        <p:spPr>
          <a:xfrm>
            <a:off x="6324600" y="23717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runs model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7DA045-7D33-418E-9AFC-732E15AEEB80}"/>
              </a:ext>
            </a:extLst>
          </p:cNvPr>
          <p:cNvSpPr>
            <a:spLocks noGrp="1"/>
          </p:cNvSpPr>
          <p:nvPr/>
        </p:nvSpPr>
        <p:spPr>
          <a:xfrm>
            <a:off x="7248525" y="22383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5C46FE-5947-47AA-8478-18E39D23417D}"/>
              </a:ext>
            </a:extLst>
          </p:cNvPr>
          <p:cNvSpPr>
            <a:spLocks noGrp="1"/>
          </p:cNvSpPr>
          <p:nvPr/>
        </p:nvSpPr>
        <p:spPr>
          <a:xfrm>
            <a:off x="7353300" y="1962150"/>
            <a:ext cx="1028700" cy="704850"/>
          </a:xfrm>
          <a:prstGeom prst="rect">
            <a:avLst/>
          </a:prstGeom>
          <a:solidFill>
            <a:srgbClr val="FFFFFF"/>
          </a:solidFill>
          <a:ln w="1524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04F5C5-9DAF-40EA-8D6A-3F50E71FAD41}"/>
              </a:ext>
            </a:extLst>
          </p:cNvPr>
          <p:cNvSpPr>
            <a:spLocks noGrp="1"/>
          </p:cNvSpPr>
          <p:nvPr/>
        </p:nvSpPr>
        <p:spPr>
          <a:xfrm>
            <a:off x="7353300" y="1962150"/>
            <a:ext cx="1028700" cy="66675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C58E9A-3090-4FA4-B9F1-25C3E7C9A2AB}"/>
              </a:ext>
            </a:extLst>
          </p:cNvPr>
          <p:cNvSpPr>
            <a:spLocks noGrp="1"/>
          </p:cNvSpPr>
          <p:nvPr/>
        </p:nvSpPr>
        <p:spPr>
          <a:xfrm>
            <a:off x="7448550" y="21336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647F9E-945A-4027-BE4D-E7704E8205BD}"/>
              </a:ext>
            </a:extLst>
          </p:cNvPr>
          <p:cNvSpPr>
            <a:spLocks noGrp="1"/>
          </p:cNvSpPr>
          <p:nvPr/>
        </p:nvSpPr>
        <p:spPr>
          <a:xfrm>
            <a:off x="7448550" y="2371725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captures shape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724321-AEF7-4139-8F9E-9A4975FA866E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7772400" cy="32385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BD4C947-1CA5-4CC5-AD56-A92DC771025A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66675" cy="32385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8BF5821-167F-4A43-AB98-E2F143C33B66}"/>
              </a:ext>
            </a:extLst>
          </p:cNvPr>
          <p:cNvSpPr>
            <a:spLocks noGrp="1"/>
          </p:cNvSpPr>
          <p:nvPr/>
        </p:nvSpPr>
        <p:spPr>
          <a:xfrm>
            <a:off x="781050" y="31146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SWE-bench Pro Task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9EC1554-A5A9-4B7A-8439-915FA87E8866}"/>
              </a:ext>
            </a:extLst>
          </p:cNvPr>
          <p:cNvSpPr>
            <a:spLocks noGrp="1"/>
          </p:cNvSpPr>
          <p:nvPr/>
        </p:nvSpPr>
        <p:spPr>
          <a:xfrm>
            <a:off x="2876550" y="3114675"/>
            <a:ext cx="525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Real software-engineering bug task with repo, tests, and expected behavior.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462F85-5D1A-42FD-AF02-F2279DCC3403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7772400" cy="32385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38FDAAC-400D-4DD7-A196-A17CA3A5A086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66675" cy="3238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8EA730D-B7F3-45F0-8E2E-DB2DCCECFA9E}"/>
              </a:ext>
            </a:extLst>
          </p:cNvPr>
          <p:cNvSpPr>
            <a:spLocks noGrp="1"/>
          </p:cNvSpPr>
          <p:nvPr/>
        </p:nvSpPr>
        <p:spPr>
          <a:xfrm>
            <a:off x="781050" y="34956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AgentBench Bootstrap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273990-16D8-492C-B8BC-7F61CBD05D54}"/>
              </a:ext>
            </a:extLst>
          </p:cNvPr>
          <p:cNvSpPr>
            <a:spLocks noGrp="1"/>
          </p:cNvSpPr>
          <p:nvPr/>
        </p:nvSpPr>
        <p:spPr>
          <a:xfrm>
            <a:off x="2876550" y="3495675"/>
            <a:ext cx="525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Our simple local harness that loads the benchmark task and prepares the workspace.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782EA18-7213-4DC3-99C4-CF42D94AA606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7772400" cy="32385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8899718-3FA5-4FE0-AD0C-EDE9C5AFF027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66675" cy="32385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93C4AF3-FCC5-4E11-9679-A2EF4AFBE0A8}"/>
              </a:ext>
            </a:extLst>
          </p:cNvPr>
          <p:cNvSpPr>
            <a:spLocks noGrp="1"/>
          </p:cNvSpPr>
          <p:nvPr/>
        </p:nvSpPr>
        <p:spPr>
          <a:xfrm>
            <a:off x="781050" y="38766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848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58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4EE2992-14EC-403E-95A7-1B03889E661C}"/>
              </a:ext>
            </a:extLst>
          </p:cNvPr>
          <p:cNvSpPr>
            <a:spLocks noGrp="1"/>
          </p:cNvSpPr>
          <p:nvPr/>
        </p:nvSpPr>
        <p:spPr>
          <a:xfrm>
            <a:off x="2876550" y="3876675"/>
            <a:ext cx="525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Our local helper that turns task fields into one agent prompt.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DAB7041-DE36-4780-B4BC-826E83302B6D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7772400" cy="32385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C5CBB77-15E2-4CAF-96D9-195DCAFF7B72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66675" cy="3238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1A218B-9929-42A9-A297-1FD864536B97}"/>
              </a:ext>
            </a:extLst>
          </p:cNvPr>
          <p:cNvSpPr>
            <a:spLocks noGrp="1"/>
          </p:cNvSpPr>
          <p:nvPr/>
        </p:nvSpPr>
        <p:spPr>
          <a:xfrm>
            <a:off x="781050" y="42576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App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1B9C76E-6227-4706-88D6-139A7CA4013B}"/>
              </a:ext>
            </a:extLst>
          </p:cNvPr>
          <p:cNvSpPr>
            <a:spLocks noGrp="1"/>
          </p:cNvSpPr>
          <p:nvPr/>
        </p:nvSpPr>
        <p:spPr>
          <a:xfrm>
            <a:off x="2876550" y="4257675"/>
            <a:ext cx="525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Uses Deep Agents from LangChain to apply coding-agent behavior and tool workflow.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D64556-E103-406B-98EF-0B991C11D5A5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7772400" cy="32385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819983-B7DD-436A-A11D-03EFD90D5707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66675" cy="3238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6FBE408-49BA-4867-8005-4ECD0360F665}"/>
              </a:ext>
            </a:extLst>
          </p:cNvPr>
          <p:cNvSpPr>
            <a:spLocks noGrp="1"/>
          </p:cNvSpPr>
          <p:nvPr/>
        </p:nvSpPr>
        <p:spPr>
          <a:xfrm>
            <a:off x="781050" y="46386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Frontend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14EE2C9-25D4-4739-9EE6-378406FA2C8E}"/>
              </a:ext>
            </a:extLst>
          </p:cNvPr>
          <p:cNvSpPr>
            <a:spLocks noGrp="1"/>
          </p:cNvSpPr>
          <p:nvPr/>
        </p:nvSpPr>
        <p:spPr>
          <a:xfrm>
            <a:off x="2876550" y="4638675"/>
            <a:ext cx="525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Receives the model request and prepares it for runtime execution.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B7DCC8B-DA47-4066-B072-53D3030A87AC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7772400" cy="32385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F03C83B-FA98-4E54-80CB-0EEE13C69A4C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66675" cy="3238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9E2E2A4-0708-4E4A-A754-BD6E4D126F6A}"/>
              </a:ext>
            </a:extLst>
          </p:cNvPr>
          <p:cNvSpPr>
            <a:spLocks noGrp="1"/>
          </p:cNvSpPr>
          <p:nvPr/>
        </p:nvSpPr>
        <p:spPr>
          <a:xfrm>
            <a:off x="781050" y="50196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SGLang Worker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838C50D-F1D0-4CE3-B333-FB84E4865D33}"/>
              </a:ext>
            </a:extLst>
          </p:cNvPr>
          <p:cNvSpPr>
            <a:spLocks noGrp="1"/>
          </p:cNvSpPr>
          <p:nvPr/>
        </p:nvSpPr>
        <p:spPr>
          <a:xfrm>
            <a:off x="2876550" y="5019675"/>
            <a:ext cx="525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Runs model execution and returns response/runtime signals.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0719E5B-C89A-49D5-8B7B-EAC182F6B4EB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7772400" cy="32385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9DAF6C-5E74-47AB-AEA1-1222D287A418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66675" cy="3238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D83E49-5071-4575-A4FE-5F2CD3FAF95B}"/>
              </a:ext>
            </a:extLst>
          </p:cNvPr>
          <p:cNvSpPr>
            <a:spLocks noGrp="1"/>
          </p:cNvSpPr>
          <p:nvPr/>
        </p:nvSpPr>
        <p:spPr>
          <a:xfrm>
            <a:off x="781050" y="54006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Prompt Evolution Evidence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F6B7AF3-D468-485E-BFDD-0C1F5289EF8A}"/>
              </a:ext>
            </a:extLst>
          </p:cNvPr>
          <p:cNvSpPr>
            <a:spLocks noGrp="1"/>
          </p:cNvSpPr>
          <p:nvPr/>
        </p:nvSpPr>
        <p:spPr>
          <a:xfrm>
            <a:off x="2876550" y="5400675"/>
            <a:ext cx="525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Captures payload shape, added fields, size changes, and runtime facts.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8833EA2-1AB2-4BA9-B623-59C6C7E5E466}"/>
              </a:ext>
            </a:extLst>
          </p:cNvPr>
          <p:cNvSpPr>
            <a:spLocks noGrp="1"/>
          </p:cNvSpPr>
          <p:nvPr/>
        </p:nvSpPr>
        <p:spPr>
          <a:xfrm>
            <a:off x="8743950" y="1962150"/>
            <a:ext cx="2838450" cy="375285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0D9553B-01CF-4A8D-9E46-0B612A38CDD7}"/>
              </a:ext>
            </a:extLst>
          </p:cNvPr>
          <p:cNvSpPr>
            <a:spLocks noGrp="1"/>
          </p:cNvSpPr>
          <p:nvPr/>
        </p:nvSpPr>
        <p:spPr>
          <a:xfrm>
            <a:off x="8743950" y="1962150"/>
            <a:ext cx="2838450" cy="762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4DC5DE2-FB37-4AAA-AC95-FFE46918C62F}"/>
              </a:ext>
            </a:extLst>
          </p:cNvPr>
          <p:cNvSpPr>
            <a:spLocks noGrp="1"/>
          </p:cNvSpPr>
          <p:nvPr/>
        </p:nvSpPr>
        <p:spPr>
          <a:xfrm>
            <a:off x="8991600" y="2266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Where This Came From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494D1AB-C4F1-47BA-959B-2FE56F8D459A}"/>
              </a:ext>
            </a:extLst>
          </p:cNvPr>
          <p:cNvSpPr>
            <a:spLocks noGrp="1"/>
          </p:cNvSpPr>
          <p:nvPr/>
        </p:nvSpPr>
        <p:spPr>
          <a:xfrm>
            <a:off x="8991600" y="274320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Deep Agents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3A57831-0FE6-4A4C-8357-9FEFFB0D534A}"/>
              </a:ext>
            </a:extLst>
          </p:cNvPr>
          <p:cNvSpPr>
            <a:spLocks noGrp="1"/>
          </p:cNvSpPr>
          <p:nvPr/>
        </p:nvSpPr>
        <p:spPr>
          <a:xfrm>
            <a:off x="8991600" y="2895600"/>
            <a:ext cx="2209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langchain-ai/deepagents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CC40F32-6F3D-42E5-97C3-3CE02B749EB5}"/>
              </a:ext>
            </a:extLst>
          </p:cNvPr>
          <p:cNvSpPr>
            <a:spLocks noGrp="1"/>
          </p:cNvSpPr>
          <p:nvPr/>
        </p:nvSpPr>
        <p:spPr>
          <a:xfrm>
            <a:off x="8991600" y="325755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Dynamo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AAA7858-F1B5-4472-BBCA-64BCB478A81C}"/>
              </a:ext>
            </a:extLst>
          </p:cNvPr>
          <p:cNvSpPr>
            <a:spLocks noGrp="1"/>
          </p:cNvSpPr>
          <p:nvPr/>
        </p:nvSpPr>
        <p:spPr>
          <a:xfrm>
            <a:off x="8991600" y="3409950"/>
            <a:ext cx="2209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ai-dynamo/dynamo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0F9759-961A-467C-8368-1FF41F6BB523}"/>
              </a:ext>
            </a:extLst>
          </p:cNvPr>
          <p:cNvSpPr>
            <a:spLocks noGrp="1"/>
          </p:cNvSpPr>
          <p:nvPr/>
        </p:nvSpPr>
        <p:spPr>
          <a:xfrm>
            <a:off x="8991600" y="377190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BF3108B-F446-40A9-A319-4545C86D6359}"/>
              </a:ext>
            </a:extLst>
          </p:cNvPr>
          <p:cNvSpPr>
            <a:spLocks noGrp="1"/>
          </p:cNvSpPr>
          <p:nvPr/>
        </p:nvSpPr>
        <p:spPr>
          <a:xfrm>
            <a:off x="8991600" y="3924300"/>
            <a:ext cx="2209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ScaleAI/SWE-bench_Pro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F472D95-B889-4E18-BE70-166AE08FF07F}"/>
              </a:ext>
            </a:extLst>
          </p:cNvPr>
          <p:cNvSpPr>
            <a:spLocks noGrp="1"/>
          </p:cNvSpPr>
          <p:nvPr/>
        </p:nvSpPr>
        <p:spPr>
          <a:xfrm>
            <a:off x="8991600" y="428625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Local glue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8CC3253-36F7-4CE0-9316-626CC7D75293}"/>
              </a:ext>
            </a:extLst>
          </p:cNvPr>
          <p:cNvSpPr>
            <a:spLocks noGrp="1"/>
          </p:cNvSpPr>
          <p:nvPr/>
        </p:nvSpPr>
        <p:spPr>
          <a:xfrm>
            <a:off x="8991600" y="4438650"/>
            <a:ext cx="2209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AgentBench loader + prompt builder (local helper script)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4862B63-6026-4FBF-B66C-4EC19D1A8D77}"/>
              </a:ext>
            </a:extLst>
          </p:cNvPr>
          <p:cNvSpPr>
            <a:spLocks noGrp="1"/>
          </p:cNvSpPr>
          <p:nvPr/>
        </p:nvSpPr>
        <p:spPr>
          <a:xfrm>
            <a:off x="8991600" y="480060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Instrumentation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AFAF3F3-0782-4D86-A1E0-6DAC3A7B4229}"/>
              </a:ext>
            </a:extLst>
          </p:cNvPr>
          <p:cNvSpPr>
            <a:spLocks noGrp="1"/>
          </p:cNvSpPr>
          <p:nvPr/>
        </p:nvSpPr>
        <p:spPr>
          <a:xfrm>
            <a:off x="8991600" y="4953000"/>
            <a:ext cx="2209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8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Deep Agents app/harness logs + Dynamo/SGLang runtime JSON logs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56F4C88-9593-4F8E-9134-B3E8D7D1EC68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B623F57-4CD8-4132-8D10-58DAC8F267D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A7D1FEC-7130-4542-BF1D-00E79BEF7191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46131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32283EC-D9CF-47E7-ABCF-73E367FE9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F46AAD-05E9-4379-8F83-587B947817B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6A3B9B-08DF-4E12-A0E5-60D7DD61E426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BENCHMARK CONTEXT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5CAA11-D6A9-4598-A183-5F81A677EB5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Why SWE-bench Pro was the right benchmark.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E462F-2BD6-4415-8DEF-E1C4EF8F18E9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09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SWE-bench Pro gives us realistic software-engineering tasks, not toy prompts: codebase context, a bug or requested behavior, requirements, tests, and an expected fix path.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476D4E-8383-4800-878A-56E0A14A8213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3200400" cy="207645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177B8B-F8BF-40CD-96F1-A17173CA5EF5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32004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120C6E-CBD4-4CC7-BDFE-C99F868BAA80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1905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D96CDF-25D1-40A4-A899-9F01428FE45F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2724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Real Repo 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BDE2D8-C900-4277-BFBE-E05469A3DE76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27241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benchmark built around realistic software-engineering tasks with repo context, problem details, requirements, and tests.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F775F9-B243-45B6-85FE-F773EDCF9202}"/>
              </a:ext>
            </a:extLst>
          </p:cNvPr>
          <p:cNvSpPr>
            <a:spLocks noGrp="1"/>
          </p:cNvSpPr>
          <p:nvPr/>
        </p:nvSpPr>
        <p:spPr>
          <a:xfrm>
            <a:off x="3867150" y="3371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3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163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32A804-A367-49B9-BA12-839BE773F37A}"/>
              </a:ext>
            </a:extLst>
          </p:cNvPr>
          <p:cNvSpPr>
            <a:spLocks noGrp="1"/>
          </p:cNvSpPr>
          <p:nvPr/>
        </p:nvSpPr>
        <p:spPr>
          <a:xfrm>
            <a:off x="4324350" y="2495550"/>
            <a:ext cx="3200400" cy="207645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D22052-9640-4E2E-A84B-93ACDFC07B09}"/>
              </a:ext>
            </a:extLst>
          </p:cNvPr>
          <p:cNvSpPr>
            <a:spLocks noGrp="1"/>
          </p:cNvSpPr>
          <p:nvPr/>
        </p:nvSpPr>
        <p:spPr>
          <a:xfrm>
            <a:off x="4324350" y="2495550"/>
            <a:ext cx="3200400" cy="762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494259-5476-4632-98D7-8091E232F5B4}"/>
              </a:ext>
            </a:extLst>
          </p:cNvPr>
          <p:cNvSpPr>
            <a:spLocks noGrp="1"/>
          </p:cNvSpPr>
          <p:nvPr/>
        </p:nvSpPr>
        <p:spPr>
          <a:xfrm>
            <a:off x="4552950" y="2781300"/>
            <a:ext cx="1905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WE USED 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C14C13-EE05-44EE-B3B1-F0398C2470DB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724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Agent Workflow Stress Test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8599CF-2027-48A7-A297-F4B1971A2559}"/>
              </a:ext>
            </a:extLst>
          </p:cNvPr>
          <p:cNvSpPr>
            <a:spLocks noGrp="1"/>
          </p:cNvSpPr>
          <p:nvPr/>
        </p:nvSpPr>
        <p:spPr>
          <a:xfrm>
            <a:off x="4552950" y="3638550"/>
            <a:ext cx="27241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exercises prompt construction, tool use, runtime execution, and result capture instead of only testing text generation.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603C17-7A2B-4463-A749-C17C79B9E5FA}"/>
              </a:ext>
            </a:extLst>
          </p:cNvPr>
          <p:cNvSpPr>
            <a:spLocks noGrp="1"/>
          </p:cNvSpPr>
          <p:nvPr/>
        </p:nvSpPr>
        <p:spPr>
          <a:xfrm>
            <a:off x="7581900" y="337185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3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163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556695-D4E2-47A0-B84C-3A1A52F9EC9C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3200400" cy="20764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14D395-82ED-4110-B927-CAB6A0A8D679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3200400" cy="7620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09F305-0185-45EC-AB16-FC800E63D6C5}"/>
              </a:ext>
            </a:extLst>
          </p:cNvPr>
          <p:cNvSpPr>
            <a:spLocks noGrp="1"/>
          </p:cNvSpPr>
          <p:nvPr/>
        </p:nvSpPr>
        <p:spPr>
          <a:xfrm>
            <a:off x="8267700" y="2781300"/>
            <a:ext cx="1905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 HERE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8FDB05-FBCC-4FD3-A5AC-40FC7B963160}"/>
              </a:ext>
            </a:extLst>
          </p:cNvPr>
          <p:cNvSpPr>
            <a:spLocks noGrp="1"/>
          </p:cNvSpPr>
          <p:nvPr/>
        </p:nvSpPr>
        <p:spPr>
          <a:xfrm>
            <a:off x="8267700" y="3028950"/>
            <a:ext cx="2724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End-to-End Observability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B38B9B-8D32-4807-BBF8-03AF9EC37C7F}"/>
              </a:ext>
            </a:extLst>
          </p:cNvPr>
          <p:cNvSpPr>
            <a:spLocks noGrp="1"/>
          </p:cNvSpPr>
          <p:nvPr/>
        </p:nvSpPr>
        <p:spPr>
          <a:xfrm>
            <a:off x="8267700" y="3638550"/>
            <a:ext cx="27241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makes prompt growth and stage-by-stage transformation visible as the task moves through every layer.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66781B-14F9-40D2-95CB-246DA3BE745A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685800"/>
          </a:xfrm>
          <a:prstGeom prst="rect">
            <a:avLst/>
          </a:prstGeom>
          <a:solidFill>
            <a:srgbClr val="FBF8F2"/>
          </a:solidFill>
          <a:ln w="14288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FD2502-D847-4C6F-AC5B-3E266C9DE568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76200" cy="6858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EC6F82-705C-443D-AD02-250B3161E5D8}"/>
              </a:ext>
            </a:extLst>
          </p:cNvPr>
          <p:cNvSpPr>
            <a:spLocks noGrp="1"/>
          </p:cNvSpPr>
          <p:nvPr/>
        </p:nvSpPr>
        <p:spPr>
          <a:xfrm>
            <a:off x="876300" y="512445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Experiment task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7AAB8C-8640-4B49-9D55-C123165AE921}"/>
              </a:ext>
            </a:extLst>
          </p:cNvPr>
          <p:cNvSpPr>
            <a:spLocks noGrp="1"/>
          </p:cNvSpPr>
          <p:nvPr/>
        </p:nvSpPr>
        <p:spPr>
          <a:xfrm>
            <a:off x="2266950" y="51054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3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next slide shows the exact NodeBB issue that traveled through the pipeline.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E66346-25BC-461D-9F84-D57B72A3F3EB}"/>
              </a:ext>
            </a:extLst>
          </p:cNvPr>
          <p:cNvSpPr>
            <a:spLocks noGrp="1"/>
          </p:cNvSpPr>
          <p:nvPr/>
        </p:nvSpPr>
        <p:spPr>
          <a:xfrm>
            <a:off x="2266950" y="5372100"/>
            <a:ext cx="438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Benchmark used: ScaleAI/SWE-bench_Pro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7DAC24-AD27-4CF9-86DB-D15A125322D1}"/>
              </a:ext>
            </a:extLst>
          </p:cNvPr>
          <p:cNvSpPr>
            <a:spLocks noGrp="1"/>
          </p:cNvSpPr>
          <p:nvPr/>
        </p:nvSpPr>
        <p:spPr>
          <a:xfrm>
            <a:off x="7848600" y="5143500"/>
            <a:ext cx="3238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task is realistic enough to expose prompt growth, request packaging, runtime preparation, and final behavior.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38E9C4-4067-4F80-B4B3-D21CC1558856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8748DF-3AAD-43EE-9306-79C39A162D4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229418-B653-447B-A3E9-49A928AFF154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8823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E80BB5D0-B601-4EA4-8FC3-38E16E2F34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6021B1-824D-4EBA-8134-AECD37553FA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F988CE-3858-4122-BED9-4CBF02CE2AD1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EXPERIMENT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80347F-6118-4E37-87DA-1709B1996435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task asked the agent to fix a real NodeBB email validation bug.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D130C9-30C2-4E56-92B2-234E52306604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This is the concrete work item that entered the pipeline before it became a prompt, then a model request, then runtime behavior.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A4E04-D9F8-4103-A5D3-672BA93EDBC8}"/>
              </a:ext>
            </a:extLst>
          </p:cNvPr>
          <p:cNvSpPr>
            <a:spLocks noGrp="1"/>
          </p:cNvSpPr>
          <p:nvPr/>
        </p:nvSpPr>
        <p:spPr>
          <a:xfrm>
            <a:off x="8324850" y="1771650"/>
            <a:ext cx="3257550" cy="476250"/>
          </a:xfrm>
          <a:prstGeom prst="rect">
            <a:avLst/>
          </a:prstGeom>
          <a:solidFill>
            <a:srgbClr val="FFFFFF"/>
          </a:solidFill>
          <a:ln w="17145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6B3120-766C-416C-BD5D-AFF84B447DBE}"/>
              </a:ext>
            </a:extLst>
          </p:cNvPr>
          <p:cNvSpPr>
            <a:spLocks noGrp="1"/>
          </p:cNvSpPr>
          <p:nvPr/>
        </p:nvSpPr>
        <p:spPr>
          <a:xfrm>
            <a:off x="8324850" y="1771650"/>
            <a:ext cx="76200" cy="47625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81E2C2-6001-4623-8E28-CD8125E2480D}"/>
              </a:ext>
            </a:extLst>
          </p:cNvPr>
          <p:cNvSpPr>
            <a:spLocks noGrp="1"/>
          </p:cNvSpPr>
          <p:nvPr/>
        </p:nvSpPr>
        <p:spPr>
          <a:xfrm>
            <a:off x="8553450" y="1885950"/>
            <a:ext cx="1257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LLM model used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07F1C1-E036-49C6-8973-63B2F4490BF1}"/>
              </a:ext>
            </a:extLst>
          </p:cNvPr>
          <p:cNvSpPr>
            <a:spLocks noGrp="1"/>
          </p:cNvSpPr>
          <p:nvPr/>
        </p:nvSpPr>
        <p:spPr>
          <a:xfrm>
            <a:off x="8553450" y="2000250"/>
            <a:ext cx="2724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01820"/>
                </a:solidFill>
                <a:latin typeface="Aptos Mono"/>
                <a:ea typeface="Aptos Mono"/>
                <a:cs typeface="Aptos Mono"/>
              </a:defRPr>
            </a:pPr>
            <a:r>
              <a:rPr sz="1013" b="1">
                <a:solidFill>
                  <a:srgbClr val="101820"/>
                </a:solidFill>
                <a:latin typeface="Aptos Mono"/>
                <a:ea typeface="Aptos Mono"/>
                <a:cs typeface="Aptos Mono"/>
              </a:rPr>
              <a:t>Qwen/Qwen2.5-7B-Instruct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B52416-D419-4561-865F-810EA23C1E63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4171950" cy="31623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0804-35F4-48A3-AA30-1A77E923C7ED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417195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1D44E5-4E7B-4471-B03F-39DD0C6540D3}"/>
              </a:ext>
            </a:extLst>
          </p:cNvPr>
          <p:cNvSpPr>
            <a:spLocks noGrp="1"/>
          </p:cNvSpPr>
          <p:nvPr/>
        </p:nvSpPr>
        <p:spPr>
          <a:xfrm>
            <a:off x="876300" y="26098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entered the 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046978-A2BA-4A9C-954D-ED76C4917458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7B1891-A319-4E4E-8D01-42C1C173F695}"/>
              </a:ext>
            </a:extLst>
          </p:cNvPr>
          <p:cNvSpPr>
            <a:spLocks noGrp="1"/>
          </p:cNvSpPr>
          <p:nvPr/>
        </p:nvSpPr>
        <p:spPr>
          <a:xfrm>
            <a:off x="2000250" y="300990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NodeBB/NodeBB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2D5F16-58F7-432F-8FF9-5202A2B921E7}"/>
              </a:ext>
            </a:extLst>
          </p:cNvPr>
          <p:cNvSpPr>
            <a:spLocks noGrp="1"/>
          </p:cNvSpPr>
          <p:nvPr/>
        </p:nvSpPr>
        <p:spPr>
          <a:xfrm>
            <a:off x="876300" y="337185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 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C2F961-2E1B-4C20-B94D-8FC5291014A5}"/>
              </a:ext>
            </a:extLst>
          </p:cNvPr>
          <p:cNvSpPr>
            <a:spLocks noGrp="1"/>
          </p:cNvSpPr>
          <p:nvPr/>
        </p:nvSpPr>
        <p:spPr>
          <a:xfrm>
            <a:off x="2000250" y="3333750"/>
            <a:ext cx="2343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Email Validation Status Not Handled Correctly in ACP and Confirmation Logic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8AF2FB-2579-4EEA-A82C-CF036E2A6FE4}"/>
              </a:ext>
            </a:extLst>
          </p:cNvPr>
          <p:cNvSpPr>
            <a:spLocks noGrp="1"/>
          </p:cNvSpPr>
          <p:nvPr/>
        </p:nvSpPr>
        <p:spPr>
          <a:xfrm>
            <a:off x="876300" y="3962400"/>
            <a:ext cx="20002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Problem in simple words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2A1FE8-812B-4E1F-9C74-80D64A5F605B}"/>
              </a:ext>
            </a:extLst>
          </p:cNvPr>
          <p:cNvSpPr>
            <a:spLocks noGrp="1"/>
          </p:cNvSpPr>
          <p:nvPr/>
        </p:nvSpPr>
        <p:spPr>
          <a:xfrm>
            <a:off x="876300" y="4171950"/>
            <a:ext cx="342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82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82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 NodeBB's Admin Control Panel, email validation status could show incorrectly, and admin actions like validate or resend email could fail when confirmation keys expired or email data was missing.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F7C491-642C-4603-BD3A-8FC13E90A0D5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1047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Selected tests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B52EAD-F5C2-4C60-9852-A5368D946D8A}"/>
              </a:ext>
            </a:extLst>
          </p:cNvPr>
          <p:cNvSpPr>
            <a:spLocks noGrp="1"/>
          </p:cNvSpPr>
          <p:nvPr/>
        </p:nvSpPr>
        <p:spPr>
          <a:xfrm>
            <a:off x="2000250" y="499110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test/database.js, test/database/keys.js, test/user/emails.js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20DF1C-FF22-43C1-A65F-1B15606D5732}"/>
              </a:ext>
            </a:extLst>
          </p:cNvPr>
          <p:cNvSpPr>
            <a:spLocks noGrp="1"/>
          </p:cNvSpPr>
          <p:nvPr/>
        </p:nvSpPr>
        <p:spPr>
          <a:xfrm>
            <a:off x="5124450" y="2305050"/>
            <a:ext cx="2857500" cy="3162300"/>
          </a:xfrm>
          <a:prstGeom prst="rect">
            <a:avLst/>
          </a:prstGeom>
          <a:solidFill>
            <a:srgbClr val="FBF8F2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80E044-4662-4DED-8FEC-173D493E9900}"/>
              </a:ext>
            </a:extLst>
          </p:cNvPr>
          <p:cNvSpPr>
            <a:spLocks noGrp="1"/>
          </p:cNvSpPr>
          <p:nvPr/>
        </p:nvSpPr>
        <p:spPr>
          <a:xfrm>
            <a:off x="5124450" y="2305050"/>
            <a:ext cx="2857500" cy="762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25C722-88BC-4B7C-9F1D-3C4548C87142}"/>
              </a:ext>
            </a:extLst>
          </p:cNvPr>
          <p:cNvSpPr>
            <a:spLocks noGrp="1"/>
          </p:cNvSpPr>
          <p:nvPr/>
        </p:nvSpPr>
        <p:spPr>
          <a:xfrm>
            <a:off x="5391150" y="26098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was going wrong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2C2608-DB5B-4E3F-B4F7-1007F3549E82}"/>
              </a:ext>
            </a:extLst>
          </p:cNvPr>
          <p:cNvSpPr>
            <a:spLocks noGrp="1"/>
          </p:cNvSpPr>
          <p:nvPr/>
        </p:nvSpPr>
        <p:spPr>
          <a:xfrm>
            <a:off x="5391150" y="3086100"/>
            <a:ext cx="247650" cy="2476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D2D0C3-A11A-4CEF-A339-1B47D89C42B4}"/>
              </a:ext>
            </a:extLst>
          </p:cNvPr>
          <p:cNvSpPr>
            <a:spLocks noGrp="1"/>
          </p:cNvSpPr>
          <p:nvPr/>
        </p:nvSpPr>
        <p:spPr>
          <a:xfrm>
            <a:off x="5391150" y="314325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E5D393-1D44-486D-B05B-2FCA0885A09B}"/>
              </a:ext>
            </a:extLst>
          </p:cNvPr>
          <p:cNvSpPr>
            <a:spLocks noGrp="1"/>
          </p:cNvSpPr>
          <p:nvPr/>
        </p:nvSpPr>
        <p:spPr>
          <a:xfrm>
            <a:off x="5772150" y="30861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Expired confirmation keys blocked validation.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136F0B-8CF9-4B7A-BD72-F542D4D8DDA2}"/>
              </a:ext>
            </a:extLst>
          </p:cNvPr>
          <p:cNvSpPr>
            <a:spLocks noGrp="1"/>
          </p:cNvSpPr>
          <p:nvPr/>
        </p:nvSpPr>
        <p:spPr>
          <a:xfrm>
            <a:off x="5391150" y="3600450"/>
            <a:ext cx="247650" cy="2476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A027EE-3FCF-4C5F-AA2E-18DF7F2BB81B}"/>
              </a:ext>
            </a:extLst>
          </p:cNvPr>
          <p:cNvSpPr>
            <a:spLocks noGrp="1"/>
          </p:cNvSpPr>
          <p:nvPr/>
        </p:nvSpPr>
        <p:spPr>
          <a:xfrm>
            <a:off x="5391150" y="365760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ADEF6D-4A17-427D-8459-31810B282871}"/>
              </a:ext>
            </a:extLst>
          </p:cNvPr>
          <p:cNvSpPr>
            <a:spLocks noGrp="1"/>
          </p:cNvSpPr>
          <p:nvPr/>
        </p:nvSpPr>
        <p:spPr>
          <a:xfrm>
            <a:off x="5772150" y="360045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ACP status could be unclear or wrong.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4D39B3-65A2-4B24-AE05-D9C7522C9C1C}"/>
              </a:ext>
            </a:extLst>
          </p:cNvPr>
          <p:cNvSpPr>
            <a:spLocks noGrp="1"/>
          </p:cNvSpPr>
          <p:nvPr/>
        </p:nvSpPr>
        <p:spPr>
          <a:xfrm>
            <a:off x="5391150" y="4114800"/>
            <a:ext cx="247650" cy="2476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91D675-6743-46A4-98FD-0284FF616DA0}"/>
              </a:ext>
            </a:extLst>
          </p:cNvPr>
          <p:cNvSpPr>
            <a:spLocks noGrp="1"/>
          </p:cNvSpPr>
          <p:nvPr/>
        </p:nvSpPr>
        <p:spPr>
          <a:xfrm>
            <a:off x="5391150" y="417195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CE5D16-372A-4924-ACF2-5D2EEFA60226}"/>
              </a:ext>
            </a:extLst>
          </p:cNvPr>
          <p:cNvSpPr>
            <a:spLocks noGrp="1"/>
          </p:cNvSpPr>
          <p:nvPr/>
        </p:nvSpPr>
        <p:spPr>
          <a:xfrm>
            <a:off x="5772150" y="41148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Validate and resend actions could fail.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F3BC228-2AA8-43C1-95BB-D98347101EB9}"/>
              </a:ext>
            </a:extLst>
          </p:cNvPr>
          <p:cNvSpPr>
            <a:spLocks noGrp="1"/>
          </p:cNvSpPr>
          <p:nvPr/>
        </p:nvSpPr>
        <p:spPr>
          <a:xfrm>
            <a:off x="5391150" y="4629150"/>
            <a:ext cx="247650" cy="2476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7915EF-92D2-48DE-944C-D4E139AD2DCF}"/>
              </a:ext>
            </a:extLst>
          </p:cNvPr>
          <p:cNvSpPr>
            <a:spLocks noGrp="1"/>
          </p:cNvSpPr>
          <p:nvPr/>
        </p:nvSpPr>
        <p:spPr>
          <a:xfrm>
            <a:off x="5391150" y="468630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44BD651-4C96-4EE8-BBCE-B3D10A586C09}"/>
              </a:ext>
            </a:extLst>
          </p:cNvPr>
          <p:cNvSpPr>
            <a:spLocks noGrp="1"/>
          </p:cNvSpPr>
          <p:nvPr/>
        </p:nvSpPr>
        <p:spPr>
          <a:xfrm>
            <a:off x="5772150" y="462915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Email lookup needed a safer fallback path.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D4F6366-5FFA-4E8F-9CE8-F2DFF5CE16C0}"/>
              </a:ext>
            </a:extLst>
          </p:cNvPr>
          <p:cNvSpPr>
            <a:spLocks noGrp="1"/>
          </p:cNvSpPr>
          <p:nvPr/>
        </p:nvSpPr>
        <p:spPr>
          <a:xfrm>
            <a:off x="5391150" y="50292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areas: database adapters + user email logic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FAE5E1E-328F-40B5-9450-73066E0FA091}"/>
              </a:ext>
            </a:extLst>
          </p:cNvPr>
          <p:cNvSpPr>
            <a:spLocks noGrp="1"/>
          </p:cNvSpPr>
          <p:nvPr/>
        </p:nvSpPr>
        <p:spPr>
          <a:xfrm>
            <a:off x="8324850" y="2305050"/>
            <a:ext cx="3257550" cy="3162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646F35-859A-4170-9BEF-3A42A84246F6}"/>
              </a:ext>
            </a:extLst>
          </p:cNvPr>
          <p:cNvSpPr>
            <a:spLocks noGrp="1"/>
          </p:cNvSpPr>
          <p:nvPr/>
        </p:nvSpPr>
        <p:spPr>
          <a:xfrm>
            <a:off x="8324850" y="2305050"/>
            <a:ext cx="3257550" cy="7620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9188CC-943A-4DBE-BDFA-B55EE22935B2}"/>
              </a:ext>
            </a:extLst>
          </p:cNvPr>
          <p:cNvSpPr>
            <a:spLocks noGrp="1"/>
          </p:cNvSpPr>
          <p:nvPr/>
        </p:nvSpPr>
        <p:spPr>
          <a:xfrm>
            <a:off x="8591550" y="2609850"/>
            <a:ext cx="266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What the agent was asked to fix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E1F202-699A-46A4-A43D-64DE4DC4AC72}"/>
              </a:ext>
            </a:extLst>
          </p:cNvPr>
          <p:cNvSpPr>
            <a:spLocks noGrp="1"/>
          </p:cNvSpPr>
          <p:nvPr/>
        </p:nvSpPr>
        <p:spPr>
          <a:xfrm>
            <a:off x="8591550" y="3143250"/>
            <a:ext cx="2724150" cy="361950"/>
          </a:xfrm>
          <a:prstGeom prst="rect">
            <a:avLst/>
          </a:prstGeom>
          <a:solidFill>
            <a:srgbClr val="FBF8F2"/>
          </a:solidFill>
          <a:ln w="10478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F696BBB-42E4-4135-9AF3-BEEEAD8B3ADB}"/>
              </a:ext>
            </a:extLst>
          </p:cNvPr>
          <p:cNvSpPr>
            <a:spLocks noGrp="1"/>
          </p:cNvSpPr>
          <p:nvPr/>
        </p:nvSpPr>
        <p:spPr>
          <a:xfrm>
            <a:off x="8591550" y="3143250"/>
            <a:ext cx="266700" cy="3619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E4BC437-EAF0-42C7-B80B-3A7DEBA23BAC}"/>
              </a:ext>
            </a:extLst>
          </p:cNvPr>
          <p:cNvSpPr>
            <a:spLocks noGrp="1"/>
          </p:cNvSpPr>
          <p:nvPr/>
        </p:nvSpPr>
        <p:spPr>
          <a:xfrm>
            <a:off x="8591550" y="3238500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73937C5-BB55-4503-AC5F-220B49C3137B}"/>
              </a:ext>
            </a:extLst>
          </p:cNvPr>
          <p:cNvSpPr>
            <a:spLocks noGrp="1"/>
          </p:cNvSpPr>
          <p:nvPr/>
        </p:nvSpPr>
        <p:spPr>
          <a:xfrm>
            <a:off x="8991600" y="3190875"/>
            <a:ext cx="2095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Show correct status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AA0A84-0121-49BB-979A-E653A50DFA99}"/>
              </a:ext>
            </a:extLst>
          </p:cNvPr>
          <p:cNvSpPr>
            <a:spLocks noGrp="1"/>
          </p:cNvSpPr>
          <p:nvPr/>
        </p:nvSpPr>
        <p:spPr>
          <a:xfrm>
            <a:off x="8991600" y="3343275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Attach pending and expired flags to users.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04185AF-FCD4-4DDF-88F3-17C3EB39020E}"/>
              </a:ext>
            </a:extLst>
          </p:cNvPr>
          <p:cNvSpPr>
            <a:spLocks noGrp="1"/>
          </p:cNvSpPr>
          <p:nvPr/>
        </p:nvSpPr>
        <p:spPr>
          <a:xfrm>
            <a:off x="8591550" y="3581400"/>
            <a:ext cx="2724150" cy="361950"/>
          </a:xfrm>
          <a:prstGeom prst="rect">
            <a:avLst/>
          </a:prstGeom>
          <a:solidFill>
            <a:srgbClr val="F1EBE2"/>
          </a:solidFill>
          <a:ln w="10478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051FF84-E005-40DA-A552-6061A61DB684}"/>
              </a:ext>
            </a:extLst>
          </p:cNvPr>
          <p:cNvSpPr>
            <a:spLocks noGrp="1"/>
          </p:cNvSpPr>
          <p:nvPr/>
        </p:nvSpPr>
        <p:spPr>
          <a:xfrm>
            <a:off x="8591550" y="3581400"/>
            <a:ext cx="266700" cy="3619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90B8306-D1EA-4180-B6E8-F2E5C14288EE}"/>
              </a:ext>
            </a:extLst>
          </p:cNvPr>
          <p:cNvSpPr>
            <a:spLocks noGrp="1"/>
          </p:cNvSpPr>
          <p:nvPr/>
        </p:nvSpPr>
        <p:spPr>
          <a:xfrm>
            <a:off x="8591550" y="3676650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179FCD-C7DC-44A7-96BC-C3D18F1743DE}"/>
              </a:ext>
            </a:extLst>
          </p:cNvPr>
          <p:cNvSpPr>
            <a:spLocks noGrp="1"/>
          </p:cNvSpPr>
          <p:nvPr/>
        </p:nvSpPr>
        <p:spPr>
          <a:xfrm>
            <a:off x="8991600" y="3629025"/>
            <a:ext cx="2095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Add batch lookup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A6201BD-F1FE-4FE6-AACD-592B8EB9A800}"/>
              </a:ext>
            </a:extLst>
          </p:cNvPr>
          <p:cNvSpPr>
            <a:spLocks noGrp="1"/>
          </p:cNvSpPr>
          <p:nvPr/>
        </p:nvSpPr>
        <p:spPr>
          <a:xfrm>
            <a:off x="8991600" y="3781425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 db.mget(keys) across database adapters.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1D3802E-33E5-4B20-A147-7211B1112A1F}"/>
              </a:ext>
            </a:extLst>
          </p:cNvPr>
          <p:cNvSpPr>
            <a:spLocks noGrp="1"/>
          </p:cNvSpPr>
          <p:nvPr/>
        </p:nvSpPr>
        <p:spPr>
          <a:xfrm>
            <a:off x="8591550" y="4019550"/>
            <a:ext cx="2724150" cy="361950"/>
          </a:xfrm>
          <a:prstGeom prst="rect">
            <a:avLst/>
          </a:prstGeom>
          <a:solidFill>
            <a:srgbClr val="FBF8F2"/>
          </a:solidFill>
          <a:ln w="10478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7573C81-75EA-4240-AEB0-C79C2E1B9B47}"/>
              </a:ext>
            </a:extLst>
          </p:cNvPr>
          <p:cNvSpPr>
            <a:spLocks noGrp="1"/>
          </p:cNvSpPr>
          <p:nvPr/>
        </p:nvSpPr>
        <p:spPr>
          <a:xfrm>
            <a:off x="8591550" y="4019550"/>
            <a:ext cx="266700" cy="3619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3D2CEF5-BD7C-4AFF-81B6-432922726B07}"/>
              </a:ext>
            </a:extLst>
          </p:cNvPr>
          <p:cNvSpPr>
            <a:spLocks noGrp="1"/>
          </p:cNvSpPr>
          <p:nvPr/>
        </p:nvSpPr>
        <p:spPr>
          <a:xfrm>
            <a:off x="8591550" y="4114800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9F1A89D-B881-4D75-9EA6-CFABAC034A26}"/>
              </a:ext>
            </a:extLst>
          </p:cNvPr>
          <p:cNvSpPr>
            <a:spLocks noGrp="1"/>
          </p:cNvSpPr>
          <p:nvPr/>
        </p:nvSpPr>
        <p:spPr>
          <a:xfrm>
            <a:off x="8991600" y="4067175"/>
            <a:ext cx="2095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Recover validation email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924412C-5638-49F4-92A0-275E3BB536EE}"/>
              </a:ext>
            </a:extLst>
          </p:cNvPr>
          <p:cNvSpPr>
            <a:spLocks noGrp="1"/>
          </p:cNvSpPr>
          <p:nvPr/>
        </p:nvSpPr>
        <p:spPr>
          <a:xfrm>
            <a:off x="8991600" y="4219575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Find email from profile or confirmation data.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C600420-EBBC-4C3C-BCC1-7A24A8C2EBCC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2724150" cy="361950"/>
          </a:xfrm>
          <a:prstGeom prst="rect">
            <a:avLst/>
          </a:prstGeom>
          <a:solidFill>
            <a:srgbClr val="F1EBE2"/>
          </a:solidFill>
          <a:ln w="10478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8644520-2B39-468D-AB44-D539D0EB02DC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266700" cy="3619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4DD61A-86D4-4A03-BEB4-745F4B7ED39D}"/>
              </a:ext>
            </a:extLst>
          </p:cNvPr>
          <p:cNvSpPr>
            <a:spLocks noGrp="1"/>
          </p:cNvSpPr>
          <p:nvPr/>
        </p:nvSpPr>
        <p:spPr>
          <a:xfrm>
            <a:off x="8591550" y="4552950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2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50C17A2-86DD-462A-B0BB-E2187360CC41}"/>
              </a:ext>
            </a:extLst>
          </p:cNvPr>
          <p:cNvSpPr>
            <a:spLocks noGrp="1"/>
          </p:cNvSpPr>
          <p:nvPr/>
        </p:nvSpPr>
        <p:spPr>
          <a:xfrm>
            <a:off x="8991600" y="4505325"/>
            <a:ext cx="2095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Use explicit expiry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F312B43-E425-4B4D-8DE2-EC71C6D0159B}"/>
              </a:ext>
            </a:extLst>
          </p:cNvPr>
          <p:cNvSpPr>
            <a:spLocks noGrp="1"/>
          </p:cNvSpPr>
          <p:nvPr/>
        </p:nvSpPr>
        <p:spPr>
          <a:xfrm>
            <a:off x="8991600" y="4657725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 timestamp-based confirmation expiry.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AA124F2-02C1-48C6-85F9-D6F3E0F4ECF2}"/>
              </a:ext>
            </a:extLst>
          </p:cNvPr>
          <p:cNvSpPr>
            <a:spLocks noGrp="1"/>
          </p:cNvSpPr>
          <p:nvPr/>
        </p:nvSpPr>
        <p:spPr>
          <a:xfrm>
            <a:off x="8591550" y="5067300"/>
            <a:ext cx="2724150" cy="26670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2E208DD-C3A8-4207-B44E-146DCF05039B}"/>
              </a:ext>
            </a:extLst>
          </p:cNvPr>
          <p:cNvSpPr>
            <a:spLocks noGrp="1"/>
          </p:cNvSpPr>
          <p:nvPr/>
        </p:nvSpPr>
        <p:spPr>
          <a:xfrm>
            <a:off x="8705850" y="5105400"/>
            <a:ext cx="2495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Next: watch this task become a prompt, request, runtime record, and behavior trace.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DFB5522-BB14-4D15-B07D-ECA1F21D14B6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82599B7-AAEB-4D11-B641-E7BE1FC4F07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54E41BD-2CE3-423E-8845-34D83C848B26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1982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E799D8CA-0E69-4C58-93C9-3394D4772D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D89F0A-B285-4A45-AECC-02EA8FD6094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9E7649-B806-4314-8C5E-0070465BD8D1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STRUCTURE ROADMAP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A72171-FF73-4AF8-987C-C072BC1C75A2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This map shows the five handoffs we will inspect next.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C1C62-1DDA-40AF-BEA2-AD04D7D9621C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990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Use this as the audience map: each row below is one handoff. The summary slide comes first, then the following proof slides show the exact JSON artifacts from the latest run.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A6E63F-4C00-4AB5-90B6-798230B57287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81915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76D9BE-5967-4F4F-986D-BE4A7A35CA40}"/>
              </a:ext>
            </a:extLst>
          </p:cNvPr>
          <p:cNvSpPr>
            <a:spLocks noGrp="1"/>
          </p:cNvSpPr>
          <p:nvPr/>
        </p:nvSpPr>
        <p:spPr>
          <a:xfrm>
            <a:off x="704850" y="2457450"/>
            <a:ext cx="628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Slide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3AC198-8194-4D64-9777-900C8285891B}"/>
              </a:ext>
            </a:extLst>
          </p:cNvPr>
          <p:cNvSpPr>
            <a:spLocks noGrp="1"/>
          </p:cNvSpPr>
          <p:nvPr/>
        </p:nvSpPr>
        <p:spPr>
          <a:xfrm>
            <a:off x="1428750" y="2381250"/>
            <a:ext cx="226695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0AB716-AE28-4439-9814-5C8925905B13}"/>
              </a:ext>
            </a:extLst>
          </p:cNvPr>
          <p:cNvSpPr>
            <a:spLocks noGrp="1"/>
          </p:cNvSpPr>
          <p:nvPr/>
        </p:nvSpPr>
        <p:spPr>
          <a:xfrm>
            <a:off x="1524000" y="2457450"/>
            <a:ext cx="2076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9F66E8-78B9-4516-B498-2CCD789005BC}"/>
              </a:ext>
            </a:extLst>
          </p:cNvPr>
          <p:cNvSpPr>
            <a:spLocks noGrp="1"/>
          </p:cNvSpPr>
          <p:nvPr/>
        </p:nvSpPr>
        <p:spPr>
          <a:xfrm>
            <a:off x="3695700" y="2381250"/>
            <a:ext cx="241935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69AEBB-177C-4087-8A94-C2779BE4DEC1}"/>
              </a:ext>
            </a:extLst>
          </p:cNvPr>
          <p:cNvSpPr>
            <a:spLocks noGrp="1"/>
          </p:cNvSpPr>
          <p:nvPr/>
        </p:nvSpPr>
        <p:spPr>
          <a:xfrm>
            <a:off x="3790950" y="2457450"/>
            <a:ext cx="2228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From -&gt; 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0C733E-7474-45EF-8B32-D4E4E38E0201}"/>
              </a:ext>
            </a:extLst>
          </p:cNvPr>
          <p:cNvSpPr>
            <a:spLocks noGrp="1"/>
          </p:cNvSpPr>
          <p:nvPr/>
        </p:nvSpPr>
        <p:spPr>
          <a:xfrm>
            <a:off x="6115050" y="2381250"/>
            <a:ext cx="272415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E390FE-E9C6-4C87-ACCB-9659F0C42128}"/>
              </a:ext>
            </a:extLst>
          </p:cNvPr>
          <p:cNvSpPr>
            <a:spLocks noGrp="1"/>
          </p:cNvSpPr>
          <p:nvPr/>
        </p:nvSpPr>
        <p:spPr>
          <a:xfrm>
            <a:off x="6210300" y="2457450"/>
            <a:ext cx="2533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What to watch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01758A-6A88-4652-B1B6-9CCC2CC5A086}"/>
              </a:ext>
            </a:extLst>
          </p:cNvPr>
          <p:cNvSpPr>
            <a:spLocks noGrp="1"/>
          </p:cNvSpPr>
          <p:nvPr/>
        </p:nvSpPr>
        <p:spPr>
          <a:xfrm>
            <a:off x="8839200" y="2381250"/>
            <a:ext cx="121920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7B8332-8668-49B6-847A-512045607092}"/>
              </a:ext>
            </a:extLst>
          </p:cNvPr>
          <p:cNvSpPr>
            <a:spLocks noGrp="1"/>
          </p:cNvSpPr>
          <p:nvPr/>
        </p:nvSpPr>
        <p:spPr>
          <a:xfrm>
            <a:off x="8934450" y="2457450"/>
            <a:ext cx="1028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1420B3-0523-4EC7-951A-7BD929CADDDB}"/>
              </a:ext>
            </a:extLst>
          </p:cNvPr>
          <p:cNvSpPr>
            <a:spLocks noGrp="1"/>
          </p:cNvSpPr>
          <p:nvPr/>
        </p:nvSpPr>
        <p:spPr>
          <a:xfrm>
            <a:off x="10058400" y="2381250"/>
            <a:ext cx="1524000" cy="323850"/>
          </a:xfrm>
          <a:prstGeom prst="rect">
            <a:avLst/>
          </a:prstGeom>
          <a:solidFill>
            <a:srgbClr val="E7E0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9FE08C-42B7-4852-9B15-3ECF7C648EEF}"/>
              </a:ext>
            </a:extLst>
          </p:cNvPr>
          <p:cNvSpPr>
            <a:spLocks noGrp="1"/>
          </p:cNvSpPr>
          <p:nvPr/>
        </p:nvSpPr>
        <p:spPr>
          <a:xfrm>
            <a:off x="10153650" y="245745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Added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6DCA7A-A74C-4DDE-9545-ADDB3360AD48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10972800" cy="68580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18622B-FC9F-4A0C-8719-775D9EEDBB96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76200" cy="6858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48E5A2-BD2D-4A09-AD83-B73D29EF9F2B}"/>
              </a:ext>
            </a:extLst>
          </p:cNvPr>
          <p:cNvSpPr>
            <a:spLocks noGrp="1"/>
          </p:cNvSpPr>
          <p:nvPr/>
        </p:nvSpPr>
        <p:spPr>
          <a:xfrm>
            <a:off x="742950" y="28384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Slides 6-9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DC6422-8533-4BFB-B67C-801B6430B56E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5905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1 of 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C14424-E6F2-4963-8CAD-CC24A88B7EC7}"/>
              </a:ext>
            </a:extLst>
          </p:cNvPr>
          <p:cNvSpPr>
            <a:spLocks noGrp="1"/>
          </p:cNvSpPr>
          <p:nvPr/>
        </p:nvSpPr>
        <p:spPr>
          <a:xfrm>
            <a:off x="1543050" y="28194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-&gt; Prompt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057ACE-3E03-4B0F-8453-ED1A9A632AC9}"/>
              </a:ext>
            </a:extLst>
          </p:cNvPr>
          <p:cNvSpPr>
            <a:spLocks noGrp="1"/>
          </p:cNvSpPr>
          <p:nvPr/>
        </p:nvSpPr>
        <p:spPr>
          <a:xfrm>
            <a:off x="1543050" y="3067050"/>
            <a:ext cx="2038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73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 (local helper script)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9E0123-253C-4A25-BB33-A2CC6C3CE559}"/>
              </a:ext>
            </a:extLst>
          </p:cNvPr>
          <p:cNvSpPr>
            <a:spLocks noGrp="1"/>
          </p:cNvSpPr>
          <p:nvPr/>
        </p:nvSpPr>
        <p:spPr>
          <a:xfrm>
            <a:off x="3810000" y="28765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 Loaded -&gt; Prompt Built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0E704B-E94C-4668-8951-5DF2C73F7794}"/>
              </a:ext>
            </a:extLst>
          </p:cNvPr>
          <p:cNvSpPr>
            <a:spLocks noGrp="1"/>
          </p:cNvSpPr>
          <p:nvPr/>
        </p:nvSpPr>
        <p:spPr>
          <a:xfrm>
            <a:off x="6229350" y="2809875"/>
            <a:ext cx="2495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field: prompt. Payload grows by +5,576.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9F2E6F-A757-4F03-85F9-44D98035B815}"/>
              </a:ext>
            </a:extLst>
          </p:cNvPr>
          <p:cNvSpPr>
            <a:spLocks noGrp="1"/>
          </p:cNvSpPr>
          <p:nvPr/>
        </p:nvSpPr>
        <p:spPr>
          <a:xfrm>
            <a:off x="8953500" y="28575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2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+5,576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5E4C36-4E10-41F8-89C8-6DD08C4769B6}"/>
              </a:ext>
            </a:extLst>
          </p:cNvPr>
          <p:cNvSpPr>
            <a:spLocks noGrp="1"/>
          </p:cNvSpPr>
          <p:nvPr/>
        </p:nvSpPr>
        <p:spPr>
          <a:xfrm>
            <a:off x="10172700" y="2847975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6CB899-72E4-4780-A9B0-42859298F11B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1E389E-5184-48A0-8C83-AC849DF5728C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10972800" cy="68580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8BC1A2-7C3B-464B-BC47-161283779590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76200" cy="685800"/>
          </a:xfrm>
          <a:prstGeom prst="rect">
            <a:avLst/>
          </a:prstGeom>
          <a:solidFill>
            <a:srgbClr val="1D4E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163BF3-3F7D-4061-92AF-2864AE0C819D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Slides 10-12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64348C-05CF-4FCA-88EC-F6BC2BA01B88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5905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2 of 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8332D2-0228-476C-9510-094344941914}"/>
              </a:ext>
            </a:extLst>
          </p:cNvPr>
          <p:cNvSpPr>
            <a:spLocks noGrp="1"/>
          </p:cNvSpPr>
          <p:nvPr/>
        </p:nvSpPr>
        <p:spPr>
          <a:xfrm>
            <a:off x="1543050" y="35052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-&gt; Request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384614-93E2-40BC-A842-A074B35CA6D7}"/>
              </a:ext>
            </a:extLst>
          </p:cNvPr>
          <p:cNvSpPr>
            <a:spLocks noGrp="1"/>
          </p:cNvSpPr>
          <p:nvPr/>
        </p:nvSpPr>
        <p:spPr>
          <a:xfrm>
            <a:off x="1543050" y="3752850"/>
            <a:ext cx="2038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73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66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 (local helper script)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07BD29-3CFB-42E1-A271-FA7D09B27EA2}"/>
              </a:ext>
            </a:extLst>
          </p:cNvPr>
          <p:cNvSpPr>
            <a:spLocks noGrp="1"/>
          </p:cNvSpPr>
          <p:nvPr/>
        </p:nvSpPr>
        <p:spPr>
          <a:xfrm>
            <a:off x="3810000" y="35623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Built -&gt; Request Packaged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C7F769-0AB6-47D0-8FCB-79F4C45CC3F6}"/>
              </a:ext>
            </a:extLst>
          </p:cNvPr>
          <p:cNvSpPr>
            <a:spLocks noGrp="1"/>
          </p:cNvSpPr>
          <p:nvPr/>
        </p:nvSpPr>
        <p:spPr>
          <a:xfrm>
            <a:off x="6229350" y="3495675"/>
            <a:ext cx="2495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fields: model, messages, request_context, agent_hints.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5E83C69-35D7-4BDF-8F1A-7D3EDEBA6B47}"/>
              </a:ext>
            </a:extLst>
          </p:cNvPr>
          <p:cNvSpPr>
            <a:spLocks noGrp="1"/>
          </p:cNvSpPr>
          <p:nvPr/>
        </p:nvSpPr>
        <p:spPr>
          <a:xfrm>
            <a:off x="8953500" y="35433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20" b="1">
                <a:solidFill>
                  <a:srgbClr val="1D4ED8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1D4ED8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F51811-C117-4E84-A811-294248B1E137}"/>
              </a:ext>
            </a:extLst>
          </p:cNvPr>
          <p:cNvSpPr>
            <a:spLocks noGrp="1"/>
          </p:cNvSpPr>
          <p:nvPr/>
        </p:nvSpPr>
        <p:spPr>
          <a:xfrm>
            <a:off x="10172700" y="3533775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model, messages, request_context, agent_h...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18A590-F413-47AE-BF11-C6140B65CDE7}"/>
              </a:ext>
            </a:extLst>
          </p:cNvPr>
          <p:cNvSpPr>
            <a:spLocks noGrp="1"/>
          </p:cNvSpPr>
          <p:nvPr/>
        </p:nvSpPr>
        <p:spPr>
          <a:xfrm>
            <a:off x="609600" y="40671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C5550BD-80B0-4261-9B06-E09A0AFB9598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10972800" cy="68580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CD39A76-0FED-4BD1-A833-A4CC18EE103B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76200" cy="6858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7C7950A-EFDC-49EF-8281-68DAEE3432A8}"/>
              </a:ext>
            </a:extLst>
          </p:cNvPr>
          <p:cNvSpPr>
            <a:spLocks noGrp="1"/>
          </p:cNvSpPr>
          <p:nvPr/>
        </p:nvSpPr>
        <p:spPr>
          <a:xfrm>
            <a:off x="742950" y="42100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Slides 13-14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70D9B9-298E-429B-8A38-0B527EE64CFD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5905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3 of 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611713A-48EE-4728-B7F7-AA75CC7CEDEA}"/>
              </a:ext>
            </a:extLst>
          </p:cNvPr>
          <p:cNvSpPr>
            <a:spLocks noGrp="1"/>
          </p:cNvSpPr>
          <p:nvPr/>
        </p:nvSpPr>
        <p:spPr>
          <a:xfrm>
            <a:off x="1543050" y="41910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-&gt; Agent Rules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FB09978-0D76-4C17-AC8C-3BF4EC3CB94F}"/>
              </a:ext>
            </a:extLst>
          </p:cNvPr>
          <p:cNvSpPr>
            <a:spLocks noGrp="1"/>
          </p:cNvSpPr>
          <p:nvPr/>
        </p:nvSpPr>
        <p:spPr>
          <a:xfrm>
            <a:off x="1543050" y="4438650"/>
            <a:ext cx="2038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CA35F8-0369-409F-B115-DECC0F28B7ED}"/>
              </a:ext>
            </a:extLst>
          </p:cNvPr>
          <p:cNvSpPr>
            <a:spLocks noGrp="1"/>
          </p:cNvSpPr>
          <p:nvPr/>
        </p:nvSpPr>
        <p:spPr>
          <a:xfrm>
            <a:off x="3810000" y="42481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Packaged -&gt; Agent Rules Applied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943A3EF-70B0-4770-9AA4-BEF79BC6C8A7}"/>
              </a:ext>
            </a:extLst>
          </p:cNvPr>
          <p:cNvSpPr>
            <a:spLocks noGrp="1"/>
          </p:cNvSpPr>
          <p:nvPr/>
        </p:nvSpPr>
        <p:spPr>
          <a:xfrm>
            <a:off x="6229350" y="4181475"/>
            <a:ext cx="2495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New field: system_prompt.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633398C-8408-44E0-9A2F-E94BC3F44EC7}"/>
              </a:ext>
            </a:extLst>
          </p:cNvPr>
          <p:cNvSpPr>
            <a:spLocks noGrp="1"/>
          </p:cNvSpPr>
          <p:nvPr/>
        </p:nvSpPr>
        <p:spPr>
          <a:xfrm>
            <a:off x="8953500" y="42291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2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CA4119C-8055-4D9C-B33B-774E1DCF9967}"/>
              </a:ext>
            </a:extLst>
          </p:cNvPr>
          <p:cNvSpPr>
            <a:spLocks noGrp="1"/>
          </p:cNvSpPr>
          <p:nvPr/>
        </p:nvSpPr>
        <p:spPr>
          <a:xfrm>
            <a:off x="10172700" y="4219575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3400EC9-C45A-494E-9069-AE1B1B5EB499}"/>
              </a:ext>
            </a:extLst>
          </p:cNvPr>
          <p:cNvSpPr>
            <a:spLocks noGrp="1"/>
          </p:cNvSpPr>
          <p:nvPr/>
        </p:nvSpPr>
        <p:spPr>
          <a:xfrm>
            <a:off x="609600" y="47529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022C53-2A9F-4EF2-912F-3D498A2673DD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685800"/>
          </a:xfrm>
          <a:prstGeom prst="rect">
            <a:avLst/>
          </a:prstGeom>
          <a:solidFill>
            <a:srgbClr val="F1EB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ADBB560-03DE-4E8A-B19F-7C650582DCEA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76200" cy="68580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EB90D1C-3C1B-41BB-8CCF-DB740568AA38}"/>
              </a:ext>
            </a:extLst>
          </p:cNvPr>
          <p:cNvSpPr>
            <a:spLocks noGrp="1"/>
          </p:cNvSpPr>
          <p:nvPr/>
        </p:nvSpPr>
        <p:spPr>
          <a:xfrm>
            <a:off x="742950" y="48958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Slides 15-18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5D28C43-141C-4029-B1AB-F4D3CB84DC69}"/>
              </a:ext>
            </a:extLst>
          </p:cNvPr>
          <p:cNvSpPr>
            <a:spLocks noGrp="1"/>
          </p:cNvSpPr>
          <p:nvPr/>
        </p:nvSpPr>
        <p:spPr>
          <a:xfrm>
            <a:off x="742950" y="5124450"/>
            <a:ext cx="5905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4 of 5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14F0F00-33DE-4C73-8489-B193D277EBE9}"/>
              </a:ext>
            </a:extLst>
          </p:cNvPr>
          <p:cNvSpPr>
            <a:spLocks noGrp="1"/>
          </p:cNvSpPr>
          <p:nvPr/>
        </p:nvSpPr>
        <p:spPr>
          <a:xfrm>
            <a:off x="1543050" y="48768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-&gt; Runtime Prepared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7BA62E4-DDB5-4D43-829B-5A0C86EBDC5C}"/>
              </a:ext>
            </a:extLst>
          </p:cNvPr>
          <p:cNvSpPr>
            <a:spLocks noGrp="1"/>
          </p:cNvSpPr>
          <p:nvPr/>
        </p:nvSpPr>
        <p:spPr>
          <a:xfrm>
            <a:off x="1543050" y="5124450"/>
            <a:ext cx="2038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E6A9507-B895-4AA0-9D98-009594BD01C9}"/>
              </a:ext>
            </a:extLst>
          </p:cNvPr>
          <p:cNvSpPr>
            <a:spLocks noGrp="1"/>
          </p:cNvSpPr>
          <p:nvPr/>
        </p:nvSpPr>
        <p:spPr>
          <a:xfrm>
            <a:off x="3810000" y="49339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 Attached -&gt; Runtime Prepared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693B010-2421-42CB-B657-F9C7081E2F48}"/>
              </a:ext>
            </a:extLst>
          </p:cNvPr>
          <p:cNvSpPr>
            <a:spLocks noGrp="1"/>
          </p:cNvSpPr>
          <p:nvPr/>
        </p:nvSpPr>
        <p:spPr>
          <a:xfrm>
            <a:off x="6229350" y="4867275"/>
            <a:ext cx="2495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parser plus prompt/cache token fields.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64E21C-23EF-484C-988C-EE037A7C3106}"/>
              </a:ext>
            </a:extLst>
          </p:cNvPr>
          <p:cNvSpPr>
            <a:spLocks noGrp="1"/>
          </p:cNvSpPr>
          <p:nvPr/>
        </p:nvSpPr>
        <p:spPr>
          <a:xfrm>
            <a:off x="8953500" y="49149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20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5A310E0-6181-404A-95F1-FB200CDC8727}"/>
              </a:ext>
            </a:extLst>
          </p:cNvPr>
          <p:cNvSpPr>
            <a:spLocks noGrp="1"/>
          </p:cNvSpPr>
          <p:nvPr/>
        </p:nvSpPr>
        <p:spPr>
          <a:xfrm>
            <a:off x="10172700" y="4905375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tools, parser, prompt/cache tokens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3D718A9-2177-40FF-B8A9-0C91ED53B20C}"/>
              </a:ext>
            </a:extLst>
          </p:cNvPr>
          <p:cNvSpPr>
            <a:spLocks noGrp="1"/>
          </p:cNvSpPr>
          <p:nvPr/>
        </p:nvSpPr>
        <p:spPr>
          <a:xfrm>
            <a:off x="609600" y="54387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6846D44-16D7-480E-B129-88471EFFDAB0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10972800" cy="68580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D07B8AD-7E08-4BAB-AF89-92B005E2F38D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76200" cy="68580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E7B3051-3800-4E9B-BA61-096B941CF509}"/>
              </a:ext>
            </a:extLst>
          </p:cNvPr>
          <p:cNvSpPr>
            <a:spLocks noGrp="1"/>
          </p:cNvSpPr>
          <p:nvPr/>
        </p:nvSpPr>
        <p:spPr>
          <a:xfrm>
            <a:off x="742950" y="5581650"/>
            <a:ext cx="590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Slides 19-28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FFC038E-7CBF-4171-B800-F7B5082D01D8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5905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5 of 5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79BF7DD-F2C9-487C-BA76-BEFD7A41952E}"/>
              </a:ext>
            </a:extLst>
          </p:cNvPr>
          <p:cNvSpPr>
            <a:spLocks noGrp="1"/>
          </p:cNvSpPr>
          <p:nvPr/>
        </p:nvSpPr>
        <p:spPr>
          <a:xfrm>
            <a:off x="1543050" y="556260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9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-&gt; Behavior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DC52C16-7FFD-48B7-B4C4-EF6309920D75}"/>
              </a:ext>
            </a:extLst>
          </p:cNvPr>
          <p:cNvSpPr>
            <a:spLocks noGrp="1"/>
          </p:cNvSpPr>
          <p:nvPr/>
        </p:nvSpPr>
        <p:spPr>
          <a:xfrm>
            <a:off x="1543050" y="5810250"/>
            <a:ext cx="2038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268BB99-7319-4295-8A71-587A574B905B}"/>
              </a:ext>
            </a:extLst>
          </p:cNvPr>
          <p:cNvSpPr>
            <a:spLocks noGrp="1"/>
          </p:cNvSpPr>
          <p:nvPr/>
        </p:nvSpPr>
        <p:spPr>
          <a:xfrm>
            <a:off x="3810000" y="56197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Prepared -&gt; Behavior Recorded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62A9DFB-4174-4931-B453-4EA0600E936A}"/>
              </a:ext>
            </a:extLst>
          </p:cNvPr>
          <p:cNvSpPr>
            <a:spLocks noGrp="1"/>
          </p:cNvSpPr>
          <p:nvPr/>
        </p:nvSpPr>
        <p:spPr>
          <a:xfrm>
            <a:off x="6229350" y="5553075"/>
            <a:ext cx="2495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calls, finish_reason, response_text, workspace_changed.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3602783-F5F0-4937-BDA5-EEE03DD82B93}"/>
              </a:ext>
            </a:extLst>
          </p:cNvPr>
          <p:cNvSpPr>
            <a:spLocks noGrp="1"/>
          </p:cNvSpPr>
          <p:nvPr/>
        </p:nvSpPr>
        <p:spPr>
          <a:xfrm>
            <a:off x="8953500" y="5600700"/>
            <a:ext cx="990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20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20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B4FD6D3-9D75-4551-BAAB-C2C9434FD763}"/>
              </a:ext>
            </a:extLst>
          </p:cNvPr>
          <p:cNvSpPr>
            <a:spLocks noGrp="1"/>
          </p:cNvSpPr>
          <p:nvPr/>
        </p:nvSpPr>
        <p:spPr>
          <a:xfrm>
            <a:off x="10172700" y="5591175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 calls, response, outcome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5237FFD-AC35-4936-B0D1-CF37BCD1342E}"/>
              </a:ext>
            </a:extLst>
          </p:cNvPr>
          <p:cNvSpPr>
            <a:spLocks noGrp="1"/>
          </p:cNvSpPr>
          <p:nvPr/>
        </p:nvSpPr>
        <p:spPr>
          <a:xfrm>
            <a:off x="609600" y="6124575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F7D0F1F-80CB-49E5-AF52-0AF84B614444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9A904F1-594D-48DD-A9C1-DD5525EC565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B837DB8-6C60-446E-8D50-F68FAE5AA102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2813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100" y="495300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STEP 1 OF 5 | TASK -&gt; PROMPT | PROMPT BUILDER (LOCAL HELPER SCRIPT)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Runtime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01820"/>
                </a:solidFill>
                <a:latin typeface="Aptos Display"/>
              </a:rPr>
              <a:t>First, the raw task becomes one prompt object.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Raw benchmark fields become one prompt field.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This is where the task becomes instructions the agent can follow.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to look 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New field: prompt. Payload grows by +5,576.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Component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>
                <a:solidFill>
                  <a:srgbClr val="2563EB"/>
                </a:solidFill>
                <a:latin typeface="Aptos"/>
              </a:rPr>
              <a:t>Prompt Builder (local helper script)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2476500"/>
            <a:ext cx="2476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01820"/>
                </a:solidFill>
                <a:latin typeface="Aptos"/>
              </a:rPr>
              <a:t>Prompt Built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7550" y="2495550"/>
            <a:ext cx="1257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Added in this step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3900" y="2457450"/>
            <a:ext cx="58102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9625" y="2505075"/>
            <a:ext cx="40957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prompt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>
                <a:solidFill>
                  <a:srgbClr val="667085"/>
                </a:solidFill>
                <a:latin typeface="Aptos"/>
              </a:rPr>
              <a:t>Payload size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563EB"/>
                </a:solidFill>
                <a:latin typeface="Aptos Mono"/>
              </a:rPr>
              <a:t>+5,576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Before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"repo"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"NodeBB/NodeBB",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"base_commit"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"problem_statement"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"requirements"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"selected_test_files_to_run"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[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"test/database.js",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"test/database/keys.js",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172033"/>
                </a:solidFill>
                <a:latin typeface="Aptos Mono"/>
              </a:rPr>
              <a:t>    "test/user/emails.js"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],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  </a:t>
            </a:r>
            <a:r>
              <a:rPr sz="855" b="1">
                <a:solidFill>
                  <a:srgbClr val="1D4ED8"/>
                </a:solidFill>
                <a:latin typeface="Aptos Mono"/>
              </a:rPr>
              <a:t>"workspace_path"</a:t>
            </a:r>
            <a:r>
              <a:rPr sz="855" b="0">
                <a:solidFill>
                  <a:srgbClr val="667085"/>
                </a:solidFill>
                <a:latin typeface="Aptos Mono"/>
              </a:rPr>
              <a:t>: </a:t>
            </a:r>
            <a:r>
              <a:rPr sz="855" b="0">
                <a:solidFill>
                  <a:srgbClr val="172033"/>
                </a:solidFill>
                <a:latin typeface="Aptos Mono"/>
              </a:rPr>
              <a:t>"..."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After - actual prompt field, lightly truncated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  </a:t>
            </a:r>
            <a:r>
              <a:rPr sz="835" b="1">
                <a:solidFill>
                  <a:srgbClr val="1D4ED8"/>
                </a:solidFill>
                <a:latin typeface="Aptos Mono"/>
              </a:rPr>
              <a:t>"prompt"</a:t>
            </a:r>
            <a:r>
              <a:rPr sz="835" b="0">
                <a:solidFill>
                  <a:srgbClr val="667085"/>
                </a:solidFill>
                <a:latin typeface="Aptos Mono"/>
              </a:rPr>
              <a:t>: "</a:t>
            </a:r>
            <a:r>
              <a:rPr sz="835" b="0">
                <a:solidFill>
                  <a:srgbClr val="172033"/>
                </a:solidFill>
                <a:latin typeface="Aptos Mono"/>
              </a:rPr>
              <a:t>You are working on one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engineering task.\n\nTask metadata:\n-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instance_NodeBB__NodeBB-04998908ba6721d64eba79ae3b65a351dcfbc5b5-vnan\n-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repo: NodeBB/NodeBB\n\nProblem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statement:\n**Title: Email Validation Status Not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Handled Correctly in ACP and Confirmation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Logic**\n\n**Description:**\n...</a:t>
            </a:r>
            <a:r>
              <a:rPr sz="835" b="0">
                <a:solidFill>
                  <a:srgbClr val="667085"/>
                </a:solidFill>
                <a:latin typeface="Aptos Mono"/>
              </a:rPr>
              <a:t>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Prompt grew here | user_prompt_lines=114 | user_prompt_chars=6906 | next three slides show the raw task payload and resulting prompt field contents.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1228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TASK INPUT 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prompt_evolution_values/01_task_input.json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782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"stage": "task_input",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659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"diff_summary":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6535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"change_summary": "Loaded the raw SWE-bench task payload with repo metadata, bug description, requirements, and test targets.",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7411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"delta_summary": "Established the starting task description from dataset fields before any prompt assembly.",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8287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"added_keys": "repo, base_commit, problem_statement, requirements, selected_test_files_to_run, workspace_path",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9164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"removed_keys": "none",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0040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"changed_keys": "none"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20916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1793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"before": null,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2669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"after":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3545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"repo": "NodeBB/NodeBB",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4422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"base_commit": "1e137b07052bc3ea0da44ed201702c94055b8ad2",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5298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"problem_statement": "\"**Title: Email Validation Status Not Handled Correctly in ACP and Confirmation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6174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Logic**\\n\\n**Description:**\\n\\nThe Admin Control Panel (ACP) does not accurately reflect the email validation status of users. Also,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7050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validation and confirmation processes rely on key expiration, which can prevent correct verification if the keys expire. There's 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7927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fallback to recover the email if it's not found under the expected keys. This leads to failures when trying to validate or re-send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8803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confirmation emails.\\n\\nSteps to reproduce:\\n\\n1. Go to ACP → Manage Users.\\n\\n2. Create a user without confirming their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9679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email.\\n\\n3. Attempt to validate or resend confirmation via ACP after some time (allow keys to expire).\\n\\n4. Observe the UI display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30556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and backend behavior.\\n\\n**What is expected:**\\n\\nAccurate display of email status in ACP (validated, pending, expired, 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31432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missing).\\n\\nEmail confirmation should remain valid until it explicitly expires.\\n\\nValidation actions should fallback to alternative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2308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sources to...",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33185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"requirements": "\"- The loadUserInfo(callerUid, uids) function should include logic to retrieve and attach `email:pending` 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34061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`email:expired` flags to each user object. These flags must be derived by resolving `confirm:byUid:&lt;uid&gt;` keys via the new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4937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`getConfirmObjs()` function and checking expires timestamps in corresponding `confirm:&lt;code&gt;` objects.\\n\\n- The `getConfirmObjs()`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5813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helper within `loadUserInfo()` should fetch confirmation codes using `db.mget()` on `confirm:byUid:&lt;uid&gt;` keys, then retrieve the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6690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corresponding `confirm:&lt;code&gt;` objects using `db.getObjects()`. The mapping must ensure each user’s confirmation object is accurately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7566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indexed by position.\\n\\n- Each database adapter MongoDB, PostgreSQL, and Redis, must implement a `db.mget(keys: string[]):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8442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Promise&lt;string[]&gt;` method in their respective `main.js` files. This method takes an array of keys and returns an array of corresponding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9319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string values.  \\n\\n- The `db.mget` implementation should ensure that for any keys not found in the database, ...",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40195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"selected_test_files_to_run": "[\"test/database.js\", \"test/database/keys.js\", \"test/user/emails.js\"]",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41071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"workspace_path": "/home/ec2-user/kv_cache_offloading/agentbench/repos/NodeBB__NodeBB"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41948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42824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FORMATTED PROMPT JSON (1 OF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prompt_evolution_values/02_formatted_prompt.json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782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"stage": "formatted_prompt",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659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"diff_summary":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6535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"change_summary": "Merged the task fields into one action-oriented user prompt and added workspace instructions plus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7411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expectations.",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8287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"delta_summary": "Turned scattered task fields into one runnable user prompt with explicit instructions to inspect, edit, validate,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9164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and report real changes.",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0040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"added_keys": "prompt",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20916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"removed_keys": "none",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1793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"changed_keys": "problem_statement, requirements, selected tests -&gt; prompt text"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2669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3545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"before":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4422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"repo": "NodeBB/NodeBB",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5298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"base_commit": "1e137b07052bc3ea0da44ed201702c94055b8ad2",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FORMATTED PROMPT JSON (2 OF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prompt_evolution_values/02_formatted_prompt.json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"problem_statement": "\"**Title: Email Validation Status Not Handled Correctly in ACP and Confirmation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782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Logic**\\n\\n**Description:**\\n\\nThe Admin Control Panel (ACP) does not accurately reflect the email validation status of users. Also,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659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validation and confirmation processes rely on key expiration, which can prevent correct verification if the keys expire. There's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6535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fallback to recover the email if it's not found under the expected keys. This leads to failures when trying to validate or re-send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7411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confirmation emails.\\n\\nSteps to reproduce:\\n\\n1. Go to ACP → Manage Users.\\n\\n2. Create a user without confirming their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8287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email.\\n\\n3. Attempt to validate or resend confirmation via ACP after some time (allow keys to expire).\\n\\n4. Observe the UI display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9164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and backend behavior.\\n\\n**What is expected:**\\n\\nAccurate display of email status in ACP (validated, pending, expired, 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0040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missing).\\n\\nEmail confirmation should remain valid until it explicitly expires.\\n\\nValidation actions should fallback to alternative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20916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sources to...",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1793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"requirements": "\"- The loadUserInfo(callerUid, uids) function should include logic to retrieve and attach `email:pending` 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2669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`email:expired` flags to each user object. These flags must be derived by resolving `confirm:byUid:&lt;uid&gt;` keys via the 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3545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`getConfirmObjs()` function and checking expires timestamps in corresponding `confirm:&lt;code&gt;` objects.\\n\\n- The `getConfirmObjs()`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4422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helper within `loadUserInfo()` should fetch confirmation codes using `db.mget()` on `confirm:byUid:&lt;uid&gt;` keys, then retrieve the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5298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corresponding `confirm:&lt;code&gt;` objects using `db.getObjects()`. The mapping must ensure each user’s confirmation object is accurately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6174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indexed by position.\\n\\n- Each database adapter MongoDB, PostgreSQL, and Redis, must implement a `db.mget(keys: string[]):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7050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Promise&lt;string[]&gt;` method in their respective `main.js` files. This method takes an array of keys and returns an array of corresponding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7927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string values.  \\n\\n- The `db.mget` implementation should ensure that for any keys not found in the database, ...",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8803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"selected_test_files_to_run": "[\"test/database.js\", \"test/database/keys.js\", \"test/user/emails.js\"]",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9679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"workspace_path": "/home/ec2-user/kv_cache_offloading/agentbench/repos/NodeBB__NodeBB"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30556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31432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"after": 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2308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    "prompt": "You are working on one SWE-bench Pro software engineering task.\n\nTask metadata:\n- instance_id: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33185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instance_NodeBB__NodeBB-04998908ba6721d64eba79ae3b65a351dcfbc5b5-vnan\n- repo: NodeBB/NodeBB\n\nProblem statement:\n**Title: Email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34061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Validation Status Not Handled Correctly in ACP and Confirmation Logic**\n\n**Description:**\n\nThe Admin Control Panel (ACP) does not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4937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accurately reflect the email validation status of users. Also, validation and confirmation processes rely on key expiration, which can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5813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prevent correct verification if the keys expire. There's no fallback to recover the email if it's not found under the expected keys. This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6690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leads to failures when trying to validate or re-send confirmation emails.\n\nSteps to reproduce:\n\n1. Go to ACP → Manage Users.\n\n2.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7566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Create a user without confirming their email.\n\n3. Attempt to validate or resend confirmation via ACP after some time (allow keys 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8442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2563EB"/>
                </a:solidFill>
                <a:latin typeface="Aptos Mono"/>
              </a:rPr>
              <a:t>expire).\n\n4. Observe the UI display and backend behavior.\n\n**What is expected:**\n\nAccurate display of email sta..."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9319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40195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100" y="495300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STEP 2 OF 5 | PROMPT -&gt; REQUEST | REQUEST WRAPPER (LOCAL HELPER SCRIPT)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Task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2563E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Runtime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000000"/>
          </a:solidFill>
          <a:ln w="15240">
            <a:solidFill>
              <a:srgbClr val="D7D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01820"/>
                </a:solidFill>
                <a:latin typeface="Aptos Display"/>
              </a:rPr>
              <a:t>Next, the prompt is wrapped for the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The prompt is wrapped in model request fields.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The system now knows the model, messages, request ID, and hints.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What to look 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0" b="0">
                <a:solidFill>
                  <a:srgbClr val="101820"/>
                </a:solidFill>
                <a:latin typeface="Aptos"/>
              </a:rPr>
              <a:t>New fields: model, messages, request_context, agent_hints.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Component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>
                <a:solidFill>
                  <a:srgbClr val="6D28D9"/>
                </a:solidFill>
                <a:latin typeface="Aptos"/>
              </a:rPr>
              <a:t>Request Wrapper (local helper script)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2476500"/>
            <a:ext cx="2476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01820"/>
                </a:solidFill>
                <a:latin typeface="Aptos"/>
              </a:rPr>
              <a:t>Request Packaged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7550" y="2495550"/>
            <a:ext cx="12573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67085"/>
                </a:solidFill>
                <a:latin typeface="Aptos"/>
              </a:rPr>
              <a:t>Added in this step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3900" y="2457450"/>
            <a:ext cx="5524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9625" y="2505075"/>
            <a:ext cx="3810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43500" y="2457450"/>
            <a:ext cx="7048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29225" y="2505075"/>
            <a:ext cx="5334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messages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05500" y="2457450"/>
            <a:ext cx="1162050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91225" y="2505075"/>
            <a:ext cx="9906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request_context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24700" y="2457450"/>
            <a:ext cx="90487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10425" y="2505075"/>
            <a:ext cx="73342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agent_hints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33900" y="2724150"/>
            <a:ext cx="904875" cy="209550"/>
          </a:xfrm>
          <a:prstGeom prst="rect">
            <a:avLst/>
          </a:prstGeom>
          <a:solidFill>
            <a:srgbClr val="FFFFFF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19625" y="2771775"/>
            <a:ext cx="73342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>
                <a:solidFill>
                  <a:srgbClr val="334155"/>
                </a:solidFill>
                <a:latin typeface="Aptos"/>
              </a:rPr>
              <a:t>tool_choice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2032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>
                <a:solidFill>
                  <a:srgbClr val="667085"/>
                </a:solidFill>
                <a:latin typeface="Aptos"/>
              </a:rPr>
              <a:t>Payload size change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667085"/>
                </a:solidFill>
                <a:latin typeface="Aptos Mono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8D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Before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  </a:t>
            </a:r>
            <a:r>
              <a:rPr sz="835" b="1">
                <a:solidFill>
                  <a:srgbClr val="1D4ED8"/>
                </a:solidFill>
                <a:latin typeface="Aptos Mono"/>
              </a:rPr>
              <a:t>"prompt"</a:t>
            </a:r>
            <a:r>
              <a:rPr sz="835" b="0">
                <a:solidFill>
                  <a:srgbClr val="667085"/>
                </a:solidFill>
                <a:latin typeface="Aptos Mono"/>
              </a:rPr>
              <a:t>: "</a:t>
            </a:r>
            <a:r>
              <a:rPr sz="835" b="0">
                <a:solidFill>
                  <a:srgbClr val="172033"/>
                </a:solidFill>
                <a:latin typeface="Aptos Mono"/>
              </a:rPr>
              <a:t>You are working on one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engineering task.\n\nTask metadata:\n-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instance_NodeBB__NodeBB-04998908ba6721d64eba79ae3b65a351dcfbc5b5-vnan\n-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172033"/>
                </a:solidFill>
                <a:latin typeface="Aptos Mono"/>
              </a:rPr>
              <a:t>            repo: NodeBB/NodeBB\n\nProblem statement:\n...</a:t>
            </a:r>
            <a:r>
              <a:rPr sz="835" b="0">
                <a:solidFill>
                  <a:srgbClr val="667085"/>
                </a:solidFill>
                <a:latin typeface="Aptos Mono"/>
              </a:rPr>
              <a:t>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101820"/>
                </a:solidFill>
                <a:latin typeface="Aptos"/>
              </a:rPr>
              <a:t>After - actual request object, lightly truncated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"model"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"Qwen/Qwen2.5-7B-Instruct",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"messages"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[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"role"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"user",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"content"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"You are working on one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SWE-bench Pro software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engineering task.\\n\\nTask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metadata:\\n- instance_id: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    instance_NodeBB__NodeBB-04998908ba6721d64eba79ae3b65a351dcfbc5b5-vnan\\n..."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}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],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"request_context"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"request_id"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172033"/>
                </a:solidFill>
                <a:latin typeface="Aptos Mono"/>
              </a:rPr>
              <a:t>      "...::baseline_execution",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"phase"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"baseline_execution",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"app_variant"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172033"/>
                </a:solidFill>
                <a:latin typeface="Aptos Mono"/>
              </a:rPr>
              <a:t>      "upstream_deploy_coding_agent"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},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"agent_hints"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{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"priority"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5,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"reuse_likelihood"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0.9,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"expected_output_tokens"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2048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},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  </a:t>
            </a:r>
            <a:r>
              <a:rPr sz="805" b="1">
                <a:solidFill>
                  <a:srgbClr val="1D4ED8"/>
                </a:solidFill>
                <a:latin typeface="Aptos Mono"/>
              </a:rPr>
              <a:t>"tool_choice"</a:t>
            </a:r>
            <a:r>
              <a:rPr sz="805" b="0">
                <a:solidFill>
                  <a:srgbClr val="667085"/>
                </a:solidFill>
                <a:latin typeface="Aptos Mono"/>
              </a:rPr>
              <a:t>: </a:t>
            </a:r>
            <a:r>
              <a:rPr sz="805" b="0">
                <a:solidFill>
                  <a:srgbClr val="172033"/>
                </a:solidFill>
                <a:latin typeface="Aptos Mono"/>
              </a:rPr>
              <a:t>"auto"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667085"/>
                </a:solidFill>
                <a:latin typeface="Aptos Mono"/>
              </a:rPr>
              <a:t>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334155"/>
                </a:solidFill>
                <a:latin typeface="Aptos"/>
              </a:rPr>
              <a:t>No payload growth | model=Qwen/Qwen2.5-7B-Instruct | tool_choice=auto | request_id=...::baseline_execution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6926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FINAL MODEL REQUEST JSON (1 OF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AF5FF"/>
          </a:solidFill>
          <a:ln w="2413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prompt_evolution_values/03_final_model_request.json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782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"stage": "final_model_request",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659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"diff_summary":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6535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"change_summary": "Wrapped the formatted prompt as the initial user message, selected the model endpoint, and attached request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7411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plus agent hints.",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8287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"delta_summary": "Converted the plain prompt into an OpenAI-style request envelope with one user message plus request metadata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9164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routing and analysis.",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0040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"added_keys": "model, messages, request_context, agent_hints, tool_choice",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20916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"removed_keys": "none",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1793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"changed_keys": "prompt -&gt; messages[0].content"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2669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3545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"before":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4422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"prompt": "You are working on one SWE-bench Pro software engineering task.\n\nTask metadata:\n- instance_id: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5298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instance_NodeBB__NodeBB-04998908ba6721d64eba79ae3b65a351dcfbc5b5-vnan\n- repo: NodeBB/NodeBB\n\nProblem statement:\n**Title: 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6174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Validation Status Not Handled Correctly in ACP and Confirmation Logic**\n\n**Description:**\n\nThe Admin Control Panel (ACP) does not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7050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accurately reflect the email validation status of users. Also, validation and confirmation processes rely on key expiration, which 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7927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prevent correct verification if the keys expire. There's no fallback to recover the email if it's not found under the expected keys. This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8803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leads to failures when trying to validate or re-send confirmation emails.\n\nSteps to reproduce:\n\n1. Go to ACP → Manage Users.\n\n2.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9679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Create a user without confirming their email.\n\n3. Attempt to validate or resend confirmation via ACP after some time (allow keys 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30556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expire).\n\n4. Observe the UI display and backend behavior.\n\n**What is expected:**\n\nAccurate display of email sta..."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31432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2308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"after":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33185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"model": "Qwen/Qwen2.5-7B-Instruct",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34061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"frontend_url": "http://127.0.0.1:8000/v1/chat/completions",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4937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"messages": [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5813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6690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  "role": "user",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FINAL MODEL REQUEST JSON (2 OF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AF5FF"/>
          </a:solidFill>
          <a:ln w="2413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prompt_evolution_values/03_final_model_request.json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  "content": "You are working on one SWE-bench Pro software engineering task.\n\nTask metadata:\n- instance_id: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782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instance_NodeBB__NodeBB-04998908ba6721d64eba79ae3b65a351dcfbc5b5-vnan\n- repo: NodeBB/NodeBB\n\nProblem statement:\n**Title: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659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Validation Status Not Handled Correctly in ACP and Confirmation Logic**\n\n**Description:**\n\nThe Admin Control Panel (ACP) does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6535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accurately reflect the email validation status of users. Also, validation and confirmation processes rely on key expiration, which 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7411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prevent correct verification if the keys expire. There's no fallback to recover the email if it's not found under the expected keys. This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8287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leads to failures when trying to validate or re-send confirmation emails.\n\nSteps to reproduce:\n\n1. Go to ACP → Manage Users.\n\n2.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9164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Create a user without confirming their email.\n\n3. Attempt to validate or resend confirmation via ACP after some time (allow keys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0040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expire).\n\n4. Observe the UI display and backend behavior.\n\n**What is expected:**\n\nAccurate display of email sta..."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20916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1793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2669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"request_context":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3545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"request_id": "agentbench-nodebb_20260519_232042::baseline_execution",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4422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"parent_run_id": "agentbench-nodebb_20260519_232042",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5298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"task_instance_id": "instance_NodeBB__NodeBB-04998908ba6721d64eba79ae3b65a351dcfbc5b5-vnan",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6174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"phase": "baseline_execution",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7050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"step_index": null,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7927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"step_title": null,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8803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"app_variant": "upstream_deploy_coding_agent"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9679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30556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"agent_hints":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31432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"priority": 5,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2308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"reuse_likelihood": 0.9,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33185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"agent_phase": "baseline_execution",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34061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"latency_sensitivity": 0.7,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4937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"program_id": "agentbench.deepagents_app",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5813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"context_type": "software_engineering_long_horizon",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6690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"expected_output_tokens": 2048,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7566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  "hint_probe_id": "agentbench-nodebb_20260519_232042::hint_probe"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8442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9319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1D4ED8"/>
                </a:solidFill>
                <a:latin typeface="Aptos Mono"/>
              </a:rPr>
              <a:t>    "tool_choice": "auto"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40195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41071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C11D4FC3-C9FD-4C82-91F9-9D370A9843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067793-9966-4524-9D2A-0BA12492E0D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8277FD-5D06-460D-BDC9-1E55E45C24B6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3 OF 5 | REQUEST -&gt; AGENT RULES | DEEP AGENTS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2832FD-A172-4A58-8E82-1883119433D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Then, agent rules are layered into the request.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C4E2FE-FDE2-40A1-AD5C-835A02EA2604}"/>
              </a:ext>
            </a:extLst>
          </p:cNvPr>
          <p:cNvSpPr>
            <a:spLocks noGrp="1"/>
          </p:cNvSpPr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93E3F-3255-4940-B90A-CD44942F807C}"/>
              </a:ext>
            </a:extLst>
          </p:cNvPr>
          <p:cNvSpPr>
            <a:spLocks noGrp="1"/>
          </p:cNvSpPr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A6D818-3017-4E40-9A62-E929A95C0B49}"/>
              </a:ext>
            </a:extLst>
          </p:cNvPr>
          <p:cNvSpPr>
            <a:spLocks noGrp="1"/>
          </p:cNvSpPr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0BA479-FA44-4765-ACE9-B1F9C2BE4463}"/>
              </a:ext>
            </a:extLst>
          </p:cNvPr>
          <p:cNvSpPr>
            <a:spLocks noGrp="1"/>
          </p:cNvSpPr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30F078-9BB5-4E59-BFED-D0AE62FE31DE}"/>
              </a:ext>
            </a:extLst>
          </p:cNvPr>
          <p:cNvSpPr>
            <a:spLocks noGrp="1"/>
          </p:cNvSpPr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1D4ED8"/>
          </a:solidFill>
          <a:ln w="1143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81F9A7-8CD9-4101-A2E3-C351E280A770}"/>
              </a:ext>
            </a:extLst>
          </p:cNvPr>
          <p:cNvSpPr>
            <a:spLocks noGrp="1"/>
          </p:cNvSpPr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9896E1-3509-40EA-9FCB-F44146A3489B}"/>
              </a:ext>
            </a:extLst>
          </p:cNvPr>
          <p:cNvSpPr>
            <a:spLocks noGrp="1"/>
          </p:cNvSpPr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B02424-C4B6-4AE8-8F8B-439CFB9229A7}"/>
              </a:ext>
            </a:extLst>
          </p:cNvPr>
          <p:cNvSpPr>
            <a:spLocks noGrp="1"/>
          </p:cNvSpPr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789E81-02A6-4889-9577-7004DC87580F}"/>
              </a:ext>
            </a:extLst>
          </p:cNvPr>
          <p:cNvSpPr>
            <a:spLocks noGrp="1"/>
          </p:cNvSpPr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460361-4957-480D-8BDB-93F7A9B830AE}"/>
              </a:ext>
            </a:extLst>
          </p:cNvPr>
          <p:cNvSpPr>
            <a:spLocks noGrp="1"/>
          </p:cNvSpPr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F7DF24-5BC6-4B5C-B27B-3428707D48E6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BDCDDE-F317-417A-B396-FD4FD68C0460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5052E7-1154-4066-BB85-D079301930D2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635CCC-CBB7-42E4-8742-E001622599C7}"/>
              </a:ext>
            </a:extLst>
          </p:cNvPr>
          <p:cNvSpPr>
            <a:spLocks noGrp="1"/>
          </p:cNvSpPr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9E7502-C6D3-4A98-B1EC-FB04491F69BD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Coding-agent behavior rules are layered around the request.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D02F61-9EC7-4D58-AFED-5B189655940C}"/>
              </a:ext>
            </a:extLst>
          </p:cNvPr>
          <p:cNvSpPr>
            <a:spLocks noGrp="1"/>
          </p:cNvSpPr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20401A-A59E-40D9-A781-42710609EA08}"/>
              </a:ext>
            </a:extLst>
          </p:cNvPr>
          <p:cNvSpPr>
            <a:spLocks noGrp="1"/>
          </p:cNvSpPr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They tell the agent how to behave: inspect, use tools, and verify.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75F80C-BF55-4AFA-A052-5EA24C696946}"/>
              </a:ext>
            </a:extLst>
          </p:cNvPr>
          <p:cNvSpPr>
            <a:spLocks noGrp="1"/>
          </p:cNvSpPr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AF236D-09D0-42F6-A424-7B35AB119368}"/>
              </a:ext>
            </a:extLst>
          </p:cNvPr>
          <p:cNvSpPr>
            <a:spLocks noGrp="1"/>
          </p:cNvSpPr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New field: system_prompt.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C36F80-2ADB-4FF8-BFBE-FCF349401BF5}"/>
              </a:ext>
            </a:extLst>
          </p:cNvPr>
          <p:cNvSpPr>
            <a:spLocks noGrp="1"/>
          </p:cNvSpPr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B33FDB-5F72-4167-AD49-E17B755D46C7}"/>
              </a:ext>
            </a:extLst>
          </p:cNvPr>
          <p:cNvSpPr>
            <a:spLocks noGrp="1"/>
          </p:cNvSpPr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1D062C-0630-4209-B859-9FEDFF5FB7B2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5286A6-7502-4F9B-B794-E1C777588958}"/>
              </a:ext>
            </a:extLst>
          </p:cNvPr>
          <p:cNvSpPr>
            <a:spLocks noGrp="1"/>
          </p:cNvSpPr>
          <p:nvPr/>
        </p:nvSpPr>
        <p:spPr>
          <a:xfrm>
            <a:off x="3257550" y="2495550"/>
            <a:ext cx="1257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this step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FC075E-6D74-414B-9FDF-20672074F6A5}"/>
              </a:ext>
            </a:extLst>
          </p:cNvPr>
          <p:cNvSpPr>
            <a:spLocks noGrp="1"/>
          </p:cNvSpPr>
          <p:nvPr/>
        </p:nvSpPr>
        <p:spPr>
          <a:xfrm>
            <a:off x="4533900" y="2457450"/>
            <a:ext cx="103251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83316E-28BD-46EA-A61D-585A74EB526C}"/>
              </a:ext>
            </a:extLst>
          </p:cNvPr>
          <p:cNvSpPr>
            <a:spLocks noGrp="1"/>
          </p:cNvSpPr>
          <p:nvPr/>
        </p:nvSpPr>
        <p:spPr>
          <a:xfrm>
            <a:off x="4619625" y="2505075"/>
            <a:ext cx="86106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2FF6F7-EAE6-46F6-B609-7F9BD990FD1D}"/>
              </a:ext>
            </a:extLst>
          </p:cNvPr>
          <p:cNvSpPr>
            <a:spLocks noGrp="1"/>
          </p:cNvSpPr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15240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649EF0-BA93-4F8C-A6DA-084012D7C132}"/>
              </a:ext>
            </a:extLst>
          </p:cNvPr>
          <p:cNvSpPr>
            <a:spLocks noGrp="1"/>
          </p:cNvSpPr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A81F45-6752-4AE5-B3E6-4406EFDB67F4}"/>
              </a:ext>
            </a:extLst>
          </p:cNvPr>
          <p:cNvSpPr>
            <a:spLocks noGrp="1"/>
          </p:cNvSpPr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DCF01A-3BBB-4343-B1A5-530D02041C27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19050">
            <a:solidFill>
              <a:srgbClr val="8D9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814BD6-9E41-4AA0-BE60-86AA061FA6F6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9B3FB14-EB75-4CBA-AAA9-49C087F8E958}"/>
              </a:ext>
            </a:extLst>
          </p:cNvPr>
          <p:cNvSpPr>
            <a:spLocks noGrp="1"/>
          </p:cNvSpPr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83F8DB3-4215-4D3C-8F5C-48EFC326A8D7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5C9A9E-BA5F-40AB-A057-8DBED4D240EE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FAE9F64-4009-40F9-B3F3-2A84A8B4CC91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A4658FB-28C7-4435-B8D7-97BB0909B55E}"/>
              </a:ext>
            </a:extLst>
          </p:cNvPr>
          <p:cNvSpPr>
            <a:spLocks noGrp="1"/>
          </p:cNvSpPr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- added fields are called out above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000DAEF-7F8B-4C7C-B7D7-E8C0668D4643}"/>
              </a:ext>
            </a:extLst>
          </p:cNvPr>
          <p:cNvSpPr>
            <a:spLocks noGrp="1"/>
          </p:cNvSpPr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</a:t>
            </a:r>
          </a:p>
          <a:p>
            <a:pPr algn="l">
              <a:def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D93502F-E4E6-48E2-BCA0-FF454456AC34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 payload growth | system_prompt_chars=0 | runtime_source=python_environment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5DE6CAF-6071-49D0-BD1D-E3C357E3A8CA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445FA0-92B7-41E5-A55E-1D7E1B44914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E39FFD-163A-4781-9251-6D72815B63A9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48697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SYSTEM CONTEXT 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prompt_evolution_values/04_system_context.json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4637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"stage": "system_context",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0209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"diff_summary":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55781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"change_summary": "Prepared the Deep Agents instruction layer that guides tool use and coding-agent behavior around the user message.",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613534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"delta_summary": "Introduced the system-level coding-agent instructions that shape how the model should behave, even if the full wrapped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6692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request is not persisted verbatim.",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72497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"added_keys": "system_prompt",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178069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"removed_keys": "none",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18364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"changed_keys": "request interpretation now includes system instructions"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189214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19478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"before":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00358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"model": "Qwen/Qwen2.5-7B-Instruct",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059304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"frontend_url": "http://127.0.0.1:8000/v1/chat/completions",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11502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"messages": [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17074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2264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  "role": "user",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2821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  "content": "You are working on one SWE-bench Pro software engineering task.\n\nTask metadata:\n- instance_id: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33791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instance_NodeBB__NodeBB-04998908ba6721d64eba79ae3b65a351dcfbc5b5-vnan\n- repo: NodeBB/NodeBB\n\nProblem statement:\n**Title: Email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39363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Status Not Handled Correctly in ACP and Confirmation Logic**\n\n**Description:**\n\nThe Admin Control Panel (ACP) does not accurately reflect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244935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the email validation status of users. Also, validation and confirmation processes rely on key expiration, which can prevent correct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2505074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if the keys expire. There's no fallback to recover the email if it's not found under the expected keys. This leads to failures when trying 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256079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validate or re-send confirmation emails.\n\nSteps to reproduce:\n\n1. Go to ACP → Manage Users.\n\n2. Create a user without confirming their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261651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email.\n\n3. Attempt to validate or resend confirmation via ACP after some time (allow keys to expire).\n\n4. Observe the UI display and 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267223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behavior.\n\n**What is expected:**\n\nAccurate display of email sta..."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272796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     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27836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283940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"request_context":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289512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"request_id": "agentbench-nodebb_20260519_232042::baseline_execution",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295084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"parent_run_id": "agentbench-nodebb_20260519_232042",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00656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"task_instance_id": "instance_NodeBB__NodeBB-04998908ba6721d64eba79ae3b65a351dcfbc5b5-vnan",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30622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"phase": "baseline_execution",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311800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"step_index": null,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317373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"step_title": null,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322945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"app_variant": "upstream_deploy_coding_agent"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" y="328517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33408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"agent_hints": {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339661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"priority": 5,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345233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"reuse_likelihood": 0.9,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350805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"agent_phase": "baseline_execution",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" y="356377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"latency_sensitivity": 0.7,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" y="36195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"program_id": "agentbench.deepagents_app",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" y="367522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"context_type": "software_engineering_long_horizon",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700" y="373094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"expected_output_tokens": 2048,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700" y="378666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"hint_probe_id": "agentbench-nodebb_20260519_232042::hint_probe"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" y="384238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" y="38981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"tool_choice": "auto"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395382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700" y="400954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"after": {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700" y="406527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"model": "Qwen/Qwen2.5-7B-Instruct",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" y="412099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"frontend_url": "http://127.0.0.1:8000/v1/chat/completions",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700" y="41767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"messages": [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700" y="423243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700" y="428815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  "role": "user",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700" y="434387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  "content": "You are working on one SWE-bench Pro software engineering task.\n\nTask metadata:\n- instance_id: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700" y="439959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instance_NodeBB__NodeBB-04998908ba6721d64eba79ae3b65a351dcfbc5b5-vnan\n- repo: NodeBB/NodeBB\n\nProblem statement:\n**Title: Email Validation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700" y="44553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Status Not Handled Correctly in ACP and Confirmation Logic**\n\n**Description:**\n\nThe Admin Control Panel (ACP) does not accurately reflect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700" y="451104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the email validation status of users. Also, validation and confirmation processes rely on key expiration, which can prevent correct verification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700" y="456676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if the keys expire. There's no fallback to recover the email if it's not found under the expected keys. This leads to failures when trying to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7700" y="462248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validate or re-send confirmation emails.\n\nSteps to reproduce:\n\n1. Go to ACP → Manage Users.\n\n2. Create a user without confirming their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700" y="467820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email.\n\n3. Attempt to validate or resend confirmation via ACP after some time (allow keys to expire).\n\n4. Observe the UI display and backend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7700" y="47339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behavior.\n\n**What is expected:**\n\nAccurate display of email sta..."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7700" y="478964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      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700" y="484536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700" y="490108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"request_context": {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7700" y="495681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"request_id": "agentbench-nodebb_20260519_232042::baseline_execution",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700" y="50125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"parent_run_id": "agentbench-nodebb_20260519_232042",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7700" y="506825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"task_instance_id": "instance_NodeBB__NodeBB-04998908ba6721d64eba79ae3b65a351dcfbc5b5-vnan",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700" y="512397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"phase": "baseline_execution",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7700" y="517969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"step_index": null,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700" y="523541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"step_title": null,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7700" y="52911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"app_variant": "upstream_deploy_coding_agent"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7700" y="534685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7700" y="540258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"agent_hints": {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7700" y="545830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"priority": 5,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7700" y="551402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"reuse_likelihood": 0.9,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7700" y="55697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"agent_phase": "baseline_execution",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7700" y="562546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"latency_sensitivity": 0.7,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7700" y="568118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"program_id": "agentbench.deepagents_app",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7700" y="573690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"context_type": "software_engineering_long_horizon",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7700" y="579262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"expected_output_tokens": 2048,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7700" y="58483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  "hint_probe_id": "agentbench-nodebb_20260519_232042::hint_probe"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7700" y="590407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7700" y="595979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"tool_choice": "auto",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7700" y="601551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1">
                <a:solidFill>
                  <a:srgbClr val="D97706"/>
                </a:solidFill>
                <a:latin typeface="Aptos Mono"/>
              </a:rPr>
              <a:t>    "system_prompt": ""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7700" y="607123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  }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7700" y="61269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950508A-E6B8-4008-857C-182A847F63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AA949A-3710-44DF-8E7C-687B15F0843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137E85-3CA4-4DD4-8F1C-82E41F2F76E7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4 OF 5 | TOOLS -&gt; RUNTIME PREPARED | DYNAMO RUNTIME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D4360D-D39D-4C0B-A7A2-E03CA5266A0E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Then, runtime adds tool and token context.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73F7A8-F305-4B4E-9B8C-CF2E2823EA76}"/>
              </a:ext>
            </a:extLst>
          </p:cNvPr>
          <p:cNvSpPr>
            <a:spLocks noGrp="1"/>
          </p:cNvSpPr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14D7A4-F1CB-4160-BC85-3D2A15C940DD}"/>
              </a:ext>
            </a:extLst>
          </p:cNvPr>
          <p:cNvSpPr>
            <a:spLocks noGrp="1"/>
          </p:cNvSpPr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D2D129-A2A0-41D5-9B3A-6F2EE84ADBDE}"/>
              </a:ext>
            </a:extLst>
          </p:cNvPr>
          <p:cNvSpPr>
            <a:spLocks noGrp="1"/>
          </p:cNvSpPr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3E0297-A039-45E0-9F2D-0C1A443BFCC1}"/>
              </a:ext>
            </a:extLst>
          </p:cNvPr>
          <p:cNvSpPr>
            <a:spLocks noGrp="1"/>
          </p:cNvSpPr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BFF782-9090-4F9C-8AD7-2FD148F306F0}"/>
              </a:ext>
            </a:extLst>
          </p:cNvPr>
          <p:cNvSpPr>
            <a:spLocks noGrp="1"/>
          </p:cNvSpPr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A3FF7A-A625-464E-8997-F0F97623CC43}"/>
              </a:ext>
            </a:extLst>
          </p:cNvPr>
          <p:cNvSpPr>
            <a:spLocks noGrp="1"/>
          </p:cNvSpPr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A9901-77C6-448B-B7D5-1762FEF85E7D}"/>
              </a:ext>
            </a:extLst>
          </p:cNvPr>
          <p:cNvSpPr>
            <a:spLocks noGrp="1"/>
          </p:cNvSpPr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F9F6E"/>
          </a:solidFill>
          <a:ln w="1143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92E20F-AC6E-4961-AF10-B601BB9F7993}"/>
              </a:ext>
            </a:extLst>
          </p:cNvPr>
          <p:cNvSpPr>
            <a:spLocks noGrp="1"/>
          </p:cNvSpPr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13EC79-5BA6-4DC0-8F6C-2FF148C5AF18}"/>
              </a:ext>
            </a:extLst>
          </p:cNvPr>
          <p:cNvSpPr>
            <a:spLocks noGrp="1"/>
          </p:cNvSpPr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CE48E1-1C8A-4472-8C92-C15D2545FE32}"/>
              </a:ext>
            </a:extLst>
          </p:cNvPr>
          <p:cNvSpPr>
            <a:spLocks noGrp="1"/>
          </p:cNvSpPr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137158-C0E9-405F-AEBF-98A251723073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FFD728-CFDB-4D14-A618-0E5214D82D53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C64FCD-3BAA-4095-AFFD-B9BEA1738C5B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E43CF5-806F-415E-BBC6-A95183B7B122}"/>
              </a:ext>
            </a:extLst>
          </p:cNvPr>
          <p:cNvSpPr>
            <a:spLocks noGrp="1"/>
          </p:cNvSpPr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C640EF-BBB1-4EC3-80F2-1D88391C0B2E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and runtime preparation evidence is attached.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A9FF1D-9C1A-4518-8CEA-DB5DF8966BA9}"/>
              </a:ext>
            </a:extLst>
          </p:cNvPr>
          <p:cNvSpPr>
            <a:spLocks noGrp="1"/>
          </p:cNvSpPr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F45305-7DB4-46ED-B56F-6B219495DB42}"/>
              </a:ext>
            </a:extLst>
          </p:cNvPr>
          <p:cNvSpPr>
            <a:spLocks noGrp="1"/>
          </p:cNvSpPr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We can see tools, parser, token counts, and cache signals.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DB175D-46DB-4CD3-8249-AAAC22AB60D7}"/>
              </a:ext>
            </a:extLst>
          </p:cNvPr>
          <p:cNvSpPr>
            <a:spLocks noGrp="1"/>
          </p:cNvSpPr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8A7BAF-6DDD-4942-80EC-3D101DEDA8C1}"/>
              </a:ext>
            </a:extLst>
          </p:cNvPr>
          <p:cNvSpPr>
            <a:spLocks noGrp="1"/>
          </p:cNvSpPr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parser plus prompt/cache token fields.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5714BA-A0F9-4F0B-80C6-43E84C9A0860}"/>
              </a:ext>
            </a:extLst>
          </p:cNvPr>
          <p:cNvSpPr>
            <a:spLocks noGrp="1"/>
          </p:cNvSpPr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EE022D-A25D-4D0F-AA24-C98DDC690CBC}"/>
              </a:ext>
            </a:extLst>
          </p:cNvPr>
          <p:cNvSpPr>
            <a:spLocks noGrp="1"/>
          </p:cNvSpPr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37D28C-3033-47BE-96FF-4363B2EB134F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 -&gt; Runtime Prepared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80599D-DE63-416B-8D14-D0C7C1C727CD}"/>
              </a:ext>
            </a:extLst>
          </p:cNvPr>
          <p:cNvSpPr>
            <a:spLocks noGrp="1"/>
          </p:cNvSpPr>
          <p:nvPr/>
        </p:nvSpPr>
        <p:spPr>
          <a:xfrm>
            <a:off x="3905250" y="2495550"/>
            <a:ext cx="1333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these steps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A789A1-C487-45EE-9639-026597B304E2}"/>
              </a:ext>
            </a:extLst>
          </p:cNvPr>
          <p:cNvSpPr>
            <a:spLocks noGrp="1"/>
          </p:cNvSpPr>
          <p:nvPr/>
        </p:nvSpPr>
        <p:spPr>
          <a:xfrm>
            <a:off x="5314950" y="2457450"/>
            <a:ext cx="161544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27ACC4-766D-4CB3-943C-3138C2BF00C3}"/>
              </a:ext>
            </a:extLst>
          </p:cNvPr>
          <p:cNvSpPr>
            <a:spLocks noGrp="1"/>
          </p:cNvSpPr>
          <p:nvPr/>
        </p:nvSpPr>
        <p:spPr>
          <a:xfrm>
            <a:off x="5400675" y="2505075"/>
            <a:ext cx="144399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expected_builtin_tools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D6AB2C-39DF-4E04-AE83-19B6A4AAF401}"/>
              </a:ext>
            </a:extLst>
          </p:cNvPr>
          <p:cNvSpPr>
            <a:spLocks noGrp="1"/>
          </p:cNvSpPr>
          <p:nvPr/>
        </p:nvSpPr>
        <p:spPr>
          <a:xfrm>
            <a:off x="6987540" y="2457450"/>
            <a:ext cx="103251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E15ADCF-5D60-45B4-8F16-7582E5555C1F}"/>
              </a:ext>
            </a:extLst>
          </p:cNvPr>
          <p:cNvSpPr>
            <a:spLocks noGrp="1"/>
          </p:cNvSpPr>
          <p:nvPr/>
        </p:nvSpPr>
        <p:spPr>
          <a:xfrm>
            <a:off x="7073265" y="2505075"/>
            <a:ext cx="86106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tool_parser_*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853AEE-F7B7-4312-B559-E9A00B20BE2D}"/>
              </a:ext>
            </a:extLst>
          </p:cNvPr>
          <p:cNvSpPr>
            <a:spLocks noGrp="1"/>
          </p:cNvSpPr>
          <p:nvPr/>
        </p:nvSpPr>
        <p:spPr>
          <a:xfrm>
            <a:off x="5314950" y="2724150"/>
            <a:ext cx="142113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11C7C6-EA0E-498F-9D65-D3B8ED53D8BB}"/>
              </a:ext>
            </a:extLst>
          </p:cNvPr>
          <p:cNvSpPr>
            <a:spLocks noGrp="1"/>
          </p:cNvSpPr>
          <p:nvPr/>
        </p:nvSpPr>
        <p:spPr>
          <a:xfrm>
            <a:off x="5400675" y="2771775"/>
            <a:ext cx="124968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prompt/cache tokens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27AE60-889B-4242-A7A1-22163D65F4BC}"/>
              </a:ext>
            </a:extLst>
          </p:cNvPr>
          <p:cNvSpPr>
            <a:spLocks noGrp="1"/>
          </p:cNvSpPr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15240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847F6B-DADC-47C1-89EA-CF944B9A1732}"/>
              </a:ext>
            </a:extLst>
          </p:cNvPr>
          <p:cNvSpPr>
            <a:spLocks noGrp="1"/>
          </p:cNvSpPr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6D526F-7005-41E0-B6F3-8A87AC27F0CD}"/>
              </a:ext>
            </a:extLst>
          </p:cNvPr>
          <p:cNvSpPr>
            <a:spLocks noGrp="1"/>
          </p:cNvSpPr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F3220A-A7E0-47C0-A535-B1DE53A62889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07B168-DD4E-4036-B7F2-453322921E64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237962-465B-47A4-BD24-F8DC9EA34EB1}"/>
              </a:ext>
            </a:extLst>
          </p:cNvPr>
          <p:cNvSpPr>
            <a:spLocks noGrp="1"/>
          </p:cNvSpPr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Tools Attached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60ACF34-F40C-4870-A6E5-8171C46D84C2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</a:t>
            </a:r>
          </a:p>
          <a:p>
            <a:pPr algn="l">
              <a:def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68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36B0546-C363-41AE-B093-A9B95A31622D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19050">
            <a:solidFill>
              <a:srgbClr val="0F9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579B44B-0412-4604-AA0C-68231E0652CD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454FF0-B1ED-4948-BB4E-F8072C16A587}"/>
              </a:ext>
            </a:extLst>
          </p:cNvPr>
          <p:cNvSpPr>
            <a:spLocks noGrp="1"/>
          </p:cNvSpPr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Runtime Prepared - added fields called out above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DE4CA68-389D-4704-96FD-BFF0B20EF859}"/>
              </a:ext>
            </a:extLst>
          </p:cNvPr>
          <p:cNvSpPr>
            <a:spLocks noGrp="1"/>
          </p:cNvSpPr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"prompt_tokens":"...",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"cached_prompt_tokens":"...",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"cached_input_tokens":"..."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7F564AA-9589-4FB5-801E-0F2319741779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No payload growth | parser_observed=True | prompt_tokens=14083 | cached_input_tokens=12992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859340-F1DF-4168-B22B-407E6AC06EF1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539338-4DE8-44D8-BBD8-4DF85B328DE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CBED890-2976-462F-BEAA-441DD8473924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90912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TOOL RUNTIME CONTEXT JSON (1 OF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prompt_evolution_values/05_tool_runtime_context.json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782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"stage": "tool_runtime_context",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659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"diff_summary":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6535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"change_summary": "The runtime attached the tool-capable surface and frontend parsing behavior before inference.",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7411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"delta_summary": "Made the request tool-capable by exposing built-in tools and confirming which tool parser the frontend actually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8287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used.",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9164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"added_keys": "expected_builtin_tools, tool_parser_names_seen, tool_parser_observed",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0040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"removed_keys": "none",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20916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"changed_keys": "runtime view now includes tool surface and parser metadata"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1793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2669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"before":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3545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"model": "Qwen/Qwen2.5-7B-Instruct",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4422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"frontend_url": "http://127.0.0.1:8000/v1/chat/completions",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5298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"messages": [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6174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7050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  "role": "user",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7927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  "content": "You are working on one SWE-bench Pro software engineering task.\n\nTask metadata:\n- instance_id: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8803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instance_NodeBB__NodeBB-04998908ba6721d64eba79ae3b65a351dcfbc5b5-vnan\n- repo: NodeBB/NodeBB\n\nProblem statement:\n**Title: Email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9679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Validation Status Not Handled Correctly in ACP and Confirmation Logic**\n\n**Description:**\n\nThe Admin Control Panel (ACP) does not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30556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accurately reflect the email validation status of users. Also, validation and confirmation processes rely on key expiration, which 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31432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prevent correct verification if the keys expire. There's no fallback to recover the email if it's not found under the expected keys. This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2308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leads to failures when trying to validate or re-send confirmation emails.\n\nSteps to reproduce:\n\n1. Go to ACP → Manage Users.\n\n2.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33185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Create a user without confirming their email.\n\n3. Attempt to validate or resend confirmation via ACP after some time (allow keys 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34061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expire).\n\n4. Observe the UI display and backend behavior.\n\n**What is expected:**\n\nAccurate display of email sta..."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4937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5813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6690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"request_context":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7566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"request_id": "agentbench-nodebb_20260519_232042::baseline_execution",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8442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"parent_run_id": "agentbench-nodebb_20260519_232042",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9319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"task_instance_id": "instance_NodeBB__NodeBB-04998908ba6721d64eba79ae3b65a351dcfbc5b5-vnan",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40195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"phase": "baseline_execution",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41071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"step_index": null,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41948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"step_title": null,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TOOL RUNTIME CONTEXT JSON (2 OF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prompt_evolution_values/05_tool_runtime_context.json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"app_variant": "upstream_deploy_coding_agent"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782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659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"agent_hints":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6535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"priority": 5,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7411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"reuse_likelihood": 0.9,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8287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"agent_phase": "baseline_execution",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9164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"latency_sensitivity": 0.7,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0040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"program_id": "agentbench.deepagents_app",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20916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"context_type": "software_engineering_long_horizon",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1793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"expected_output_tokens": 2048,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2669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"hint_probe_id": "agentbench-nodebb_20260519_232042::hint_probe"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3545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4422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"tool_choice": "auto",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5298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"system_prompt": ""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6174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7050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"after": 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7927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"model": "Qwen/Qwen2.5-7B-Instruct",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8803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"frontend_url": "http://127.0.0.1:8000/v1/chat/completions",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9679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"messages": [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30556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31432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  "role": "user",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2308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  "content": "You are working on one SWE-bench Pro software engineering task.\n\nTask metadata:\n- instance_id: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33185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instance_NodeBB__NodeBB-04998908ba6721d64eba79ae3b65a351dcfbc5b5-vnan\n- repo: NodeBB/NodeBB\n\nProblem statement:\n**Title: Email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34061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Validation Status Not Handled Correctly in ACP and Confirmation Logic**\n\n**Description:**\n\nThe Admin Control Panel (ACP) does not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4937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accurately reflect the email validation status of users. Also, validation and confirmation processes rely on key expiration, which can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5813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prevent correct verification if the keys expire. There's no fallback to recover the email if it's not found under the expected keys. This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6690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leads to failures when trying to validate or re-send confirmation emails.\n\nSteps to reproduce:\n\n1. Go to ACP → Manage Users.\n\n2.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7566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Create a user without confirming their email.\n\n3. Attempt to validate or resend confirmation via ACP after some time (allow keys 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8442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expire).\n\n4. Observe the UI display and backend behavior.\n\n**What is expected:**\n\nAccurate display of email sta..."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9319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40195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41071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"request_context": {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41948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"request_id": "agentbench-nodebb_20260519_232042::baseline_execution",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TOOL RUNTIME CONTEXT JSON (3 OF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prompt_evolution_values/05_tool_runtime_context.json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"parent_run_id": "agentbench-nodebb_20260519_232042",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782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"task_instance_id": "instance_NodeBB__NodeBB-04998908ba6721d64eba79ae3b65a351dcfbc5b5-vnan",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659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"phase": "baseline_execution",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6535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"step_index": null,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7411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"step_title": null,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8287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"app_variant": "upstream_deploy_coding_agent"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9164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0040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"agent_hints":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20916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"priority": 5,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1793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"reuse_likelihood": 0.9,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2669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"agent_phase": "baseline_execution",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3545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"latency_sensitivity": 0.7,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4422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"program_id": "agentbench.deepagents_app",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5298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"context_type": "software_engineering_long_horizon",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6174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"expected_output_tokens": 2048,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7050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"hint_probe_id": "agentbench-nodebb_20260519_232042::hint_probe"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7927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8803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"tool_choice": "auto",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9679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"system_prompt": "",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30556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"expected_builtin_tools": [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31432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"write_todos",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2308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"ls",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33185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"read_file",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34061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"write_file",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4937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"edit_file",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5813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"glob",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6690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"grep",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7566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"execute",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8442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"task"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9319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40195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"tool_parser_names_seen": [],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41071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"tool_parser_observed": false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41948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42824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1E1BA132-8087-42AF-A38C-A2E20BB5C1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AD595-CC07-473F-96AA-577A7564A77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228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346231-B0E7-47E4-8456-B428A2290A41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 5 OF 5 | RUNTIME -&gt; BEHAVIOR | DEEP AGENTS 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06395-D85A-4BBF-9EFD-2ADDAA880BA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09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Finally, we observe what the model actually did.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094584-A3E8-4403-9415-0B7CD8D9ACF6}"/>
              </a:ext>
            </a:extLst>
          </p:cNvPr>
          <p:cNvSpPr>
            <a:spLocks noGrp="1"/>
          </p:cNvSpPr>
          <p:nvPr/>
        </p:nvSpPr>
        <p:spPr>
          <a:xfrm>
            <a:off x="765810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BC6FCC-6B23-4390-A22F-F22E08BBF61C}"/>
              </a:ext>
            </a:extLst>
          </p:cNvPr>
          <p:cNvSpPr>
            <a:spLocks noGrp="1"/>
          </p:cNvSpPr>
          <p:nvPr/>
        </p:nvSpPr>
        <p:spPr>
          <a:xfrm>
            <a:off x="77152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540E4-2AF1-49FA-B807-502444767F24}"/>
              </a:ext>
            </a:extLst>
          </p:cNvPr>
          <p:cNvSpPr>
            <a:spLocks noGrp="1"/>
          </p:cNvSpPr>
          <p:nvPr/>
        </p:nvSpPr>
        <p:spPr>
          <a:xfrm>
            <a:off x="847725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F057A1-EC1B-467E-ABF5-F1AEE7FF6413}"/>
              </a:ext>
            </a:extLst>
          </p:cNvPr>
          <p:cNvSpPr>
            <a:spLocks noGrp="1"/>
          </p:cNvSpPr>
          <p:nvPr/>
        </p:nvSpPr>
        <p:spPr>
          <a:xfrm>
            <a:off x="853440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8B08F6-382A-4906-BCC8-3FBFAA1C8CD4}"/>
              </a:ext>
            </a:extLst>
          </p:cNvPr>
          <p:cNvSpPr>
            <a:spLocks noGrp="1"/>
          </p:cNvSpPr>
          <p:nvPr/>
        </p:nvSpPr>
        <p:spPr>
          <a:xfrm>
            <a:off x="929640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38A144-BBB2-4E66-87D3-A3A9DCD10638}"/>
              </a:ext>
            </a:extLst>
          </p:cNvPr>
          <p:cNvSpPr>
            <a:spLocks noGrp="1"/>
          </p:cNvSpPr>
          <p:nvPr/>
        </p:nvSpPr>
        <p:spPr>
          <a:xfrm>
            <a:off x="93535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8ECE9D-86B4-470D-B744-352FD3610218}"/>
              </a:ext>
            </a:extLst>
          </p:cNvPr>
          <p:cNvSpPr>
            <a:spLocks noGrp="1"/>
          </p:cNvSpPr>
          <p:nvPr/>
        </p:nvSpPr>
        <p:spPr>
          <a:xfrm>
            <a:off x="10115550" y="514350"/>
            <a:ext cx="742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D8D0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AA09FE-46EB-43DC-A21A-7565405CECF4}"/>
              </a:ext>
            </a:extLst>
          </p:cNvPr>
          <p:cNvSpPr>
            <a:spLocks noGrp="1"/>
          </p:cNvSpPr>
          <p:nvPr/>
        </p:nvSpPr>
        <p:spPr>
          <a:xfrm>
            <a:off x="1017270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E75ABB-EE54-414D-A83A-FD39118A00EB}"/>
              </a:ext>
            </a:extLst>
          </p:cNvPr>
          <p:cNvSpPr>
            <a:spLocks noGrp="1"/>
          </p:cNvSpPr>
          <p:nvPr/>
        </p:nvSpPr>
        <p:spPr>
          <a:xfrm>
            <a:off x="10934700" y="514350"/>
            <a:ext cx="742950" cy="209550"/>
          </a:xfrm>
          <a:prstGeom prst="rect">
            <a:avLst/>
          </a:prstGeom>
          <a:solidFill>
            <a:srgbClr val="BE123C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4693C4-B5AB-4D97-BB5D-B9C10D18C78A}"/>
              </a:ext>
            </a:extLst>
          </p:cNvPr>
          <p:cNvSpPr>
            <a:spLocks noGrp="1"/>
          </p:cNvSpPr>
          <p:nvPr/>
        </p:nvSpPr>
        <p:spPr>
          <a:xfrm>
            <a:off x="10991850" y="571500"/>
            <a:ext cx="6286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6BB1C6-DADA-4ED0-A74E-449BA2DEEA81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972800" cy="190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8C67CF-1325-49D7-956E-A7D606DA630C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D8D0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647D34-FC5A-4192-9D12-9B382B1BDA5C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76200" cy="590550"/>
          </a:xfrm>
          <a:prstGeom prst="rect">
            <a:avLst/>
          </a:prstGeom>
          <a:solidFill>
            <a:srgbClr val="BE12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756147-0B88-41E6-B756-97C2C6810C24}"/>
              </a:ext>
            </a:extLst>
          </p:cNvPr>
          <p:cNvSpPr>
            <a:spLocks noGrp="1"/>
          </p:cNvSpPr>
          <p:nvPr/>
        </p:nvSpPr>
        <p:spPr>
          <a:xfrm>
            <a:off x="838200" y="1971675"/>
            <a:ext cx="1047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2E7C5D-242B-4D02-A7DE-524412B2B486}"/>
              </a:ext>
            </a:extLst>
          </p:cNvPr>
          <p:cNvSpPr>
            <a:spLocks noGrp="1"/>
          </p:cNvSpPr>
          <p:nvPr/>
        </p:nvSpPr>
        <p:spPr>
          <a:xfrm>
            <a:off x="838200" y="21145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prepared request becomes an observed behavior record.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19FB67-EB7D-4864-A322-B1FF214E7EC4}"/>
              </a:ext>
            </a:extLst>
          </p:cNvPr>
          <p:cNvSpPr>
            <a:spLocks noGrp="1"/>
          </p:cNvSpPr>
          <p:nvPr/>
        </p:nvSpPr>
        <p:spPr>
          <a:xfrm>
            <a:off x="3676650" y="1971675"/>
            <a:ext cx="1047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341672-2ED9-44A3-8A00-3A7B41462518}"/>
              </a:ext>
            </a:extLst>
          </p:cNvPr>
          <p:cNvSpPr>
            <a:spLocks noGrp="1"/>
          </p:cNvSpPr>
          <p:nvPr/>
        </p:nvSpPr>
        <p:spPr>
          <a:xfrm>
            <a:off x="3676650" y="21145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We can see what the model actually did, not just what we expected.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00439-C54C-4FDF-887A-7BB822BCDA90}"/>
              </a:ext>
            </a:extLst>
          </p:cNvPr>
          <p:cNvSpPr>
            <a:spLocks noGrp="1"/>
          </p:cNvSpPr>
          <p:nvPr/>
        </p:nvSpPr>
        <p:spPr>
          <a:xfrm>
            <a:off x="6610350" y="1971675"/>
            <a:ext cx="1143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to look at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3FAF63-E012-4464-837D-BFA800825CD9}"/>
              </a:ext>
            </a:extLst>
          </p:cNvPr>
          <p:cNvSpPr>
            <a:spLocks noGrp="1"/>
          </p:cNvSpPr>
          <p:nvPr/>
        </p:nvSpPr>
        <p:spPr>
          <a:xfrm>
            <a:off x="6610350" y="2114550"/>
            <a:ext cx="3105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 calls, finish_reason, response_text, workspace_changed.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D2F363-A01F-4D02-AF00-DFC121367E35}"/>
              </a:ext>
            </a:extLst>
          </p:cNvPr>
          <p:cNvSpPr>
            <a:spLocks noGrp="1"/>
          </p:cNvSpPr>
          <p:nvPr/>
        </p:nvSpPr>
        <p:spPr>
          <a:xfrm>
            <a:off x="10001250" y="1971675"/>
            <a:ext cx="857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ED2F14-FA39-4F54-ACE0-8852A391368C}"/>
              </a:ext>
            </a:extLst>
          </p:cNvPr>
          <p:cNvSpPr>
            <a:spLocks noGrp="1"/>
          </p:cNvSpPr>
          <p:nvPr/>
        </p:nvSpPr>
        <p:spPr>
          <a:xfrm>
            <a:off x="10001250" y="2114550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DA8411-63E2-49B1-9304-0DF98619E0D5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C97614-BD14-499B-BEA5-164408DC0BE4}"/>
              </a:ext>
            </a:extLst>
          </p:cNvPr>
          <p:cNvSpPr>
            <a:spLocks noGrp="1"/>
          </p:cNvSpPr>
          <p:nvPr/>
        </p:nvSpPr>
        <p:spPr>
          <a:xfrm>
            <a:off x="3257550" y="2495550"/>
            <a:ext cx="1257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in this step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99186D-6269-429E-A0BA-F53D714EBEDD}"/>
              </a:ext>
            </a:extLst>
          </p:cNvPr>
          <p:cNvSpPr>
            <a:spLocks noGrp="1"/>
          </p:cNvSpPr>
          <p:nvPr/>
        </p:nvSpPr>
        <p:spPr>
          <a:xfrm>
            <a:off x="4533900" y="2457450"/>
            <a:ext cx="174498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1F5352-5269-4C3E-B04C-FFC4F7BF9EBA}"/>
              </a:ext>
            </a:extLst>
          </p:cNvPr>
          <p:cNvSpPr>
            <a:spLocks noGrp="1"/>
          </p:cNvSpPr>
          <p:nvPr/>
        </p:nvSpPr>
        <p:spPr>
          <a:xfrm>
            <a:off x="4619625" y="2505075"/>
            <a:ext cx="157353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observed_tool_call_names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BDF7E5-7074-4C51-8DDA-EED9CE0D8326}"/>
              </a:ext>
            </a:extLst>
          </p:cNvPr>
          <p:cNvSpPr>
            <a:spLocks noGrp="1"/>
          </p:cNvSpPr>
          <p:nvPr/>
        </p:nvSpPr>
        <p:spPr>
          <a:xfrm>
            <a:off x="6336030" y="2457450"/>
            <a:ext cx="186690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46100F-AE7F-4737-909A-B3F0CB21DF21}"/>
              </a:ext>
            </a:extLst>
          </p:cNvPr>
          <p:cNvSpPr>
            <a:spLocks noGrp="1"/>
          </p:cNvSpPr>
          <p:nvPr/>
        </p:nvSpPr>
        <p:spPr>
          <a:xfrm>
            <a:off x="6421755" y="2505075"/>
            <a:ext cx="169545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observed_tool_result_names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74DC7C-933E-4F3D-A5D4-1AABD4DA72A9}"/>
              </a:ext>
            </a:extLst>
          </p:cNvPr>
          <p:cNvSpPr>
            <a:spLocks noGrp="1"/>
          </p:cNvSpPr>
          <p:nvPr/>
        </p:nvSpPr>
        <p:spPr>
          <a:xfrm>
            <a:off x="4533900" y="2724150"/>
            <a:ext cx="103251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2EA57A-6E0A-4084-A0A8-AB65694517C4}"/>
              </a:ext>
            </a:extLst>
          </p:cNvPr>
          <p:cNvSpPr>
            <a:spLocks noGrp="1"/>
          </p:cNvSpPr>
          <p:nvPr/>
        </p:nvSpPr>
        <p:spPr>
          <a:xfrm>
            <a:off x="4619625" y="2771775"/>
            <a:ext cx="86106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finish_reason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0D99DD-C904-4221-A8E2-E3FE5A2867B7}"/>
              </a:ext>
            </a:extLst>
          </p:cNvPr>
          <p:cNvSpPr>
            <a:spLocks noGrp="1"/>
          </p:cNvSpPr>
          <p:nvPr/>
        </p:nvSpPr>
        <p:spPr>
          <a:xfrm>
            <a:off x="5623560" y="2724150"/>
            <a:ext cx="103251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FC5D40-6F60-4F46-B0C7-FD9F810085CF}"/>
              </a:ext>
            </a:extLst>
          </p:cNvPr>
          <p:cNvSpPr>
            <a:spLocks noGrp="1"/>
          </p:cNvSpPr>
          <p:nvPr/>
        </p:nvSpPr>
        <p:spPr>
          <a:xfrm>
            <a:off x="5709285" y="2771775"/>
            <a:ext cx="86106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response_text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EEC416-0629-4370-B161-1DFB4B9B8EFC}"/>
              </a:ext>
            </a:extLst>
          </p:cNvPr>
          <p:cNvSpPr>
            <a:spLocks noGrp="1"/>
          </p:cNvSpPr>
          <p:nvPr/>
        </p:nvSpPr>
        <p:spPr>
          <a:xfrm>
            <a:off x="6713220" y="2724150"/>
            <a:ext cx="129159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6C2E67-BA05-41D2-B358-894049FBCEF1}"/>
              </a:ext>
            </a:extLst>
          </p:cNvPr>
          <p:cNvSpPr>
            <a:spLocks noGrp="1"/>
          </p:cNvSpPr>
          <p:nvPr/>
        </p:nvSpPr>
        <p:spPr>
          <a:xfrm>
            <a:off x="6798945" y="2771775"/>
            <a:ext cx="112014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82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82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workspace_changed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CBF267-20D3-48CF-A942-5927BD1E8CAB}"/>
              </a:ext>
            </a:extLst>
          </p:cNvPr>
          <p:cNvSpPr>
            <a:spLocks noGrp="1"/>
          </p:cNvSpPr>
          <p:nvPr/>
        </p:nvSpPr>
        <p:spPr>
          <a:xfrm>
            <a:off x="9658350" y="2381250"/>
            <a:ext cx="1924050" cy="400050"/>
          </a:xfrm>
          <a:prstGeom prst="rect">
            <a:avLst/>
          </a:prstGeom>
          <a:solidFill>
            <a:srgbClr val="FFFFFF"/>
          </a:solidFill>
          <a:ln w="1524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64B1CA-607B-4FB5-B417-975D80793BFB}"/>
              </a:ext>
            </a:extLst>
          </p:cNvPr>
          <p:cNvSpPr>
            <a:spLocks noGrp="1"/>
          </p:cNvSpPr>
          <p:nvPr/>
        </p:nvSpPr>
        <p:spPr>
          <a:xfrm>
            <a:off x="9772650" y="2447925"/>
            <a:ext cx="16954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83F2276-6266-417D-98C3-90B470729E30}"/>
              </a:ext>
            </a:extLst>
          </p:cNvPr>
          <p:cNvSpPr>
            <a:spLocks noGrp="1"/>
          </p:cNvSpPr>
          <p:nvPr/>
        </p:nvSpPr>
        <p:spPr>
          <a:xfrm>
            <a:off x="9772650" y="2571750"/>
            <a:ext cx="16954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238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B25B5B0-E46A-4B7D-84A6-B713890F54DC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19700" cy="2914650"/>
          </a:xfrm>
          <a:prstGeom prst="rect">
            <a:avLst/>
          </a:prstGeom>
          <a:solidFill>
            <a:srgbClr val="FFFFFF"/>
          </a:solidFill>
          <a:ln w="19050">
            <a:solidFill>
              <a:srgbClr val="8D9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DD38C3-C242-415C-A5E5-2E59C36BEB5D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19700" cy="400050"/>
          </a:xfrm>
          <a:prstGeom prst="rect">
            <a:avLst/>
          </a:prstGeom>
          <a:solidFill>
            <a:srgbClr val="E9E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0EBF32-FD2A-41B2-B716-6C560E7C760C}"/>
              </a:ext>
            </a:extLst>
          </p:cNvPr>
          <p:cNvSpPr>
            <a:spLocks noGrp="1"/>
          </p:cNvSpPr>
          <p:nvPr/>
        </p:nvSpPr>
        <p:spPr>
          <a:xfrm>
            <a:off x="781050" y="2962275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9008921-B214-4EB0-BB8F-C01BDCCFE34A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48768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"tool_parser_observed":"...",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"prompt_tokens":"...",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"cached_prompt_tokens":"...",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"cached_input_tokens":"..."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C08C0A5-0096-42B9-96A9-C978DEC75213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5219700" cy="2914650"/>
          </a:xfrm>
          <a:prstGeom prst="rect">
            <a:avLst/>
          </a:prstGeom>
          <a:solidFill>
            <a:srgbClr val="FFFFFF"/>
          </a:solidFill>
          <a:ln w="19050">
            <a:solidFill>
              <a:srgbClr val="BE12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F6BEC20-43D6-43CF-B063-C6BBF3ABD31E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5219700" cy="400050"/>
          </a:xfrm>
          <a:prstGeom prst="rect">
            <a:avLst/>
          </a:prstGeom>
          <a:solidFill>
            <a:srgbClr val="E9E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2CCB160-2527-40DE-9DC4-CBA6DA00FF03}"/>
              </a:ext>
            </a:extLst>
          </p:cNvPr>
          <p:cNvSpPr>
            <a:spLocks noGrp="1"/>
          </p:cNvSpPr>
          <p:nvPr/>
        </p:nvSpPr>
        <p:spPr>
          <a:xfrm>
            <a:off x="6534150" y="2962275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- added fields are called out above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D94296C-3486-490E-A4BF-B1B0CD202AF0}"/>
              </a:ext>
            </a:extLst>
          </p:cNvPr>
          <p:cNvSpPr>
            <a:spLocks noGrp="1"/>
          </p:cNvSpPr>
          <p:nvPr/>
        </p:nvSpPr>
        <p:spPr>
          <a:xfrm>
            <a:off x="6534150" y="3409950"/>
            <a:ext cx="48768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"messages": 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"type": 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"name": 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"content": 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"tool_calls": 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{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  "name":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}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"invalid_tool_calls": 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 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  ]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"observed_tool_call_names": 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"observed_tool_result_names": [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"observed_tool_call_count": 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"finish_reason": 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"response_text": "...",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  "workspace_changed": "..."</a:t>
            </a:r>
          </a:p>
          <a:p>
            <a:pPr algn="l">
              <a:def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defRPr>
            </a:pPr>
            <a:r>
              <a:rPr sz="615" b="0">
                <a:solidFill>
                  <a:srgbClr val="17203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88A4F27-7C9B-45D8-952C-7DE196368991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Output record grew | observed_tool_calls=2 | tools_used=ls, read_file | workspace_changed=False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49C85F-FE69-48CB-A850-5C1556B0F315}"/>
              </a:ext>
            </a:extLst>
          </p:cNvPr>
          <p:cNvSpPr>
            <a:spLocks noGrp="1"/>
          </p:cNvSpPr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7D1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F972D44-D454-4BCA-9AD9-0FEBACF9206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F3FA0F-4B32-47B2-AEFF-536F74702DA0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31123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RUNTIME PREPROCESSING JSON (1 OF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prompt_evolution_values/06_runtime_preprocessing.json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782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"stage": "runtime_preprocessing",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659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"diff_summary":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6535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"change_summary": "Captured what the frontend/runtime actually applied before the worker generated tokens.",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7411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"delta_summary": "Recorded parser activation, prompt token counts, and cache signals that describe how the request was prepared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8287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SGLang execution.",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9164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"added_keys": "prompt_tokens, cached_prompt_tokens, cached_input_tokens",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0040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"removed_keys": "none",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20916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"changed_keys": "request now carries observed runtime preprocessing metrics"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1793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2669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"before":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3545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"model": "Qwen/Qwen2.5-7B-Instruct",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4422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"frontend_url": "http://127.0.0.1:8000/v1/chat/completions",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5298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"messages": [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6174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7050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  "role": "user",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7927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  "content": "You are working on one SWE-bench Pro software engineering task.\n\nTask metadata:\n- instance_id: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8803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instance_NodeBB__NodeBB-04998908ba6721d64eba79ae3b65a351dcfbc5b5-vnan\n- repo: NodeBB/NodeBB\n\nProblem statement:\n**Title: Email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9679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Validation Status Not Handled Correctly in ACP and Confirmation Logic**\n\n**Description:**\n\nThe Admin Control Panel (ACP) does not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30556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accurately reflect the email validation status of users. Also, validation and confirmation processes rely on key expiration, which 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31432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prevent correct verification if the keys expire. There's no fallback to recover the email if it's not found under the expected keys. This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2308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leads to failures when trying to validate or re-send confirmation emails.\n\nSteps to reproduce:\n\n1. Go to ACP → Manage Users.\n\n2.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33185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Create a user without confirming their email.\n\n3. Attempt to validate or resend confirmation via ACP after some time (allow keys 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34061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expire).\n\n4. Observe the UI display and backend behavior.\n\n**What is expected:**\n\nAccurate display of email sta..."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4937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5813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6690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"request_context":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7566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"request_id": "agentbench-nodebb_20260519_232042::baseline_execution",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8442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"parent_run_id": "agentbench-nodebb_20260519_232042",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9319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"task_instance_id": "instance_NodeBB__NodeBB-04998908ba6721d64eba79ae3b65a351dcfbc5b5-vnan",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40195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"phase": "baseline_execution",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41071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"step_index": null,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41948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"step_title": null,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42824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"app_variant": "upstream_deploy_coding_agent"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" y="43700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44576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"agent_hints": {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45453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"priority": 5,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46329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"reuse_likelihood": 0.9,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47205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"agent_phase": "baseline_execution",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RUNTIME PREPROCESSING JSON (2 OF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prompt_evolution_values/06_runtime_preprocessing.json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"latency_sensitivity": 0.7,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782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"program_id": "agentbench.deepagents_app",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659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"context_type": "software_engineering_long_horizon",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6535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"expected_output_tokens": 2048,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7411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"hint_probe_id": "agentbench-nodebb_20260519_232042::hint_probe"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8287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9164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"tool_choice": "auto",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0040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"system_prompt": "",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20916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"expected_builtin_tools": [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1793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"write_todos",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2669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"ls",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3545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"read_file",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4422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"write_file",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5298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"edit_file",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6174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"glob",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7050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"grep",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7927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"execute",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8803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"task"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9679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30556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"tool_parser_names_seen": [],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31432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"tool_parser_observed": false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2308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33185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"after":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34061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"model": "Qwen/Qwen2.5-7B-Instruct",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4937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"frontend_url": "http://127.0.0.1:8000/v1/chat/completions",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5813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"messages": [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6690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7566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  "role": "user",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8442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  "content": "You are working on one SWE-bench Pro software engineering task.\n\nTask metadata:\n- instance_id: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9319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instance_NodeBB__NodeBB-04998908ba6721d64eba79ae3b65a351dcfbc5b5-vnan\n- repo: NodeBB/NodeBB\n\nProblem statement:\n**Title: Email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40195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Validation Status Not Handled Correctly in ACP and Confirmation Logic**\n\n**Description:**\n\nThe Admin Control Panel (ACP) does not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41071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accurately reflect the email validation status of users. Also, validation and confirmation processes rely on key expiration, which can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41948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prevent correct verification if the keys expire. There's no fallback to recover the email if it's not found under the expected keys. This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42824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leads to failures when trying to validate or re-send confirmation emails.\n\nSteps to reproduce:\n\n1. Go to ACP → Manage Users.\n\n2.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" y="43700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Create a user without confirming their email.\n\n3. Attempt to validate or resend confirmation via ACP after some time (allow keys 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44576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expire).\n\n4. Observe the UI display and backend behavior.\n\n**What is expected:**\n\nAccurate display of email sta..."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45453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46329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47205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"request_context": {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RUNTIME PREPROCESSING JSON (3 OF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prompt_evolution_values/06_runtime_preprocessing.json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"request_id": "agentbench-nodebb_20260519_232042::baseline_execution",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782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"parent_run_id": "agentbench-nodebb_20260519_232042",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659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"task_instance_id": "instance_NodeBB__NodeBB-04998908ba6721d64eba79ae3b65a351dcfbc5b5-vnan",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6535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"phase": "baseline_execution",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7411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"step_index": null,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8287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"step_title": null,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9164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"app_variant": "upstream_deploy_coding_agent"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0040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20916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"agent_hints":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1793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"priority": 5,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2669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"reuse_likelihood": 0.9,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3545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"agent_phase": "baseline_execution",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4422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"latency_sensitivity": 0.7,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5298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"program_id": "agentbench.deepagents_app",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6174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"context_type": "software_engineering_long_horizon",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7050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"expected_output_tokens": 2048,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7927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  "hint_probe_id": "agentbench-nodebb_20260519_232042::hint_probe"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8803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9679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"tool_choice": "auto",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30556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"system_prompt": "",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31432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"expected_builtin_tools": [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32308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"write_todos",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33185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"ls",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34061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"read_file",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4937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"write_file",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5813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"edit_file",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6690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"glob",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7566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"grep",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8442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"execute",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93191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  "task"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401954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410717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"tool_parser_names_seen": [],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419480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"tool_parser_observed": false,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428243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"prompt_tokens": 26575,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" y="437006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"cached_prompt_tokens": 26560,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445769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"cached_input_tokens": 26560,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454532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1">
                <a:solidFill>
                  <a:srgbClr val="0F9F6E"/>
                </a:solidFill>
                <a:latin typeface="Aptos Mono"/>
              </a:rPr>
              <a:t>    "provider_response_id": "chatcmpl-af5c051d-e591-4464-b89c-7b250cc49a6b"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463295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  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4720589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8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MODEL BEHAVIOR JSON (1 OF 6)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prompt_evolution_values/07_model_behavior.json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597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"stage": "model_behavior",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287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"diff_summary":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5978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"change_summary": "Captured the model transcript, observed tool calls, and recorded whether the run actually changed the workspace.",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6668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"delta_summary": "Observed the model’s actual behavior after execution, including tool use, finish reason, and whether any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7359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edits were produced.",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8049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"added_keys": "observed_tool_call_names, observed_tool_result_names, finish_reason, response_text, workspace_changed",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18740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"removed_keys": "none",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19431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"changed_keys": "request state -&gt; response and outcome state"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0121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0812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"before":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1502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"model": "Qwen/Qwen2.5-7B-Instruct",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2193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"frontend_url": "http://127.0.0.1:8000/v1/chat/completions",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2883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"messages": [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3574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4264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"role": "user",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4955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"content": "You are working on one SWE-bench Pro software engineering task.\n\nTask metadata:\n- instance_id: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5646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instance_NodeBB__NodeBB-04998908ba6721d64eba79ae3b65a351dcfbc5b5-vnan\n- repo: NodeBB/NodeBB\n\nProblem statement:\n**Title: Email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6336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Validation Status Not Handled Correctly in ACP and Confirmation Logic**\n\n**Description:**\n\nThe Admin Control Panel (ACP) does not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27027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accurately reflect the email validation status of users. Also, validation and confirmation processes rely on key expiration, which 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27717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prevent correct verification if the keys expire. There's no fallback to recover the email if it's not found under the expected keys. This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28408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leads to failures when trying to validate or re-send confirmation emails.\n\nSteps to reproduce:\n\n1. Go to ACP → Manage Users.\n\n2.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29098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Create a user without confirming their email.\n\n3. Attempt to validate or resend confirmation via ACP after some time (allow keys 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29789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expire).\n\n4. Observe the UI display and backend behavior.\n\n**What is expected:**\n\nAccurate display of email sta..."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0480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1170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1861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"request_context":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2551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"request_id": "agentbench-nodebb_20260519_232042::baseline_execution",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3242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"parent_run_id": "agentbench-nodebb_20260519_232042",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3932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"task_instance_id": "instance_NodeBB__NodeBB-04998908ba6721d64eba79ae3b65a351dcfbc5b5-vnan",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34623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"phase": "baseline_execution",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35313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"step_index": null,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36004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"step_title": null,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36695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"app_variant": "upstream_deploy_coding_agent"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" y="37385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38076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"agent_hints": {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3876674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"priority": 5,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39457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"reuse_likelihood": 0.9,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40147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"agent_phase": "baseline_execution",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" y="40838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"latency_sensitivity": 0.7,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" y="41529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"program_id": "agentbench.deepagents_app",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" y="42219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"context_type": "software_engineering_long_horizon",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700" y="42910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"expected_output_tokens": 2048,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700" y="43600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"hint_probe_id": "agentbench-nodebb_20260519_232042::hint_probe"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" y="44291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},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" y="44981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"tool_choice": "auto",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45672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"system_prompt": "",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700" y="46362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"expected_builtin_tools": [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700" y="47053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"write_todos",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" y="47744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"ls",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700" y="48434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"read_file",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700" y="49125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"write_file",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700" y="49815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"edit_file",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700" y="50506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"glob",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700" y="51196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"grep",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700" y="51887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"execute",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700" y="52578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"task"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700" y="53268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7700" y="53959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"tool_parser_names_seen": [],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700" y="54649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"tool_parser_observed": false,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7700" y="55340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"prompt_tokens": 26575,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7700" y="56030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"cached_prompt_tokens": 26560,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700" y="56721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"cached_input_tokens": 26560,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700" y="57411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"provider_response_id": "chatcmpl-af5c051d-e591-4464-b89c-7b250cc49a6b"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7700" y="58102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},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700" y="58793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"after": {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7700" y="59483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"messages": [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700" y="60174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7700" y="60864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"index": 0,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700" y="61555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"type": "human",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91581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MODEL BEHAVIOR JSON (2 OF 6)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prompt_evolution_values/07_model_behavior.json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"name": null,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597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"id": "bcbca71a-ff78-4300-aaeb-0baae6fc99e5",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287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"text": "You are working on one SWE-bench Pro software engineering task.\n\nTask metadata:\n- instance_id: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5978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instance_NodeBB__NodeBB-04998908ba6721d64eba79ae3b65a351dcfbc5b5-vnan\n- repo: NodeBB/NodeBB\n\nProblem statement:\n**Title: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6668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Validation Status Not Handled Correctly in ACP and Confirmation Logic**\n\n**Description:**\n\nThe Admin Control Panel (ACP) does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7359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accurately reflect the email validation status of users. Also, validation and confirmation processes rely on key expiration, which 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8049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prevent correct verification if the keys expire. There's no fallback to recover the email if it's not found under the expected keys. This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18740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leads to failures when trying to validate or re-send confirmation emails.\n\nSteps to reproduce:\n\n1. Go to ACP → Manage Users.\n\n2.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19431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Create a user without confirming their email.\n\n3. Attempt to validate or resend confirmation via ACP after some time (allow keys 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0121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expire).\n\n4. Observe the UI display and backend behavior.\n\n**What is expected:**\n\nAccurate display of email sta...",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0812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"text_preview": "You are working on one SWE-bench Pro software engineering task. Task metadata: - instance_id: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1502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instance_NodeBB__NodeBB-04998908ba6721d64eba79ae3b65a351dcfbc5b5-vnan - repo: NodeBB/NodeBB Problem statement: **Title: Email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2193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Status...",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2883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"tool_calls": [],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3574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"invalid_tool_calls": [],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4264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"tool_call_count": 0,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4955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"invalid_tool_call_count": 0,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5646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"tool_call_names": []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6336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},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27027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27717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"index": 1,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28408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"type": "ai",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29098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"name": null,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29789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"id": "lc_run--019e439d-50bf-7b63-9508-08c1da9573f0-0",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0480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"text": "To address the issue of email validation status not being handled correctly in the ACP and confirmation logic, I will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1170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follow these steps:\n\n1. Inspect the relevant files in the NodeBB repository.\n2. Implement the required changes to the `loadUserInfo`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1861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function and the `getConfirmObjs` helper.\n3. Ensure that the database adapters (MongoDB, PostgreSQL, Redis) implement the `db.mget`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2551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method correctly.\n4. Update the `User.validateEmail` and `User.sendValidationEmail` handlers to handle email validation and fallback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3242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logic.\n5. Test the changes to ensure they resolve the issue.\n\nLet's start by inspecting the relevant files in the repository.\n\n###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3932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Step 1: Inspect the Repository\n\nI will use the `ls` and `read_file` tools to inspect the relevant files in the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34623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repository.\n\n\n\n\n\n\n\n\n",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35313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"text_preview": "To address the issue of email validation status not being handled correctly in the ACP and confirmation logic, 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36004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will follow these steps: 1. Inspect the relevant files in the NodeBB repository. 2. Implement the required changes to the `l...",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36695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"tool_calls": [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" y="37385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{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38076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"name": "ls",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3876674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"args": {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39457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"path": "/home/ec2-user/kv_cache_offloading/agentbench/repos/NodeBB__NodeBB"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40147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  },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" y="40838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"id": "call-663a53b8-699a-4d2a-b7a9-58f98f359078",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" y="41529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"type": "tool_call"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" y="42219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},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700" y="42910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{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700" y="43600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"name": "read_file",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" y="44291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"args": {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" y="44981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"file_path": "/home/ec2-user/kv_cache_offloading/agentbench/repos/NodeBB__NodeBB/src/user/email.js",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45672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"limit": 1000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700" y="46362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  },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700" y="47053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"id": "call-3e08b24c-33d2-4ae9-a432-5855b387b837",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" y="47744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"type": "tool_call"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700" y="48434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},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700" y="49125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{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700" y="49815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"name": "read_file",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700" y="50506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"args": {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700" y="51196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"file_path": "/home/ec2-user/kv_cache_offloading/agentbench/repos/NodeBB__NodeBB/src/database/mongo/main.js",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700" y="51887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"limit": 1000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700" y="52578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  },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700" y="53268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"id": "call-f224c7da-19f9-47e0-beb1-0242811b7f98",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7700" y="53959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"type": "tool_call"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700" y="54649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},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7700" y="55340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{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7700" y="56030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"name": "read_file",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700" y="56721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"args": {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700" y="57411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"file_path": "/home/ec2-user/kv_cache_offloading/agentbench/repos/NodeBB__NodeBB/src/database/postgres/main.js",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7700" y="58102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"limit": 1000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700" y="58793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  },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7700" y="59483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"id": "call-3fe74c91-e87a-41e2-874a-98f235c1cb74",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700" y="60174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"type": "tool_call"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7700" y="60864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},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700" y="61555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{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87666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MODEL BEHAVIOR JSON (3 OF 6)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prompt_evolution_values/07_model_behavior.json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"name": "read_file",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597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"args":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287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"file_path": "/home/ec2-user/kv_cache_offloading/agentbench/repos/NodeBB__NodeBB/src/database/redis/main.js",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5978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"limit": 1000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6668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  },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7359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"id": "call-d070da94-cabc-4f54-ad3b-414379d70a4a",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8049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"type": "tool_call"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18740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},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19431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0121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"name": "read_file",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0812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"args":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1502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"file_path": "/home/ec2-user/kv_cache_offloading/agentbench/repos/NodeBB__NodeBB/test/user/emails.js",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2193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"limit": 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2883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  },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3574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"id": "call-99acae7f-3eb5-4321-931b-03e615b31870",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4264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"type": "tool_call"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4955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},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5646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6336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"name": "read_file",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27027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"args":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27717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"file_path": "/home/ec2-user/kv_cache_offloading/agentbench/repos/NodeBB__NodeBB/test/database.js",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28408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"limit": 1000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29098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  },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29789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"id": "call-76d283c1-a469-4727-a4c9-7873b4bde3b2",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0480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"type": "tool_call"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1170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},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1861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2551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"name": "read_file",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3242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"args":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3932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"file_path": "/home/ec2-user/kv_cache_offloading/agentbench/repos/NodeBB__NodeBB/test/database/keys.js",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34623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  "limit": 1000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35313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  },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36004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"id": "call-dc012faa-5240-451a-84ea-908fb4e88c97",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36695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    "type": "tool_call"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" y="37385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38076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],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3876674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"invalid_tool_calls": [],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39457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"tool_call_count": 8,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40147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"invalid_tool_call_count": 0,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" y="40838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"tool_call_names": [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" y="41529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"ls",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" y="42219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"read_file",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700" y="42910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"read_file",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700" y="43600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"read_file",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" y="44291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"read_file",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" y="44981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"read_file",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45672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"read_file",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700" y="46362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  "read_file"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700" y="47053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  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" y="47744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},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700" y="48434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700" y="49125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"index": 2,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700" y="49815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"type": "tool",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700" y="50506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"name": "ls",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700" y="51196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"id": "0fc47120-33c6-48c2-a860-aec42ce451dc",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700" y="51887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"text": "['/home/ec2-user/kv_cache_offloading/agentbench/repos/NodeBB__NodeBB/.codeclimate.yml',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700" y="52578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'/home/ec2-user/kv_cache_offloading/agentbench/repos/NodeBB__NodeBB/.editorconfig',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700" y="53268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'/home/ec2-user/kv_cache_offloading/agentbench/repos/NodeBB__NodeBB/.eslintignore',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7700" y="53959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'/home/ec2-user/kv_cache_offloading/agentbench/repos/NodeBB__NodeBB/.eslintrc',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700" y="54649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'/home/ec2-user/kv_cache_offloading/agentbench/repos/NodeBB__NodeBB/.git/',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7700" y="55340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'/home/ec2-user/kv_cache_offloading/agentbench/repos/NodeBB__NodeBB/.gitattributes',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7700" y="56030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'/home/ec2-user/kv_cache_offloading/agentbench/repos/NodeBB__NodeBB/.github/',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700" y="56721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'/home/ec2-user/kv_cache_offloading/agentbench/repos/NodeBB__NodeBB/.gitignore',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700" y="57411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'/home/ec2-user/kv_cache_offloading/agentbench/repos/NodeBB__NodeBB/.husky/',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7700" y="58102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'/home/ec2-user/kv_cache_offloading/agentbench/repos/NodeBB__NodeBB/.mocharc.yml',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700" y="58793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'/home/ec2-user/kv_cache_offloading/agentbench/repos/NodeBB__NodeBB/.tx/',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7700" y="59483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'/home/ec2-user/kv_cache_offloading/agentbench/repos/NodeBB__NodeBB/CHANGELOG.md', '/home/ec2-user/kv_ca...",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700" y="60174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"text_preview": "['/home/ec2-user/kv_cache_offloading/agentbench/repos/NodeBB__NodeBB/.codeclimate.yml',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7700" y="60864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'/home/ec2-user/kv_cache_offloading/agentbench/repos/NodeBB__NodeBB/.editorconfig',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700" y="61555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'/home/ec2-user/kv_cache_offloading/agentbench/repos/NodeBB__Node...",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830624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MODEL BEHAVIOR JSON (4 OF 6)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prompt_evolution_values/07_model_behavior.json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"tool_calls": [],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597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"invalid_tool_calls": [],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287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"tool_call_count": 0,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5978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"invalid_tool_call_count": 0,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6668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"tool_call_names": 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7359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},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8049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18740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"index": 3,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19431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"type": "tool",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0121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"name": "read_file",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0812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"id": "e9395342-dca9-434f-8e22-9fa6b4747ded",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1502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"text": "     1\t\n     2\t'use strict';\n     3\t\n     4\tconst nconf = require('nconf');\n     5\tconst winston 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2193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require('winston');\n     6\t\n     7\tconst user = require('./index');\n     8\tconst utils = require('../utils');\n     9\tconst plugins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2883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= require('../plugins');\n    10\tconst db = require('../database');\n    11\tconst meta = require('../meta');\n    12\tconst emailer 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3574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require('../emailer');\n    13\tconst groups = require('../groups');\n    14\tconst events = require('../events');\n    15\t\n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4264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16\tconst UserEmail = module.exports;\n    17\t\n    18\tUserEmail.exists = async function (email) {\n    19\t\tconst uid = await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4955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user.getUidByEmail(email.toLowerCase());\n    20\t\treturn !!uid;\n    21\t};\n    22\t\n    23\tUserEmail.available = async function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5646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(email) {\n    24\t\tconst exists = await db.isSortedSetMember('email:uid', email.toLowerCase());\n    25\t\treturn !exists;\n    26\t};\n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6336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27\t\n    28\tUserEmail.remove = async function (uid, sessionId) {\n    29\t\tconst email = await user.getUserField(uid, 'email');\n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27027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30\t\ti...",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27717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"text_preview": "1 2 'use strict'; 3 4 const nconf = require('nconf'); 5 const winston = require('winston'); 6 7 const user 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28408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require('./index'); 8 const utils = require('../utils'); 9 const plugins = require('../plugins'); 10 const db = require('../data...",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29098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"tool_calls": [],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29789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"invalid_tool_calls": [],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0480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"tool_call_count": 0,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1170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"invalid_tool_call_count": 0,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1861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"tool_call_names": []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2551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},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3242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3932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"index": 4,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34623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"type": "tool",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35313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"name": "read_file",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36004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"id": "72049801-77e4-4e39-909f-9bf2c6b35eed",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36695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"text": "     1\t'use strict';\n     2\t\n     3\tmodule.exports = function (module) {\n     4\t\tconst helpers =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" y="37385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require('./helpers');\n     5\t\tmodule.flushdb = async function () {\n     6\t\t\tawait module.client.dropDatabase();\n     7\t\t};\n   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38076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8\t\n     9\t\tmodule.emptydb = async function () {\n    10\t\t\tawait module.client.collection('objects').deleteMany({});\n  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3876674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11\t\t\tmodule.objectCache.reset();\n    12\t\t};\n    13\t\n    14\t\tmodule.exists = async function (key) {\n    15\t\t\tif (!key) {\n 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39457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16\t\t\t\treturn;\n    17\t\t\t}\n    18\t\n    19\t\t\tif (Array.isArray(key)) {\n    20\t\t\t\tconst data = await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40147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module.client.collection('objects').find({\n    21\t\t\t\t\t_key: { $in: key },\n    22\t\t\t\t}, { _id: 0, _key: 1 }).toArray();\n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" y="40838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23\t\n    24\t\t\t\tconst map = {};\n    25\t\t\t\tdata.forEach((item) =&gt; {\n    26\t\t\t\t\tmap[item._key] = true;\n    27\t\t\t\t});\n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" y="41529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28\t\n    29\t\t\t\treturn key.map(key =&gt; !!map[key]);\n    30\t\t\t}\n    31\t\n    32\t\t\tconst item = await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" y="42219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module.client.collection('objects').findOne({\n    33\t\t\t\t_key: key,\n    34\t\t\t}, { _id: 0, _key: 1...",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700" y="42910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"text_preview": "1 'use strict'; 2 3 module.exports = function (module) { 4 const helpers = require('./helpers'); 5 module.flushdb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700" y="43600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= async function () { 6 await module.client.dropDatabase(); 7 }; 8 9 module.emptydb = async function () { 10 await module.c...",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" y="44291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"tool_calls": [],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" y="44981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"invalid_tool_calls": [],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45672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"tool_call_count": 0,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700" y="46362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"invalid_tool_call_count": 0,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700" y="47053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"tool_call_names": []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" y="47744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},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700" y="48434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700" y="49125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"index": 5,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700" y="49815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"type": "tool",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700" y="50506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"name": "read_file",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700" y="51196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"id": "f28ae691-cb23-4485-9030-aba9de2586cc",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700" y="51887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"text": "     1\t'use strict';\n     2\t\n     3\tmodule.exports = function (module) {\n     4\t\tconst helpers =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700" y="52578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require('./helpers');\n     5\t\n     6\t\tmodule.flushdb = async function () {\n     7\t\t\tawait module.pool.query(`DROP SCHEMA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700" y="53268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\"public\" CASCADE`);\n     8\t\t\tawait module.pool.query(`CREATE SCHEMA \"public\"`);\n     9\t\t};\n    10\t\n    11\t\tmodule.emptydb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7700" y="53959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= async function () {\n    12\t\t\tawait module.pool.query(`DELETE FROM \"legacy_object\"`);\n    13\t\t};\n    14\t\n  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700" y="54649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15\t\tmodule.exists = async function (key) {\n    16\t\t\tif (!key) {\n    17\t\t\t\treturn;\n    18\t\t\t}\n    19\t\n    20\t\t\t//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7700" y="55340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Redis/Mongo consider empty zsets as non-existent, match that behaviour\n    21\t\t\tconst type = await module.type(key);\n    22\t\t\tif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7700" y="56030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(type === 'zset') {\n    23\t\t\t\tif (Array.isArray(key)) {\n    24\t\t\t\t\tconst members = await Promise.all(key.map(key =&gt;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700" y="56721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module.getSortedSetRange(key, 0, 0)));\n    25\t\t\t\t\treturn members.map(member =&gt; member.length &gt; 0);\n    26\t\t\t\t}\n  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700" y="57411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27\t\t\t\tconst members = await module.getSortedSetRange(key, 0, 0);\n    28\t\t\t...",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7700" y="58102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"text_preview": "1 'use strict'; 2 3 module.exports = function (module) { 4 const helpers = require('./helpers'); 5 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700" y="58793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module.flushdb = async function () { 7 await module.pool.query(`DROP SCHEMA \"public\" CASCADE`); 8 await module.pool.query(`CREATE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7700" y="59483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SCHEMA...",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700" y="60174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"tool_calls": [],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7700" y="60864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"invalid_tool_calls": [],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700" y="61555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"tool_call_count": 0,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MODEL BEHAVIOR JSON (5 OF 6)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prompt_evolution_values/07_model_behavior.json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"invalid_tool_call_count": 0,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597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"tool_call_names": []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287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},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5978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6668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"index": 6,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7359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"type": "tool",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8049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"name": "read_file",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18740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"id": "6241e59d-5431-45ef-8664-a05759651ca2",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19431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"text": "     1\t'use strict';\n     2\t\n     3\tmodule.exports = function (module) {\n     4\t\tconst helpers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0121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require('./helpers');\n     5\t\n     6\t\tmodule.flushdb = async function () {\n     7\t\t\tawait module.client.send_command('flushdb',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0812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[]);\n     8\t\t};\n     9\t\n    10\t\tmodule.emptydb = async function () {\n    11\t\t\tawait module.flushdb();\n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1502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12\t\t\tmodule.objectCache.reset();\n    13\t\t};\n    14\t\n    15\t\tmodule.exists = async function (key) {\n    16\t\t\tif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2193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(Array.isArray(key)) {\n    17\t\t\t\tconst batch = module.client.batch();\n    18\t\t\t\tkey.forEach(key =&gt; batch.exists(key));\n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2883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19\t\t\t\tconst data = await helpers.execBatch(batch);\n    20\t\t\t\treturn data.map(exists =&gt; exists === 1);\n    21\t\t\t}\n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3574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22\t\t\tconst exists = await module.client.exists(key);\n    23\t\t\treturn exists === 1;\n    24\t\t};\n    25\t\n    26\t\tmodule.scan 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4264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async function (params) {\n    27\t\t\tlet cursor = '0';\n    28\t\t\tlet returnData = [];\n    29\t\t\tconst seen = {};\n    30\t\t\tdo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4955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{\n    31\t\t\t\t/* eslint-disable no-await-in-loop */\n    32\t\t\t\tconst res ...",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5646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"text_preview": "1 'use strict'; 2 3 module.exports = function (module) { 4 const helpers = require('./helpers'); 5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6336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module.flushdb = async function () { 7 await module.client.send_command('flushdb', []); 8 }; 9 10 module.emptydb = async function ()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27027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1...",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27717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"tool_calls": [],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28408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"invalid_tool_calls": [],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29098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"tool_call_count": 0,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29789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"invalid_tool_call_count": 0,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0480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"tool_call_names": []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1170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},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1861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2551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"index": 7,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3242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"type": "tool",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3932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"name": "read_file",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34623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"id": "19ddf0cf-ffa3-40b9-bd9a-cc7a4f248d25",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35313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"text": "     1\t'use strict';\n     2\t\n     3\tconst assert = require('assert');\n     4\tconst nconf = require('nconf');\n  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36004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5\tconst util = require('util');\n     6\t\n     7\tconst db = require('../mocks/databasemock');\n     8\t\n     9\tconst helpers =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36695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require('../helpers');\n    10\t\n    11\tconst meta = require('../../src/meta');\n    12\tconst user = require('../../src/user');\n  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" y="37385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13\tconst groups = require('../../src/groups');\n    14\tconst plugins = require('../../src/plugins');\n    15\tconst utils =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38076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require('../../src/utils');\n    16\t\n    17\tdescribe('email confirmation (library methods)', () =&gt; {\n    18\t\tlet uid;\n  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3876674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19\t\tasync function dummyEmailerHook(data) {\n    20\t\t\t// pretend to handle sending emails\n    21\t\t}\n    22\t\n    23\t\tbefore(()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39457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=&gt; {\n    24\t\t\t// Attach an emailer hook so related requests do not error\n    25\t\t\tplugins.hooks.register('emailer-test', {\n  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40147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26\t\t\t\thook: 'filter:email.send',\n    27\t\t\t\tmethod: dummyEmailerHook,\n    28\t\t\t});\n    29\t\t});\n    30\t\n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" y="40838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31\t\tbeforeEach(async () =&gt; {\n  ...",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" y="41529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"text_preview": "1 'use strict'; 2 3 const assert = require('assert'); 4 const nconf = require('nconf'); 5 const util =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" y="42219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require('util'); 6 7 const db = require('../mocks/databasemock'); 8 9 const helpers = require('../helpers'); 10 11 const meta =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700" y="42910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requir...",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700" y="43600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"tool_calls": [],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" y="44291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"invalid_tool_calls": [],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" y="44981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"tool_call_count": 0,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45672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"invalid_tool_call_count": 0,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700" y="46362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"tool_call_names": []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700" y="47053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},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" y="47744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700" y="48434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"index": 8,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700" y="49125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"type": "tool",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700" y="49815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"name": "read_file",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700" y="50506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"id": "745c4899-524c-48b8-9b82-e8a3b411ecce",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700" y="51196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"text": "     1\t'use strict';\n     2\t\n     3\t\n     4\tconst assert = require('assert');\n     5\tconst nconf =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700" y="51887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require('nconf');\n     6\tconst db = require('./mocks/databasemock');\n     7\t\n     8\t\n     9\tdescribe('Test database', () =&gt; {\n  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700" y="52578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10\t\tit('should work', () =&gt; {\n    11\t\t\tassert.doesNotThrow(() =&gt; {\n    12\t\t\t\trequire('./mocks/databasemock');\n  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700" y="53268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13\t\t\t});\n    14\t\t});\n    15\t\n    16\t\tdescribe('info', () =&gt; {\n    17\t\t\tit('should return info about database', (done) =&gt;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7700" y="53959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{\n    18\t\t\t\tdb.info(db.client, (err, info) =&gt; {\n    19\t\t\t\t\tassert.ifError(err);\n    20\t\t\t\t\tassert(info);\n  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700" y="54649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21\t\t\t\t\tdone();\n    22\t\t\t\t});\n    23\t\t\t});\n    24\t\n    25\t\t\tit('should not error and return info if client is falsy',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7700" y="55340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(done) =&gt; {\n    26\t\t\t\tdb.info(null, (err, info) =&gt; {\n    27\t\t\t\t\tassert.ifError(err);\n    28\t\t\t\t\tassert(info);\n  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7700" y="56030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29\t\t\t\t\tdone();\n    30\t\t\t\t});\n    31\t\t\t});\n    32\t\t});\n    33\t\n    34\t\tdescribe('checkCompatibility', () =&gt; {\n  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700" y="56721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35\t\t\tit('should not throw', (done) =&gt; {\n    36\t\t\t\tdb.checkCompatibility(done);\n ...",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700" y="57411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"text_preview": "1 'use strict'; 2 3 4 const assert = require('assert'); 5 const nconf = require('nconf'); 6 const db =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7700" y="58102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require('./mocks/databasemock'); 7 8 9 describe('Test database', () =&gt; { 10 it('should work', () =&gt; { 11 assert.doesNotThrow(() =&gt; {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700" y="58793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1...",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7700" y="59483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"tool_calls": [],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700" y="60174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"invalid_tool_calls": [],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7700" y="60864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"tool_call_count": 0,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700" y="61555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"invalid_tool_call_count": 0,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050" y="476250"/>
            <a:ext cx="8001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667085"/>
                </a:solidFill>
                <a:latin typeface="Aptos"/>
              </a:rPr>
              <a:t>MODEL BEHAVIOR JSON (6 OF 6)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50" y="857250"/>
            <a:ext cx="11849100" cy="5448300"/>
          </a:xfrm>
          <a:prstGeom prst="rect">
            <a:avLst/>
          </a:prstGeom>
          <a:solidFill>
            <a:srgbClr val="F7FAFC"/>
          </a:solidFill>
          <a:ln w="2413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1450" y="857250"/>
            <a:ext cx="11849100" cy="95250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9100" y="1047749"/>
            <a:ext cx="6096000" cy="133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80" b="1">
                <a:solidFill>
                  <a:srgbClr val="667085"/>
                </a:solidFill>
                <a:latin typeface="Aptos"/>
              </a:rPr>
              <a:t>prompt_evolution_values/07_model_behavior.json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181100"/>
            <a:ext cx="11620500" cy="495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13906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"tool_call_names": []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4597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},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287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5978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"index": 9,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6668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"type": "tool",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7359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"name": "read_file",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8049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"id": "65328551-f1fe-459b-a8bf-41c3faf00e1d",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18740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"text": "     1\t'use strict';\n     2\t\n     3\t\n     4\tconst async = require('async');\n     5\tconst assert 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19431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require('assert');\n     6\tconst db = require('../mocks/databasemock');\n     7\t\n     8\tdescribe('Key methods', () =&gt; {\n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0121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9\t\tbeforeEach((done) =&gt; {\n    10\t\t\tdb.set('testKey', 'testValue', done);\n    11\t\t});\n    12\t\n    13\t\tit('should set a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20812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without error', (done) =&gt; {\n    14\t\t\tdb.set('testKey', 'testValue', function (err) {\n    15\t\t\t\tassert.ifError(err);\n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1502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16\t\t\t\tassert(arguments.length &lt; 2);\n    17\t\t\t\tdone();\n    18\t\t\t});\n    19\t\t});\n    20\t\n    21\t\tit('should get a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2193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without error', (done) =&gt; {\n    22\t\t\tdb.get('testKey', function (err, value) {\n    23\t\t\t\tassert.ifError(err);\n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2883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24\t\t\t\tassert.equal(arguments.length, 2);\n    25\t\t\t\tassert.strictEqual(value, 'testValue');\n    26\t\t\t\tdone();\n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23574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27\t\t\t});\n    28\t\t});\n    29\t\n    30\t\tit('should return null if key does not exist', (done) =&gt; {\n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4264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31\t\t\tdb.get('doesnotexist', (err, value) =&gt; {\n    32\t\t\t\tassert.ifError(err);\n    33\t\t\t\tasse...",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4955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"text_preview": "1 'use strict'; 2 3 4 const async = require('async'); 5 const assert = require('assert'); 6 const db 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5646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require('../mocks/databasemock'); 7 8 describe('Key methods', () =&gt; { 9 beforeEach((done) =&gt; { 10 db.set('testKey', 'testValue',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6336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done)...",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" y="27027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"tool_calls": [],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27717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"invalid_tool_calls": [],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28408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"tool_call_count": 0,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29098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"invalid_tool_call_count": 0,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29789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"tool_call_names": []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30480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},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31170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31861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"index": 10,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32551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"type": "ai",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33242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"name": null,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" y="33932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"id": "lc_run--019e439d-9c51-7833-81c6-d06e73628009-0",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" y="34623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"text": "Based on the code review, the following changes are needed to address the issue:\n\n1. **Implement `getConfirmObjs()` 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35313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`loadUserInfo()`**:\n   - Fetch confirmation codes using `db.mget(keys: string[]): Promise&lt;string[]&gt;`.\n   - Retrieve the corresponding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" y="36004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`confirm:&lt;code&gt;` objects using `db.getObjects()`.\n\n2. **Implement `db.mget` in MongoDB, PostgreSQL, and Redis**:\n   - Ensure that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36695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`db.mget` returns `null` for non-existent keys.\n\n3. **Update `User.validateEmail` and `User.sendValidationEmail` handlers**:\n   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" y="37385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Ensure that the email validation and fallback logic is correctly implemented.\n\n4. **Update `User.email.getEmailForValidation` 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38076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`User.email.isValidationPending` methods**:\n   - Ensure that the fallback logic is correctly implemented.\n\n5. **Update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3876674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`User.email.canSendValidation` method**:\n   - Ensure that the interval check is correctly implemented.\n\nLet's start by implementing the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39457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`getConfirmObjs()` helper in `loadUserInfo()` and the `db.mget` method in the database adapters.\n\n#...",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40147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"text_preview": "Based on the code review, the following changes are needed to address the issue: 1. **Implement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" y="40838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`getConfirmObjs()` in `loadUserInfo()`**: - Fetch confirmation codes using `db.mget(keys: string[]): Promise&lt;string[]&gt;`. - Retrieve the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" y="41529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corre...",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" y="42219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"tool_calls": [],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700" y="42910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"invalid_tool_calls": [],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700" y="43600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"tool_call_count": 0,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" y="44291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"invalid_tool_call_count": 0,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" y="44981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    "tool_call_names": []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45672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700" y="46362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700" y="47053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"observed_tool_call_names": [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" y="47744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"ls",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700" y="48434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"read_file"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700" y="49125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700" y="49815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"observed_tool_result_names": [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700" y="50506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"ls",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700" y="511968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  "read_file"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700" y="518874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  ],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700" y="525780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"observed_tool_call_count": 8,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700" y="532685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"finish_reason": "stop",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7700" y="539591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"response_text": "Based on the code review, the following changes are needed to address the issue:\n\n1. **Implement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700" y="546496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`getConfirmObjs()` in `loadUserInfo()`**:\n   - Fetch confirmation codes using `db.mget(keys: string[]): Promise&lt;string[]&gt;`.\n   -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7700" y="553402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Retrieve the corresponding `confirm:&lt;code&gt;` objects using `db.getObjects()`.\n\n2. **Implement `db.mget` in MongoDB, PostgreSQL, and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7700" y="560308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Redis**:\n   - Ensure that `db.mget` returns `null` for non-existent keys.\n\n3. **Update `User.validateEmail` and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700" y="5672137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`User.sendValidationEmail` handlers**:\n   - Ensure that the email validation and fallback logic is correctly implemented.\n\n4. **Update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700" y="5741193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`User.email.getEmailForValidation` and `User.email.isValidationPending` methods**:\n   - Ensure that the fallback logic is correctly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7700" y="5810250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implemented.\n\n5. **Update `User.email.canSendValidation` method**:\n   - Ensure that the interval check is correctly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700" y="5879306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implemented.\n\nLet's start by implementing the `getConfirmObjs()` helper in `loadUserInfo()` and the `db.mget` method in the database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7700" y="5948362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adapters.\n\n#...",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700" y="6017418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>
                <a:solidFill>
                  <a:srgbClr val="BE123C"/>
                </a:solidFill>
                <a:latin typeface="Aptos Mono"/>
              </a:rPr>
              <a:t>    "workspace_changed": false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7700" y="6086475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  }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700" y="6155531"/>
            <a:ext cx="109156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0">
                <a:solidFill>
                  <a:srgbClr val="172033"/>
                </a:solidFill>
                <a:latin typeface="Aptos Mono"/>
              </a:rPr>
              <a:t>}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9600" y="6324600"/>
            <a:ext cx="10972800" cy="9525"/>
          </a:xfrm>
          <a:prstGeom prst="rect">
            <a:avLst/>
          </a:prstGeom>
          <a:solidFill>
            <a:srgbClr val="D8D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09600" y="6477000"/>
            <a:ext cx="3238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667085"/>
                </a:solidFill>
                <a:latin typeface="Aptos"/>
              </a:rPr>
              <a:t>PROMPT EVOLUTION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87100" y="6477000"/>
            <a:ext cx="495299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67085"/>
                </a:solidFill>
                <a:latin typeface="Aptos Mono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15556</Words>
  <Application>Microsoft Macintosh PowerPoint</Application>
  <DocSecurity>0</DocSecurity>
  <PresentationFormat>Widescreen</PresentationFormat>
  <Paragraphs>1452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Oluwole Jaiyeoba</cp:lastModifiedBy>
  <cp:revision>3</cp:revision>
  <dcterms:created xsi:type="dcterms:W3CDTF">2026-05-18T19:45:15Z</dcterms:created>
  <dcterms:modified xsi:type="dcterms:W3CDTF">2026-05-20T06:27:09Z</dcterms:modified>
</cp:coreProperties>
</file>